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0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3.xml" ContentType="application/vnd.openxmlformats-officedocument.presentationml.slide+xml"/>
  <Override PartName="/ppt/slides/slide25.xml" ContentType="application/vnd.openxmlformats-officedocument.presentationml.slide+xml"/>
  <Override PartName="/ppt/slides/slide5.xml" ContentType="application/vnd.openxmlformats-officedocument.presentationml.slide+xml"/>
  <Override PartName="/ppt/slides/slide1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7.xml" ContentType="application/vnd.openxmlformats-officedocument.presentationml.slide+xml"/>
  <Override PartName="/ppt/slides/slide22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3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4" Type="http://schemas.openxmlformats.org/officeDocument/2006/relationships/slide" Target="slides/slide14.xml" /><Relationship Id="rId0" Type="http://schemas.openxmlformats.org/officeDocument/2006/relationships/slideMaster" Target="slideMasters/slideMaster1.xml" /><Relationship Id="rId24" Type="http://schemas.openxmlformats.org/officeDocument/2006/relationships/slide" Target="slides/slide24.xml" /><Relationship Id="rId12" Type="http://schemas.openxmlformats.org/officeDocument/2006/relationships/slide" Target="slides/slide12.xml" /><Relationship Id="rId28" Type="http://schemas.openxmlformats.org/officeDocument/2006/relationships/slide" Target="slides/slide28.xml" /><Relationship Id="rId1" Type="http://schemas.openxmlformats.org/officeDocument/2006/relationships/slide" Target="slides/slide1.xml" /><Relationship Id="rId35" Type="http://schemas.openxmlformats.org/officeDocument/2006/relationships/presProps" Target="presProps.xml" /><Relationship Id="rId10" Type="http://schemas.openxmlformats.org/officeDocument/2006/relationships/slide" Target="slides/slide10.xml" /><Relationship Id="rId15" Type="http://schemas.openxmlformats.org/officeDocument/2006/relationships/slide" Target="slides/slide15.xml" /><Relationship Id="rId3" Type="http://schemas.openxmlformats.org/officeDocument/2006/relationships/slide" Target="slides/slide3.xml" /><Relationship Id="rId13" Type="http://schemas.openxmlformats.org/officeDocument/2006/relationships/slide" Target="slides/slide13.xml" /><Relationship Id="rId5" Type="http://schemas.openxmlformats.org/officeDocument/2006/relationships/slide" Target="slides/slide5.xml" /><Relationship Id="rId11" Type="http://schemas.openxmlformats.org/officeDocument/2006/relationships/slide" Target="slides/slide11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7" Type="http://schemas.openxmlformats.org/officeDocument/2006/relationships/slide" Target="slides/slide27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2" Type="http://schemas.openxmlformats.org/officeDocument/2006/relationships/slide" Target="slides/slide22.xml" /><Relationship Id="rId23" Type="http://schemas.openxmlformats.org/officeDocument/2006/relationships/slide" Target="slides/slide23.xml" /><Relationship Id="rId25" Type="http://schemas.openxmlformats.org/officeDocument/2006/relationships/slide" Target="slides/slide25.xml" /><Relationship Id="rId26" Type="http://schemas.openxmlformats.org/officeDocument/2006/relationships/slide" Target="slides/slide26.xml" /><Relationship Id="rId29" Type="http://schemas.openxmlformats.org/officeDocument/2006/relationships/slide" Target="slides/slide29.xml" /><Relationship Id="rId30" Type="http://schemas.openxmlformats.org/officeDocument/2006/relationships/slide" Target="slides/slide30.xml" /><Relationship Id="rId31" Type="http://schemas.openxmlformats.org/officeDocument/2006/relationships/slide" Target="slides/slide31.xml" /><Relationship Id="rId32" Type="http://schemas.openxmlformats.org/officeDocument/2006/relationships/slide" Target="slides/slide32.xml" /><Relationship Id="rId33" Type="http://schemas.openxmlformats.org/officeDocument/2006/relationships/slide" Target="slides/slide33.xml" /><Relationship Id="rId6" Type="http://schemas.openxmlformats.org/officeDocument/2006/relationships/slide" Target="slides/slide6.xml" /><Relationship Id="rId34" Type="http://schemas.openxmlformats.org/officeDocument/2006/relationships/notesMaster" Target="notesMasters/notesMaster1.xml" /><Relationship Id="rId36" Type="http://schemas.openxmlformats.org/officeDocument/2006/relationships/tableStyles" Target="tableStyles.xml" /><Relationship Id="rId37" Type="http://schemas.openxmlformats.org/officeDocument/2006/relationships/viewProps" Target="viewProps.xml" /><Relationship Id="rId4" Type="http://schemas.openxmlformats.org/officeDocument/2006/relationships/slide" Target="slides/slide4.xml" /><Relationship Id="rId7" Type="http://schemas.openxmlformats.org/officeDocument/2006/relationships/slide" Target="slides/slide7.xml" /><Relationship Id="rId9" Type="http://schemas.openxmlformats.org/officeDocument/2006/relationships/slide" Target="slides/slide9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2.pn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2" Type="http://schemas.openxmlformats.org/officeDocument/2006/relationships/image" Target="media/image32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1.svg" /><Relationship Id="rId3" Type="http://schemas.openxmlformats.org/officeDocument/2006/relationships/image" Target="media/image33.svg" /><Relationship Id="rId4" Type="http://schemas.openxmlformats.org/officeDocument/2006/relationships/image" Target="media/image34.sv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5.svg" /><Relationship Id="rId2" Type="http://schemas.openxmlformats.org/officeDocument/2006/relationships/image" Target="media/image36.sv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.svg" /><Relationship Id="rId2" Type="http://schemas.openxmlformats.org/officeDocument/2006/relationships/image" Target="media/image4.svg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6.svg" /><Relationship Id="rId1" Type="http://schemas.openxmlformats.org/officeDocument/2006/relationships/image" Target="media/image5.svg" /><Relationship Id="rId4" Type="http://schemas.openxmlformats.org/officeDocument/2006/relationships/image" Target="media/image8.svg" /><Relationship Id="rId3" Type="http://schemas.openxmlformats.org/officeDocument/2006/relationships/image" Target="media/image7.svg" /><Relationship Id="rId5" Type="http://schemas.openxmlformats.org/officeDocument/2006/relationships/image" Target="media/image9.svg" /><Relationship Id="rId6" Type="http://schemas.openxmlformats.org/officeDocument/2006/relationships/image" Target="media/image10.svg" /><Relationship Id="rId7" Type="http://schemas.openxmlformats.org/officeDocument/2006/relationships/image" Target="media/image11.svg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Relationship Id="rId2" Type="http://schemas.openxmlformats.org/officeDocument/2006/relationships/image" Target="media/image13.svg" 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/Relationships>
</file>

<file path=ppt/slides/_rels/slide20.xml.rels><?xml version="1.0" encoding="UTF-8" standalone="yes"?><Relationships xmlns="http://schemas.openxmlformats.org/package/2006/relationships"><Relationship Id="rId2" Type="http://schemas.openxmlformats.org/officeDocument/2006/relationships/image" Target="media/image16.svg" /><Relationship Id="rId1" Type="http://schemas.openxmlformats.org/officeDocument/2006/relationships/image" Target="media/image15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7.svg" 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5.xml.rels><?xml version="1.0" encoding="UTF-8" standalone="yes"?><Relationships xmlns="http://schemas.openxmlformats.org/package/2006/relationships"><Relationship Id="rId2" Type="http://schemas.openxmlformats.org/officeDocument/2006/relationships/image" Target="media/image19.svg" /><Relationship Id="rId1" Type="http://schemas.openxmlformats.org/officeDocument/2006/relationships/image" Target="media/image18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20.svg" /></Relationships>
</file>

<file path=ppt/slides/_rels/slide2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1.png" /></Relationships>
</file>

<file path=ppt/slides/_rels/slide2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0.xml.rels><?xml version="1.0" encoding="UTF-8" standalone="yes"?><Relationships xmlns="http://schemas.openxmlformats.org/package/2006/relationships"><Relationship Id="rId3" Type="http://schemas.openxmlformats.org/officeDocument/2006/relationships/image" Target="media/image25.svg" /><Relationship Id="rId1" Type="http://schemas.openxmlformats.org/officeDocument/2006/relationships/image" Target="media/image23.sv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4.svg" /></Relationships>
</file>

<file path=ppt/slides/_rels/slide3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2.xml.rels><?xml version="1.0" encoding="UTF-8" standalone="yes"?><Relationships xmlns="http://schemas.openxmlformats.org/package/2006/relationships"><Relationship Id="rId4" Type="http://schemas.openxmlformats.org/officeDocument/2006/relationships/image" Target="media/image29.svg" /><Relationship Id="rId2" Type="http://schemas.openxmlformats.org/officeDocument/2006/relationships/image" Target="media/image27.sv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26.svg" /><Relationship Id="rId3" Type="http://schemas.openxmlformats.org/officeDocument/2006/relationships/image" Target="media/image28.svg" /></Relationships>
</file>

<file path=ppt/slides/_rels/slide3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30.png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89535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2000">
                <a:srgbClr val="0B1220">
                  <a:alpha val="86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4762500"/>
            <a:ext cx="12192000" cy="2095500"/>
          </a:xfrm>
          <a:prstGeom prst="rect">
            <a:avLst/>
          </a:prstGeom>
          <a:gradFill>
            <a:gsLst>
              <a:gs pos="0">
                <a:srgbClr val="0B1220">
                  <a:alpha val="94000"/>
                </a:srgbClr>
              </a:gs>
              <a:gs pos="100000">
                <a:srgbClr val="0B1220">
                  <a:alpha val="0"/>
                </a:srgbClr>
              </a:gs>
            </a:gsLst>
            <a:lin ang="16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" name=""/>
          <p:cNvSpPr/>
          <p:nvPr/>
        </p:nvSpPr>
        <p:spPr>
          <a:xfrm rot="0" flipH="0" flipV="0">
            <a:off x="838200" y="533400"/>
            <a:ext cx="10515600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838200" y="1190625"/>
            <a:ext cx="438150" cy="2857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409700" y="1104900"/>
            <a:ext cx="1200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300">
                <a:solidFill>
                  <a:srgbClr val="2AD4EE"/>
                </a:solidFill>
                <a:latin typeface="Source Han Sans SC"/>
                <a:ea typeface="Source Han Sans SC"/>
              </a:rPr>
              <a:t>内部技术分享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2743200" y="1104900"/>
            <a:ext cx="73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spc="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2026.10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38200" y="1628775"/>
            <a:ext cx="7239000" cy="2190750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从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>到</a:t>
            </a:r>
            <a:r>
              <a:rPr lang="en-US" sz="6300" b="1" spc="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  <a:p>
            <a:pPr>
              <a:lnSpc>
                <a:spcPct val="113999"/>
              </a:lnSpc>
            </a:pPr>
            <a:r>
              <a:rPr lang="zh-CN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>再到</a:t>
            </a:r>
            <a:r>
              <a:rPr lang="en-US" sz="63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38200" y="4105275"/>
            <a:ext cx="28575" cy="5715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38200" y="4848225"/>
            <a:ext cx="7239000" cy="1228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模型是原料，工程才是产品。</a:t>
            </a:r>
            <a:endParaRPr/>
          </a:p>
          <a:p>
            <a:pPr>
              <a:lnSpc>
                <a:spcPct val="170000"/>
              </a:lnSpc>
            </a:pP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一条从「会聊天」到「能干活的系统」的完整链路：认知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工程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框架</a:t>
            </a:r>
            <a:r>
              <a:rPr lang="en-US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5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落地。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9353550" y="1409700"/>
            <a:ext cx="2000250" cy="1352550"/>
          </a:xfrm>
          <a:prstGeom prst="roundRect">
            <a:avLst>
              <a:gd name="adj" fmla="val 2817"/>
            </a:avLst>
          </a:prstGeom>
          <a:solidFill>
            <a:srgbClr val="0B1220">
              <a:alpha val="7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10525125" y="14954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10820400" y="1485900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10287000" y="18383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0582275" y="1828800"/>
            <a:ext cx="58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AGENT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0039350" y="21812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10334625" y="2171700"/>
            <a:ext cx="828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PI AGENT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0010775" y="2524125"/>
            <a:ext cx="180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306050" y="25146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E8EEF9">
                    <a:alpha val="86000"/>
                  </a:srgbClr>
                </a:solidFill>
                <a:latin typeface="Source Han Sans SC"/>
                <a:ea typeface="Source Han Sans SC"/>
              </a:rPr>
              <a:t>PRACTICE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838200" y="6172200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0801350" y="617220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01 / 33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4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909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目录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90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四章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33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页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一条从模型到业务系统的完整链路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685800" y="2162175"/>
            <a:ext cx="23145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685800" y="3400425"/>
            <a:ext cx="2314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CHAPTERS</a:t>
            </a:r>
            <a:endParaRPr/>
          </a:p>
        </p:txBody>
      </p:sp>
      <p:sp>
        <p:nvSpPr>
          <p:cNvPr id="439" name=""/>
          <p:cNvSpPr/>
          <p:nvPr/>
        </p:nvSpPr>
        <p:spPr>
          <a:xfrm rot="0" flipH="0" flipV="0">
            <a:off x="685800" y="3781425"/>
            <a:ext cx="381000" cy="1905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685800" y="4010025"/>
            <a:ext cx="2314575" cy="102870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先补认知，再建工程观；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然后看一个范本，</a:t>
            </a:r>
            <a:endParaRPr/>
          </a:p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最后落进一个真实系统。</a:t>
            </a:r>
            <a:endParaRPr/>
          </a:p>
        </p:txBody>
      </p:sp>
      <p:sp>
        <p:nvSpPr>
          <p:cNvPr id="441" name=""/>
          <p:cNvSpPr/>
          <p:nvPr/>
        </p:nvSpPr>
        <p:spPr>
          <a:xfrm rot="0" flipH="0" flipV="0">
            <a:off x="3619500" y="1143000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4248150" y="12668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：一切的地基</a:t>
            </a:r>
            <a:endParaRPr/>
          </a:p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4248150" y="16002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看懂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的无状态本质，理解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为什么必须做上下文工程。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11087100" y="13239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03–09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4248150" y="2009775"/>
            <a:ext cx="5524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343400" y="2047875"/>
            <a:ext cx="361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Token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4876800" y="20097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4972050" y="20478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上下文窗口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5810250" y="2009775"/>
            <a:ext cx="1143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5905500" y="2047875"/>
            <a:ext cx="952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Function Calling</a:t>
            </a:r>
            <a:endParaRPr/>
          </a:p>
        </p:txBody>
      </p:sp>
      <p:sp>
        <p:nvSpPr>
          <p:cNvPr id="452" name=""/>
          <p:cNvSpPr/>
          <p:nvPr/>
        </p:nvSpPr>
        <p:spPr>
          <a:xfrm rot="0" flipH="0" flipV="0">
            <a:off x="3619500" y="2371725"/>
            <a:ext cx="7886700" cy="1247775"/>
          </a:xfrm>
          <a:custGeom>
            <a:pathLst>
              <a:path w="828" h="131">
                <a:moveTo>
                  <a:pt x="0" y="130"/>
                </a:moveTo>
                <a:lnTo>
                  <a:pt x="828" y="130"/>
                </a:lnTo>
                <a:lnTo>
                  <a:pt x="828" y="131"/>
                </a:lnTo>
                <a:lnTo>
                  <a:pt x="0" y="13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3619500" y="25336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4248150" y="249555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：从“能聊”到“能干”</a:t>
            </a:r>
            <a:endParaRPr/>
          </a:p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4248150" y="282892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掌握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与七层功能地图，说清</a:t>
            </a:r>
            <a:r>
              <a:rPr lang="en-US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的能力边界到底在哪。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11087100" y="255270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10–18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4248150" y="3238500"/>
            <a:ext cx="5238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4343400" y="3276600"/>
            <a:ext cx="333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ReAct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48482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49434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七层地图</a:t>
            </a:r>
            <a:endParaRPr/>
          </a:p>
        </p:txBody>
      </p:sp>
      <p:sp>
        <p:nvSpPr>
          <p:cNvPr id="461" name=""/>
          <p:cNvSpPr/>
          <p:nvPr/>
        </p:nvSpPr>
        <p:spPr>
          <a:xfrm rot="0" flipH="0" flipV="0">
            <a:off x="5648325" y="32385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5743575" y="3276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十条原则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3619500" y="3609975"/>
            <a:ext cx="7886700" cy="1238250"/>
          </a:xfrm>
          <a:custGeom>
            <a:pathLst>
              <a:path w="828" h="130">
                <a:moveTo>
                  <a:pt x="0" y="129"/>
                </a:moveTo>
                <a:lnTo>
                  <a:pt x="828" y="129"/>
                </a:lnTo>
                <a:lnTo>
                  <a:pt x="828" y="130"/>
                </a:lnTo>
                <a:lnTo>
                  <a:pt x="0" y="1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3619500" y="377190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4248150" y="3733800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：一个极简范式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4248150" y="4067175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理解极简哲学与严格单向的分层架构，看懂它的每一个设计取舍。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11087100" y="3790950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19–25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4248150" y="4476750"/>
            <a:ext cx="82867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4343400" y="4514850"/>
            <a:ext cx="638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418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行内核</a:t>
            </a:r>
            <a:endParaRPr/>
          </a:p>
        </p:txBody>
      </p:sp>
      <p:sp>
        <p:nvSpPr>
          <p:cNvPr id="470" name=""/>
          <p:cNvSpPr/>
          <p:nvPr/>
        </p:nvSpPr>
        <p:spPr>
          <a:xfrm rot="0" flipH="0" flipV="0">
            <a:off x="51530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52482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四层架构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5953125" y="447675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6048375" y="45148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三层定制</a:t>
            </a:r>
            <a:endParaRPr/>
          </a:p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3619500" y="5000625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4248150" y="4962525"/>
            <a:ext cx="66294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落地实践：智数问答</a:t>
            </a:r>
            <a:r>
              <a:rPr lang="en-US" sz="18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4248150" y="5295900"/>
            <a:ext cx="66294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完整拆解一个真实业务系统，带走可直接复用的踩坑经验。</a:t>
            </a:r>
            <a:endParaRPr/>
          </a:p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11087100" y="5019675"/>
            <a:ext cx="419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26–32</a:t>
            </a:r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424815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34340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三级路由</a:t>
            </a:r>
            <a:endParaRPr/>
          </a:p>
        </p:txBody>
      </p:sp>
      <p:sp>
        <p:nvSpPr>
          <p:cNvPr id="480" name=""/>
          <p:cNvSpPr/>
          <p:nvPr/>
        </p:nvSpPr>
        <p:spPr>
          <a:xfrm rot="0" flipH="0" flipV="0">
            <a:off x="5048250" y="570547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5143500" y="574357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发现式注册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5981700" y="57054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6076950" y="57435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02 / 33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00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009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010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11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12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01</a:t>
            </a:r>
            <a:endParaRPr/>
          </a:p>
        </p:txBody>
      </p:sp>
      <p:sp>
        <p:nvSpPr>
          <p:cNvPr id="1013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一切的地基</a:t>
            </a:r>
            <a:endParaRPr/>
          </a:p>
        </p:txBody>
      </p:sp>
      <p:sp>
        <p:nvSpPr>
          <p:cNvPr id="1014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5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不认识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的「无状态」，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就理解不了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的上下文工程。</a:t>
            </a:r>
            <a:endParaRPr/>
          </a:p>
        </p:txBody>
      </p:sp>
      <p:sp>
        <p:nvSpPr>
          <p:cNvPr id="1016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17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1018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19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2764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每次请求到底记住了什么？</a:t>
            </a:r>
            <a:endParaRPr/>
          </a:p>
        </p:txBody>
      </p:sp>
      <p:sp>
        <p:nvSpPr>
          <p:cNvPr id="1020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1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为什么必须用工具调用？</a:t>
            </a:r>
            <a:endParaRPr/>
          </a:p>
        </p:txBody>
      </p:sp>
      <p:sp>
        <p:nvSpPr>
          <p:cNvPr id="1022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23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手写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与原生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FC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差在哪？</a:t>
            </a:r>
            <a:endParaRPr/>
          </a:p>
        </p:txBody>
      </p:sp>
      <p:sp>
        <p:nvSpPr>
          <p:cNvPr id="1024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25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26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03 – 09</a:t>
            </a:r>
            <a:endParaRPr/>
          </a:p>
        </p:txBody>
      </p:sp>
      <p:sp>
        <p:nvSpPr>
          <p:cNvPr id="1027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28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无状态与上下文窗口</a:t>
            </a:r>
            <a:endParaRPr/>
          </a:p>
        </p:txBody>
      </p:sp>
      <p:sp>
        <p:nvSpPr>
          <p:cNvPr id="1029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0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四个必记的核心概念</a:t>
            </a:r>
            <a:endParaRPr/>
          </a:p>
        </p:txBody>
      </p:sp>
      <p:sp>
        <p:nvSpPr>
          <p:cNvPr id="1031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2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2324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两种调用方式与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Function Calling</a:t>
            </a:r>
            <a:endParaRPr/>
          </a:p>
        </p:txBody>
      </p:sp>
      <p:sp>
        <p:nvSpPr>
          <p:cNvPr id="1033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03 / 33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193" name="" descr="&lt;Slide style={{ width: 1280, height: 720, padding: '20px 72px', flexDirection: 'column', background: 'linear-gradient(160deg, #0B1220 0%, #16233D 100%)', fontFamily: '&quot;Source Han Sans SC&quot;, &quot;Noto Sans SC&quot;, &quot;Microsoft YaHei&quot;, sans-serif' }}&gt;&#10;    {/* A 区 · 标题块 */}&#10;    &lt;Box style={{ height: 100, flexDirection: 'row', gap: 16, alignItems: 'flex-start', paddingTop: 6 }}&gt;&#10;        &lt;Box style={{ width: 4, height: 36, background: '#2AD4EE', marginTop: 5 }} /&gt;&#10;        &lt;Box style={{ flexDirection: 'column' }}&gt;&#10;            &lt;Text style={{ fontSize: 34, fontWeight: 'bold', color: '#E8EEF9' }}&gt;LLM 是「无状态的文本预测器」&lt;/Text&gt;&#10;            &lt;Text style={{ marginTop: 8, fontSize: 17, color: 'rgba(232,238,249,0.52)' }}&gt;理解这一点，才理解为什么 Agent 的上下文要自己算&lt;/Text&gt;&#10;        &lt;/Box&gt;&#10;    &lt;/Box&gt;&#10;&#10;    {/* B 区 · 左标题栏 + 右内容区 */}&#10;    &lt;Box style={{ height: 516, flexDirection: 'row', gap: 36 }}&gt;&#10;        {/* 左：定义栏 */}&#10;        &lt;Box style={{ width: 360, flexDirection: 'column', paddingRight: 30, borderRight: '1px solid rgba(232,238,249,0.12)' }}&gt;&#10;            &lt;Text style={{ fontSize: 15, color: '#2AD4EE', letterSpacing: 3, fontFamily: '&quot;JetBrains Mono&quot;, &quot;Cascadia Mono&quot;, Consolas, monospace' }}&gt;DEFINITION&lt;/Text&gt;&#10;            &lt;Text style={{ marginTop: 14, fontSize: 24, fontWeight: 'bold', color: '#E8EEF9', lineHeight: 1.45 }}&gt;&#10;                模型本身&#10;                &lt;br /&gt;&#10;                没有内存&#10;            &lt;/Text&gt;&#10;            &lt;Text style={{ marginTop: 14, fontSize: 16, color: 'rgba(232,238,249,0.70)', lineHeight: 1.7 }}&gt;&#10;                它不会记住上一次对话。不把历史完整塞回 &lt;span style={{ color: '#2AD4EE', fontFamily: '&quot;JetBrains Mono&quot;, &quot;Cascadia Mono&quot;, Consolas, monospace' }}&gt;messages&lt;/span&gt;，它就不知道之前聊过什么——所谓「记忆」，每次请求都要你重建。&#10;            &lt;/Text&gt;&#10;            &lt;Box style={{ flexDirection: 'row', gap: 8, marginTop: 16, flexWrap: 'wrap' }}&gt;&#10;                {['无状态', '每次重发', 'messages 数组'].map((k, i) =&gt; (&#10;                    &lt;Box key={i} style={{ paddingTop: 4, paddingBottom: 4, paddingLeft: 10, paddingRight: 10, background: 'rgba(42,212,238,0.10)', borderRadius: 3 }}&gt;&#10;                        &lt;Text style={{ fontSize: 14, color: '#2AD4EE' }}&gt;{k}&lt;/Text&gt;&#10;                    &lt;/Box&gt;&#10;                ))}&#10;            &lt;/Box&gt;&#10;            &lt;Box style={{ marginTop: 18, height: 1, background: 'rgba(232,238,249,0.12)' }} /&gt;&#10;            &lt;Text style={{ marginTop: 14, fontSize: 15, color: 'rgba(232,238,249,0.52)', letterSpacing: 2, fontFamily: '&quot;JetBrains Mono&quot;, &quot;Cascadia Mono&quot;, Consolas, monospace' }}&gt;ACTIONS · 两个必做动作&lt;/Text&gt;&#10;            &lt;Text style={{ marginTop: 10, fontSize: 15.5, color: 'rgba(232,238,249,0.70)', lineHeight: 1.7 }}&gt;&#10;                超窗之前：摘要压缩（compaction）&#10;                &lt;br /&gt;&#10;                进上下文前：工具返回精简 + 脱敏&#10;            &lt;/Text&gt;&#10;            &lt;Box style={{ marginTop: 'auto', paddingTop: 12, paddingBottom: 12, paddingLeft: 16, paddingRight: 16, borderLeft: '3px solid #2AD4EE', background: 'rgba(42,212,238,0.06)' }}&gt;&#10;                &lt;Text style={{ fontSize: 16, color: '#E8EEF9', lineHeight: 1.6 }}&gt;&#10;                    上下文窗口 = 一次能读完的&#10;                    &lt;span style={{ color: '#2AD4EE' }}&gt;总量上限&lt;/span&gt;&#10;                    （输入 + 输出）。&#10;                &lt;/Text&gt;&#10;            &lt;/Box&gt;&#10;        &lt;/Box&gt;&#10;&#10;        {/* 右：图示区 */}&#10;        &lt;Box style={{ flex: 1, flexDirection: 'column' }}&gt;&#10;            &lt;Text style={{ fontSize: 15, color: 'rgba(232,238,249,0.52)', letterSpacing: 2, fontFamily: '&quot;JetBrains Mono&quot;, &quot;Cascadia Mono&quot;, Consolas, monospace' }}&gt;CONTEXT WINDOW · 以 128k token 为例&lt;/Text&gt;&#10;&#10;            &lt;Box style={{ flexDirection: 'row', height: 78, marginTop: 16, borderRadius: 4, overflow: 'hidden', border: '1px solid rgba(42,212,238,0.22)' }}&gt;&#10;                &lt;Box style={{ flex: 34, flexDirection: 'column', justifyContent: 'center', paddingLeft: 14, paddingRight: 10, background: 'rgba(42,212,238,0.16)', borderRight: '1px solid rgba(42,212,238,0.22)' }}&gt;&#10;                    &lt;Text style={{ fontSize: 16, color: '#E8EEF9', fontWeight: '600' }}&gt;历史对话&lt;/Text&gt;&#10;                    &lt;Text style={{ fontSize: 13, color: 'rgba(232,238,249,0.62)', marginTop: 4 }}&gt;system + 多轮 messages + 工具返回&lt;/Text&gt;&#10;                &lt;/Box&gt;&#10;                &lt;Box style={{ flex: 14, flexDirection: 'column', justifyContent: 'center', paddingLeft: 12, paddingRight: 8, background: 'rgba(42,212,238,0.30)', borderRight: '1px solid rgba(42,212,238,0.22)' }}&gt;&#10;                    &lt;Text style={{ fontSize: 16, color: '#0B1220', fontWeight: '600' }}&gt;本轮输入&lt;/Text&gt;&#10;                    &lt;Text style={{ fontSize: 13, color: 'rgba(11,18,32,0.72)', marginTop: 4 }}&gt;用户问题&lt;/Text&gt;&#10;                &lt;/Box&gt;&#10;                &lt;Box style={{ flex: 12, flexDirection: 'column', justifyContent: 'center', paddingLeft: 12, paddingRight: 8, background: 'rgba(42,212,238,0.06)' }}&gt;&#10;                    &lt;Text style={{ fontSize: 16, color: 'rgba(232,238,249,0.78)', fontWeight: '600' }}&gt;预留输出&lt;/Text&gt;&#10;                    &lt;Text style={{ fontSize: 13, color: 'rgba(232,238,249,0.52)', marginTop: 4 }}&gt;maxTokens&lt;/Text&gt;&#10;                &lt;/Box&gt;&#10;            &lt;/Box&gt;&#10;&#10;            &lt;Box style={{ flexDirection: 'row', justifyContent: 'space-between', marginTop: 8 }}&gt;&#10;                &lt;Text style={{ fontSize: 13, color: 'rgba(232,238,249,0.42)', fontFamily: '&quot;JetBrains Mono&quot;, &quot;Cascadia Mono&quot;, Consolas, monospace' }}&gt;0&lt;/Text&gt;&#10;                &lt;Text style={{ fontSize: 13, color: 'rgba(232,238,249,0.42)' }}&gt;超过上限 → 最前面的信息被丢弃&lt;/Text&gt;&#10;                &lt;Text style={{ fontSize: 13, color: 'rgba(232,238,249,0.42)', fontFamily: '&quot;JetBrains Mono&quot;, &quot;Cascadia Mono&quot;, Consolas, monospace' }}&gt;128k&lt;/Text&gt;&#10;            &lt;/Box&gt;&#10;&#10;            &lt;Text style={{ marginTop: 30, fontSize: 15, color: 'rgba(232,238,249,0.52)', letterSpacing: 2, fontFamily: '&quot;JetBrains Mono&quot;, &quot;Cascadia Mono&quot;, Consolas, monospace' }}&gt;TOKEN · 计费与窗口的最小单位&lt;/Text&gt;&#10;            &lt;Text style={{ marginTop: 14, fontSize: 20, color: '#E8EEF9' }}&gt;「企业 2025 年营收 3.2 亿元」&lt;/Text&gt;&#10;            &lt;Box style={{ flexDirection: 'row', gap: 8, marginTop: 14, alignItems: 'center' }}&gt;&#10;                {['企业', '2025', '年', '营', '收', '3.2', '亿'].map((t, i) =&gt; (&#10;                    &lt;Box key={i} style={{ paddingTop: 5, paddingBottom: 5, paddingLeft: 11, paddingRight: 11, background: 'rgba(22,35,61,0.9)', border: '1px solid rgba(42,212,238,0.22)', borderRadius: 3 }}&gt;&#10;                        &lt;Text style={{ fontSize: 15, color: '#2AD4EE', fontFamily: '&quot;JetBrains Mono&quot;, &quot;Cascadia Mono&quot;, Consolas, monospace' }}&gt;{t}&lt;/Text&gt;&#10;                    &lt;/Box&gt;&#10;                ))}&#10;                &lt;Text style={{ fontSize: 15, color: 'rgba(232,238,249,0.62)', marginLeft: 6 }}&gt;→ 约 9 token（中文 1 汉字 ≈ 2 token）&lt;/Text&gt;&#10;            &lt;/Box&gt;&#10;&#10;            &lt;Box style={{ marginTop: 'auto', flexDirection: 'row', alignItems: 'center', gap: 14, paddingTop: 16, paddingBottom: 16, paddingLeft: 18, paddingRight: 18, background: 'rgba(42,212,238,0.08)', border: '1px solid rgba(42,212,238,0.22)', borderRadius: 4 }}&gt;&#10;                &lt;Text style={{ fontSize: 20, color: '#2AD4EE', fontWeight: 'bold', fontFamily: '&quot;JetBrains Mono&quot;, &quot;Cascadia Mono&quot;, Consolas, monospace' }}&gt;所以&lt;/Text&gt;&#10;                &lt;Text style={{ fontSize: 18, color: '#E8EEF9', lineHeight: 1.6, flex: 1 }}&gt;&#10;                    Agent 多轮工具调用后上下文膨胀是&lt;span style={{ color: '#2AD4EE' }}&gt;必然&lt;/span&gt;，不是意外——预算要自己管。&#10;                &lt;/Text&gt;&#10;            &lt;/Box&gt;&#10;        &lt;/Box&gt;&#10;    &lt;/Box&gt;&#10;&#10;    {/* C 区 · 页脚 */}&#10;    &lt;Box style={{ height: 40, flexDirection: 'row', alignItems: 'flex-end', justifyContent: 'space-between' }}&gt;&#10;        &lt;Text style={{ fontSize: 14, color: 'rgba(232,238,249,0.42)' }}&gt;从 LLM 到 Agent 再到 Pi Agent&lt;/Text&gt;&#10;        &lt;Text style={{ fontSize: 14, color: 'rgba(232,238,249,0.42)', fontFamily: '&quot;JetBrains Mono&quot;, &quot;Cascadia Mono&quot;, Consolas, monospace' }}&gt;04 / 33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/>
        </p:txBody>
      </p:sp>
      <p:sp>
        <p:nvSpPr>
          <p:cNvPr id="119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/>
        </p:txBody>
      </p:sp>
      <p:sp>
        <p:nvSpPr>
          <p:cNvPr id="119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43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是「无状态的文本预测器」</a:t>
            </a:r>
            <a:endParaRPr/>
          </a:p>
        </p:txBody>
      </p:sp>
      <p:sp>
        <p:nvSpPr>
          <p:cNvPr id="119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43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理解这一点，才理解为什么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的上下文要自己算</a:t>
            </a:r>
            <a:endParaRPr/>
          </a:p>
        </p:txBody>
      </p:sp>
      <p:sp>
        <p:nvSpPr>
          <p:cNvPr id="1198" name=""/>
          <p:cNvSpPr/>
          <p:nvPr/>
        </p:nvSpPr>
        <p:spPr>
          <a:xfrm rot="0" flipH="0" flipV="0">
            <a:off x="685800" y="1143000"/>
            <a:ext cx="3429000" cy="4914900"/>
          </a:xfrm>
          <a:custGeom>
            <a:pathLst>
              <a:path w="360" h="516">
                <a:moveTo>
                  <a:pt x="359" y="0"/>
                </a:moveTo>
                <a:lnTo>
                  <a:pt x="360" y="0"/>
                </a:lnTo>
                <a:lnTo>
                  <a:pt x="360" y="516"/>
                </a:lnTo>
                <a:lnTo>
                  <a:pt x="35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19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DEFINITION</a:t>
            </a:r>
            <a:endParaRPr/>
          </a:p>
        </p:txBody>
      </p:sp>
      <p:sp>
        <p:nvSpPr>
          <p:cNvPr id="1200" name="" descr="{&quot;isTemplate&quot;:true,&quot;type&quot;:&quot;text&quot;}"/>
          <p:cNvSpPr txBox="1"/>
          <p:nvPr/>
        </p:nvSpPr>
        <p:spPr>
          <a:xfrm rot="0" flipH="0" flipV="0">
            <a:off x="685800" y="1447800"/>
            <a:ext cx="3133725" cy="8001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模型本身</a:t>
            </a:r>
            <a:endParaRPr/>
          </a:p>
          <a:p>
            <a:pPr>
              <a:lnSpc>
                <a:spcPct val="145000"/>
              </a:lnSpc>
            </a:pPr>
            <a:r>
              <a:rPr lang="zh-CN" sz="1800" b="1">
                <a:solidFill>
                  <a:srgbClr val="E8EEF9"/>
                </a:solidFill>
                <a:latin typeface="Source Han Sans SC"/>
                <a:ea typeface="Source Han Sans SC"/>
              </a:rPr>
              <a:t>没有内存</a:t>
            </a:r>
            <a:endParaRPr/>
          </a:p>
        </p:txBody>
      </p:sp>
      <p:sp>
        <p:nvSpPr>
          <p:cNvPr id="1201" name="" descr="{&quot;isTemplate&quot;:true,&quot;type&quot;:&quot;text&quot;}"/>
          <p:cNvSpPr txBox="1"/>
          <p:nvPr/>
        </p:nvSpPr>
        <p:spPr>
          <a:xfrm rot="0" flipH="0" flipV="0">
            <a:off x="685800" y="2381250"/>
            <a:ext cx="31337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它不会记住上一次对话。不把历史完整塞回</a:t>
            </a:r>
            <a:r>
              <a:rPr lang="en-US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messages</a:t>
            </a: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，它就不知道之前聊过什么——所谓「记忆」，每次请求都要你重建。</a:t>
            </a:r>
            <a:endParaRPr/>
          </a:p>
        </p:txBody>
      </p:sp>
      <p:sp>
        <p:nvSpPr>
          <p:cNvPr id="1202" name=""/>
          <p:cNvSpPr/>
          <p:nvPr/>
        </p:nvSpPr>
        <p:spPr>
          <a:xfrm rot="0" flipH="0" flipV="0">
            <a:off x="685800" y="3467100"/>
            <a:ext cx="5905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203" name="" descr="{&quot;isTemplate&quot;:true,&quot;type&quot;:&quot;text&quot;}"/>
          <p:cNvSpPr txBox="1"/>
          <p:nvPr/>
        </p:nvSpPr>
        <p:spPr>
          <a:xfrm rot="0" flipH="0" flipV="0">
            <a:off x="781050" y="35052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无状态</a:t>
            </a:r>
            <a:endParaRPr/>
          </a:p>
        </p:txBody>
      </p:sp>
      <p:sp>
        <p:nvSpPr>
          <p:cNvPr id="1204" name=""/>
          <p:cNvSpPr/>
          <p:nvPr/>
        </p:nvSpPr>
        <p:spPr>
          <a:xfrm rot="0" flipH="0" flipV="0">
            <a:off x="1352550" y="3467100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205" name="" descr="{&quot;isTemplate&quot;:true,&quot;type&quot;:&quot;text&quot;}"/>
          <p:cNvSpPr txBox="1"/>
          <p:nvPr/>
        </p:nvSpPr>
        <p:spPr>
          <a:xfrm rot="0" flipH="0" flipV="0">
            <a:off x="1447800" y="35052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每次重发</a:t>
            </a:r>
            <a:endParaRPr/>
          </a:p>
        </p:txBody>
      </p:sp>
      <p:sp>
        <p:nvSpPr>
          <p:cNvPr id="1206" name=""/>
          <p:cNvSpPr/>
          <p:nvPr/>
        </p:nvSpPr>
        <p:spPr>
          <a:xfrm rot="0" flipH="0" flipV="0">
            <a:off x="2152650" y="3467100"/>
            <a:ext cx="10668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/>
        </p:txBody>
      </p:sp>
      <p:sp>
        <p:nvSpPr>
          <p:cNvPr id="1207" name="" descr="{&quot;isTemplate&quot;:true,&quot;type&quot;:&quot;text&quot;}"/>
          <p:cNvSpPr txBox="1"/>
          <p:nvPr/>
        </p:nvSpPr>
        <p:spPr>
          <a:xfrm rot="0" flipH="0" flipV="0">
            <a:off x="2247900" y="3505200"/>
            <a:ext cx="876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208" name=""/>
          <p:cNvSpPr/>
          <p:nvPr/>
        </p:nvSpPr>
        <p:spPr>
          <a:xfrm rot="0" flipH="0" flipV="0">
            <a:off x="685800" y="3876675"/>
            <a:ext cx="3133725" cy="9525"/>
          </a:xfrm>
          <a:prstGeom prst="rect">
            <a:avLst/>
          </a:prstGeom>
          <a:solidFill>
            <a:srgbClr val="E8EEF9">
              <a:alpha val="12000"/>
            </a:srgbClr>
          </a:solidFill>
          <a:ln/>
        </p:spPr>
        <p:txBody>
          <a:bodyPr/>
          <a:p/>
        </p:txBody>
      </p:sp>
      <p:sp>
        <p:nvSpPr>
          <p:cNvPr id="1209" name="" descr="{&quot;isTemplate&quot;:true,&quot;type&quot;:&quot;text&quot;}"/>
          <p:cNvSpPr txBox="1"/>
          <p:nvPr/>
        </p:nvSpPr>
        <p:spPr>
          <a:xfrm rot="0" flipH="0" flipV="0">
            <a:off x="685800" y="4019550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ACTIONS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两个必做动作</a:t>
            </a:r>
            <a:endParaRPr/>
          </a:p>
        </p:txBody>
      </p:sp>
      <p:sp>
        <p:nvSpPr>
          <p:cNvPr id="1210" name="" descr="{&quot;isTemplate&quot;:true,&quot;type&quot;:&quot;text&quot;}"/>
          <p:cNvSpPr txBox="1"/>
          <p:nvPr/>
        </p:nvSpPr>
        <p:spPr>
          <a:xfrm rot="0" flipH="0" flipV="0">
            <a:off x="685800" y="4286250"/>
            <a:ext cx="3133725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超窗之前：摘要压缩（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compaction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进上下文前：工具返回精简</a:t>
            </a:r>
            <a:r>
              <a:rPr lang="en-US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163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1211" name=""/>
          <p:cNvSpPr/>
          <p:nvPr/>
        </p:nvSpPr>
        <p:spPr>
          <a:xfrm rot="0" flipH="0" flipV="0">
            <a:off x="714375" y="5238750"/>
            <a:ext cx="3133725" cy="8191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1212" name=""/>
          <p:cNvSpPr/>
          <p:nvPr/>
        </p:nvSpPr>
        <p:spPr>
          <a:xfrm rot="0" flipH="0" flipV="0">
            <a:off x="685800" y="5238750"/>
            <a:ext cx="3162300" cy="819150"/>
          </a:xfrm>
          <a:custGeom>
            <a:pathLst>
              <a:path w="332" h="86">
                <a:moveTo>
                  <a:pt x="0" y="0"/>
                </a:moveTo>
                <a:lnTo>
                  <a:pt x="3" y="0"/>
                </a:lnTo>
                <a:lnTo>
                  <a:pt x="3" y="86"/>
                </a:lnTo>
                <a:lnTo>
                  <a:pt x="0" y="86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/>
        </p:txBody>
      </p:sp>
      <p:sp>
        <p:nvSpPr>
          <p:cNvPr id="1213" name="" descr="{&quot;isTemplate&quot;:true,&quot;type&quot;:&quot;text&quot;}"/>
          <p:cNvSpPr txBox="1"/>
          <p:nvPr/>
        </p:nvSpPr>
        <p:spPr>
          <a:xfrm rot="0" flipH="0" flipV="0">
            <a:off x="866775" y="5353050"/>
            <a:ext cx="28003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上下文窗口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一次能读完的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总量上限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（输入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输出）。</a:t>
            </a:r>
            <a:endParaRPr/>
          </a:p>
        </p:txBody>
      </p:sp>
      <p:sp>
        <p:nvSpPr>
          <p:cNvPr id="1214" name="" descr="{&quot;isTemplate&quot;:true,&quot;type&quot;:&quot;text&quot;}"/>
          <p:cNvSpPr txBox="1"/>
          <p:nvPr/>
        </p:nvSpPr>
        <p:spPr>
          <a:xfrm rot="0" flipH="0" flipV="0">
            <a:off x="4457700" y="114300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CONTEXT WINDOW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以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128k token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为例</a:t>
            </a:r>
            <a:endParaRPr/>
          </a:p>
        </p:txBody>
      </p:sp>
      <p:sp>
        <p:nvSpPr>
          <p:cNvPr id="1215" name=""/>
          <p:cNvSpPr/>
          <p:nvPr/>
        </p:nvSpPr>
        <p:spPr>
          <a:xfrm rot="0" flipH="0" flipV="0">
            <a:off x="4457700" y="1466850"/>
            <a:ext cx="7048500" cy="742950"/>
          </a:xfrm>
          <a:prstGeom prst="roundRect">
            <a:avLst>
              <a:gd name="adj" fmla="val 5128"/>
            </a:avLst>
          </a:prstGeom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16" name=""/>
          <p:cNvSpPr/>
          <p:nvPr/>
        </p:nvSpPr>
        <p:spPr>
          <a:xfrm rot="0" flipH="0" flipV="0">
            <a:off x="4457700" y="1466850"/>
            <a:ext cx="3990975" cy="742950"/>
          </a:xfrm>
          <a:prstGeom prst="rect">
            <a:avLst/>
          </a:prstGeom>
          <a:solidFill>
            <a:srgbClr val="2AD4EE">
              <a:alpha val="16000"/>
            </a:srgbClr>
          </a:solidFill>
          <a:ln/>
        </p:spPr>
        <p:txBody>
          <a:bodyPr/>
          <a:p/>
        </p:txBody>
      </p:sp>
      <p:sp>
        <p:nvSpPr>
          <p:cNvPr id="1217" name=""/>
          <p:cNvSpPr/>
          <p:nvPr/>
        </p:nvSpPr>
        <p:spPr>
          <a:xfrm rot="0" flipH="0" flipV="0">
            <a:off x="4457700" y="1466850"/>
            <a:ext cx="4000500" cy="742950"/>
          </a:xfrm>
          <a:custGeom>
            <a:pathLst>
              <a:path w="420" h="78">
                <a:moveTo>
                  <a:pt x="419" y="0"/>
                </a:moveTo>
                <a:lnTo>
                  <a:pt x="420" y="0"/>
                </a:lnTo>
                <a:lnTo>
                  <a:pt x="420" y="78"/>
                </a:lnTo>
                <a:lnTo>
                  <a:pt x="419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/>
        </p:txBody>
      </p:sp>
      <p:sp>
        <p:nvSpPr>
          <p:cNvPr id="1218" name="" descr="{&quot;isTemplate&quot;:true,&quot;type&quot;:&quot;text&quot;}"/>
          <p:cNvSpPr txBox="1"/>
          <p:nvPr/>
        </p:nvSpPr>
        <p:spPr>
          <a:xfrm rot="0" flipH="0" flipV="0">
            <a:off x="4591050" y="1647825"/>
            <a:ext cx="3752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历史对话</a:t>
            </a:r>
            <a:endParaRPr/>
          </a:p>
        </p:txBody>
      </p:sp>
      <p:sp>
        <p:nvSpPr>
          <p:cNvPr id="1219" name="" descr="{&quot;isTemplate&quot;:true,&quot;type&quot;:&quot;text&quot;}"/>
          <p:cNvSpPr txBox="1"/>
          <p:nvPr/>
        </p:nvSpPr>
        <p:spPr>
          <a:xfrm rot="0" flipH="0" flipV="0">
            <a:off x="4591050" y="1876425"/>
            <a:ext cx="37528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多轮</a:t>
            </a: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messages +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工具返回</a:t>
            </a:r>
            <a:endParaRPr/>
          </a:p>
        </p:txBody>
      </p:sp>
      <p:sp>
        <p:nvSpPr>
          <p:cNvPr id="1220" name=""/>
          <p:cNvSpPr/>
          <p:nvPr/>
        </p:nvSpPr>
        <p:spPr>
          <a:xfrm rot="0" flipH="0" flipV="0">
            <a:off x="8448675" y="1466850"/>
            <a:ext cx="1647825" cy="742950"/>
          </a:xfrm>
          <a:prstGeom prst="rect">
            <a:avLst/>
          </a:prstGeom>
          <a:solidFill>
            <a:srgbClr val="2AD4EE">
              <a:alpha val="30000"/>
            </a:srgbClr>
          </a:solidFill>
          <a:ln/>
        </p:spPr>
        <p:txBody>
          <a:bodyPr/>
          <a:p/>
        </p:txBody>
      </p:sp>
      <p:sp>
        <p:nvSpPr>
          <p:cNvPr id="1221" name=""/>
          <p:cNvSpPr/>
          <p:nvPr/>
        </p:nvSpPr>
        <p:spPr>
          <a:xfrm rot="0" flipH="0" flipV="0">
            <a:off x="8448675" y="1466850"/>
            <a:ext cx="1657350" cy="742950"/>
          </a:xfrm>
          <a:custGeom>
            <a:pathLst>
              <a:path w="174" h="78">
                <a:moveTo>
                  <a:pt x="173" y="0"/>
                </a:moveTo>
                <a:lnTo>
                  <a:pt x="174" y="0"/>
                </a:lnTo>
                <a:lnTo>
                  <a:pt x="174" y="78"/>
                </a:lnTo>
                <a:lnTo>
                  <a:pt x="173" y="78"/>
                </a:lnTo>
                <a:close/>
              </a:path>
            </a:pathLst>
          </a:custGeom>
          <a:solidFill>
            <a:srgbClr val="2AD4EE">
              <a:alpha val="22000"/>
            </a:srgbClr>
          </a:solidFill>
          <a:ln/>
        </p:spPr>
        <p:txBody>
          <a:bodyPr/>
          <a:p/>
        </p:txBody>
      </p:sp>
      <p:sp>
        <p:nvSpPr>
          <p:cNvPr id="1222" name="" descr="{&quot;isTemplate&quot;:true,&quot;type&quot;:&quot;text&quot;}"/>
          <p:cNvSpPr txBox="1"/>
          <p:nvPr/>
        </p:nvSpPr>
        <p:spPr>
          <a:xfrm rot="0" flipH="0" flipV="0">
            <a:off x="8562975" y="1647825"/>
            <a:ext cx="1447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本轮输入</a:t>
            </a:r>
            <a:endParaRPr/>
          </a:p>
        </p:txBody>
      </p:sp>
      <p:sp>
        <p:nvSpPr>
          <p:cNvPr id="1223" name="" descr="{&quot;isTemplate&quot;:true,&quot;type&quot;:&quot;text&quot;}"/>
          <p:cNvSpPr txBox="1"/>
          <p:nvPr/>
        </p:nvSpPr>
        <p:spPr>
          <a:xfrm rot="0" flipH="0" flipV="0">
            <a:off x="8562975" y="1876425"/>
            <a:ext cx="1447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0B1220">
                    <a:alpha val="72000"/>
                  </a:srgbClr>
                </a:solidFill>
                <a:latin typeface="Source Han Sans SC"/>
                <a:ea typeface="Source Han Sans SC"/>
              </a:rPr>
              <a:t>用户问题</a:t>
            </a:r>
            <a:endParaRPr/>
          </a:p>
        </p:txBody>
      </p:sp>
      <p:sp>
        <p:nvSpPr>
          <p:cNvPr id="1224" name=""/>
          <p:cNvSpPr/>
          <p:nvPr/>
        </p:nvSpPr>
        <p:spPr>
          <a:xfrm rot="0" flipH="0" flipV="0">
            <a:off x="10096500" y="1466850"/>
            <a:ext cx="1409700" cy="74295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/>
        </p:txBody>
      </p:sp>
      <p:sp>
        <p:nvSpPr>
          <p:cNvPr id="1225" name="" descr="{&quot;isTemplate&quot;:true,&quot;type&quot;:&quot;text&quot;}"/>
          <p:cNvSpPr txBox="1"/>
          <p:nvPr/>
        </p:nvSpPr>
        <p:spPr>
          <a:xfrm rot="0" flipH="0" flipV="0">
            <a:off x="10210800" y="16478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预留输出</a:t>
            </a:r>
            <a:endParaRPr/>
          </a:p>
        </p:txBody>
      </p:sp>
      <p:sp>
        <p:nvSpPr>
          <p:cNvPr id="1226" name="" descr="{&quot;isTemplate&quot;:true,&quot;type&quot;:&quot;text&quot;}"/>
          <p:cNvSpPr txBox="1"/>
          <p:nvPr/>
        </p:nvSpPr>
        <p:spPr>
          <a:xfrm rot="0" flipH="0" flipV="0">
            <a:off x="10210800" y="1876425"/>
            <a:ext cx="1219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maxTokens</a:t>
            </a:r>
            <a:endParaRPr/>
          </a:p>
        </p:txBody>
      </p:sp>
      <p:sp>
        <p:nvSpPr>
          <p:cNvPr id="1227" name="" descr="{&quot;isTemplate&quot;:true,&quot;type&quot;:&quot;text&quot;}"/>
          <p:cNvSpPr txBox="1"/>
          <p:nvPr/>
        </p:nvSpPr>
        <p:spPr>
          <a:xfrm rot="0" flipH="0" flipV="0">
            <a:off x="4457700" y="22860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1228" name="" descr="{&quot;isTemplate&quot;:true,&quot;type&quot;:&quot;text&quot;}"/>
          <p:cNvSpPr txBox="1"/>
          <p:nvPr/>
        </p:nvSpPr>
        <p:spPr>
          <a:xfrm rot="0" flipH="0" flipV="0">
            <a:off x="6981825" y="2286000"/>
            <a:ext cx="1790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超过上限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最前面的信息被丢弃</a:t>
            </a:r>
            <a:endParaRPr/>
          </a:p>
        </p:txBody>
      </p:sp>
      <p:sp>
        <p:nvSpPr>
          <p:cNvPr id="1229" name="" descr="{&quot;isTemplate&quot;:true,&quot;type&quot;:&quot;text&quot;}"/>
          <p:cNvSpPr txBox="1"/>
          <p:nvPr/>
        </p:nvSpPr>
        <p:spPr>
          <a:xfrm rot="0" flipH="0" flipV="0">
            <a:off x="11210925" y="2286000"/>
            <a:ext cx="295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128k</a:t>
            </a:r>
            <a:endParaRPr/>
          </a:p>
        </p:txBody>
      </p:sp>
      <p:sp>
        <p:nvSpPr>
          <p:cNvPr id="1230" name="" descr="{&quot;isTemplate&quot;:true,&quot;type&quot;:&quot;text&quot;}"/>
          <p:cNvSpPr txBox="1"/>
          <p:nvPr/>
        </p:nvSpPr>
        <p:spPr>
          <a:xfrm rot="0" flipH="0" flipV="0">
            <a:off x="4457700" y="2724150"/>
            <a:ext cx="7048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TOKEN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计费与窗口的最小单位</a:t>
            </a:r>
            <a:endParaRPr/>
          </a:p>
        </p:txBody>
      </p:sp>
      <p:sp>
        <p:nvSpPr>
          <p:cNvPr id="1231" name="" descr="{&quot;isTemplate&quot;:true,&quot;type&quot;:&quot;text&quot;}"/>
          <p:cNvSpPr txBox="1"/>
          <p:nvPr/>
        </p:nvSpPr>
        <p:spPr>
          <a:xfrm rot="0" flipH="0" flipV="0">
            <a:off x="4457700" y="3028950"/>
            <a:ext cx="7048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「企业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2025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年营收</a:t>
            </a:r>
            <a:r>
              <a:rPr lang="en-US" sz="15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3.2 </a:t>
            </a:r>
            <a:r>
              <a:rPr lang="zh-CN" sz="1500">
                <a:solidFill>
                  <a:srgbClr val="E8EEF9"/>
                </a:solidFill>
                <a:latin typeface="Source Han Sans SC"/>
                <a:ea typeface="Source Han Sans SC"/>
              </a:rPr>
              <a:t>亿元」</a:t>
            </a:r>
            <a:endParaRPr/>
          </a:p>
        </p:txBody>
      </p:sp>
      <p:sp>
        <p:nvSpPr>
          <p:cNvPr id="1232" name=""/>
          <p:cNvSpPr/>
          <p:nvPr/>
        </p:nvSpPr>
        <p:spPr>
          <a:xfrm rot="0" flipH="0" flipV="0">
            <a:off x="4457700" y="3390900"/>
            <a:ext cx="49530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3" name="" descr="{&quot;isTemplate&quot;:true,&quot;type&quot;:&quot;text&quot;}"/>
          <p:cNvSpPr txBox="1"/>
          <p:nvPr/>
        </p:nvSpPr>
        <p:spPr>
          <a:xfrm rot="0" flipH="0" flipV="0">
            <a:off x="4562475" y="343852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企业</a:t>
            </a:r>
            <a:endParaRPr/>
          </a:p>
        </p:txBody>
      </p:sp>
      <p:sp>
        <p:nvSpPr>
          <p:cNvPr id="1234" name=""/>
          <p:cNvSpPr/>
          <p:nvPr/>
        </p:nvSpPr>
        <p:spPr>
          <a:xfrm rot="0" flipH="0" flipV="0">
            <a:off x="5029200" y="3390900"/>
            <a:ext cx="552450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5" name="" descr="{&quot;isTemplate&quot;:true,&quot;type&quot;:&quot;text&quot;}"/>
          <p:cNvSpPr txBox="1"/>
          <p:nvPr/>
        </p:nvSpPr>
        <p:spPr>
          <a:xfrm rot="0" flipH="0" flipV="0">
            <a:off x="5133975" y="3438525"/>
            <a:ext cx="3429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2025</a:t>
            </a:r>
            <a:endParaRPr/>
          </a:p>
        </p:txBody>
      </p:sp>
      <p:sp>
        <p:nvSpPr>
          <p:cNvPr id="1236" name=""/>
          <p:cNvSpPr/>
          <p:nvPr/>
        </p:nvSpPr>
        <p:spPr>
          <a:xfrm rot="0" flipH="0" flipV="0">
            <a:off x="56578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7" name="" descr="{&quot;isTemplate&quot;:true,&quot;type&quot;:&quot;text&quot;}"/>
          <p:cNvSpPr txBox="1"/>
          <p:nvPr/>
        </p:nvSpPr>
        <p:spPr>
          <a:xfrm rot="0" flipH="0" flipV="0">
            <a:off x="57626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年</a:t>
            </a:r>
            <a:endParaRPr/>
          </a:p>
        </p:txBody>
      </p:sp>
      <p:sp>
        <p:nvSpPr>
          <p:cNvPr id="1238" name=""/>
          <p:cNvSpPr/>
          <p:nvPr/>
        </p:nvSpPr>
        <p:spPr>
          <a:xfrm rot="0" flipH="0" flipV="0">
            <a:off x="6086475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39" name="" descr="{&quot;isTemplate&quot;:true,&quot;type&quot;:&quot;text&quot;}"/>
          <p:cNvSpPr txBox="1"/>
          <p:nvPr/>
        </p:nvSpPr>
        <p:spPr>
          <a:xfrm rot="0" flipH="0" flipV="0">
            <a:off x="6191250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营</a:t>
            </a:r>
            <a:endParaRPr/>
          </a:p>
        </p:txBody>
      </p:sp>
      <p:sp>
        <p:nvSpPr>
          <p:cNvPr id="1240" name=""/>
          <p:cNvSpPr/>
          <p:nvPr/>
        </p:nvSpPr>
        <p:spPr>
          <a:xfrm rot="0" flipH="0" flipV="0">
            <a:off x="651510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41" name="" descr="{&quot;isTemplate&quot;:true,&quot;type&quot;:&quot;text&quot;}"/>
          <p:cNvSpPr txBox="1"/>
          <p:nvPr/>
        </p:nvSpPr>
        <p:spPr>
          <a:xfrm rot="0" flipH="0" flipV="0">
            <a:off x="661987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收</a:t>
            </a:r>
            <a:endParaRPr/>
          </a:p>
        </p:txBody>
      </p:sp>
      <p:sp>
        <p:nvSpPr>
          <p:cNvPr id="1242" name=""/>
          <p:cNvSpPr/>
          <p:nvPr/>
        </p:nvSpPr>
        <p:spPr>
          <a:xfrm rot="0" flipH="0" flipV="0">
            <a:off x="6943725" y="3390900"/>
            <a:ext cx="4667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43" name="" descr="{&quot;isTemplate&quot;:true,&quot;type&quot;:&quot;text&quot;}"/>
          <p:cNvSpPr txBox="1"/>
          <p:nvPr/>
        </p:nvSpPr>
        <p:spPr>
          <a:xfrm rot="0" flipH="0" flipV="0">
            <a:off x="7048500" y="3438525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3.2</a:t>
            </a:r>
            <a:endParaRPr/>
          </a:p>
        </p:txBody>
      </p:sp>
      <p:sp>
        <p:nvSpPr>
          <p:cNvPr id="1244" name=""/>
          <p:cNvSpPr/>
          <p:nvPr/>
        </p:nvSpPr>
        <p:spPr>
          <a:xfrm rot="0" flipH="0" flipV="0">
            <a:off x="7486650" y="3390900"/>
            <a:ext cx="352425" cy="266700"/>
          </a:xfrm>
          <a:prstGeom prst="roundRect">
            <a:avLst>
              <a:gd name="adj" fmla="val 10714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45" name="" descr="{&quot;isTemplate&quot;:true,&quot;type&quot;:&quot;text&quot;}"/>
          <p:cNvSpPr txBox="1"/>
          <p:nvPr/>
        </p:nvSpPr>
        <p:spPr>
          <a:xfrm rot="0" flipH="0" flipV="0">
            <a:off x="7591425" y="3438525"/>
            <a:ext cx="142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AD4EE"/>
                </a:solidFill>
                <a:latin typeface="JetBrains Mono"/>
                <a:ea typeface="JetBrains Mono"/>
              </a:rPr>
              <a:t>亿</a:t>
            </a:r>
            <a:endParaRPr/>
          </a:p>
        </p:txBody>
      </p:sp>
      <p:sp>
        <p:nvSpPr>
          <p:cNvPr id="1246" name="" descr="{&quot;isTemplate&quot;:true,&quot;type&quot;:&quot;text&quot;}"/>
          <p:cNvSpPr txBox="1"/>
          <p:nvPr/>
        </p:nvSpPr>
        <p:spPr>
          <a:xfrm rot="0" flipH="0" flipV="0">
            <a:off x="7972425" y="343852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9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（中文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1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汉字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≈ 2 token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1247" name=""/>
          <p:cNvSpPr/>
          <p:nvPr/>
        </p:nvSpPr>
        <p:spPr>
          <a:xfrm rot="0" flipH="0" flipV="0">
            <a:off x="4457700" y="5419725"/>
            <a:ext cx="7048500" cy="638175"/>
          </a:xfrm>
          <a:prstGeom prst="roundRect">
            <a:avLst>
              <a:gd name="adj" fmla="val 597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48" name="" descr="{&quot;isTemplate&quot;:true,&quot;type&quot;:&quot;text&quot;}"/>
          <p:cNvSpPr txBox="1"/>
          <p:nvPr/>
        </p:nvSpPr>
        <p:spPr>
          <a:xfrm rot="0" flipH="0" flipV="0">
            <a:off x="4629150" y="5629275"/>
            <a:ext cx="3810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249" name="" descr="{&quot;isTemplate&quot;:true,&quot;type&quot;:&quot;text&quot;}"/>
          <p:cNvSpPr txBox="1"/>
          <p:nvPr/>
        </p:nvSpPr>
        <p:spPr>
          <a:xfrm rot="0" flipH="0" flipV="0">
            <a:off x="5143500" y="5572125"/>
            <a:ext cx="6191250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多轮工具调用后上下文膨胀是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必然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，不是意外——预算要自己管。</a:t>
            </a:r>
            <a:endParaRPr/>
          </a:p>
        </p:txBody>
      </p:sp>
      <p:sp>
        <p:nvSpPr>
          <p:cNvPr id="125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5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04 / 33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54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55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371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四个必须先记住的概念</a:t>
            </a:r>
            <a:endParaRPr/>
          </a:p>
        </p:txBody>
      </p:sp>
      <p:sp>
        <p:nvSpPr>
          <p:cNvPr id="1256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3719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它们分别管着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说什么、怎么说、会不会编、记不记得住</a:t>
            </a:r>
            <a:endParaRPr/>
          </a:p>
        </p:txBody>
      </p:sp>
      <p:sp>
        <p:nvSpPr>
          <p:cNvPr id="1257" name=""/>
          <p:cNvSpPr/>
          <p:nvPr/>
        </p:nvSpPr>
        <p:spPr>
          <a:xfrm rot="0" flipH="0" flipV="0">
            <a:off x="685800" y="1143000"/>
            <a:ext cx="6505575" cy="4914900"/>
          </a:xfrm>
          <a:custGeom>
            <a:pathLst>
              <a:path w="683" h="516">
                <a:moveTo>
                  <a:pt x="682" y="0"/>
                </a:moveTo>
                <a:lnTo>
                  <a:pt x="683" y="0"/>
                </a:lnTo>
                <a:lnTo>
                  <a:pt x="683" y="516"/>
                </a:lnTo>
                <a:lnTo>
                  <a:pt x="68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58" name=""/>
          <p:cNvSpPr/>
          <p:nvPr/>
        </p:nvSpPr>
        <p:spPr>
          <a:xfrm rot="0" flipH="0" flipV="0">
            <a:off x="685800" y="1143000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59" name=""/>
          <p:cNvSpPr/>
          <p:nvPr/>
        </p:nvSpPr>
        <p:spPr>
          <a:xfrm rot="0" flipH="0" flipV="0">
            <a:off x="685800" y="1238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6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90575" y="1343025"/>
            <a:ext cx="200025" cy="200025"/>
          </a:xfrm>
          <a:prstGeom prst="rect">
            <a:avLst/>
          </a:prstGeom>
          <a:ln/>
        </p:spPr>
      </p:pic>
      <p:sp>
        <p:nvSpPr>
          <p:cNvPr id="1261" name="" descr="{&quot;isTemplate&quot;:true,&quot;type&quot;:&quot;text&quot;}"/>
          <p:cNvSpPr txBox="1"/>
          <p:nvPr/>
        </p:nvSpPr>
        <p:spPr>
          <a:xfrm rot="0" flipH="0" flipV="0">
            <a:off x="1238250" y="12382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Prompt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提示词</a:t>
            </a:r>
            <a:endParaRPr/>
          </a:p>
        </p:txBody>
      </p:sp>
      <p:sp>
        <p:nvSpPr>
          <p:cNvPr id="1262" name="" descr="{&quot;isTemplate&quot;:true,&quot;type&quot;:&quot;text&quot;}"/>
          <p:cNvSpPr txBox="1"/>
          <p:nvPr/>
        </p:nvSpPr>
        <p:spPr>
          <a:xfrm rot="0" flipH="0" flipV="0">
            <a:off x="1238250" y="15240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定角色、定任务、定边界、定输出格式。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System Prompt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就是它的岗位说明书。</a:t>
            </a:r>
            <a:endParaRPr/>
          </a:p>
        </p:txBody>
      </p:sp>
      <p:sp>
        <p:nvSpPr>
          <p:cNvPr id="1263" name=""/>
          <p:cNvSpPr/>
          <p:nvPr/>
        </p:nvSpPr>
        <p:spPr>
          <a:xfrm rot="0" flipH="0" flipV="0">
            <a:off x="685800" y="2524125"/>
            <a:ext cx="6162675" cy="790575"/>
          </a:xfrm>
          <a:custGeom>
            <a:pathLst>
              <a:path w="647" h="83">
                <a:moveTo>
                  <a:pt x="0" y="82"/>
                </a:moveTo>
                <a:lnTo>
                  <a:pt x="647" y="82"/>
                </a:lnTo>
                <a:lnTo>
                  <a:pt x="647" y="83"/>
                </a:lnTo>
                <a:lnTo>
                  <a:pt x="0" y="83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64" name=""/>
          <p:cNvSpPr/>
          <p:nvPr/>
        </p:nvSpPr>
        <p:spPr>
          <a:xfrm rot="0" flipH="0" flipV="0">
            <a:off x="685800" y="261937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90575" y="2724150"/>
            <a:ext cx="200025" cy="200025"/>
          </a:xfrm>
          <a:prstGeom prst="rect">
            <a:avLst/>
          </a:prstGeom>
          <a:ln/>
        </p:spPr>
      </p:pic>
      <p:sp>
        <p:nvSpPr>
          <p:cNvPr id="1266" name="" descr="{&quot;isTemplate&quot;:true,&quot;type&quot;:&quot;text&quot;}"/>
          <p:cNvSpPr txBox="1"/>
          <p:nvPr/>
        </p:nvSpPr>
        <p:spPr>
          <a:xfrm rot="0" flipH="0" flipV="0">
            <a:off x="1238250" y="261937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温度</a:t>
            </a:r>
            <a:endParaRPr/>
          </a:p>
        </p:txBody>
      </p:sp>
      <p:sp>
        <p:nvSpPr>
          <p:cNvPr id="1267" name="" descr="{&quot;isTemplate&quot;:true,&quot;type&quot;:&quot;text&quot;}"/>
          <p:cNvSpPr txBox="1"/>
          <p:nvPr/>
        </p:nvSpPr>
        <p:spPr>
          <a:xfrm rot="0" flipH="0" flipV="0">
            <a:off x="1238250" y="2905125"/>
            <a:ext cx="561022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控制随机性。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最确定，适合工具调用与结构化输出；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0.7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有创造力；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&gt;1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容易胡编。</a:t>
            </a:r>
            <a:endParaRPr/>
          </a:p>
        </p:txBody>
      </p:sp>
      <p:sp>
        <p:nvSpPr>
          <p:cNvPr id="1268" name=""/>
          <p:cNvSpPr/>
          <p:nvPr/>
        </p:nvSpPr>
        <p:spPr>
          <a:xfrm rot="0" flipH="0" flipV="0">
            <a:off x="685800" y="3609975"/>
            <a:ext cx="6162675" cy="1085850"/>
          </a:xfrm>
          <a:custGeom>
            <a:pathLst>
              <a:path w="647" h="114">
                <a:moveTo>
                  <a:pt x="0" y="113"/>
                </a:moveTo>
                <a:lnTo>
                  <a:pt x="647" y="113"/>
                </a:lnTo>
                <a:lnTo>
                  <a:pt x="647" y="114"/>
                </a:lnTo>
                <a:lnTo>
                  <a:pt x="0" y="114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69" name=""/>
          <p:cNvSpPr/>
          <p:nvPr/>
        </p:nvSpPr>
        <p:spPr>
          <a:xfrm rot="0" flipH="0" flipV="0">
            <a:off x="685800" y="3705225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790575" y="3810000"/>
            <a:ext cx="200025" cy="200025"/>
          </a:xfrm>
          <a:prstGeom prst="rect">
            <a:avLst/>
          </a:prstGeom>
          <a:ln/>
        </p:spPr>
      </p:pic>
      <p:sp>
        <p:nvSpPr>
          <p:cNvPr id="1271" name="" descr="{&quot;isTemplate&quot;:true,&quot;type&quot;:&quot;text&quot;}"/>
          <p:cNvSpPr txBox="1"/>
          <p:nvPr/>
        </p:nvSpPr>
        <p:spPr>
          <a:xfrm rot="0" flipH="0" flipV="0">
            <a:off x="1238250" y="3705225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幻觉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Hallucination</a:t>
            </a:r>
            <a:endParaRPr/>
          </a:p>
        </p:txBody>
      </p:sp>
      <p:sp>
        <p:nvSpPr>
          <p:cNvPr id="1272" name="" descr="{&quot;isTemplate&quot;:true,&quot;type&quot;:&quot;text&quot;}"/>
          <p:cNvSpPr txBox="1"/>
          <p:nvPr/>
        </p:nvSpPr>
        <p:spPr>
          <a:xfrm rot="0" flipH="0" flipV="0">
            <a:off x="1238250" y="3990975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模型会编造不存在的事实、参数、表名。压制的可靠办法只有一个：让它基于工具返回的真实数据作答。</a:t>
            </a:r>
            <a:endParaRPr/>
          </a:p>
        </p:txBody>
      </p:sp>
      <p:sp>
        <p:nvSpPr>
          <p:cNvPr id="1273" name=""/>
          <p:cNvSpPr/>
          <p:nvPr/>
        </p:nvSpPr>
        <p:spPr>
          <a:xfrm rot="0" flipH="0" flipV="0">
            <a:off x="685800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2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790575" y="5191125"/>
            <a:ext cx="200025" cy="200025"/>
          </a:xfrm>
          <a:prstGeom prst="rect">
            <a:avLst/>
          </a:prstGeom>
          <a:ln/>
        </p:spPr>
      </p:pic>
      <p:sp>
        <p:nvSpPr>
          <p:cNvPr id="1275" name="" descr="{&quot;isTemplate&quot;:true,&quot;type&quot;:&quot;text&quot;}"/>
          <p:cNvSpPr txBox="1"/>
          <p:nvPr/>
        </p:nvSpPr>
        <p:spPr>
          <a:xfrm rot="0" flipH="0" flipV="0">
            <a:off x="1238250" y="5086350"/>
            <a:ext cx="56102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Embedding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嵌入向量</a:t>
            </a:r>
            <a:endParaRPr/>
          </a:p>
        </p:txBody>
      </p:sp>
      <p:sp>
        <p:nvSpPr>
          <p:cNvPr id="1276" name="" descr="{&quot;isTemplate&quot;:true,&quot;type&quot;:&quot;text&quot;}"/>
          <p:cNvSpPr txBox="1"/>
          <p:nvPr/>
        </p:nvSpPr>
        <p:spPr>
          <a:xfrm rot="0" flipH="0" flipV="0">
            <a:off x="1238250" y="5372100"/>
            <a:ext cx="56102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把文本转成向量，用相似度衡量语义远近（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相似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0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无关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-1 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相反），是长期记忆的地基。</a:t>
            </a:r>
            <a:endParaRPr/>
          </a:p>
        </p:txBody>
      </p:sp>
      <p:sp>
        <p:nvSpPr>
          <p:cNvPr id="1277" name="" descr="{&quot;isTemplate&quot;:true,&quot;type&quot;:&quot;text&quot;}"/>
          <p:cNvSpPr txBox="1"/>
          <p:nvPr/>
        </p:nvSpPr>
        <p:spPr>
          <a:xfrm rot="0" flipH="0" flipV="0">
            <a:off x="7524750" y="1143000"/>
            <a:ext cx="39814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PUT TOGETHER</a:t>
            </a:r>
            <a:endParaRPr/>
          </a:p>
        </p:txBody>
      </p:sp>
      <p:sp>
        <p:nvSpPr>
          <p:cNvPr id="1278" name="" descr="{&quot;isTemplate&quot;:true,&quot;type&quot;:&quot;text&quot;}"/>
          <p:cNvSpPr txBox="1"/>
          <p:nvPr/>
        </p:nvSpPr>
        <p:spPr>
          <a:xfrm rot="0" flipH="0" flipV="0">
            <a:off x="7524750" y="1485900"/>
            <a:ext cx="398145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四个概念，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四道稳定性的闸门</a:t>
            </a:r>
            <a:endParaRPr/>
          </a:p>
        </p:txBody>
      </p:sp>
      <p:sp>
        <p:nvSpPr>
          <p:cNvPr id="1279" name="" descr="{&quot;isTemplate&quot;:true,&quot;type&quot;:&quot;text&quot;}"/>
          <p:cNvSpPr txBox="1"/>
          <p:nvPr/>
        </p:nvSpPr>
        <p:spPr>
          <a:xfrm rot="0" flipH="0" flipV="0">
            <a:off x="7524750" y="24765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说什么</a:t>
            </a:r>
            <a:endParaRPr/>
          </a:p>
        </p:txBody>
      </p:sp>
      <p:sp>
        <p:nvSpPr>
          <p:cNvPr id="1280" name="" descr="{&quot;isTemplate&quot;:true,&quot;type&quot;:&quot;text&quot;}"/>
          <p:cNvSpPr txBox="1"/>
          <p:nvPr/>
        </p:nvSpPr>
        <p:spPr>
          <a:xfrm rot="0" flipH="0" flipV="0">
            <a:off x="11029950" y="2476500"/>
            <a:ext cx="4762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Prompt</a:t>
            </a:r>
            <a:endParaRPr/>
          </a:p>
        </p:txBody>
      </p:sp>
      <p:sp>
        <p:nvSpPr>
          <p:cNvPr id="1281" name=""/>
          <p:cNvSpPr/>
          <p:nvPr/>
        </p:nvSpPr>
        <p:spPr>
          <a:xfrm rot="0" flipH="0" flipV="0">
            <a:off x="7524750" y="2724150"/>
            <a:ext cx="39814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82" name="" descr="{&quot;isTemplate&quot;:true,&quot;type&quot;:&quot;text&quot;}"/>
          <p:cNvSpPr txBox="1"/>
          <p:nvPr/>
        </p:nvSpPr>
        <p:spPr>
          <a:xfrm rot="0" flipH="0" flipV="0">
            <a:off x="7524750" y="2867025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怎么答</a:t>
            </a:r>
            <a:endParaRPr/>
          </a:p>
        </p:txBody>
      </p:sp>
      <p:sp>
        <p:nvSpPr>
          <p:cNvPr id="1283" name="" descr="{&quot;isTemplate&quot;:true,&quot;type&quot;:&quot;text&quot;}"/>
          <p:cNvSpPr txBox="1"/>
          <p:nvPr/>
        </p:nvSpPr>
        <p:spPr>
          <a:xfrm rot="0" flipH="0" flipV="0">
            <a:off x="10325100" y="2867025"/>
            <a:ext cx="1181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Temperature = 0</a:t>
            </a:r>
            <a:endParaRPr/>
          </a:p>
        </p:txBody>
      </p:sp>
      <p:sp>
        <p:nvSpPr>
          <p:cNvPr id="1284" name=""/>
          <p:cNvSpPr/>
          <p:nvPr/>
        </p:nvSpPr>
        <p:spPr>
          <a:xfrm rot="0" flipH="0" flipV="0">
            <a:off x="7524750" y="3114675"/>
            <a:ext cx="310515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85" name="" descr="{&quot;isTemplate&quot;:true,&quot;type&quot;:&quot;text&quot;}"/>
          <p:cNvSpPr txBox="1"/>
          <p:nvPr/>
        </p:nvSpPr>
        <p:spPr>
          <a:xfrm rot="0" flipH="0" flipV="0">
            <a:off x="7524750" y="32575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会不会编</a:t>
            </a:r>
            <a:endParaRPr/>
          </a:p>
        </p:txBody>
      </p:sp>
      <p:sp>
        <p:nvSpPr>
          <p:cNvPr id="1286" name="" descr="{&quot;isTemplate&quot;:true,&quot;type&quot;:&quot;text&quot;}"/>
          <p:cNvSpPr txBox="1"/>
          <p:nvPr/>
        </p:nvSpPr>
        <p:spPr>
          <a:xfrm rot="0" flipH="0" flipV="0">
            <a:off x="10706100" y="3257550"/>
            <a:ext cx="800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工具真实数据</a:t>
            </a:r>
            <a:endParaRPr/>
          </a:p>
        </p:txBody>
      </p:sp>
      <p:sp>
        <p:nvSpPr>
          <p:cNvPr id="1287" name=""/>
          <p:cNvSpPr/>
          <p:nvPr/>
        </p:nvSpPr>
        <p:spPr>
          <a:xfrm rot="0" flipH="0" flipV="0">
            <a:off x="7524750" y="3505200"/>
            <a:ext cx="2466975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88" name="" descr="{&quot;isTemplate&quot;:true,&quot;type&quot;:&quot;text&quot;}"/>
          <p:cNvSpPr txBox="1"/>
          <p:nvPr/>
        </p:nvSpPr>
        <p:spPr>
          <a:xfrm rot="0" flipH="0" flipV="0">
            <a:off x="7524750" y="36480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记得住吗</a:t>
            </a:r>
            <a:endParaRPr/>
          </a:p>
        </p:txBody>
      </p:sp>
      <p:sp>
        <p:nvSpPr>
          <p:cNvPr id="1289" name="" descr="{&quot;isTemplate&quot;:true,&quot;type&quot;:&quot;text&quot;}"/>
          <p:cNvSpPr txBox="1"/>
          <p:nvPr/>
        </p:nvSpPr>
        <p:spPr>
          <a:xfrm rot="0" flipH="0" flipV="0">
            <a:off x="10163175" y="3648075"/>
            <a:ext cx="13430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 xml:space="preserve">Embedding + </a:t>
            </a:r>
            <a:r>
              <a:rPr lang="zh-CN" sz="1050">
                <a:solidFill>
                  <a:srgbClr val="2AD4EE"/>
                </a:solidFill>
                <a:latin typeface="JetBrains Mono"/>
                <a:ea typeface="JetBrains Mono"/>
              </a:rPr>
              <a:t>向量库</a:t>
            </a:r>
            <a:endParaRPr/>
          </a:p>
        </p:txBody>
      </p:sp>
      <p:sp>
        <p:nvSpPr>
          <p:cNvPr id="1290" name=""/>
          <p:cNvSpPr/>
          <p:nvPr/>
        </p:nvSpPr>
        <p:spPr>
          <a:xfrm rot="0" flipH="0" flipV="0">
            <a:off x="7524750" y="3895725"/>
            <a:ext cx="1828800" cy="28575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16233D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91" name=""/>
          <p:cNvSpPr/>
          <p:nvPr/>
        </p:nvSpPr>
        <p:spPr>
          <a:xfrm rot="0" flipH="0" flipV="0">
            <a:off x="7524750" y="5067300"/>
            <a:ext cx="3981450" cy="990600"/>
          </a:xfrm>
          <a:prstGeom prst="roundRect">
            <a:avLst>
              <a:gd name="adj" fmla="val 384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292" name="" descr="{&quot;isTemplate&quot;:true,&quot;type&quot;:&quot;text&quot;}"/>
          <p:cNvSpPr txBox="1"/>
          <p:nvPr/>
        </p:nvSpPr>
        <p:spPr>
          <a:xfrm rot="0" flipH="0" flipV="0">
            <a:off x="7696200" y="5219700"/>
            <a:ext cx="363855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这四点决定了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稳定性上限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——它们出问题，模型再强也救不回来。</a:t>
            </a:r>
            <a:endParaRPr/>
          </a:p>
        </p:txBody>
      </p:sp>
      <p:sp>
        <p:nvSpPr>
          <p:cNvPr id="129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9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05 / 33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29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9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695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两种调用方式：对话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vs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endParaRPr/>
          </a:p>
        </p:txBody>
      </p:sp>
      <p:sp>
        <p:nvSpPr>
          <p:cNvPr id="129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69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从「只会说」到「能动手」，差别就在出口是文本还是结构化参数</a:t>
            </a:r>
            <a:endParaRPr/>
          </a:p>
        </p:txBody>
      </p:sp>
      <p:sp>
        <p:nvSpPr>
          <p:cNvPr id="1300" name=""/>
          <p:cNvSpPr/>
          <p:nvPr/>
        </p:nvSpPr>
        <p:spPr>
          <a:xfrm rot="0" flipH="0" flipV="0">
            <a:off x="685800" y="1143000"/>
            <a:ext cx="3238500" cy="4095750"/>
          </a:xfrm>
          <a:custGeom>
            <a:pathLst>
              <a:path w="340" h="430">
                <a:moveTo>
                  <a:pt x="339" y="0"/>
                </a:moveTo>
                <a:lnTo>
                  <a:pt x="340" y="0"/>
                </a:lnTo>
                <a:lnTo>
                  <a:pt x="340" y="430"/>
                </a:lnTo>
                <a:lnTo>
                  <a:pt x="339" y="43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62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THE DIVIDE</a:t>
            </a:r>
            <a:endParaRPr/>
          </a:p>
        </p:txBody>
      </p:sp>
      <p:sp>
        <p:nvSpPr>
          <p:cNvPr id="1302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62275" cy="100012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模型只说，</a:t>
            </a:r>
            <a:endParaRPr/>
          </a:p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E8EEF9"/>
                </a:solidFill>
                <a:latin typeface="Source Han Sans SC"/>
                <a:ea typeface="Source Han Sans SC"/>
              </a:rPr>
              <a:t>不做</a:t>
            </a:r>
            <a:endParaRPr/>
          </a:p>
        </p:txBody>
      </p:sp>
      <p:sp>
        <p:nvSpPr>
          <p:cNvPr id="1303" name="" descr="{&quot;isTemplate&quot;:true,&quot;type&quot;:&quot;text&quot;}"/>
          <p:cNvSpPr txBox="1"/>
          <p:nvPr/>
        </p:nvSpPr>
        <p:spPr>
          <a:xfrm rot="0" flipH="0" flipV="0">
            <a:off x="685800" y="2638425"/>
            <a:ext cx="29622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两种方式里，模型都只负责「说要调什么」；真正执行函数的永远是我们的代码。这就是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安全的关键——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304" name=""/>
          <p:cNvSpPr/>
          <p:nvPr/>
        </p:nvSpPr>
        <p:spPr>
          <a:xfrm rot="0" flipH="0" flipV="0">
            <a:off x="6858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5" name="" descr="{&quot;isTemplate&quot;:true,&quot;type&quot;:&quot;text&quot;}"/>
          <p:cNvSpPr txBox="1"/>
          <p:nvPr/>
        </p:nvSpPr>
        <p:spPr>
          <a:xfrm rot="0" flipH="0" flipV="0">
            <a:off x="7810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建议权在模型</a:t>
            </a:r>
            <a:endParaRPr/>
          </a:p>
        </p:txBody>
      </p:sp>
      <p:sp>
        <p:nvSpPr>
          <p:cNvPr id="1306" name=""/>
          <p:cNvSpPr/>
          <p:nvPr/>
        </p:nvSpPr>
        <p:spPr>
          <a:xfrm rot="0" flipH="0" flipV="0">
            <a:off x="1752600" y="4191000"/>
            <a:ext cx="9906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7" name="" descr="{&quot;isTemplate&quot;:true,&quot;type&quot;:&quot;text&quot;}"/>
          <p:cNvSpPr txBox="1"/>
          <p:nvPr/>
        </p:nvSpPr>
        <p:spPr>
          <a:xfrm rot="0" flipH="0" flipV="0">
            <a:off x="1847850" y="42291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执行权在代码</a:t>
            </a:r>
            <a:endParaRPr/>
          </a:p>
        </p:txBody>
      </p:sp>
      <p:sp>
        <p:nvSpPr>
          <p:cNvPr id="1308" name=""/>
          <p:cNvSpPr/>
          <p:nvPr/>
        </p:nvSpPr>
        <p:spPr>
          <a:xfrm rot="0" flipH="0" flipV="0">
            <a:off x="685800" y="4505325"/>
            <a:ext cx="85725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09" name="" descr="{&quot;isTemplate&quot;:true,&quot;type&quot;:&quot;text&quot;}"/>
          <p:cNvSpPr txBox="1"/>
          <p:nvPr/>
        </p:nvSpPr>
        <p:spPr>
          <a:xfrm rot="0" flipH="0" flipV="0">
            <a:off x="781050" y="4543425"/>
            <a:ext cx="666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结构化参数</a:t>
            </a:r>
            <a:endParaRPr/>
          </a:p>
        </p:txBody>
      </p:sp>
      <p:pic>
        <p:nvPicPr>
          <p:cNvPr id="131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267200" y="1171575"/>
            <a:ext cx="152400" cy="152400"/>
          </a:xfrm>
          <a:prstGeom prst="rect">
            <a:avLst/>
          </a:prstGeom>
          <a:ln/>
        </p:spPr>
      </p:pic>
      <p:sp>
        <p:nvSpPr>
          <p:cNvPr id="1311" name="" descr="{&quot;isTemplate&quot;:true,&quot;type&quot;:&quot;text&quot;}"/>
          <p:cNvSpPr txBox="1"/>
          <p:nvPr/>
        </p:nvSpPr>
        <p:spPr>
          <a:xfrm rot="0" flipH="0" flipV="0">
            <a:off x="4514850" y="1143000"/>
            <a:ext cx="2362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① </a:t>
            </a:r>
            <a:r>
              <a:rPr lang="zh-CN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普通对话</a:t>
            </a:r>
            <a:r>
              <a:rPr lang="en-US" sz="1275" b="1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· Chat Completions</a:t>
            </a:r>
            <a:endParaRPr/>
          </a:p>
        </p:txBody>
      </p:sp>
      <p:sp>
        <p:nvSpPr>
          <p:cNvPr id="1312" name=""/>
          <p:cNvSpPr/>
          <p:nvPr/>
        </p:nvSpPr>
        <p:spPr>
          <a:xfrm rot="0" flipH="0" flipV="0">
            <a:off x="42672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3" name="" descr="{&quot;isTemplate&quot;:true,&quot;type&quot;:&quot;text&quot;}"/>
          <p:cNvSpPr txBox="1"/>
          <p:nvPr/>
        </p:nvSpPr>
        <p:spPr>
          <a:xfrm rot="0" flipH="0" flipV="0">
            <a:off x="4676775" y="16668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314" name="" descr="{&quot;isTemplate&quot;:true,&quot;type&quot;:&quot;text&quot;}"/>
          <p:cNvSpPr txBox="1"/>
          <p:nvPr/>
        </p:nvSpPr>
        <p:spPr>
          <a:xfrm rot="0" flipH="0" flipV="0">
            <a:off x="4572000" y="1895475"/>
            <a:ext cx="819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messages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数组</a:t>
            </a:r>
            <a:endParaRPr/>
          </a:p>
        </p:txBody>
      </p:sp>
      <p:sp>
        <p:nvSpPr>
          <p:cNvPr id="1315" name="" descr="{&quot;isTemplate&quot;:true,&quot;type&quot;:&quot;text&quot;}"/>
          <p:cNvSpPr txBox="1"/>
          <p:nvPr/>
        </p:nvSpPr>
        <p:spPr>
          <a:xfrm rot="0" flipH="0" flipV="0">
            <a:off x="56959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16" name=""/>
          <p:cNvSpPr/>
          <p:nvPr/>
        </p:nvSpPr>
        <p:spPr>
          <a:xfrm rot="0" flipH="0" flipV="0">
            <a:off x="6134100" y="1476375"/>
            <a:ext cx="142875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17" name="" descr="{&quot;isTemplate&quot;:true,&quot;type&quot;:&quot;text&quot;}"/>
          <p:cNvSpPr txBox="1"/>
          <p:nvPr/>
        </p:nvSpPr>
        <p:spPr>
          <a:xfrm rot="0" flipH="0" flipV="0">
            <a:off x="6715125" y="1666875"/>
            <a:ext cx="2762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318" name="" descr="{&quot;isTemplate&quot;:true,&quot;type&quot;:&quot;text&quot;}"/>
          <p:cNvSpPr txBox="1"/>
          <p:nvPr/>
        </p:nvSpPr>
        <p:spPr>
          <a:xfrm rot="0" flipH="0" flipV="0">
            <a:off x="6724650" y="18954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生成</a:t>
            </a:r>
            <a:endParaRPr/>
          </a:p>
        </p:txBody>
      </p:sp>
      <p:sp>
        <p:nvSpPr>
          <p:cNvPr id="1319" name="" descr="{&quot;isTemplate&quot;:true,&quot;type&quot;:&quot;text&quot;}"/>
          <p:cNvSpPr txBox="1"/>
          <p:nvPr/>
        </p:nvSpPr>
        <p:spPr>
          <a:xfrm rot="0" flipH="0" flipV="0">
            <a:off x="7562850" y="1743075"/>
            <a:ext cx="43815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20" name=""/>
          <p:cNvSpPr/>
          <p:nvPr/>
        </p:nvSpPr>
        <p:spPr>
          <a:xfrm rot="0" flipH="0" flipV="0">
            <a:off x="8001000" y="1476375"/>
            <a:ext cx="2209800" cy="762000"/>
          </a:xfrm>
          <a:prstGeom prst="roundRect">
            <a:avLst>
              <a:gd name="adj" fmla="val 5000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E8EEF9">
                <a:alpha val="1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1" name="" descr="{&quot;isTemplate&quot;:true,&quot;type&quot;:&quot;text&quot;}"/>
          <p:cNvSpPr txBox="1"/>
          <p:nvPr/>
        </p:nvSpPr>
        <p:spPr>
          <a:xfrm rot="0" flipH="0" flipV="0">
            <a:off x="8724900" y="1666875"/>
            <a:ext cx="762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纯文本输出</a:t>
            </a:r>
            <a:endParaRPr/>
          </a:p>
        </p:txBody>
      </p:sp>
      <p:sp>
        <p:nvSpPr>
          <p:cNvPr id="1322" name="" descr="{&quot;isTemplate&quot;:true,&quot;type&quot;:&quot;text&quot;}"/>
          <p:cNvSpPr txBox="1"/>
          <p:nvPr/>
        </p:nvSpPr>
        <p:spPr>
          <a:xfrm rot="0" flipH="0" flipV="0">
            <a:off x="8181975" y="1895475"/>
            <a:ext cx="18573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程序只拿到一个字符串，到此为止</a:t>
            </a:r>
            <a:endParaRPr/>
          </a:p>
        </p:txBody>
      </p:sp>
      <p:pic>
        <p:nvPicPr>
          <p:cNvPr id="13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267200" y="4019550"/>
            <a:ext cx="152400" cy="152400"/>
          </a:xfrm>
          <a:prstGeom prst="rect">
            <a:avLst/>
          </a:prstGeom>
          <a:ln/>
        </p:spPr>
      </p:pic>
      <p:sp>
        <p:nvSpPr>
          <p:cNvPr id="1324" name="" descr="{&quot;isTemplate&quot;:true,&quot;type&quot;:&quot;text&quot;}"/>
          <p:cNvSpPr txBox="1"/>
          <p:nvPr/>
        </p:nvSpPr>
        <p:spPr>
          <a:xfrm rot="0" flipH="0" flipV="0">
            <a:off x="4514850" y="3990975"/>
            <a:ext cx="22383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②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工具调用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Function Calling</a:t>
            </a:r>
            <a:endParaRPr/>
          </a:p>
        </p:txBody>
      </p:sp>
      <p:sp>
        <p:nvSpPr>
          <p:cNvPr id="1325" name=""/>
          <p:cNvSpPr/>
          <p:nvPr/>
        </p:nvSpPr>
        <p:spPr>
          <a:xfrm rot="0" flipH="0" flipV="0">
            <a:off x="426720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26" name="" descr="{&quot;isTemplate&quot;:true,&quot;type&quot;:&quot;text&quot;}"/>
          <p:cNvSpPr txBox="1"/>
          <p:nvPr/>
        </p:nvSpPr>
        <p:spPr>
          <a:xfrm rot="0" flipH="0" flipV="0">
            <a:off x="461962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1327" name="" descr="{&quot;isTemplate&quot;:true,&quot;type&quot;:&quot;text&quot;}"/>
          <p:cNvSpPr txBox="1"/>
          <p:nvPr/>
        </p:nvSpPr>
        <p:spPr>
          <a:xfrm rot="0" flipH="0" flipV="0">
            <a:off x="4343400" y="4819650"/>
            <a:ext cx="1162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「</a:t>
            </a:r>
            <a:r>
              <a:rPr lang="en-US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128×456 </a:t>
            </a:r>
            <a:r>
              <a:rPr lang="zh-CN" sz="9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等于几」</a:t>
            </a:r>
            <a:endParaRPr/>
          </a:p>
        </p:txBody>
      </p:sp>
      <p:sp>
        <p:nvSpPr>
          <p:cNvPr id="1328" name="" descr="{&quot;isTemplate&quot;:true,&quot;type&quot;:&quot;text&quot;}"/>
          <p:cNvSpPr txBox="1"/>
          <p:nvPr/>
        </p:nvSpPr>
        <p:spPr>
          <a:xfrm rot="0" flipH="0" flipV="0">
            <a:off x="55816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29" name=""/>
          <p:cNvSpPr/>
          <p:nvPr/>
        </p:nvSpPr>
        <p:spPr>
          <a:xfrm rot="0" flipH="0" flipV="0">
            <a:off x="592455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0" name="" descr="{&quot;isTemplate&quot;:true,&quot;type&quot;:&quot;text&quot;}"/>
          <p:cNvSpPr txBox="1"/>
          <p:nvPr/>
        </p:nvSpPr>
        <p:spPr>
          <a:xfrm rot="0" flipH="0" flipV="0">
            <a:off x="6124575" y="4591050"/>
            <a:ext cx="1295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LLM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输出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tool_calls</a:t>
            </a:r>
            <a:endParaRPr/>
          </a:p>
        </p:txBody>
      </p:sp>
      <p:sp>
        <p:nvSpPr>
          <p:cNvPr id="1331" name="" descr="{&quot;isTemplate&quot;:true,&quot;type&quot;:&quot;text&quot;}"/>
          <p:cNvSpPr txBox="1"/>
          <p:nvPr/>
        </p:nvSpPr>
        <p:spPr>
          <a:xfrm rot="0" flipH="0" flipV="0">
            <a:off x="6467475" y="481965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 xml:space="preserve">JSON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JetBrains Mono"/>
                <a:ea typeface="JetBrains Mono"/>
              </a:rPr>
              <a:t>参数</a:t>
            </a:r>
            <a:endParaRPr/>
          </a:p>
        </p:txBody>
      </p:sp>
      <p:sp>
        <p:nvSpPr>
          <p:cNvPr id="1332" name="" descr="{&quot;isTemplate&quot;:true,&quot;type&quot;:&quot;text&quot;}"/>
          <p:cNvSpPr txBox="1"/>
          <p:nvPr/>
        </p:nvSpPr>
        <p:spPr>
          <a:xfrm rot="0" flipH="0" flipV="0">
            <a:off x="7620000" y="4667250"/>
            <a:ext cx="3810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⇄</a:t>
            </a:r>
            <a:endParaRPr/>
          </a:p>
        </p:txBody>
      </p:sp>
      <p:sp>
        <p:nvSpPr>
          <p:cNvPr id="1333" name=""/>
          <p:cNvSpPr/>
          <p:nvPr/>
        </p:nvSpPr>
        <p:spPr>
          <a:xfrm rot="0" flipH="0" flipV="0">
            <a:off x="8001000" y="4324350"/>
            <a:ext cx="1695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4" name="" descr="{&quot;isTemplate&quot;:true,&quot;type&quot;:&quot;text&quot;}"/>
          <p:cNvSpPr txBox="1"/>
          <p:nvPr/>
        </p:nvSpPr>
        <p:spPr>
          <a:xfrm rot="0" flipH="0" flipV="0">
            <a:off x="8239125" y="45910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你的代码真正执行</a:t>
            </a:r>
            <a:endParaRPr/>
          </a:p>
        </p:txBody>
      </p:sp>
      <p:sp>
        <p:nvSpPr>
          <p:cNvPr id="1335" name="" descr="{&quot;isTemplate&quot;:true,&quot;type&quot;:&quot;text&quot;}"/>
          <p:cNvSpPr txBox="1"/>
          <p:nvPr/>
        </p:nvSpPr>
        <p:spPr>
          <a:xfrm rot="0" flipH="0" flipV="0">
            <a:off x="8343900" y="4819650"/>
            <a:ext cx="10191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role=tool </a:t>
            </a:r>
            <a:r>
              <a:rPr lang="zh-CN" sz="97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结果回填</a:t>
            </a:r>
            <a:endParaRPr/>
          </a:p>
        </p:txBody>
      </p:sp>
      <p:sp>
        <p:nvSpPr>
          <p:cNvPr id="1336" name="" descr="{&quot;isTemplate&quot;:true,&quot;type&quot;:&quot;text&quot;}"/>
          <p:cNvSpPr txBox="1"/>
          <p:nvPr/>
        </p:nvSpPr>
        <p:spPr>
          <a:xfrm rot="0" flipH="0" flipV="0">
            <a:off x="9696450" y="4667250"/>
            <a:ext cx="342900" cy="2286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337" name=""/>
          <p:cNvSpPr/>
          <p:nvPr/>
        </p:nvSpPr>
        <p:spPr>
          <a:xfrm rot="0" flipH="0" flipV="0">
            <a:off x="10039350" y="4324350"/>
            <a:ext cx="1314450" cy="914400"/>
          </a:xfrm>
          <a:prstGeom prst="roundRect">
            <a:avLst>
              <a:gd name="adj" fmla="val 4167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38" name="" descr="{&quot;isTemplate&quot;:true,&quot;type&quot;:&quot;text&quot;}"/>
          <p:cNvSpPr txBox="1"/>
          <p:nvPr/>
        </p:nvSpPr>
        <p:spPr>
          <a:xfrm rot="0" flipH="0" flipV="0">
            <a:off x="10391775" y="4591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1220"/>
                </a:solidFill>
                <a:latin typeface="Source Han Sans SC"/>
                <a:ea typeface="Source Han Sans SC"/>
              </a:rPr>
              <a:t>最终回答</a:t>
            </a:r>
            <a:endParaRPr/>
          </a:p>
        </p:txBody>
      </p:sp>
      <p:sp>
        <p:nvSpPr>
          <p:cNvPr id="1339" name="" descr="{&quot;isTemplate&quot;:true,&quot;type&quot;:&quot;text&quot;}"/>
          <p:cNvSpPr txBox="1"/>
          <p:nvPr/>
        </p:nvSpPr>
        <p:spPr>
          <a:xfrm rot="0" flipH="0" flipV="0">
            <a:off x="10515600" y="481965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58368</a:t>
            </a:r>
            <a:endParaRPr/>
          </a:p>
        </p:txBody>
      </p:sp>
      <p:sp>
        <p:nvSpPr>
          <p:cNvPr id="1340" name=""/>
          <p:cNvSpPr/>
          <p:nvPr/>
        </p:nvSpPr>
        <p:spPr>
          <a:xfrm rot="0" flipH="0" flipV="0">
            <a:off x="685800" y="5372100"/>
            <a:ext cx="10820400" cy="685800"/>
          </a:xfrm>
          <a:prstGeom prst="roundRect">
            <a:avLst>
              <a:gd name="adj" fmla="val 555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41" name="" descr="{&quot;isTemplate&quot;:true,&quot;type&quot;:&quot;text&quot;}"/>
          <p:cNvSpPr txBox="1"/>
          <p:nvPr/>
        </p:nvSpPr>
        <p:spPr>
          <a:xfrm rot="0" flipH="0" flipV="0">
            <a:off x="876300" y="5610225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共同点</a:t>
            </a:r>
            <a:endParaRPr/>
          </a:p>
        </p:txBody>
      </p:sp>
      <p:sp>
        <p:nvSpPr>
          <p:cNvPr id="1342" name=""/>
          <p:cNvSpPr/>
          <p:nvPr/>
        </p:nvSpPr>
        <p:spPr>
          <a:xfrm rot="0" flipH="0" flipV="0">
            <a:off x="1543050" y="5572125"/>
            <a:ext cx="9525" cy="28575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43" name="" descr="{&quot;isTemplate&quot;:true,&quot;type&quot;:&quot;text&quot;}"/>
          <p:cNvSpPr txBox="1"/>
          <p:nvPr/>
        </p:nvSpPr>
        <p:spPr>
          <a:xfrm rot="0" flipH="0" flipV="0">
            <a:off x="1704975" y="5381625"/>
            <a:ext cx="961072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模型不碰真实世界，它只输出「调哪个工具、传什么参数」；执行永远发生在你的进程里——这就是工具调用成为「聊天机器人」与「</a:t>
            </a:r>
            <a:r>
              <a:rPr lang="en-US" sz="1350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」分水岭的原因。</a:t>
            </a:r>
            <a:endParaRPr/>
          </a:p>
        </p:txBody>
      </p:sp>
      <p:sp>
        <p:nvSpPr>
          <p:cNvPr id="134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4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06 / 33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3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4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196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：手写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135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196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自己发明格式、自己解析、自己执行——理解原理最直观的一条路</a:t>
            </a:r>
            <a:endParaRPr/>
          </a:p>
        </p:txBody>
      </p:sp>
      <p:sp>
        <p:nvSpPr>
          <p:cNvPr id="135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fc_demo_a.py</a:t>
            </a:r>
            <a:endParaRPr/>
          </a:p>
        </p:txBody>
      </p:sp>
      <p:sp>
        <p:nvSpPr>
          <p:cNvPr id="1352" name=""/>
          <p:cNvSpPr/>
          <p:nvPr/>
        </p:nvSpPr>
        <p:spPr>
          <a:xfrm rot="0" flipH="0" flipV="0">
            <a:off x="20383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53" name="" descr="{&quot;isTemplate&quot;:true,&quot;type&quot;:&quot;text&quot;}"/>
          <p:cNvSpPr txBox="1"/>
          <p:nvPr/>
        </p:nvSpPr>
        <p:spPr>
          <a:xfrm rot="0" flipH="0" flipV="0">
            <a:off x="2162175" y="1143000"/>
            <a:ext cx="54387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约定：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Thought → Action: tool[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] → Answer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，并明令禁止编造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354" name=""/>
          <p:cNvSpPr/>
          <p:nvPr/>
        </p:nvSpPr>
        <p:spPr>
          <a:xfrm rot="0" flipH="0" flipV="0">
            <a:off x="685800" y="4514850"/>
            <a:ext cx="3619500" cy="1543050"/>
          </a:xfrm>
          <a:custGeom>
            <a:pathLst>
              <a:path w="380" h="162">
                <a:moveTo>
                  <a:pt x="379" y="0"/>
                </a:moveTo>
                <a:lnTo>
                  <a:pt x="380" y="0"/>
                </a:lnTo>
                <a:lnTo>
                  <a:pt x="380" y="162"/>
                </a:lnTo>
                <a:lnTo>
                  <a:pt x="379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55" name="" descr="{&quot;isTemplate&quot;:true,&quot;type&quot;:&quot;text&quot;}"/>
          <p:cNvSpPr txBox="1"/>
          <p:nvPr/>
        </p:nvSpPr>
        <p:spPr>
          <a:xfrm rot="0" flipH="0" flipV="0">
            <a:off x="685800" y="4514850"/>
            <a:ext cx="3352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01</a:t>
            </a:r>
            <a:endParaRPr/>
          </a:p>
        </p:txBody>
      </p:sp>
      <p:sp>
        <p:nvSpPr>
          <p:cNvPr id="1356" name="" descr="{&quot;isTemplate&quot;:true,&quot;type&quot;:&quot;text&quot;}"/>
          <p:cNvSpPr txBox="1"/>
          <p:nvPr/>
        </p:nvSpPr>
        <p:spPr>
          <a:xfrm rot="0" flipH="0" flipV="0">
            <a:off x="685800" y="4752975"/>
            <a:ext cx="335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模型自演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Observation</a:t>
            </a:r>
            <a:endParaRPr/>
          </a:p>
        </p:txBody>
      </p:sp>
      <p:sp>
        <p:nvSpPr>
          <p:cNvPr id="1357" name="" descr="{&quot;isTemplate&quot;:true,&quot;type&quot;:&quot;text&quot;}"/>
          <p:cNvSpPr txBox="1"/>
          <p:nvPr/>
        </p:nvSpPr>
        <p:spPr>
          <a:xfrm rot="0" flipH="0" flipV="0">
            <a:off x="685800" y="5048250"/>
            <a:ext cx="3352800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太弱时，模型会把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/ Answer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一口气全「演」出来，甚至编造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Observation: 58848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（真实值是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58368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）。</a:t>
            </a:r>
            <a:endParaRPr/>
          </a:p>
        </p:txBody>
      </p:sp>
      <p:sp>
        <p:nvSpPr>
          <p:cNvPr id="1358" name=""/>
          <p:cNvSpPr/>
          <p:nvPr/>
        </p:nvSpPr>
        <p:spPr>
          <a:xfrm rot="0" flipH="0" flipV="0">
            <a:off x="4295775" y="4514850"/>
            <a:ext cx="3609975" cy="1543050"/>
          </a:xfrm>
          <a:custGeom>
            <a:pathLst>
              <a:path w="379" h="162">
                <a:moveTo>
                  <a:pt x="378" y="0"/>
                </a:moveTo>
                <a:lnTo>
                  <a:pt x="379" y="0"/>
                </a:lnTo>
                <a:lnTo>
                  <a:pt x="379" y="162"/>
                </a:lnTo>
                <a:lnTo>
                  <a:pt x="378" y="16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59" name="" descr="{&quot;isTemplate&quot;:true,&quot;type&quot;:&quot;text&quot;}"/>
          <p:cNvSpPr txBox="1"/>
          <p:nvPr/>
        </p:nvSpPr>
        <p:spPr>
          <a:xfrm rot="0" flipH="0" flipV="0">
            <a:off x="4543425" y="4514850"/>
            <a:ext cx="3095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02</a:t>
            </a:r>
            <a:endParaRPr/>
          </a:p>
        </p:txBody>
      </p:sp>
      <p:sp>
        <p:nvSpPr>
          <p:cNvPr id="1360" name="" descr="{&quot;isTemplate&quot;:true,&quot;type&quot;:&quot;text&quot;}"/>
          <p:cNvSpPr txBox="1"/>
          <p:nvPr/>
        </p:nvSpPr>
        <p:spPr>
          <a:xfrm rot="0" flipH="0" flipV="0">
            <a:off x="4543425" y="4752975"/>
            <a:ext cx="30956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编造结果被原样拼回</a:t>
            </a:r>
            <a:endParaRPr/>
          </a:p>
        </p:txBody>
      </p:sp>
      <p:sp>
        <p:nvSpPr>
          <p:cNvPr id="1361" name="" descr="{&quot;isTemplate&quot;:true,&quot;type&quot;:&quot;text&quot;}"/>
          <p:cNvSpPr txBox="1"/>
          <p:nvPr/>
        </p:nvSpPr>
        <p:spPr>
          <a:xfrm rot="0" flipH="0" flipV="0">
            <a:off x="4543425" y="5048250"/>
            <a:ext cx="3095625" cy="828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把模型输出整段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append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进历史，编造的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与真实结果打架，模型每轮重复同样的幻觉，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5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轮全部耗尽。</a:t>
            </a:r>
            <a:endParaRPr/>
          </a:p>
        </p:txBody>
      </p:sp>
      <p:sp>
        <p:nvSpPr>
          <p:cNvPr id="1362" name="" descr="{&quot;isTemplate&quot;:true,&quot;type&quot;:&quot;text&quot;}"/>
          <p:cNvSpPr txBox="1"/>
          <p:nvPr/>
        </p:nvSpPr>
        <p:spPr>
          <a:xfrm rot="0" flipH="0" flipV="0">
            <a:off x="8143875" y="4514850"/>
            <a:ext cx="3362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坑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03</a:t>
            </a:r>
            <a:endParaRPr/>
          </a:p>
        </p:txBody>
      </p:sp>
      <p:sp>
        <p:nvSpPr>
          <p:cNvPr id="1363" name="" descr="{&quot;isTemplate&quot;:true,&quot;type&quot;:&quot;text&quot;}"/>
          <p:cNvSpPr txBox="1"/>
          <p:nvPr/>
        </p:nvSpPr>
        <p:spPr>
          <a:xfrm rot="0" flipH="0" flipV="0">
            <a:off x="8143875" y="4752975"/>
            <a:ext cx="33623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循环耗尽返回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None</a:t>
            </a:r>
            <a:endParaRPr/>
          </a:p>
        </p:txBody>
      </p:sp>
      <p:sp>
        <p:nvSpPr>
          <p:cNvPr id="1364" name="" descr="{&quot;isTemplate&quot;:true,&quot;type&quot;:&quot;text&quot;}"/>
          <p:cNvSpPr txBox="1"/>
          <p:nvPr/>
        </p:nvSpPr>
        <p:spPr>
          <a:xfrm rot="0" flipH="0" flipV="0">
            <a:off x="8143875" y="5048250"/>
            <a:ext cx="336232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run()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没有兜底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return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，最终打印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None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；报错信息只有一个空值，排查全靠猜。</a:t>
            </a:r>
            <a:endParaRPr/>
          </a:p>
        </p:txBody>
      </p:sp>
      <p:sp>
        <p:nvSpPr>
          <p:cNvPr id="136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6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07 / 33</a:t>
            </a:r>
            <a:endParaRPr/>
          </a:p>
        </p:txBody>
      </p:sp>
      <p:sp>
        <p:nvSpPr>
          <p:cNvPr id="1367" name=""/>
          <p:cNvSpPr/>
          <p:nvPr/>
        </p:nvSpPr>
        <p:spPr>
          <a:xfrm rot="0" flipH="0" flipV="0">
            <a:off x="685800" y="1390650"/>
            <a:ext cx="10820400" cy="2962275"/>
          </a:xfrm>
          <a:prstGeom prst="roundRect">
            <a:avLst>
              <a:gd name="adj" fmla="val 2572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68" name=""/>
          <p:cNvSpPr txBox="1"/>
          <p:nvPr/>
        </p:nvSpPr>
        <p:spPr>
          <a:xfrm rot="0" flipH="0" flipV="0">
            <a:off x="838200" y="1524000"/>
            <a:ext cx="10515600" cy="26955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def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B392F0"/>
                </a:solidFill>
                <a:latin typeface="Menlo"/>
                <a:ea typeface="Menlo"/>
              </a:rPr>
              <a:t>run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(q):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messages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[{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"system"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PROMPT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}, 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:q}]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_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range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5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):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最大轮数兜底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out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llm(messages, </a:t>
            </a:r>
            <a:r>
              <a:rPr sz="1050">
                <a:solidFill>
                  <a:srgbClr val="FFAB70"/>
                </a:solidFill>
                <a:latin typeface="Menlo"/>
                <a:ea typeface="Menlo"/>
              </a:rPr>
              <a:t>stop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[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])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生成阶段强制截断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hit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Action: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(\w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+?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 b="1">
                <a:solidFill>
                  <a:srgbClr val="85E89D"/>
                </a:solidFill>
                <a:latin typeface="Menlo"/>
                <a:ea typeface="Menlo"/>
              </a:rPr>
              <a:t>\]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if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not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hit:                  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没有 Action = 答完了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re.search(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DBEDFF"/>
                </a:solidFill>
                <a:latin typeface="Menlo"/>
                <a:ea typeface="Menlo"/>
              </a:rPr>
              <a:t>Answer: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\s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*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(.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+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)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 out).group(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result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globals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()[hit.group(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1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)](hit.group(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2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))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真正执行工具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"assistant"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    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 out.split(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"Observation:"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)[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0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]})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截干净再拼回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messages.append({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"role"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: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"user"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"content"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: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f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 xml:space="preserve">"Observation: 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{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result</a:t>
            </a:r>
            <a:r>
              <a:rPr sz="1050">
                <a:solidFill>
                  <a:srgbClr val="79B8FF"/>
                </a:solidFill>
                <a:latin typeface="Menlo"/>
                <a:ea typeface="Menlo"/>
              </a:rPr>
              <a:t>}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>})</a:t>
            </a:r>
            <a:endParaRPr/>
          </a:p>
          <a:p>
            <a:pPr>
              <a:lnSpc>
                <a:spcPct val="140000"/>
              </a:lnSpc>
            </a:pP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1050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1050">
                <a:solidFill>
                  <a:srgbClr val="9ECBFF"/>
                </a:solidFill>
                <a:latin typeface="Menlo"/>
                <a:ea typeface="Menlo"/>
              </a:rPr>
              <a:t>"达到最大轮数，未能得到答案"</a:t>
            </a:r>
            <a:r>
              <a:rPr sz="1050">
                <a:solidFill>
                  <a:srgbClr val="E1E4E8"/>
                </a:solidFill>
                <a:latin typeface="Menlo"/>
                <a:ea typeface="Menlo"/>
              </a:rPr>
              <a:t xml:space="preserve">                    </a:t>
            </a:r>
            <a:r>
              <a:rPr sz="1050">
                <a:solidFill>
                  <a:srgbClr val="6A737D"/>
                </a:solidFill>
                <a:latin typeface="Menlo"/>
                <a:ea typeface="Menlo"/>
              </a:rPr>
              <a:t># 兜底返回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3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371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2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572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方案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：原生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（推荐）</a:t>
            </a:r>
            <a:endParaRPr/>
          </a:p>
        </p:txBody>
      </p:sp>
      <p:sp>
        <p:nvSpPr>
          <p:cNvPr id="1373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572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声明，模型直接返回结构化参数——不用正则</a:t>
            </a:r>
            <a:endParaRPr/>
          </a:p>
        </p:txBody>
      </p:sp>
      <p:sp>
        <p:nvSpPr>
          <p:cNvPr id="1374" name=""/>
          <p:cNvSpPr/>
          <p:nvPr/>
        </p:nvSpPr>
        <p:spPr>
          <a:xfrm rot="0" flipH="0" flipV="0">
            <a:off x="685800" y="1143000"/>
            <a:ext cx="3200400" cy="4381500"/>
          </a:xfrm>
          <a:custGeom>
            <a:pathLst>
              <a:path w="336" h="460">
                <a:moveTo>
                  <a:pt x="335" y="0"/>
                </a:moveTo>
                <a:lnTo>
                  <a:pt x="336" y="0"/>
                </a:lnTo>
                <a:lnTo>
                  <a:pt x="336" y="460"/>
                </a:lnTo>
                <a:lnTo>
                  <a:pt x="335" y="46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5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WHY BETTER</a:t>
            </a:r>
            <a:endParaRPr/>
          </a:p>
        </p:txBody>
      </p:sp>
      <p:sp>
        <p:nvSpPr>
          <p:cNvPr id="1376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895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格式是官方标准，</a:t>
            </a:r>
            <a:endParaRPr/>
          </a:p>
          <a:p>
            <a:pPr>
              <a:lnSpc>
                <a:spcPct val="150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不用自己发明</a:t>
            </a:r>
            <a:endParaRPr/>
          </a:p>
        </p:txBody>
      </p:sp>
      <p:sp>
        <p:nvSpPr>
          <p:cNvPr id="1377" name="" descr="{&quot;isTemplate&quot;:true,&quot;type&quot;:&quot;text&quot;}"/>
          <p:cNvSpPr txBox="1"/>
          <p:nvPr/>
        </p:nvSpPr>
        <p:spPr>
          <a:xfrm rot="0" flipH="0" flipV="0">
            <a:off x="685800" y="25336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工具用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正式声明并随请求传入；模型开启特训过的「工具模式」，返回值直接是结构化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JSON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，稳定性和兼容性都由模型侧保证。</a:t>
            </a:r>
            <a:endParaRPr/>
          </a:p>
        </p:txBody>
      </p:sp>
      <p:sp>
        <p:nvSpPr>
          <p:cNvPr id="1378" name=""/>
          <p:cNvSpPr/>
          <p:nvPr/>
        </p:nvSpPr>
        <p:spPr>
          <a:xfrm rot="0" flipH="0" flipV="0">
            <a:off x="685800" y="4067175"/>
            <a:ext cx="1038225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9" name="" descr="{&quot;isTemplate&quot;:true,&quot;type&quot;:&quot;text&quot;}"/>
          <p:cNvSpPr txBox="1"/>
          <p:nvPr/>
        </p:nvSpPr>
        <p:spPr>
          <a:xfrm rot="0" flipH="0" flipV="0">
            <a:off x="781050" y="4105275"/>
            <a:ext cx="847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JSON Schema</a:t>
            </a:r>
            <a:endParaRPr/>
          </a:p>
        </p:txBody>
      </p:sp>
      <p:sp>
        <p:nvSpPr>
          <p:cNvPr id="1380" name=""/>
          <p:cNvSpPr/>
          <p:nvPr/>
        </p:nvSpPr>
        <p:spPr>
          <a:xfrm rot="0" flipH="0" flipV="0">
            <a:off x="1800225" y="4067175"/>
            <a:ext cx="7620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1" name="" descr="{&quot;isTemplate&quot;:true,&quot;type&quot;:&quot;text&quot;}"/>
          <p:cNvSpPr txBox="1"/>
          <p:nvPr/>
        </p:nvSpPr>
        <p:spPr>
          <a:xfrm rot="0" flipH="0" flipV="0">
            <a:off x="1895475" y="4105275"/>
            <a:ext cx="571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Source Han Sans SC"/>
                <a:ea typeface="Source Han Sans SC"/>
              </a:rPr>
              <a:t>tool_calls</a:t>
            </a:r>
            <a:endParaRPr/>
          </a:p>
        </p:txBody>
      </p:sp>
      <p:sp>
        <p:nvSpPr>
          <p:cNvPr id="1382" name=""/>
          <p:cNvSpPr/>
          <p:nvPr/>
        </p:nvSpPr>
        <p:spPr>
          <a:xfrm rot="0" flipH="0" flipV="0">
            <a:off x="2638425" y="4067175"/>
            <a:ext cx="723900" cy="238125"/>
          </a:xfrm>
          <a:prstGeom prst="roundRect">
            <a:avLst>
              <a:gd name="adj" fmla="val 120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3" name="" descr="{&quot;isTemplate&quot;:true,&quot;type&quot;:&quot;text&quot;}"/>
          <p:cNvSpPr txBox="1"/>
          <p:nvPr/>
        </p:nvSpPr>
        <p:spPr>
          <a:xfrm rot="0" flipH="0" flipV="0">
            <a:off x="2733675" y="4105275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无需正则</a:t>
            </a:r>
            <a:endParaRPr/>
          </a:p>
        </p:txBody>
      </p:sp>
      <p:sp>
        <p:nvSpPr>
          <p:cNvPr id="1384" name=""/>
          <p:cNvSpPr/>
          <p:nvPr/>
        </p:nvSpPr>
        <p:spPr>
          <a:xfrm rot="0" flipH="0" flipV="0">
            <a:off x="714375" y="4343400"/>
            <a:ext cx="2924175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5" name=""/>
          <p:cNvSpPr/>
          <p:nvPr/>
        </p:nvSpPr>
        <p:spPr>
          <a:xfrm rot="0" flipH="0" flipV="0">
            <a:off x="714375" y="4343400"/>
            <a:ext cx="2924175" cy="1181100"/>
          </a:xfrm>
          <a:custGeom>
            <a:pathLst>
              <a:path w="307" h="124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23"/>
                </a:lnTo>
                <a:cubicBezTo>
                  <a:pt x="3" y="123"/>
                  <a:pt x="3" y="124"/>
                  <a:pt x="4" y="124"/>
                </a:cubicBezTo>
                <a:cubicBezTo>
                  <a:pt x="2" y="124"/>
                  <a:pt x="0" y="122"/>
                  <a:pt x="0" y="12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6" name="" descr="{&quot;isTemplate&quot;:true,&quot;type&quot;:&quot;text&quot;}"/>
          <p:cNvSpPr txBox="1"/>
          <p:nvPr/>
        </p:nvSpPr>
        <p:spPr>
          <a:xfrm rot="0" flipH="0" flipV="0">
            <a:off x="866775" y="4476750"/>
            <a:ext cx="2590800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就是写给模型看的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文档——模型选错工具，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是这里写得烂。</a:t>
            </a:r>
            <a:endParaRPr/>
          </a:p>
        </p:txBody>
      </p:sp>
      <p:sp>
        <p:nvSpPr>
          <p:cNvPr id="1387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123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2AD4EE"/>
                </a:solidFill>
                <a:latin typeface="JetBrains Mono"/>
                <a:ea typeface="JetBrains Mono"/>
              </a:rPr>
              <a:t>fc_demo_b.js</a:t>
            </a:r>
            <a:endParaRPr/>
          </a:p>
        </p:txBody>
      </p:sp>
      <p:sp>
        <p:nvSpPr>
          <p:cNvPr id="1388" name=""/>
          <p:cNvSpPr/>
          <p:nvPr/>
        </p:nvSpPr>
        <p:spPr>
          <a:xfrm rot="0" flipH="0" flipV="0">
            <a:off x="5581650" y="1162050"/>
            <a:ext cx="9525" cy="133350"/>
          </a:xfrm>
          <a:prstGeom prst="rect">
            <a:avLst/>
          </a:prstGeom>
          <a:solidFill>
            <a:srgbClr val="E8EEF9">
              <a:alpha val="2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89" name="" descr="{&quot;isTemplate&quot;:true,&quot;type&quot;:&quot;text&quot;}"/>
          <p:cNvSpPr txBox="1"/>
          <p:nvPr/>
        </p:nvSpPr>
        <p:spPr>
          <a:xfrm rot="0" flipH="0" flipV="0">
            <a:off x="5705475" y="1143000"/>
            <a:ext cx="1990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声明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调用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回填，三步走完</a:t>
            </a:r>
            <a:endParaRPr/>
          </a:p>
        </p:txBody>
      </p:sp>
      <p:sp>
        <p:nvSpPr>
          <p:cNvPr id="1390" name=""/>
          <p:cNvSpPr/>
          <p:nvPr/>
        </p:nvSpPr>
        <p:spPr>
          <a:xfrm rot="0" flipH="0" flipV="0">
            <a:off x="685800" y="5619750"/>
            <a:ext cx="10820400" cy="438150"/>
          </a:xfrm>
          <a:prstGeom prst="roundRect">
            <a:avLst>
              <a:gd name="adj" fmla="val 8696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1" name="" descr="{&quot;isTemplate&quot;:true,&quot;type&quot;:&quot;text&quot;}"/>
          <p:cNvSpPr txBox="1"/>
          <p:nvPr/>
        </p:nvSpPr>
        <p:spPr>
          <a:xfrm rot="0" flipH="0" flipV="0">
            <a:off x="876300" y="57340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结论</a:t>
            </a:r>
            <a:endParaRPr/>
          </a:p>
        </p:txBody>
      </p:sp>
      <p:sp>
        <p:nvSpPr>
          <p:cNvPr id="1392" name=""/>
          <p:cNvSpPr/>
          <p:nvPr/>
        </p:nvSpPr>
        <p:spPr>
          <a:xfrm rot="0" flipH="0" flipV="0">
            <a:off x="1371600" y="57054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93" name="" descr="{&quot;isTemplate&quot;:true,&quot;type&quot;:&quot;text&quot;}"/>
          <p:cNvSpPr txBox="1"/>
          <p:nvPr/>
        </p:nvSpPr>
        <p:spPr>
          <a:xfrm rot="0" flipH="0" flipV="0">
            <a:off x="1533525" y="5686425"/>
            <a:ext cx="9782175" cy="3143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实际项目一律用原生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；手写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只用来理解原理——模型自动把「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128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乘以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456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」翻译成了表达式，靠的就是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description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394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395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08 / 33</a:t>
            </a:r>
            <a:endParaRPr/>
          </a:p>
        </p:txBody>
      </p:sp>
      <p:sp>
        <p:nvSpPr>
          <p:cNvPr id="1396" name=""/>
          <p:cNvSpPr/>
          <p:nvPr/>
        </p:nvSpPr>
        <p:spPr>
          <a:xfrm rot="0" flipH="0" flipV="0">
            <a:off x="4229100" y="1390650"/>
            <a:ext cx="7277100" cy="3152775"/>
          </a:xfrm>
          <a:prstGeom prst="roundRect">
            <a:avLst>
              <a:gd name="adj" fmla="val 2417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397" name=""/>
          <p:cNvSpPr txBox="1"/>
          <p:nvPr/>
        </p:nvSpPr>
        <p:spPr>
          <a:xfrm rot="0" flipH="0" flipV="0">
            <a:off x="4381500" y="1524000"/>
            <a:ext cx="6972300" cy="2886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① 用 JSON Schema 声明工具（name / description / parameters）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[{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"function"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function: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"calculate"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"计算数学表达式的值，如加减乘除"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parameters: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"object"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 required: [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"expression"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],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properties: { expression: { type: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"string"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    description: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"数学表达式，如 128*456"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} } },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}}];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② tools 随请求传入；模型返回结构化 tool_calls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msg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await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llm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(messages, tools);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for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tc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of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msg.tool_calls) {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args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JSON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parse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(tc.function.arguments);      </a:t>
            </a:r>
            <a:r>
              <a:rPr sz="900">
                <a:solidFill>
                  <a:srgbClr val="6A737D"/>
                </a:solidFill>
                <a:latin typeface="Menlo"/>
                <a:ea typeface="Menlo"/>
              </a:rPr>
              <a:t>// 参数直接是 JSON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r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00">
                <a:solidFill>
                  <a:srgbClr val="79B8FF"/>
                </a:solidFill>
                <a:latin typeface="Menlo"/>
                <a:ea typeface="Menlo"/>
              </a:rPr>
              <a:t>TOOLS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[tc.function.name](</a:t>
            </a:r>
            <a:r>
              <a:rPr sz="900">
                <a:solidFill>
                  <a:srgbClr val="F97583"/>
                </a:solidFill>
                <a:latin typeface="Menlo"/>
                <a:ea typeface="Menlo"/>
              </a:rPr>
              <a:t>...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Object.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values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(args));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  messages.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push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({ role: </a:t>
            </a:r>
            <a:r>
              <a:rPr sz="900">
                <a:solidFill>
                  <a:srgbClr val="9ECBFF"/>
                </a:solidFill>
                <a:latin typeface="Menlo"/>
                <a:ea typeface="Menlo"/>
              </a:rPr>
              <a:t>"tool"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 xml:space="preserve">, tool_call_id: tc.id, content: </a:t>
            </a:r>
            <a:r>
              <a:rPr sz="900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(r) });</a:t>
            </a:r>
            <a:endParaRPr/>
          </a:p>
          <a:p>
            <a:pPr>
              <a:lnSpc>
                <a:spcPct val="140000"/>
              </a:lnSpc>
            </a:pPr>
            <a:r>
              <a:rPr sz="900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3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40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40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05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A/B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对比与一条安全红线</a:t>
            </a:r>
            <a:endParaRPr/>
          </a:p>
        </p:txBody>
      </p:sp>
      <p:sp>
        <p:nvSpPr>
          <p:cNvPr id="140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05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五个维度看差别，一条原则定生死</a:t>
            </a:r>
            <a:endParaRPr/>
          </a:p>
        </p:txBody>
      </p:sp>
      <p:graphicFrame>
        <p:nvGraphicFramePr>
          <p:cNvPr id="1403" name=""/>
          <p:cNvGraphicFramePr/>
          <p:nvPr/>
        </p:nvGraphicFramePr>
        <p:xfrm rot="0" flipH="0" flipV="0">
          <a:off x="685800" y="1143000"/>
          <a:ext cx="10820400" cy="3238500"/>
        </p:xfrm>
        <a:graphic>
          <a:graphicData uri="http://schemas.openxmlformats.org/drawingml/2006/table">
            <a:tbl>
              <a:tblGrid>
                <a:gridCol w="1339603">
                  <a:extLst>
                    <a:ext uri="{9D8B030D-6E8A-4147-A177-3AD203B41FA5}">
                      <a16:colId val="1"/>
                    </a:ext>
                  </a:extLst>
                </a:gridCol>
                <a:gridCol w="4723136">
                  <a:extLst>
                    <a:ext uri="{9D8B030D-6E8A-4147-A177-3AD203B41FA5}">
                      <a16:colId val="2"/>
                    </a:ext>
                  </a:extLst>
                </a:gridCol>
                <a:gridCol w="475766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维度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E8EEF9">
                              <a:alpha val="70000"/>
                            </a:srgbClr>
                          </a:solidFill>
                          <a:latin typeface="Microsoft YaHei"/>
                          <a:ea typeface="Microsoft YaHei"/>
                        </a:rPr>
                        <a:t>方案 A · 手写 Prompt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方案 B · 原生 Function Calling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6233D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格式约定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自己发明（Action:工具名[参数]）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官方标准（JSON Schema）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普通文本，要正则抠参数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结构化 tool_calls JSON，直接解析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稳定性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模型可能不守格式，需各种兜底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模型专门训练过，非常稳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兼容性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任何模型都能用（哪怕不支持 FC）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需要模型支持（GLM-4 / GPT 等）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539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使用建议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理解原理用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275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实际项目一律用这个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404" name=""/>
          <p:cNvSpPr/>
          <p:nvPr/>
        </p:nvSpPr>
        <p:spPr>
          <a:xfrm rot="0" flipH="0" flipV="0">
            <a:off x="68580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5" name="" descr="{&quot;isTemplate&quot;:true,&quot;type&quot;:&quot;text&quot;}"/>
          <p:cNvSpPr txBox="1"/>
          <p:nvPr/>
        </p:nvSpPr>
        <p:spPr>
          <a:xfrm rot="0" flipH="0" flipV="0">
            <a:off x="87630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选型结论</a:t>
            </a:r>
            <a:endParaRPr/>
          </a:p>
        </p:txBody>
      </p:sp>
      <p:sp>
        <p:nvSpPr>
          <p:cNvPr id="1406" name="" descr="{&quot;isTemplate&quot;:true,&quot;type&quot;:&quot;text&quot;}"/>
          <p:cNvSpPr txBox="1"/>
          <p:nvPr/>
        </p:nvSpPr>
        <p:spPr>
          <a:xfrm rot="0" flipH="0" flipV="0">
            <a:off x="87630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能用原生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Function Calling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就不用自己发明格式。手写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Prompt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的价值在于让你看清循环内部长什么样——理解原理，而不是交付方案。</a:t>
            </a:r>
            <a:endParaRPr/>
          </a:p>
        </p:txBody>
      </p:sp>
      <p:sp>
        <p:nvSpPr>
          <p:cNvPr id="1407" name=""/>
          <p:cNvSpPr/>
          <p:nvPr/>
        </p:nvSpPr>
        <p:spPr>
          <a:xfrm rot="0" flipH="0" flipV="0">
            <a:off x="6191250" y="4514850"/>
            <a:ext cx="5314950" cy="1543050"/>
          </a:xfrm>
          <a:prstGeom prst="roundRect">
            <a:avLst>
              <a:gd name="adj" fmla="val 2469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08" name="" descr="{&quot;isTemplate&quot;:true,&quot;type&quot;:&quot;text&quot;}"/>
          <p:cNvSpPr txBox="1"/>
          <p:nvPr/>
        </p:nvSpPr>
        <p:spPr>
          <a:xfrm rot="0" flipH="0" flipV="0">
            <a:off x="6381750" y="4667250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安全红线</a:t>
            </a:r>
            <a:endParaRPr/>
          </a:p>
        </p:txBody>
      </p:sp>
      <p:sp>
        <p:nvSpPr>
          <p:cNvPr id="1409" name="" descr="{&quot;isTemplate&quot;:true,&quot;type&quot;:&quot;text&quot;}"/>
          <p:cNvSpPr txBox="1"/>
          <p:nvPr/>
        </p:nvSpPr>
        <p:spPr>
          <a:xfrm rot="0" flipH="0" flipV="0">
            <a:off x="6381750" y="4953000"/>
            <a:ext cx="4933950" cy="647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两种方案里，模型都只负责「说要调什么」，真正执行函数的永远是我们的代码——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模型没有权限，只有建议权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41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41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09 / 33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2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27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02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从“能聊”到“能干”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的核心代码就一个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真正的开发量，全在循环之外。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066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的能力边界到底在哪？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一个</a:t>
            </a:r>
            <a:r>
              <a:rPr lang="en-US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系统要处理哪些功能点？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怎么写才不翻车？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10 – 18</a:t>
            </a:r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581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ReAct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循环与终止条件</a:t>
            </a:r>
            <a:endParaRPr/>
          </a:p>
        </p:txBody>
      </p:sp>
      <p:sp>
        <p:nvSpPr>
          <p:cNvPr id="46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工具、记忆与控制层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七层功能地图与十条原则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10 / 33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83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33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591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= LLM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591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让模型从「只会聊天」变成「能干活、会决策、可循环」的程序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685800" y="1143000"/>
            <a:ext cx="10820400" cy="1152525"/>
          </a:xfrm>
          <a:custGeom>
            <a:pathLst>
              <a:path w="1136" h="121">
                <a:moveTo>
                  <a:pt x="0" y="120"/>
                </a:moveTo>
                <a:lnTo>
                  <a:pt x="1136" y="120"/>
                </a:lnTo>
                <a:lnTo>
                  <a:pt x="1136" y="121"/>
                </a:lnTo>
                <a:lnTo>
                  <a:pt x="0" y="121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1885950" y="1219200"/>
            <a:ext cx="2009775" cy="8286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400" b="1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124325" y="1381125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=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572000" y="1314450"/>
            <a:ext cx="962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568642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605790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277100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7648575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867775" y="1390650"/>
            <a:ext cx="21907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+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239250" y="13144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858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85800" y="2495550"/>
            <a:ext cx="2466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大脑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685800" y="2771775"/>
            <a:ext cx="2466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8EEF9"/>
                </a:solidFill>
                <a:latin typeface="Source Han Sans SC"/>
                <a:ea typeface="Source Han Sans SC"/>
              </a:rPr>
              <a:t>LLM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85800" y="3124200"/>
            <a:ext cx="24669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无状态的推理引擎。它决定「下一步该干什么」，但自己不记得任何事。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33909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36195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手脚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36195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619500" y="3124200"/>
            <a:ext cx="2238375" cy="914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你写的普通函数。模型只能「说要调用哪个」，执行权始终在你手里。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6096000" y="2495550"/>
            <a:ext cx="2714625" cy="2819400"/>
          </a:xfrm>
          <a:custGeom>
            <a:pathLst>
              <a:path w="285" h="296">
                <a:moveTo>
                  <a:pt x="284" y="0"/>
                </a:moveTo>
                <a:lnTo>
                  <a:pt x="285" y="0"/>
                </a:lnTo>
                <a:lnTo>
                  <a:pt x="285" y="296"/>
                </a:lnTo>
                <a:lnTo>
                  <a:pt x="284" y="29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324600" y="2495550"/>
            <a:ext cx="22383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上下文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6324600" y="2771775"/>
            <a:ext cx="22383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324600" y="3124200"/>
            <a:ext cx="2238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短期靠</a:t>
            </a:r>
            <a:r>
              <a:rPr lang="en-US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，长期靠向量库。近期带原文，远期压摘要。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9029700" y="2495550"/>
            <a:ext cx="2476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r>
              <a:rPr lang="en-US" sz="1050" spc="150">
                <a:solidFill>
                  <a:srgbClr val="2AD4EE"/>
                </a:solidFill>
                <a:latin typeface="JetBrains Mono"/>
                <a:ea typeface="JetBrains Mono"/>
              </a:rPr>
              <a:t xml:space="preserve"> </a:t>
            </a:r>
            <a:r>
              <a:rPr lang="zh-CN" sz="1050" spc="150">
                <a:solidFill>
                  <a:srgbClr val="2AD4EE"/>
                </a:solidFill>
                <a:latin typeface="JetBrains Mono"/>
                <a:ea typeface="JetBrains Mono"/>
              </a:rPr>
              <a:t>循环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9029700" y="2771775"/>
            <a:ext cx="2476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规划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029700" y="3124200"/>
            <a:ext cx="247650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简单任务单循环就够，复杂任务先拆步骤。别一上来就过度设计。</a:t>
            </a:r>
            <a:endParaRPr/>
          </a:p>
        </p:txBody>
      </p:sp>
      <p:sp>
        <p:nvSpPr>
          <p:cNvPr id="117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四要素缺任何一项，它都只是一个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会聊天的模型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——而不是一个能自己把活干完的程序。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11 / 33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0673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>ReAct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：思考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067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Reasoning + Acting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：让模型交替输出「思考」与「行动」，直到能回答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24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REASONING + ACTING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924175" cy="9334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一段话，</a:t>
            </a:r>
            <a:endParaRPr/>
          </a:p>
          <a:p>
            <a:pPr>
              <a:lnSpc>
                <a:spcPct val="145000"/>
              </a:lnSpc>
            </a:pPr>
            <a:r>
              <a:rPr lang="zh-CN" sz="2100" b="1">
                <a:solidFill>
                  <a:srgbClr val="E8EEF9"/>
                </a:solidFill>
                <a:latin typeface="Source Han Sans SC"/>
                <a:ea typeface="Source Han Sans SC"/>
              </a:rPr>
              <a:t>拆成思考与行动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85800" y="2571750"/>
            <a:ext cx="2924175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模型不再一次性给答案，而是交替输出「我要做什么」和「我调用什么工具」；系统执行后把结果作为</a:t>
            </a:r>
            <a:r>
              <a:rPr lang="en-US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75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喂回去，模型再决定下一步。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685800" y="4105275"/>
            <a:ext cx="7048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1050" y="41433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1466850" y="4105275"/>
            <a:ext cx="6286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562100" y="414337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2171700" y="4105275"/>
            <a:ext cx="9906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2266950" y="4143375"/>
            <a:ext cx="800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38" name=""/>
          <p:cNvSpPr/>
          <p:nvPr/>
        </p:nvSpPr>
        <p:spPr>
          <a:xfrm rot="0" flipH="0" flipV="0">
            <a:off x="685800" y="5181600"/>
            <a:ext cx="2924175" cy="876300"/>
          </a:xfrm>
          <a:prstGeom prst="roundRect">
            <a:avLst>
              <a:gd name="adj" fmla="val 4348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838200" y="5314950"/>
            <a:ext cx="26193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没有最大轮数兜底的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，一次死循环就能烧掉一个月的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预算。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229100" y="1143000"/>
            <a:ext cx="7277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THE LOOP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4229100" y="1685925"/>
            <a:ext cx="20097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400550" y="1838325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思考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4400550" y="2133600"/>
            <a:ext cx="1724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Thought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4400550" y="2381250"/>
            <a:ext cx="17240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我要先查北京天气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23887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657975" y="1685925"/>
            <a:ext cx="2000250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6829425" y="1838325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行动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6829425" y="2133600"/>
            <a:ext cx="1714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Action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6829425" y="2381250"/>
            <a:ext cx="17145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get_weather[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北京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]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8658225" y="2114550"/>
            <a:ext cx="419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650">
                <a:solidFill>
                  <a:srgbClr val="2AD4EE"/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9077325" y="1685925"/>
            <a:ext cx="2428875" cy="1104900"/>
          </a:xfrm>
          <a:prstGeom prst="roundRect">
            <a:avLst>
              <a:gd name="adj" fmla="val 3448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9248775" y="1838325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观察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9248775" y="2133600"/>
            <a:ext cx="2143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Observation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9248775" y="2381250"/>
            <a:ext cx="214312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晴，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28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度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4229100" y="3200400"/>
            <a:ext cx="7277100" cy="495300"/>
          </a:xfrm>
          <a:prstGeom prst="roundRect">
            <a:avLst>
              <a:gd name="adj" fmla="val 7692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45000"/>
              </a:srgbClr>
            </a:solidFill>
            <a:prstDash val="dash"/>
          </a:ln>
        </p:spPr>
        <p:txBody>
          <a:bodyPr/>
          <a:p>
            <a:pPr/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4400550" y="3333750"/>
            <a:ext cx="952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>
                <a:solidFill>
                  <a:srgbClr val="2AD4EE"/>
                </a:solidFill>
                <a:latin typeface="Source Han Sans SC"/>
                <a:ea typeface="Source Han Sans SC"/>
              </a:rPr>
              <a:t>↺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629150" y="3352800"/>
            <a:ext cx="4162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还没拿到答案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带着</a:t>
            </a:r>
            <a:r>
              <a:rPr lang="en-US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Observation </a:t>
            </a:r>
            <a:r>
              <a:rPr lang="zh-CN" sz="1200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回到「思考」，进入下一轮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4229100" y="4105275"/>
            <a:ext cx="2095500" cy="800100"/>
          </a:xfrm>
          <a:prstGeom prst="roundRect">
            <a:avLst>
              <a:gd name="adj" fmla="val 4762"/>
            </a:avLst>
          </a:prstGeom>
          <a:solidFill>
            <a:srgbClr val="2AD4EE">
              <a:alpha val="22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5067300" y="42862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B1220"/>
                </a:solidFill>
                <a:latin typeface="Source Han Sans SC"/>
                <a:ea typeface="Source Han Sans SC"/>
              </a:rPr>
              <a:t>回答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5057775" y="4581525"/>
            <a:ext cx="4381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B1220">
                    <a:alpha val="72000"/>
                  </a:srgbClr>
                </a:solidFill>
                <a:latin typeface="JetBrains Mono"/>
                <a:ea typeface="JetBrains Mono"/>
              </a:rPr>
              <a:t>Answer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496050" y="4410075"/>
            <a:ext cx="5010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证据足够</a:t>
            </a:r>
            <a:r>
              <a:rPr lang="en-US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00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输出最终答案，退出循环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4229100" y="5334000"/>
            <a:ext cx="72771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终止条件</a:t>
            </a: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四个都要有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229100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572000" y="5743575"/>
            <a:ext cx="1066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模型输出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Answer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076950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667500" y="57435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最大轮数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7915275" y="5600700"/>
            <a:ext cx="1752600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8648700" y="5743575"/>
            <a:ext cx="285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超时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9763125" y="5600700"/>
            <a:ext cx="1743075" cy="457200"/>
          </a:xfrm>
          <a:prstGeom prst="roundRect">
            <a:avLst>
              <a:gd name="adj" fmla="val 8333"/>
            </a:avLst>
          </a:prstGeom>
          <a:solidFill>
            <a:srgbClr val="16233D">
              <a:alpha val="90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296525" y="5743575"/>
            <a:ext cx="676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token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12 / 33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7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工具与记忆：手脚和上下文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真正干活的地方，和真正决定成本的地方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685800" y="1143000"/>
            <a:ext cx="6086475" cy="4914900"/>
          </a:xfrm>
          <a:custGeom>
            <a:pathLst>
              <a:path w="639" h="516">
                <a:moveTo>
                  <a:pt x="638" y="0"/>
                </a:moveTo>
                <a:lnTo>
                  <a:pt x="639" y="0"/>
                </a:lnTo>
                <a:lnTo>
                  <a:pt x="639" y="516"/>
                </a:lnTo>
                <a:lnTo>
                  <a:pt x="63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7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90625"/>
            <a:ext cx="171450" cy="171450"/>
          </a:xfrm>
          <a:prstGeom prst="rect">
            <a:avLst/>
          </a:prstGeom>
          <a:ln/>
        </p:spPr>
      </p:pic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952500" y="1143000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工具：手脚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2095500" y="119062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85800" y="1495425"/>
            <a:ext cx="5762625" cy="1028700"/>
          </a:xfrm>
          <a:custGeom>
            <a:pathLst>
              <a:path w="605" h="108">
                <a:moveTo>
                  <a:pt x="0" y="107"/>
                </a:moveTo>
                <a:lnTo>
                  <a:pt x="605" y="107"/>
                </a:lnTo>
                <a:lnTo>
                  <a:pt x="605" y="108"/>
                </a:lnTo>
                <a:lnTo>
                  <a:pt x="0" y="108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85800" y="159067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62050" y="159067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小而专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162050" y="1857375"/>
            <a:ext cx="52863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search_order + refund_order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优于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handle_anything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。一个工具干一件事，模型才用得准。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85800" y="2952750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685800" y="3048000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62050" y="3048000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描述大于实现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1162050" y="3314700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description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就是给模型看的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文档。模型选错工具，</a:t>
            </a:r>
            <a:r>
              <a:rPr lang="en-US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的原因是这里写得烂。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85800" y="4143375"/>
            <a:ext cx="5762625" cy="752475"/>
          </a:xfrm>
          <a:custGeom>
            <a:pathLst>
              <a:path w="605" h="79">
                <a:moveTo>
                  <a:pt x="0" y="78"/>
                </a:moveTo>
                <a:lnTo>
                  <a:pt x="605" y="78"/>
                </a:lnTo>
                <a:lnTo>
                  <a:pt x="605" y="79"/>
                </a:lnTo>
                <a:lnTo>
                  <a:pt x="0" y="79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685800" y="42386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62050" y="42386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参数先校验再执行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62050" y="45053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模型真的会瞎传参数，类型与范围都要验；「合法」也不等于「安全」。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685800" y="5419725"/>
            <a:ext cx="323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13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162050" y="5419725"/>
            <a:ext cx="52863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失败要回喂，不要吞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162050" y="5686425"/>
            <a:ext cx="52863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E8EEF9">
                    <a:alpha val="64000"/>
                  </a:srgbClr>
                </a:solidFill>
                <a:latin typeface="Source Han Sans SC"/>
                <a:ea typeface="Source Han Sans SC"/>
              </a:rPr>
              <a:t>工具抛错别让程序崩，把报错拼回上下文，让模型下一轮自己调整。</a:t>
            </a:r>
            <a:endParaRPr/>
          </a:p>
        </p:txBody>
      </p:sp>
      <p:pic>
        <p:nvPicPr>
          <p:cNvPr id="1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105650" y="1190625"/>
            <a:ext cx="171450" cy="171450"/>
          </a:xfrm>
          <a:prstGeom prst="rect">
            <a:avLst/>
          </a:prstGeom>
          <a:ln/>
        </p:spPr>
      </p:pic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7372350" y="1143000"/>
            <a:ext cx="12573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记忆：上下文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8724900" y="1190625"/>
            <a:ext cx="476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MEMORY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7105650" y="15906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近期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原文</a:t>
            </a:r>
            <a:endParaRPr/>
          </a:p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8086725" y="1590675"/>
            <a:ext cx="1809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system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历史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本轮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messages</a:t>
            </a:r>
            <a:endParaRPr/>
          </a:p>
        </p:txBody>
      </p:sp>
      <p:sp>
        <p:nvSpPr>
          <p:cNvPr id="202" name=""/>
          <p:cNvSpPr/>
          <p:nvPr/>
        </p:nvSpPr>
        <p:spPr>
          <a:xfrm rot="0" flipH="0" flipV="0">
            <a:off x="7105650" y="1857375"/>
            <a:ext cx="4400550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105650" y="206692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远期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摘要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8086725" y="2066925"/>
            <a:ext cx="1647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超窗裁剪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/ compaction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压缩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7105650" y="2333625"/>
            <a:ext cx="334327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105650" y="2543175"/>
            <a:ext cx="885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事实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卡片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086725" y="2543175"/>
            <a:ext cx="13335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结构化字段，稳定可查</a:t>
            </a:r>
            <a:endParaRPr/>
          </a:p>
        </p:txBody>
      </p:sp>
      <p:sp>
        <p:nvSpPr>
          <p:cNvPr id="208" name=""/>
          <p:cNvSpPr/>
          <p:nvPr/>
        </p:nvSpPr>
        <p:spPr>
          <a:xfrm rot="0" flipH="0" flipV="0">
            <a:off x="7105650" y="2809875"/>
            <a:ext cx="23717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105650" y="3019425"/>
            <a:ext cx="1047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知识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向量库</a:t>
            </a:r>
            <a:endParaRPr/>
          </a:p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8248650" y="3019425"/>
            <a:ext cx="1295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Embedding </a:t>
            </a:r>
            <a:r>
              <a:rPr lang="zh-CN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检索</a:t>
            </a:r>
            <a:r>
              <a:rPr lang="en-US" sz="1050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7105650" y="3286125"/>
            <a:ext cx="1495425" cy="76200"/>
          </a:xfrm>
          <a:prstGeom prst="roundRect">
            <a:avLst>
              <a:gd name="adj" fmla="val 25000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7105650" y="4838700"/>
            <a:ext cx="4400550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7277100" y="4991100"/>
            <a:ext cx="4057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150">
                <a:solidFill>
                  <a:srgbClr val="2AD4EE"/>
                </a:solidFill>
                <a:latin typeface="JetBrains Mono"/>
                <a:ea typeface="JetBrains Mono"/>
              </a:rPr>
              <a:t>口诀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7277100" y="5257800"/>
            <a:ext cx="4057650" cy="6477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近期带原文，远期压摘要；</a:t>
            </a:r>
            <a:endParaRPr/>
          </a:p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事实存卡片，知识进向量库。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13 / 33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0481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学习路径：五个阶段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048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从「手写一遍」到「工程化」，每个阶段解决一类新问题</a:t>
            </a:r>
            <a:endParaRPr/>
          </a:p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6955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LEARNING PATH · 5 STAGES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9801225" y="1143000"/>
            <a:ext cx="1704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难度与工程量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: </a:t>
            </a:r>
            <a:r>
              <a:rPr lang="zh-CN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依次递增</a:t>
            </a:r>
            <a:r>
              <a:rPr lang="en-US" sz="112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→</a:t>
            </a:r>
            <a:endParaRPr/>
          </a:p>
        </p:txBody>
      </p:sp>
      <p:sp>
        <p:nvSpPr>
          <p:cNvPr id="224" name=""/>
          <p:cNvSpPr/>
          <p:nvPr/>
        </p:nvSpPr>
        <p:spPr>
          <a:xfrm rot="0" flipH="0" flipV="0">
            <a:off x="685800" y="4152900"/>
            <a:ext cx="6362700" cy="1905000"/>
          </a:xfrm>
          <a:custGeom>
            <a:pathLst>
              <a:path w="668" h="200">
                <a:moveTo>
                  <a:pt x="667" y="0"/>
                </a:moveTo>
                <a:lnTo>
                  <a:pt x="668" y="0"/>
                </a:lnTo>
                <a:lnTo>
                  <a:pt x="668" y="200"/>
                </a:lnTo>
                <a:lnTo>
                  <a:pt x="667" y="200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685800" y="4152900"/>
            <a:ext cx="6115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为什么顺序不能颠倒</a:t>
            </a:r>
            <a:endParaRPr/>
          </a:p>
        </p:txBody>
      </p:sp>
      <p:sp>
        <p:nvSpPr>
          <p:cNvPr id="226" name=""/>
          <p:cNvSpPr/>
          <p:nvPr/>
        </p:nvSpPr>
        <p:spPr>
          <a:xfrm rot="0" flipH="0" flipV="0">
            <a:off x="685800" y="4572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828675" y="4495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1–2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是「看穿黑盒」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：不亲手拼一次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，你永远不知道模型为什么不听话。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685800" y="4953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28675" y="4876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是「成本与记忆」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：上下文是所有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问题的共同源头。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685800" y="5334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28675" y="5257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是「边界」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：真实世界的错误，几乎都发生在工具与数据的接缝处。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685800" y="57150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28675" y="5638800"/>
            <a:ext cx="59721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阶段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5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才轮到工程化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：没有前四步的直觉，框架只会让你更糊涂。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267575" y="4152900"/>
            <a:ext cx="4238625" cy="1905000"/>
          </a:xfrm>
          <a:prstGeom prst="roundRect">
            <a:avLst>
              <a:gd name="adj" fmla="val 20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7477125" y="4391025"/>
            <a:ext cx="38195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7477125" y="4714875"/>
            <a:ext cx="3819525" cy="1114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先手写，再上框架。</a:t>
            </a:r>
            <a:endParaRPr/>
          </a:p>
          <a:p>
            <a:pPr>
              <a:lnSpc>
                <a:spcPct val="170000"/>
              </a:lnSpc>
            </a:pP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跳过手写阶段，出问题时你连</a:t>
            </a:r>
            <a:r>
              <a:rPr lang="zh-CN" sz="1425">
                <a:solidFill>
                  <a:srgbClr val="2AD4EE"/>
                </a:solidFill>
                <a:latin typeface="Source Han Sans SC"/>
                <a:ea typeface="Source Han Sans SC"/>
              </a:rPr>
              <a:t>日志该看哪一行</a:t>
            </a:r>
            <a:r>
              <a:rPr lang="zh-CN" sz="1425">
                <a:solidFill>
                  <a:srgbClr val="E8EEF9"/>
                </a:solidFill>
                <a:latin typeface="Source Han Sans SC"/>
                <a:ea typeface="Source Han Sans SC"/>
              </a:rPr>
              <a:t>都不知道。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14 / 33</a:t>
            </a:r>
            <a:endParaRPr/>
          </a:p>
        </p:txBody>
      </p:sp>
      <p:sp>
        <p:nvSpPr>
          <p:cNvPr id="239" name=""/>
          <p:cNvSpPr/>
          <p:nvPr/>
        </p:nvSpPr>
        <p:spPr>
          <a:xfrm rot="0" flipH="0" flipV="0">
            <a:off x="685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752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85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手写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ReAct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85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自己拼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、自己正则解析输出，把循环每个环节摸一遍。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704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685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800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一个能跑的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while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28765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29432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28765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原生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FC</a:t>
            </a:r>
            <a:endParaRPr/>
          </a:p>
        </p:txBody>
      </p:sp>
      <p:sp>
        <p:nvSpPr>
          <p:cNvPr id="249" name="" descr="{&quot;isTemplate&quot;:true,&quot;type&quot;:&quot;text&quot;}"/>
          <p:cNvSpPr txBox="1"/>
          <p:nvPr/>
        </p:nvSpPr>
        <p:spPr>
          <a:xfrm rot="0" flipH="0" flipV="0">
            <a:off x="2876550" y="2324100"/>
            <a:ext cx="2057400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改用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JSON Schema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声明工具，模型直接返回结构化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tool_calls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28956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28765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9908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稳定的工具契约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50673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51339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50673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记忆与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RAG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50673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上下文裁剪、摘要压缩、向量检索，让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记得住事。</a:t>
            </a:r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50863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50673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51816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可控的上下文预算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725805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732472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25805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多工具实战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25805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工具变多、结果变脏、失败变常态，开始处理真实的边界。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27710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/>
          <p:cNvSpPr/>
          <p:nvPr/>
        </p:nvSpPr>
        <p:spPr>
          <a:xfrm rot="0" flipH="0" flipV="0">
            <a:off x="725805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37235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敢给业务用的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</a:t>
            </a:r>
            <a:endParaRPr/>
          </a:p>
        </p:txBody>
      </p:sp>
      <p:sp>
        <p:nvSpPr>
          <p:cNvPr id="267" name=""/>
          <p:cNvSpPr/>
          <p:nvPr/>
        </p:nvSpPr>
        <p:spPr>
          <a:xfrm rot="0" flipH="0" flipV="0">
            <a:off x="9448800" y="1543050"/>
            <a:ext cx="266700" cy="266700"/>
          </a:xfrm>
          <a:prstGeom prst="roundRect">
            <a:avLst>
              <a:gd name="adj" fmla="val 50000"/>
            </a:avLst>
          </a:prstGeom>
          <a:solidFill>
            <a:srgbClr val="0B1220"/>
          </a:solidFill>
          <a:ln w="25400">
            <a:solidFill>
              <a:srgbClr val="2AD4EE"/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9515475" y="1609725"/>
            <a:ext cx="142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9448800" y="1981200"/>
            <a:ext cx="2057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框架与工程</a:t>
            </a:r>
            <a:endParaRPr/>
          </a:p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9448800" y="2324100"/>
            <a:ext cx="205740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上框架、做观测、加护栏、建评测，从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demo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走到系统。</a:t>
            </a:r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9467850" y="3200400"/>
            <a:ext cx="2057400" cy="371475"/>
          </a:xfrm>
          <a:prstGeom prst="rect">
            <a:avLst/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9448800" y="3200400"/>
            <a:ext cx="2076450" cy="371475"/>
          </a:xfrm>
          <a:custGeom>
            <a:pathLst>
              <a:path w="218" h="39">
                <a:moveTo>
                  <a:pt x="0" y="0"/>
                </a:moveTo>
                <a:lnTo>
                  <a:pt x="2" y="0"/>
                </a:lnTo>
                <a:lnTo>
                  <a:pt x="2" y="39"/>
                </a:lnTo>
                <a:lnTo>
                  <a:pt x="0" y="39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563100" y="3276600"/>
            <a:ext cx="1847850" cy="2190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产出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可维护的</a:t>
            </a:r>
            <a:r>
              <a:rPr lang="en-US" sz="9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系统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800100" y="1666875"/>
            <a:ext cx="10591800" cy="19050"/>
          </a:xfrm>
          <a:prstGeom prst="rect">
            <a:avLst/>
          </a:prstGeom>
          <a:gradFill>
            <a:gsLst>
              <a:gs pos="0">
                <a:srgbClr val="2AD4EE">
                  <a:alpha val="85000"/>
                </a:srgbClr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逐层拆解：每层到底要写什么</a:t>
            </a:r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2100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少写一层，问题就会以最难查的方式冒出来</a:t>
            </a:r>
            <a:endParaRPr/>
          </a:p>
        </p:txBody>
      </p:sp>
      <p:sp>
        <p:nvSpPr>
          <p:cNvPr id="280" name=""/>
          <p:cNvSpPr/>
          <p:nvPr/>
        </p:nvSpPr>
        <p:spPr>
          <a:xfrm rot="0" flipH="0" flipV="0">
            <a:off x="685800" y="1143000"/>
            <a:ext cx="2781300" cy="4914900"/>
          </a:xfrm>
          <a:custGeom>
            <a:pathLst>
              <a:path w="292" h="516">
                <a:moveTo>
                  <a:pt x="291" y="0"/>
                </a:moveTo>
                <a:lnTo>
                  <a:pt x="292" y="0"/>
                </a:lnTo>
                <a:lnTo>
                  <a:pt x="292" y="516"/>
                </a:lnTo>
                <a:lnTo>
                  <a:pt x="29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486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LAYER BY LAYER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4860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把七层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摊成一张清单</a:t>
            </a:r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48602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每一层都有必须落地的动作项。它们不写进代码，就会在某个凌晨的线上事故里，以最难查的方式出现。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685800" y="4562475"/>
            <a:ext cx="248602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2181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218122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①~⑤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写不好，系统跑不起来；</a:t>
            </a:r>
            <a:endParaRPr/>
          </a:p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⑥~⑦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不写，系统跑起来之后你不敢让人用。</a:t>
            </a:r>
            <a:endParaRPr/>
          </a:p>
        </p:txBody>
      </p:sp>
      <p:sp>
        <p:nvSpPr>
          <p:cNvPr id="287" name=""/>
          <p:cNvSpPr/>
          <p:nvPr/>
        </p:nvSpPr>
        <p:spPr>
          <a:xfrm rot="0" flipH="0" flipV="0">
            <a:off x="3810000" y="1143000"/>
            <a:ext cx="3743325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3810000" y="1143000"/>
            <a:ext cx="3743325" cy="1038225"/>
          </a:xfrm>
          <a:custGeom>
            <a:pathLst>
              <a:path w="393" h="109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8"/>
                </a:lnTo>
                <a:cubicBezTo>
                  <a:pt x="2" y="108"/>
                  <a:pt x="2" y="109"/>
                  <a:pt x="3" y="109"/>
                </a:cubicBezTo>
                <a:cubicBezTo>
                  <a:pt x="1" y="109"/>
                  <a:pt x="0" y="108"/>
                  <a:pt x="0" y="106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28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943350" y="1581150"/>
            <a:ext cx="161925" cy="161925"/>
          </a:xfrm>
          <a:prstGeom prst="rect">
            <a:avLst/>
          </a:prstGeom>
          <a:ln/>
        </p:spPr>
      </p:pic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4219575" y="14001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4381500" y="14001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4219575" y="16764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密钥与多模型切换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超时重试与降级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流式输出</a:t>
            </a:r>
            <a:endParaRPr/>
          </a:p>
        </p:txBody>
      </p:sp>
      <p:sp>
        <p:nvSpPr>
          <p:cNvPr id="293" name=""/>
          <p:cNvSpPr/>
          <p:nvPr/>
        </p:nvSpPr>
        <p:spPr>
          <a:xfrm rot="0" flipH="0" flipV="0">
            <a:off x="3810000" y="2276475"/>
            <a:ext cx="3743325" cy="1276350"/>
          </a:xfrm>
          <a:prstGeom prst="roundRect">
            <a:avLst>
              <a:gd name="adj" fmla="val 2239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3810000" y="2276475"/>
            <a:ext cx="3743325" cy="1276350"/>
          </a:xfrm>
          <a:custGeom>
            <a:pathLst>
              <a:path w="393" h="134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3"/>
                </a:lnTo>
                <a:cubicBezTo>
                  <a:pt x="2" y="133"/>
                  <a:pt x="2" y="134"/>
                  <a:pt x="3" y="134"/>
                </a:cubicBezTo>
                <a:cubicBezTo>
                  <a:pt x="1" y="134"/>
                  <a:pt x="0" y="133"/>
                  <a:pt x="0" y="13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2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943350" y="2838450"/>
            <a:ext cx="161925" cy="161925"/>
          </a:xfrm>
          <a:prstGeom prst="rect">
            <a:avLst/>
          </a:prstGeom>
          <a:ln/>
        </p:spPr>
      </p:pic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219575" y="25336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4381500" y="25336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提示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4219575" y="28098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目标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边界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输出格式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少样本示例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系统提示版本化</a:t>
            </a:r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3810000" y="3648075"/>
            <a:ext cx="3743325" cy="1285875"/>
          </a:xfrm>
          <a:prstGeom prst="roundRect">
            <a:avLst>
              <a:gd name="adj" fmla="val 2222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/>
          <p:cNvSpPr/>
          <p:nvPr/>
        </p:nvSpPr>
        <p:spPr>
          <a:xfrm rot="0" flipH="0" flipV="0">
            <a:off x="3810000" y="3648075"/>
            <a:ext cx="3743325" cy="1285875"/>
          </a:xfrm>
          <a:custGeom>
            <a:pathLst>
              <a:path w="393" h="13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34"/>
                </a:lnTo>
                <a:cubicBezTo>
                  <a:pt x="2" y="134"/>
                  <a:pt x="2" y="135"/>
                  <a:pt x="3" y="135"/>
                </a:cubicBezTo>
                <a:cubicBezTo>
                  <a:pt x="1" y="135"/>
                  <a:pt x="0" y="134"/>
                  <a:pt x="0" y="13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3943350" y="4210050"/>
            <a:ext cx="161925" cy="161925"/>
          </a:xfrm>
          <a:prstGeom prst="rect">
            <a:avLst/>
          </a:prstGeom>
          <a:ln/>
        </p:spPr>
      </p:pic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4219575" y="39052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4381500" y="39052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工具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219575" y="4181475"/>
            <a:ext cx="31813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JSON Schema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描述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参数类型与范围校验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错误信息回喂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3810000" y="5029200"/>
            <a:ext cx="3743325" cy="1028700"/>
          </a:xfrm>
          <a:prstGeom prst="roundRect">
            <a:avLst>
              <a:gd name="adj" fmla="val 277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3810000" y="5029200"/>
            <a:ext cx="3743325" cy="1028700"/>
          </a:xfrm>
          <a:custGeom>
            <a:pathLst>
              <a:path w="393" h="108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07"/>
                </a:lnTo>
                <a:cubicBezTo>
                  <a:pt x="2" y="107"/>
                  <a:pt x="2" y="108"/>
                  <a:pt x="3" y="108"/>
                </a:cubicBezTo>
                <a:cubicBezTo>
                  <a:pt x="1" y="108"/>
                  <a:pt x="0" y="107"/>
                  <a:pt x="0" y="105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3943350" y="5467350"/>
            <a:ext cx="161925" cy="161925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219575" y="52863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④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381500" y="52863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记忆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219575" y="55626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上下文裁剪与摘要压缩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事实卡片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向量检索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topK</a:t>
            </a:r>
            <a:endParaRPr/>
          </a:p>
        </p:txBody>
      </p:sp>
      <p:sp>
        <p:nvSpPr>
          <p:cNvPr id="311" name=""/>
          <p:cNvSpPr/>
          <p:nvPr/>
        </p:nvSpPr>
        <p:spPr>
          <a:xfrm rot="0" flipH="0" flipV="0">
            <a:off x="7781925" y="1143000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781925" y="1143000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7915275" y="1847850"/>
            <a:ext cx="161925" cy="161925"/>
          </a:xfrm>
          <a:prstGeom prst="rect">
            <a:avLst/>
          </a:prstGeom>
          <a:ln/>
        </p:spPr>
      </p:pic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8191500" y="16668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⑤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8353425" y="16668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控制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8191500" y="19431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四个终止条件：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Answer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超时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预算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7781925" y="2809875"/>
            <a:ext cx="3743325" cy="1581150"/>
          </a:xfrm>
          <a:prstGeom prst="roundRect">
            <a:avLst>
              <a:gd name="adj" fmla="val 1807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7781925" y="2809875"/>
            <a:ext cx="3743325" cy="1581150"/>
          </a:xfrm>
          <a:custGeom>
            <a:pathLst>
              <a:path w="393" h="166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5"/>
                </a:lnTo>
                <a:cubicBezTo>
                  <a:pt x="2" y="165"/>
                  <a:pt x="2" y="166"/>
                  <a:pt x="3" y="166"/>
                </a:cubicBezTo>
                <a:cubicBezTo>
                  <a:pt x="1" y="166"/>
                  <a:pt x="0" y="165"/>
                  <a:pt x="0" y="16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7915275" y="3524250"/>
            <a:ext cx="161925" cy="161925"/>
          </a:xfrm>
          <a:prstGeom prst="rect">
            <a:avLst/>
          </a:prstGeom>
          <a:ln/>
        </p:spPr>
      </p:pic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8191500" y="3343275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⑥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8353425" y="3343275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护栏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191500" y="3619500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输入审查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输出脱敏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高危操作二次确认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7781925" y="4486275"/>
            <a:ext cx="3743325" cy="1571625"/>
          </a:xfrm>
          <a:prstGeom prst="roundRect">
            <a:avLst>
              <a:gd name="adj" fmla="val 1818"/>
            </a:avLst>
          </a:prstGeom>
          <a:solidFill>
            <a:srgbClr val="16233D">
              <a:alpha val="8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7781925" y="4486275"/>
            <a:ext cx="3743325" cy="1571625"/>
          </a:xfrm>
          <a:custGeom>
            <a:pathLst>
              <a:path w="393" h="165">
                <a:moveTo>
                  <a:pt x="3" y="0"/>
                </a:moveTo>
                <a:cubicBezTo>
                  <a:pt x="2" y="0"/>
                  <a:pt x="2" y="0"/>
                  <a:pt x="2" y="1"/>
                </a:cubicBezTo>
                <a:lnTo>
                  <a:pt x="2" y="164"/>
                </a:lnTo>
                <a:cubicBezTo>
                  <a:pt x="2" y="164"/>
                  <a:pt x="2" y="165"/>
                  <a:pt x="3" y="165"/>
                </a:cubicBezTo>
                <a:cubicBezTo>
                  <a:pt x="1" y="165"/>
                  <a:pt x="0" y="164"/>
                  <a:pt x="0" y="162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3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7"/>
              </a:ext>
            </a:extLst>
          </a:blip>
          <a:stretch>
            <a:fillRect/>
          </a:stretch>
        </p:blipFill>
        <p:spPr>
          <a:xfrm rot="0" flipH="0" flipV="0">
            <a:off x="7915275" y="5191125"/>
            <a:ext cx="161925" cy="161925"/>
          </a:xfrm>
          <a:prstGeom prst="rect">
            <a:avLst/>
          </a:prstGeom>
          <a:ln/>
        </p:spPr>
      </p:pic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191500" y="5010150"/>
            <a:ext cx="857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>
                <a:solidFill>
                  <a:srgbClr val="2AD4EE"/>
                </a:solidFill>
                <a:latin typeface="JetBrains Mono"/>
                <a:ea typeface="JetBrains Mono"/>
              </a:rPr>
              <a:t>⑦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353425" y="5010150"/>
            <a:ext cx="3619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运营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191500" y="5286375"/>
            <a:ext cx="31813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全链路日志与耗时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token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成本统计</a:t>
            </a:r>
            <a:r>
              <a:rPr lang="en-US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离线评测集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16 / 33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428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十条设计原则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前三条定生死，后七条定维护成本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581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TEN PRINCIPLES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6076950" y="1152525"/>
            <a:ext cx="1600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违背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线上事故的常见来源</a:t>
            </a:r>
            <a:endParaRPr/>
          </a:p>
        </p:txBody>
      </p:sp>
      <p:graphicFrame>
        <p:nvGraphicFramePr>
          <p:cNvPr id="338" name=""/>
          <p:cNvGraphicFramePr/>
          <p:nvPr/>
        </p:nvGraphicFramePr>
        <p:xfrm rot="0" flipH="0" flipV="0">
          <a:off x="685800" y="1428750"/>
          <a:ext cx="6991350" cy="4629150"/>
        </p:xfrm>
        <a:graphic>
          <a:graphicData uri="http://schemas.openxmlformats.org/drawingml/2006/table">
            <a:tbl>
              <a:tblGrid>
                <a:gridCol w="273751">
                  <a:extLst>
                    <a:ext uri="{9D8B030D-6E8A-4147-A177-3AD203B41FA5}">
                      <a16:colId val="1"/>
                    </a:ext>
                  </a:extLst>
                </a:gridCol>
                <a:gridCol w="1984696">
                  <a:extLst>
                    <a:ext uri="{9D8B030D-6E8A-4147-A177-3AD203B41FA5}">
                      <a16:colId val="2"/>
                    </a:ext>
                  </a:extLst>
                </a:gridCol>
                <a:gridCol w="4732902">
                  <a:extLst>
                    <a:ext uri="{9D8B030D-6E8A-4147-A177-3AD203B41FA5}">
                      <a16:colId val="3"/>
                    </a:ext>
                  </a:extLst>
                </a:gridCol>
              </a:tblGrid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能用固定流程就不上自主循环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步骤确定就写死 workflow；要「见机行事」才把自主权交给模型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控制流在代码，判断在模型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分支 / 循环 / 重试用代码写死，模型只决定「调哪个工具、传什么参数」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2AD4EE"/>
                          </a:solidFill>
                          <a:latin typeface="Microsoft YaHei"/>
                          <a:ea typeface="Microsoft YaHei"/>
                        </a:rPr>
                        <a:t>模型输出 = 不可信输入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解析前一律校验格式、类型、范围——幻觉出的参数不该直接进工具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工具小而专，描述大于实现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一个工具干一件事，description 当 API 文档写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确定性优先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temperature = 0，尽量走结构化输出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失败要回喂，不要吞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错误信息拼回上下文，让模型下一轮自救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7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高风险必过人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删除 / 支付 / 对外发消息，执行前必须人工确认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可观测先行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先加日志，再调 prompt——出了问题不能全靠猜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8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token 是钱，上下文是预算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及时摘要压缩，工具返回要精简——膨胀的大头是工具返回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9"/>
                  </a:ext>
                </a:extLst>
              </a:tr>
              <a:tr h="46291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2AD4EE"/>
                          </a:solidFill>
                          <a:latin typeface="JetBrains Mono"/>
                          <a:ea typeface="JetBrains Mono"/>
                        </a:rPr>
                        <a:t>10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 b="1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从最简单的开始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013">
                          <a:solidFill>
                            <a:srgbClr val="E8EEF9"/>
                          </a:solidFill>
                          <a:latin typeface="Microsoft YaHei"/>
                          <a:ea typeface="Microsoft YaHei"/>
                        </a:rPr>
                        <a:t>单 Agent + 2 个工具 + 一个循环，按需再加复杂度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10"/>
                  </a:ext>
                </a:extLst>
              </a:tr>
            </a:tbl>
          </a:graphicData>
        </a:graphic>
      </p:graphicFrame>
      <p:sp>
        <p:nvSpPr>
          <p:cNvPr id="339" name=""/>
          <p:cNvSpPr/>
          <p:nvPr/>
        </p:nvSpPr>
        <p:spPr>
          <a:xfrm rot="0" flipH="0" flipV="0">
            <a:off x="7905750" y="1143000"/>
            <a:ext cx="3609975" cy="4914900"/>
          </a:xfrm>
          <a:custGeom>
            <a:pathLst>
              <a:path w="379" h="516">
                <a:moveTo>
                  <a:pt x="0" y="0"/>
                </a:moveTo>
                <a:lnTo>
                  <a:pt x="1" y="0"/>
                </a:lnTo>
                <a:lnTo>
                  <a:pt x="1" y="516"/>
                </a:lnTo>
                <a:lnTo>
                  <a:pt x="0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143875" y="1143000"/>
            <a:ext cx="3362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TIERS</a:t>
            </a:r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8143875" y="1466850"/>
            <a:ext cx="3362325" cy="1504950"/>
          </a:xfrm>
          <a:prstGeom prst="roundRect">
            <a:avLst>
              <a:gd name="adj" fmla="val 2532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4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8315325" y="16383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639175" y="1638300"/>
            <a:ext cx="1038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架构级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315325" y="2209800"/>
            <a:ext cx="301942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 xml:space="preserve"> 1~3 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条决定项目</a:t>
            </a:r>
            <a:r>
              <a:rPr lang="zh-CN" sz="1125" b="1">
                <a:solidFill>
                  <a:srgbClr val="2AD4EE"/>
                </a:solidFill>
                <a:latin typeface="Source Han Sans SC"/>
                <a:ea typeface="Source Han Sans SC"/>
              </a:rPr>
              <a:t>成败</a:t>
            </a:r>
            <a:r>
              <a:rPr lang="zh-CN" sz="112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。选错了，后面写得多漂亮都是在给错误的路铺砖。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8143875" y="3105150"/>
            <a:ext cx="3362325" cy="1790700"/>
          </a:xfrm>
          <a:prstGeom prst="roundRect">
            <a:avLst>
              <a:gd name="adj" fmla="val 2128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8315325" y="327660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8639175" y="3276600"/>
            <a:ext cx="141922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条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工程习惯级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8315325" y="3848100"/>
            <a:ext cx="3019425" cy="876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第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4~10 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条决定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维护成本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。单条不致命，累积起来就是「能跑的</a:t>
            </a:r>
            <a:r>
              <a:rPr lang="en-US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12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」和「敢用的系统」的差距。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8172450" y="5419725"/>
            <a:ext cx="3362325" cy="638175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8143875" y="5419725"/>
            <a:ext cx="3390900" cy="638175"/>
          </a:xfrm>
          <a:custGeom>
            <a:pathLst>
              <a:path w="356" h="67">
                <a:moveTo>
                  <a:pt x="0" y="0"/>
                </a:moveTo>
                <a:lnTo>
                  <a:pt x="3" y="0"/>
                </a:lnTo>
                <a:lnTo>
                  <a:pt x="3" y="67"/>
                </a:lnTo>
                <a:lnTo>
                  <a:pt x="0" y="67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8343900" y="5572125"/>
            <a:ext cx="29908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架构级靠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判断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，习惯级靠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复盘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17 / 33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5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400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避坑清单与上线自查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左边是写之前要记住的，右边是发之前要打勾的</a:t>
            </a:r>
            <a:endParaRPr/>
          </a:p>
        </p:txBody>
      </p:sp>
      <p:sp>
        <p:nvSpPr>
          <p:cNvPr id="359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CHECKLIST</a:t>
            </a:r>
            <a:endParaRPr/>
          </a:p>
        </p:txBody>
      </p:sp>
      <p:sp>
        <p:nvSpPr>
          <p:cNvPr id="361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两份清单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十四条勾</a:t>
            </a:r>
            <a:endParaRPr/>
          </a:p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左边的七条几乎不花成本，但能省下大量排查时间；右边的七条是「敢给别人用」的最低门槛。</a:t>
            </a:r>
            <a:endParaRPr/>
          </a:p>
        </p:txBody>
      </p:sp>
      <p:sp>
        <p:nvSpPr>
          <p:cNvPr id="363" name=""/>
          <p:cNvSpPr/>
          <p:nvPr/>
        </p:nvSpPr>
        <p:spPr>
          <a:xfrm rot="0" flipH="0" flipV="0">
            <a:off x="685800" y="4562475"/>
            <a:ext cx="2276475" cy="1495425"/>
          </a:xfrm>
          <a:prstGeom prst="roundRect">
            <a:avLst>
              <a:gd name="adj" fmla="val 254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838200" y="4714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838200" y="4972050"/>
            <a:ext cx="1971675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全部打勾，才算从「能跑的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demo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」变成「敢给别人用的</a:t>
            </a: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」。</a:t>
            </a:r>
            <a:endParaRPr/>
          </a:p>
        </p:txBody>
      </p:sp>
      <p:sp>
        <p:nvSpPr>
          <p:cNvPr id="366" name=""/>
          <p:cNvSpPr/>
          <p:nvPr/>
        </p:nvSpPr>
        <p:spPr>
          <a:xfrm rot="0" flipH="0" flipV="0">
            <a:off x="35623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36290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38671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开发避坑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35623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BUILD</a:t>
            </a:r>
            <a:endParaRPr/>
          </a:p>
        </p:txBody>
      </p:sp>
      <p:pic>
        <p:nvPicPr>
          <p:cNvPr id="37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1733550"/>
            <a:ext cx="152400" cy="152400"/>
          </a:xfrm>
          <a:prstGeom prst="rect">
            <a:avLst/>
          </a:prstGeom>
          <a:ln/>
        </p:spPr>
      </p:pic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3819525" y="170497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不要一开始就上框架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先手写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ReAct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，否则出问题完全不会排查</a:t>
            </a:r>
            <a:endParaRPr/>
          </a:p>
        </p:txBody>
      </p:sp>
      <p:pic>
        <p:nvPicPr>
          <p:cNvPr id="37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2552700"/>
            <a:ext cx="152400" cy="152400"/>
          </a:xfrm>
          <a:prstGeom prst="rect">
            <a:avLst/>
          </a:prstGeom>
          <a:ln/>
        </p:spPr>
      </p:pic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3819525" y="2524125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工具描述写清楚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模型选错工具，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90%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是因为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description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写得烂</a:t>
            </a:r>
            <a:endParaRPr/>
          </a:p>
        </p:txBody>
      </p:sp>
      <p:pic>
        <p:nvPicPr>
          <p:cNvPr id="3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3362325"/>
            <a:ext cx="152400" cy="152400"/>
          </a:xfrm>
          <a:prstGeom prst="rect">
            <a:avLst/>
          </a:prstGeom>
          <a:ln/>
        </p:spPr>
      </p:pic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3819525" y="33337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循环要有终止条件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最大轮数兜底，防止死循环烧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token</a:t>
            </a:r>
            <a:endParaRPr/>
          </a:p>
        </p:txBody>
      </p:sp>
      <p:pic>
        <p:nvPicPr>
          <p:cNvPr id="3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181475"/>
            <a:ext cx="152400" cy="152400"/>
          </a:xfrm>
          <a:prstGeom prst="rect">
            <a:avLst/>
          </a:prstGeom>
          <a:ln/>
        </p:spPr>
      </p:pic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819525" y="41529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temperature 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设</a:t>
            </a:r>
            <a:r>
              <a:rPr lang="en-US" sz="11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0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工具调用与结构化输出都要确定性</a:t>
            </a:r>
            <a:endParaRPr/>
          </a:p>
        </p:txBody>
      </p:sp>
      <p:pic>
        <p:nvPicPr>
          <p:cNvPr id="3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4724400"/>
            <a:ext cx="152400" cy="152400"/>
          </a:xfrm>
          <a:prstGeom prst="rect">
            <a:avLst/>
          </a:prstGeom>
          <a:ln/>
        </p:spPr>
      </p:pic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3819525" y="46958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幻觉应对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强制模型基于工具返回的真实数据作答</a:t>
            </a:r>
            <a:endParaRPr/>
          </a:p>
        </p:txBody>
      </p:sp>
      <p:pic>
        <p:nvPicPr>
          <p:cNvPr id="3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276850"/>
            <a:ext cx="152400" cy="152400"/>
          </a:xfrm>
          <a:prstGeom prst="rect">
            <a:avLst/>
          </a:prstGeom>
          <a:ln/>
        </p:spPr>
      </p:pic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819525" y="52482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上下文膨胀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多轮工具调用后及时摘要压缩</a:t>
            </a:r>
            <a:endParaRPr/>
          </a:p>
        </p:txBody>
      </p:sp>
      <p:pic>
        <p:nvPicPr>
          <p:cNvPr id="3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562350" y="5819775"/>
            <a:ext cx="152400" cy="152400"/>
          </a:xfrm>
          <a:prstGeom prst="rect">
            <a:avLst/>
          </a:prstGeom>
          <a:ln/>
        </p:spPr>
      </p:pic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3819525" y="57912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危险操作加确认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执行前让用户点一下，或加白名单</a:t>
            </a:r>
            <a:endParaRPr/>
          </a:p>
        </p:txBody>
      </p:sp>
      <p:sp>
        <p:nvSpPr>
          <p:cNvPr id="384" name=""/>
          <p:cNvSpPr/>
          <p:nvPr/>
        </p:nvSpPr>
        <p:spPr>
          <a:xfrm rot="0" flipH="0" flipV="0">
            <a:off x="7677150" y="11525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2AD4EE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7743825" y="1190625"/>
            <a:ext cx="7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386" name="" descr="{&quot;isTemplate&quot;:true,&quot;type&quot;:&quot;text&quot;}"/>
          <p:cNvSpPr txBox="1"/>
          <p:nvPr/>
        </p:nvSpPr>
        <p:spPr>
          <a:xfrm rot="0" flipH="0" flipV="0">
            <a:off x="7981950" y="1143000"/>
            <a:ext cx="1352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上线自查</a:t>
            </a:r>
            <a:r>
              <a:rPr lang="en-US" sz="142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425" b="1">
                <a:solidFill>
                  <a:srgbClr val="E8EEF9"/>
                </a:solidFill>
                <a:latin typeface="Source Han Sans SC"/>
                <a:ea typeface="Source Han Sans SC"/>
              </a:rPr>
              <a:t>七条</a:t>
            </a:r>
            <a:endParaRPr/>
          </a:p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7677150" y="1438275"/>
            <a:ext cx="3829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150">
                <a:solidFill>
                  <a:srgbClr val="E8EEF9">
                    <a:alpha val="38000"/>
                  </a:srgbClr>
                </a:solidFill>
                <a:latin typeface="JetBrains Mono"/>
                <a:ea typeface="JetBrains Mono"/>
              </a:rPr>
              <a:t>BEFORE YOU SHIP</a:t>
            </a:r>
            <a:endParaRPr/>
          </a:p>
        </p:txBody>
      </p:sp>
      <p:pic>
        <p:nvPicPr>
          <p:cNvPr id="38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1733550"/>
            <a:ext cx="152400" cy="152400"/>
          </a:xfrm>
          <a:prstGeom prst="rect">
            <a:avLst/>
          </a:prstGeom>
          <a:ln/>
        </p:spPr>
      </p:pic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7934325" y="17049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有兜底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最大轮数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token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上限，防死循环烧钱</a:t>
            </a:r>
            <a:endParaRPr/>
          </a:p>
        </p:txBody>
      </p:sp>
      <p:pic>
        <p:nvPicPr>
          <p:cNvPr id="39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324100"/>
            <a:ext cx="152400" cy="152400"/>
          </a:xfrm>
          <a:prstGeom prst="rect">
            <a:avLst/>
          </a:prstGeom>
          <a:ln/>
        </p:spPr>
      </p:pic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7934325" y="229552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不崩程序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工具报错被回喂给模型，而不是抛出异常</a:t>
            </a:r>
            <a:endParaRPr/>
          </a:p>
        </p:txBody>
      </p:sp>
      <p:pic>
        <p:nvPicPr>
          <p:cNvPr id="39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2914650"/>
            <a:ext cx="152400" cy="152400"/>
          </a:xfrm>
          <a:prstGeom prst="rect">
            <a:avLst/>
          </a:prstGeom>
          <a:ln/>
        </p:spPr>
      </p:pic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934325" y="2886075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先校验再执行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模型输出的格式、类型、范围都验一遍</a:t>
            </a:r>
            <a:endParaRPr/>
          </a:p>
        </p:txBody>
      </p:sp>
      <p:pic>
        <p:nvPicPr>
          <p:cNvPr id="3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3514725"/>
            <a:ext cx="152400" cy="152400"/>
          </a:xfrm>
          <a:prstGeom prst="rect">
            <a:avLst/>
          </a:prstGeom>
          <a:ln/>
        </p:spPr>
      </p:pic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7934325" y="348615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人工确认位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删除、支付、对外发消息必须过人</a:t>
            </a:r>
            <a:endParaRPr/>
          </a:p>
        </p:txBody>
      </p:sp>
      <p:pic>
        <p:nvPicPr>
          <p:cNvPr id="3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105275"/>
            <a:ext cx="152400" cy="152400"/>
          </a:xfrm>
          <a:prstGeom prst="rect">
            <a:avLst/>
          </a:prstGeom>
          <a:ln/>
        </p:spPr>
      </p:pic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7934325" y="4076700"/>
            <a:ext cx="3571875" cy="2667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日志可回放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每轮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Thought / Action / Observation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落盘</a:t>
            </a:r>
            <a:endParaRPr/>
          </a:p>
        </p:txBody>
      </p:sp>
      <p:pic>
        <p:nvPicPr>
          <p:cNvPr id="39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4695825"/>
            <a:ext cx="152400" cy="152400"/>
          </a:xfrm>
          <a:prstGeom prst="rect">
            <a:avLst/>
          </a:prstGeom>
          <a:ln/>
        </p:spPr>
      </p:pic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7934325" y="466725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密钥与提示词归位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key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不在代码里，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不散落在业务代码</a:t>
            </a:r>
            <a:endParaRPr/>
          </a:p>
        </p:txBody>
      </p:sp>
      <p:pic>
        <p:nvPicPr>
          <p:cNvPr id="4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7677150" y="5553075"/>
            <a:ext cx="152400" cy="152400"/>
          </a:xfrm>
          <a:prstGeom prst="rect">
            <a:avLst/>
          </a:prstGeom>
          <a:ln/>
        </p:spPr>
      </p:pic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7934325" y="5524500"/>
            <a:ext cx="35718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回归测试集</a:t>
            </a:r>
            <a:r>
              <a:rPr lang="en-US" sz="112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有固定问题集，改</a:t>
            </a:r>
            <a:r>
              <a:rPr lang="en-US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prompt / </a:t>
            </a:r>
            <a:r>
              <a:rPr lang="zh-CN" sz="1125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换模型后能回归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18 / 33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0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06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407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03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Pi Agent</a:t>
            </a: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一个极简范式</a:t>
            </a:r>
            <a:endParaRPr/>
          </a:p>
        </p:txBody>
      </p:sp>
      <p:sp>
        <p:nvSpPr>
          <p:cNvPr id="411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自主智能体本质就是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LLM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循环；</a:t>
            </a:r>
            <a:endParaRPr/>
          </a:p>
          <a:p>
            <a:pPr>
              <a:lnSpc>
                <a:spcPct val="175000"/>
              </a:lnSpc>
            </a:pPr>
            <a:r>
              <a:rPr lang="en-US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把这条公式工程化到了极致。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「极简」具体体现在哪几个数字上？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428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四层架构为什么要严格单向依赖？</a:t>
            </a:r>
            <a:endParaRPr/>
          </a:p>
        </p:txBody>
      </p:sp>
      <p:sp>
        <p:nvSpPr>
          <p:cNvPr id="419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20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想改一处能力，该走哪条定制路线？</a:t>
            </a:r>
            <a:endParaRPr/>
          </a:p>
        </p:txBody>
      </p:sp>
      <p:sp>
        <p:nvSpPr>
          <p:cNvPr id="421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19 – 25</a:t>
            </a:r>
            <a:endParaRPr/>
          </a:p>
        </p:txBody>
      </p:sp>
      <p:sp>
        <p:nvSpPr>
          <p:cNvPr id="424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三个反常识设计与极简的数字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分层架构与一次调用的数据流</a:t>
            </a:r>
            <a:endParaRPr/>
          </a:p>
        </p:txBody>
      </p:sp>
      <p:sp>
        <p:nvSpPr>
          <p:cNvPr id="428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9431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九个设计点与三层定制能力</a:t>
            </a:r>
            <a:endParaRPr/>
          </a:p>
        </p:txBody>
      </p:sp>
      <p:sp>
        <p:nvSpPr>
          <p:cNvPr id="430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19 / 33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8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9147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是什么：三个反常识设计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9147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它把「不做什么」写成了设计原则</a:t>
            </a:r>
            <a:endParaRPr/>
          </a:p>
        </p:txBody>
      </p:sp>
      <p:sp>
        <p:nvSpPr>
          <p:cNvPr id="491" name=""/>
          <p:cNvSpPr/>
          <p:nvPr/>
        </p:nvSpPr>
        <p:spPr>
          <a:xfrm rot="0" flipH="0" flipV="0">
            <a:off x="685800" y="1143000"/>
            <a:ext cx="6096000" cy="4914900"/>
          </a:xfrm>
          <a:custGeom>
            <a:pathLst>
              <a:path w="640" h="516">
                <a:moveTo>
                  <a:pt x="639" y="0"/>
                </a:moveTo>
                <a:lnTo>
                  <a:pt x="640" y="0"/>
                </a:lnTo>
                <a:lnTo>
                  <a:pt x="640" y="516"/>
                </a:lnTo>
                <a:lnTo>
                  <a:pt x="639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772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COUNTER-INTUITIVE BY DESIGN</a:t>
            </a:r>
            <a:endParaRPr/>
          </a:p>
        </p:txBody>
      </p:sp>
      <p:sp>
        <p:nvSpPr>
          <p:cNvPr id="493" name=""/>
          <p:cNvSpPr/>
          <p:nvPr/>
        </p:nvSpPr>
        <p:spPr>
          <a:xfrm rot="0" flipH="0" flipV="0">
            <a:off x="685800" y="15811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49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00100" y="1695450"/>
            <a:ext cx="190500" cy="190500"/>
          </a:xfrm>
          <a:prstGeom prst="rect">
            <a:avLst/>
          </a:prstGeom>
          <a:ln/>
        </p:spPr>
      </p:pic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1276350" y="158115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1533525" y="1581150"/>
            <a:ext cx="14668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刻意「不内置」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1276350" y="193357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不内置</a:t>
            </a:r>
            <a:r>
              <a:rPr lang="en-US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MCP</a:t>
            </a: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、子智能体、计划模式、任务清单、权限弹窗。核心只保留最必要的部分，多余能力全部外置成扩展——需要什么，自己装。</a:t>
            </a:r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685800" y="2981325"/>
            <a:ext cx="5772150" cy="1543050"/>
          </a:xfrm>
          <a:custGeom>
            <a:pathLst>
              <a:path w="606" h="162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85800" y="312420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0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00100" y="3238500"/>
            <a:ext cx="190500" cy="190500"/>
          </a:xfrm>
          <a:prstGeom prst="rect">
            <a:avLst/>
          </a:prstGeom>
          <a:ln/>
        </p:spPr>
      </p:pic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276350" y="3124200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533525" y="3124200"/>
            <a:ext cx="838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没有沙箱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276350" y="3476625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以启动用户的完整权限运行。这既是它「真能干完活」的原因，也意味着生产环境必须自己做容器化隔离，或用扩展钩子自建拦截。</a:t>
            </a:r>
            <a:endParaRPr/>
          </a:p>
        </p:txBody>
      </p:sp>
      <p:sp>
        <p:nvSpPr>
          <p:cNvPr id="504" name=""/>
          <p:cNvSpPr/>
          <p:nvPr/>
        </p:nvSpPr>
        <p:spPr>
          <a:xfrm rot="0" flipH="0" flipV="0">
            <a:off x="685800" y="4514850"/>
            <a:ext cx="5772150" cy="1552575"/>
          </a:xfrm>
          <a:custGeom>
            <a:pathLst>
              <a:path w="606" h="163">
                <a:moveTo>
                  <a:pt x="0" y="0"/>
                </a:moveTo>
                <a:lnTo>
                  <a:pt x="606" y="0"/>
                </a:lnTo>
                <a:lnTo>
                  <a:pt x="606" y="1"/>
                </a:lnTo>
                <a:lnTo>
                  <a:pt x="0" y="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685800" y="4657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50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00100" y="4772025"/>
            <a:ext cx="190500" cy="190500"/>
          </a:xfrm>
          <a:prstGeom prst="rect">
            <a:avLst/>
          </a:prstGeom>
          <a:ln/>
        </p:spPr>
      </p:pic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1276350" y="4657725"/>
            <a:ext cx="1619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1533525" y="4657725"/>
            <a:ext cx="16764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不给「计划模式」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1276350" y="5010150"/>
            <a:ext cx="51816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怎么拆步骤、先做哪一步，交给模型自己判断。框架不预设流程，也就不会用错误的流程绑住模型的手脚。</a:t>
            </a:r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096125" y="1143000"/>
            <a:ext cx="4410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WHAT IT IS</a:t>
            </a:r>
            <a:endParaRPr/>
          </a:p>
        </p:txBody>
      </p:sp>
      <p:sp>
        <p:nvSpPr>
          <p:cNvPr id="511" name=""/>
          <p:cNvSpPr/>
          <p:nvPr/>
        </p:nvSpPr>
        <p:spPr>
          <a:xfrm rot="0" flipH="0" flipV="0">
            <a:off x="7096125" y="1447800"/>
            <a:ext cx="4410075" cy="1581150"/>
          </a:xfrm>
          <a:prstGeom prst="roundRect">
            <a:avLst>
              <a:gd name="adj" fmla="val 241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267575" y="1619250"/>
            <a:ext cx="4067175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minimal terminal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2AD4EE"/>
                </a:solidFill>
                <a:latin typeface="JetBrains Mono"/>
                <a:ea typeface="JetBrains Mono"/>
              </a:rPr>
              <a:t>coding harness</a:t>
            </a:r>
            <a:endParaRPr/>
          </a:p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7267575" y="2247900"/>
            <a:ext cx="40671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不是聊天机器人，也不是</a:t>
            </a:r>
            <a:r>
              <a:rPr lang="en-US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IDE </a:t>
            </a:r>
            <a:r>
              <a:rPr lang="zh-CN" sz="116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插件，而是把模型、工具、上下文、会话与扩展串起来的终端执行框架。</a:t>
            </a:r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7096125" y="31623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7096125" y="32670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协议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7858125" y="32194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MIT ·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完全开源，可商用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7096125" y="36195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096125" y="37242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运行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7858125" y="36766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完全本地，模型调用走自己的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Key /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订阅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7096125" y="40767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7096125" y="41814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默认工具</a:t>
            </a:r>
            <a:endParaRPr/>
          </a:p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7858125" y="41338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，只有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4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个</a:t>
            </a:r>
            <a:endParaRPr/>
          </a:p>
        </p:txBody>
      </p:sp>
      <p:sp>
        <p:nvSpPr>
          <p:cNvPr id="523" name=""/>
          <p:cNvSpPr/>
          <p:nvPr/>
        </p:nvSpPr>
        <p:spPr>
          <a:xfrm rot="0" flipH="0" flipV="0">
            <a:off x="7096125" y="4533900"/>
            <a:ext cx="4410075" cy="390525"/>
          </a:xfrm>
          <a:custGeom>
            <a:pathLst>
              <a:path w="463" h="41">
                <a:moveTo>
                  <a:pt x="0" y="40"/>
                </a:moveTo>
                <a:lnTo>
                  <a:pt x="463" y="40"/>
                </a:lnTo>
                <a:lnTo>
                  <a:pt x="463" y="41"/>
                </a:lnTo>
                <a:lnTo>
                  <a:pt x="0" y="41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7096125" y="4638675"/>
            <a:ext cx="647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模型接入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7858125" y="4591050"/>
            <a:ext cx="3648075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内置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30+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家，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/model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一键切换</a:t>
            </a:r>
            <a:endParaRPr/>
          </a:p>
        </p:txBody>
      </p:sp>
      <p:sp>
        <p:nvSpPr>
          <p:cNvPr id="526" name=""/>
          <p:cNvSpPr/>
          <p:nvPr/>
        </p:nvSpPr>
        <p:spPr>
          <a:xfrm rot="0" flipH="0" flipV="0">
            <a:off x="7096125" y="5153025"/>
            <a:ext cx="441007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267575" y="5305425"/>
            <a:ext cx="406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7267575" y="5572125"/>
            <a:ext cx="406717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这不是功能少，而是把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指导权还给了模型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20 / 33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5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极简的代价与回报</a:t>
            </a:r>
            <a:endParaRPr/>
          </a:p>
        </p:txBody>
      </p:sp>
      <p:sp>
        <p:nvSpPr>
          <p:cNvPr id="53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三个数字，说明它凭什么又快又便宜</a:t>
            </a:r>
            <a:endParaRPr/>
          </a:p>
        </p:txBody>
      </p:sp>
      <p:sp>
        <p:nvSpPr>
          <p:cNvPr id="536" name=""/>
          <p:cNvSpPr/>
          <p:nvPr/>
        </p:nvSpPr>
        <p:spPr>
          <a:xfrm rot="0" flipH="0" flipV="0">
            <a:off x="685800" y="1143000"/>
            <a:ext cx="10820400" cy="2733675"/>
          </a:xfrm>
          <a:custGeom>
            <a:pathLst>
              <a:path w="1136" h="287">
                <a:moveTo>
                  <a:pt x="0" y="286"/>
                </a:moveTo>
                <a:lnTo>
                  <a:pt x="1136" y="286"/>
                </a:lnTo>
                <a:lnTo>
                  <a:pt x="1136" y="287"/>
                </a:lnTo>
                <a:lnTo>
                  <a:pt x="0" y="287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85800" y="1143000"/>
            <a:ext cx="4333875" cy="2114550"/>
          </a:xfrm>
          <a:custGeom>
            <a:pathLst>
              <a:path w="455" h="222">
                <a:moveTo>
                  <a:pt x="454" y="0"/>
                </a:moveTo>
                <a:lnTo>
                  <a:pt x="455" y="0"/>
                </a:lnTo>
                <a:lnTo>
                  <a:pt x="455" y="222"/>
                </a:lnTo>
                <a:lnTo>
                  <a:pt x="454" y="22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19325" cy="1390650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9900" b="1">
                <a:solidFill>
                  <a:srgbClr val="2AD4EE"/>
                </a:solidFill>
                <a:latin typeface="JetBrains Mono"/>
                <a:ea typeface="JetBrains Mono"/>
              </a:rPr>
              <a:t>418</a:t>
            </a:r>
            <a:endParaRPr/>
          </a:p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29813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行</a:t>
            </a:r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3990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核心</a:t>
            </a:r>
            <a:r>
              <a:rPr lang="en-US" sz="15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循环的代码量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685800" y="2971800"/>
            <a:ext cx="399097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同类工具的核心实现通常是数千行</a:t>
            </a: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TypeScript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5010150" y="1143000"/>
            <a:ext cx="3257550" cy="2400300"/>
          </a:xfrm>
          <a:custGeom>
            <a:pathLst>
              <a:path w="342" h="252">
                <a:moveTo>
                  <a:pt x="341" y="0"/>
                </a:moveTo>
                <a:lnTo>
                  <a:pt x="342" y="0"/>
                </a:lnTo>
                <a:lnTo>
                  <a:pt x="342" y="252"/>
                </a:lnTo>
                <a:lnTo>
                  <a:pt x="341" y="252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5334000" y="1438275"/>
            <a:ext cx="581025" cy="109537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7800" b="1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5991225" y="2162175"/>
            <a:ext cx="228600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lang="zh-CN"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个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5334000" y="2667000"/>
            <a:ext cx="2590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默认工具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5334000" y="2971800"/>
            <a:ext cx="25908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read · write · edit · bash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，够完成绝大多数编码任务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582025" y="1647825"/>
            <a:ext cx="1409700" cy="885825"/>
          </a:xfrm>
          <a:prstGeom prst="rect"/>
        </p:spPr>
        <p:txBody>
          <a:bodyPr wrap="none" lIns="0" tIns="0" rIns="0" bIns="0"/>
          <a:p>
            <a:pPr>
              <a:lnSpc>
                <a:spcPct val="92000"/>
              </a:lnSpc>
            </a:pPr>
            <a:r>
              <a:rPr lang="en-US" sz="6300" b="1">
                <a:solidFill>
                  <a:srgbClr val="2AD4EE"/>
                </a:solidFill>
                <a:latin typeface="JetBrains Mono"/>
                <a:ea typeface="JetBrains Mono"/>
              </a:rPr>
              <a:t>1/3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10067925" y="2162175"/>
            <a:ext cx="142875" cy="371475"/>
          </a:xfrm>
          <a:prstGeom prst="rect"/>
        </p:spPr>
        <p:txBody>
          <a:bodyPr wrap="none" lIns="0" tIns="0" rIns="0" bIns="71438"/>
          <a:p>
            <a:pPr>
              <a:lnSpc>
                <a:spcPct val="100000"/>
              </a:lnSpc>
            </a:pPr>
            <a:r>
              <a:rPr sz="1800">
                <a:solidFill>
                  <a:srgbClr val="2AD4EE">
                    <a:alpha val="62000"/>
                  </a:srgbClr>
                </a:solidFill>
                <a:latin typeface="JetBrains Mono"/>
                <a:ea typeface="JetBrains Mono"/>
              </a:rPr>
              <a:t>×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8582025" y="2667000"/>
            <a:ext cx="2600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E8EEF9"/>
                </a:solidFill>
                <a:latin typeface="Source Han Sans SC"/>
                <a:ea typeface="Source Han Sans SC"/>
              </a:rPr>
              <a:t>每轮发送的上下文</a:t>
            </a:r>
            <a:endParaRPr/>
          </a:p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582025" y="2971800"/>
            <a:ext cx="2600325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Databricks </a:t>
            </a:r>
            <a:r>
              <a:rPr lang="zh-CN" sz="1125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基准测试的实测结果</a:t>
            </a:r>
            <a:endParaRPr/>
          </a:p>
        </p:txBody>
      </p:sp>
      <p:sp>
        <p:nvSpPr>
          <p:cNvPr id="551" name=""/>
          <p:cNvSpPr/>
          <p:nvPr/>
        </p:nvSpPr>
        <p:spPr>
          <a:xfrm rot="0" flipH="0" flipV="0">
            <a:off x="6858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876300" y="4438650"/>
            <a:ext cx="112395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&lt;1000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2171700" y="4362450"/>
            <a:ext cx="361950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系统提示的</a:t>
            </a:r>
            <a:r>
              <a:rPr lang="en-US" sz="1163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token 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数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别家动辄数千。省掉的每一行，都会在每一轮里重复付费。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6210300" y="4038600"/>
            <a:ext cx="5295900" cy="1257300"/>
          </a:xfrm>
          <a:prstGeom prst="roundRect">
            <a:avLst>
              <a:gd name="adj" fmla="val 3030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6400800" y="4438650"/>
            <a:ext cx="228600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E8EEF9">
                    <a:alpha val="82000"/>
                  </a:srgbClr>
                </a:solidFill>
                <a:latin typeface="JetBrains Mono"/>
                <a:ea typeface="JetBrains Mono"/>
              </a:rPr>
              <a:t>0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6800850" y="4362450"/>
            <a:ext cx="4514850" cy="609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内置的编排与审批机制</a:t>
            </a:r>
            <a:endParaRPr/>
          </a:p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不塞进内核，能力全部外置成扩展——按需注入。</a:t>
            </a:r>
            <a:endParaRPr/>
          </a:p>
        </p:txBody>
      </p:sp>
      <p:sp>
        <p:nvSpPr>
          <p:cNvPr id="557" name=""/>
          <p:cNvSpPr/>
          <p:nvPr/>
        </p:nvSpPr>
        <p:spPr>
          <a:xfrm rot="0" flipH="0" flipV="0">
            <a:off x="685800" y="5467350"/>
            <a:ext cx="10820400" cy="590550"/>
          </a:xfrm>
          <a:prstGeom prst="roundRect">
            <a:avLst>
              <a:gd name="adj" fmla="val 64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876300" y="5657850"/>
            <a:ext cx="3429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59" name=""/>
          <p:cNvSpPr/>
          <p:nvPr/>
        </p:nvSpPr>
        <p:spPr>
          <a:xfrm rot="0" flipH="0" flipV="0">
            <a:off x="1371600" y="5629275"/>
            <a:ext cx="9525" cy="266700"/>
          </a:xfrm>
          <a:prstGeom prst="rect">
            <a:avLst/>
          </a:prstGeom>
          <a:solidFill>
            <a:srgbClr val="2AD4EE">
              <a:alpha val="3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0" name="" descr="{&quot;isTemplate&quot;:true,&quot;type&quot;:&quot;text&quot;}"/>
          <p:cNvSpPr txBox="1"/>
          <p:nvPr/>
        </p:nvSpPr>
        <p:spPr>
          <a:xfrm rot="0" flipH="0" flipV="0">
            <a:off x="1533525" y="5600700"/>
            <a:ext cx="9782175" cy="3333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省下来的上下文，就是省下来的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钱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和</a:t>
            </a:r>
            <a:r>
              <a:rPr lang="zh-CN" sz="1350">
                <a:solidFill>
                  <a:srgbClr val="2AD4EE"/>
                </a:solidFill>
                <a:latin typeface="Source Han Sans SC"/>
                <a:ea typeface="Source Han Sans SC"/>
              </a:rPr>
              <a:t>准确率</a:t>
            </a:r>
            <a:r>
              <a:rPr lang="zh-CN" sz="1350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61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21 / 33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5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66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291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分层架构：严格单向的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monorepo</a:t>
            </a:r>
            <a:endParaRPr/>
          </a:p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29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下层不知道上层，每一层都能单独拿出来用</a:t>
            </a:r>
            <a:endParaRPr/>
          </a:p>
        </p:txBody>
      </p:sp>
      <p:sp>
        <p:nvSpPr>
          <p:cNvPr id="568" name=""/>
          <p:cNvSpPr/>
          <p:nvPr/>
        </p:nvSpPr>
        <p:spPr>
          <a:xfrm rot="0" flipH="0" flipV="0">
            <a:off x="685800" y="1143000"/>
            <a:ext cx="2552700" cy="4914900"/>
          </a:xfrm>
          <a:custGeom>
            <a:pathLst>
              <a:path w="268" h="516">
                <a:moveTo>
                  <a:pt x="267" y="0"/>
                </a:moveTo>
                <a:lnTo>
                  <a:pt x="268" y="0"/>
                </a:lnTo>
                <a:lnTo>
                  <a:pt x="268" y="516"/>
                </a:lnTo>
                <a:lnTo>
                  <a:pt x="26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ARCHITECTURE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四层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单向依赖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内核里没有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CLI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、没有扩展、没有文件系统。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「组装」这件事，被完整地留在了最上面一层。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685800" y="37719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828675" y="3705225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每层可独立发布，单独装也合法</a:t>
            </a:r>
            <a:endParaRPr/>
          </a:p>
        </p:txBody>
      </p:sp>
      <p:sp>
        <p:nvSpPr>
          <p:cNvPr id="574" name=""/>
          <p:cNvSpPr/>
          <p:nvPr/>
        </p:nvSpPr>
        <p:spPr>
          <a:xfrm rot="0" flipH="0" flipV="0">
            <a:off x="685800" y="41148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828675" y="3962400"/>
            <a:ext cx="2133600" cy="342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可替换：换掉</a:t>
            </a:r>
            <a:r>
              <a:rPr lang="en-US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pi-tui</a:t>
            </a:r>
            <a:r>
              <a:rPr lang="zh-CN" sz="1125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，内核一行不改</a:t>
            </a:r>
            <a:endParaRPr/>
          </a:p>
        </p:txBody>
      </p:sp>
      <p:sp>
        <p:nvSpPr>
          <p:cNvPr id="576" name=""/>
          <p:cNvSpPr/>
          <p:nvPr/>
        </p:nvSpPr>
        <p:spPr>
          <a:xfrm rot="0" flipH="0" flipV="0">
            <a:off x="685800" y="4591050"/>
            <a:ext cx="2276475" cy="1466850"/>
          </a:xfrm>
          <a:prstGeom prst="roundRect">
            <a:avLst>
              <a:gd name="adj" fmla="val 259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838200" y="4743450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838200" y="5000625"/>
            <a:ext cx="1971675" cy="904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做编码类产品，直接用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coding-agent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；只要裸内核，用</a:t>
            </a:r>
            <a:r>
              <a:rPr lang="en-US" sz="1163">
                <a:solidFill>
                  <a:srgbClr val="2AD4EE"/>
                </a:solidFill>
                <a:latin typeface="Source Han Sans SC"/>
                <a:ea typeface="Source Han Sans SC"/>
              </a:rPr>
              <a:t>agent-core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3562350" y="1143000"/>
            <a:ext cx="34385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PACKAGE DEPENDENCY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箭头</a:t>
            </a: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 =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依赖方向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9772650" y="1152525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上层可以依赖下层，反之不成立</a:t>
            </a:r>
            <a:endParaRPr/>
          </a:p>
        </p:txBody>
      </p:sp>
      <p:sp>
        <p:nvSpPr>
          <p:cNvPr id="581" name=""/>
          <p:cNvSpPr/>
          <p:nvPr/>
        </p:nvSpPr>
        <p:spPr>
          <a:xfrm rot="0" flipH="0" flipV="0">
            <a:off x="3571875" y="1428750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8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3571875" y="1428750"/>
            <a:ext cx="7943850" cy="876300"/>
          </a:xfrm>
          <a:custGeom>
            <a:pathLst>
              <a:path w="834" h="92">
                <a:moveTo>
                  <a:pt x="3" y="0"/>
                </a:moveTo>
                <a:cubicBezTo>
                  <a:pt x="2" y="0"/>
                  <a:pt x="1" y="1"/>
                  <a:pt x="1" y="2"/>
                </a:cubicBezTo>
                <a:lnTo>
                  <a:pt x="1" y="90"/>
                </a:lnTo>
                <a:cubicBezTo>
                  <a:pt x="1" y="91"/>
                  <a:pt x="2" y="92"/>
                  <a:pt x="3" y="92"/>
                </a:cubicBezTo>
                <a:cubicBezTo>
                  <a:pt x="1" y="92"/>
                  <a:pt x="0" y="90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close/>
              </a:path>
            </a:pathLst>
          </a:custGeom>
          <a:solidFill>
            <a:srgbClr val="E8EEF9">
              <a:alpha val="2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3743325" y="177165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UI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4238625" y="1609725"/>
            <a:ext cx="6762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pi-tui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5029200" y="1609725"/>
            <a:ext cx="10287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终端差分渲染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UI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4238625" y="1895475"/>
            <a:ext cx="70961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独立包，不直接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内核；换成自己的前端同样成立</a:t>
            </a:r>
            <a:endParaRPr/>
          </a:p>
        </p:txBody>
      </p:sp>
      <p:sp>
        <p:nvSpPr>
          <p:cNvPr id="587" name="" descr="{&quot;isTemplate&quot;:true,&quot;type&quot;:&quot;text&quot;}"/>
          <p:cNvSpPr txBox="1"/>
          <p:nvPr/>
        </p:nvSpPr>
        <p:spPr>
          <a:xfrm rot="0" flipH="0" flipV="0">
            <a:off x="3943350" y="2333625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588" name=""/>
          <p:cNvSpPr/>
          <p:nvPr/>
        </p:nvSpPr>
        <p:spPr>
          <a:xfrm rot="0" flipH="0" flipV="0">
            <a:off x="3590925" y="2514600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9" name=""/>
          <p:cNvSpPr/>
          <p:nvPr/>
        </p:nvSpPr>
        <p:spPr>
          <a:xfrm rot="0" flipH="0" flipV="0">
            <a:off x="3590925" y="2514600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3762375" y="2857500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L3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4257675" y="2686050"/>
            <a:ext cx="1676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pi-coding-agent</a:t>
            </a:r>
            <a:endParaRPr/>
          </a:p>
        </p:txBody>
      </p:sp>
      <p:sp>
        <p:nvSpPr>
          <p:cNvPr id="592" name="" descr="{&quot;isTemplate&quot;:true,&quot;type&quot;:&quot;text&quot;}"/>
          <p:cNvSpPr txBox="1"/>
          <p:nvPr/>
        </p:nvSpPr>
        <p:spPr>
          <a:xfrm rot="0" flipH="0" flipV="0">
            <a:off x="6048375" y="2686050"/>
            <a:ext cx="19335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产品运行时组装层</a:t>
            </a: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 · SDK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入口</a:t>
            </a:r>
            <a:endParaRPr/>
          </a:p>
        </p:txBody>
      </p:sp>
      <p:sp>
        <p:nvSpPr>
          <p:cNvPr id="593" name="" descr="{&quot;isTemplate&quot;:true,&quot;type&quot;:&quot;text&quot;}"/>
          <p:cNvSpPr txBox="1"/>
          <p:nvPr/>
        </p:nvSpPr>
        <p:spPr>
          <a:xfrm rot="0" flipH="0" flipV="0">
            <a:off x="4257675" y="297180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组装内核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内置编码工具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会话持久化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扩展扫描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多运行模式</a:t>
            </a:r>
            <a:endParaRPr/>
          </a:p>
        </p:txBody>
      </p:sp>
      <p:sp>
        <p:nvSpPr>
          <p:cNvPr id="594" name="" descr="{&quot;isTemplate&quot;:true,&quot;type&quot;:&quot;text&quot;}"/>
          <p:cNvSpPr txBox="1"/>
          <p:nvPr/>
        </p:nvSpPr>
        <p:spPr>
          <a:xfrm rot="0" flipH="0" flipV="0">
            <a:off x="3943350" y="340995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3590925" y="3590925"/>
            <a:ext cx="7943850" cy="876300"/>
          </a:xfrm>
          <a:prstGeom prst="roundRect">
            <a:avLst>
              <a:gd name="adj" fmla="val 3261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3590925" y="3590925"/>
            <a:ext cx="7943850" cy="876300"/>
          </a:xfrm>
          <a:custGeom>
            <a:pathLst>
              <a:path w="834" h="92">
                <a:moveTo>
                  <a:pt x="3" y="92"/>
                </a:moveTo>
                <a:cubicBezTo>
                  <a:pt x="1" y="92"/>
                  <a:pt x="0" y="91"/>
                  <a:pt x="0" y="8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2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597" name="" descr="{&quot;isTemplate&quot;:true,&quot;type&quot;:&quot;text&quot;}"/>
          <p:cNvSpPr txBox="1"/>
          <p:nvPr/>
        </p:nvSpPr>
        <p:spPr>
          <a:xfrm rot="0" flipH="0" flipV="0">
            <a:off x="3762375" y="393382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L2</a:t>
            </a:r>
            <a:endParaRPr/>
          </a:p>
        </p:txBody>
      </p:sp>
      <p:sp>
        <p:nvSpPr>
          <p:cNvPr id="598" name="" descr="{&quot;isTemplate&quot;:true,&quot;type&quot;:&quot;text&quot;}"/>
          <p:cNvSpPr txBox="1"/>
          <p:nvPr/>
        </p:nvSpPr>
        <p:spPr>
          <a:xfrm rot="0" flipH="0" flipV="0">
            <a:off x="4257675" y="3771900"/>
            <a:ext cx="14573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pi-agent-core</a:t>
            </a:r>
            <a:endParaRPr/>
          </a:p>
        </p:txBody>
      </p:sp>
      <p:sp>
        <p:nvSpPr>
          <p:cNvPr id="599" name="" descr="{&quot;isTemplate&quot;:true,&quot;type&quot;:&quot;text&quot;}"/>
          <p:cNvSpPr txBox="1"/>
          <p:nvPr/>
        </p:nvSpPr>
        <p:spPr>
          <a:xfrm rot="0" flipH="0" flipV="0">
            <a:off x="5829300" y="3771900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纯内核层</a:t>
            </a:r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4257675" y="4057650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Agent Loop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工具抽象与调度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事件总线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终止与最大轮次控制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3943350" y="4495800"/>
            <a:ext cx="9429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↓ depends on</a:t>
            </a:r>
            <a:endParaRPr/>
          </a:p>
        </p:txBody>
      </p:sp>
      <p:sp>
        <p:nvSpPr>
          <p:cNvPr id="602" name=""/>
          <p:cNvSpPr/>
          <p:nvPr/>
        </p:nvSpPr>
        <p:spPr>
          <a:xfrm rot="0" flipH="0" flipV="0">
            <a:off x="3590925" y="4676775"/>
            <a:ext cx="7943850" cy="866775"/>
          </a:xfrm>
          <a:prstGeom prst="roundRect">
            <a:avLst>
              <a:gd name="adj" fmla="val 3297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3" name=""/>
          <p:cNvSpPr/>
          <p:nvPr/>
        </p:nvSpPr>
        <p:spPr>
          <a:xfrm rot="0" flipH="0" flipV="0">
            <a:off x="3590925" y="4676775"/>
            <a:ext cx="7943850" cy="866775"/>
          </a:xfrm>
          <a:custGeom>
            <a:pathLst>
              <a:path w="834" h="91">
                <a:moveTo>
                  <a:pt x="3" y="91"/>
                </a:moveTo>
                <a:cubicBezTo>
                  <a:pt x="1" y="91"/>
                  <a:pt x="0" y="90"/>
                  <a:pt x="0" y="8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1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 descr="{&quot;isTemplate&quot;:true,&quot;type&quot;:&quot;text&quot;}"/>
          <p:cNvSpPr txBox="1"/>
          <p:nvPr/>
        </p:nvSpPr>
        <p:spPr>
          <a:xfrm rot="0" flipH="0" flipV="0">
            <a:off x="3762375" y="5019675"/>
            <a:ext cx="3238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L1</a:t>
            </a:r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4257675" y="4848225"/>
            <a:ext cx="5619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E8EEF9"/>
                </a:solidFill>
                <a:latin typeface="JetBrains Mono"/>
                <a:ea typeface="JetBrains Mono"/>
              </a:rPr>
              <a:t>pi-ai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4933950" y="4848225"/>
            <a:ext cx="1771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 xml:space="preserve">Unified LLM </a:t>
            </a:r>
            <a:r>
              <a:rPr lang="zh-CN" sz="1125">
                <a:solidFill>
                  <a:srgbClr val="E8EEF9">
                    <a:alpha val="62000"/>
                  </a:srgbClr>
                </a:solidFill>
                <a:latin typeface="Source Han Sans SC"/>
                <a:ea typeface="Source Han Sans SC"/>
              </a:rPr>
              <a:t>统一模型接入层</a:t>
            </a:r>
            <a:endParaRPr/>
          </a:p>
        </p:txBody>
      </p:sp>
      <p:sp>
        <p:nvSpPr>
          <p:cNvPr id="607" name="" descr="{&quot;isTemplate&quot;:true,&quot;type&quot;:&quot;text&quot;}"/>
          <p:cNvSpPr txBox="1"/>
          <p:nvPr/>
        </p:nvSpPr>
        <p:spPr>
          <a:xfrm rot="0" flipH="0" flipV="0">
            <a:off x="4257675" y="5133975"/>
            <a:ext cx="70770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多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Provider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适配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流式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chunk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归一化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 xml:space="preserve"> schema · </a:t>
            </a:r>
            <a:r>
              <a:rPr lang="zh-CN" sz="1013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凭证管理</a:t>
            </a:r>
            <a:endParaRPr/>
          </a:p>
        </p:txBody>
      </p:sp>
      <p:sp>
        <p:nvSpPr>
          <p:cNvPr id="608" name=""/>
          <p:cNvSpPr/>
          <p:nvPr/>
        </p:nvSpPr>
        <p:spPr>
          <a:xfrm rot="0" flipH="0" flipV="0">
            <a:off x="3590925" y="5638800"/>
            <a:ext cx="7943850" cy="4191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09" name=""/>
          <p:cNvSpPr/>
          <p:nvPr/>
        </p:nvSpPr>
        <p:spPr>
          <a:xfrm rot="0" flipH="0" flipV="0">
            <a:off x="3562350" y="5638800"/>
            <a:ext cx="7972425" cy="419100"/>
          </a:xfrm>
          <a:custGeom>
            <a:pathLst>
              <a:path w="837" h="44">
                <a:moveTo>
                  <a:pt x="0" y="0"/>
                </a:moveTo>
                <a:lnTo>
                  <a:pt x="3" y="0"/>
                </a:lnTo>
                <a:lnTo>
                  <a:pt x="3" y="44"/>
                </a:lnTo>
                <a:lnTo>
                  <a:pt x="0" y="44"/>
                </a:lnTo>
                <a:close/>
              </a:path>
            </a:pathLst>
          </a:custGeom>
          <a:solidFill>
            <a:srgbClr val="2AD4EE">
              <a:alpha val="5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3743325" y="5772150"/>
            <a:ext cx="628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OPTIONAL</a:t>
            </a:r>
            <a:endParaRPr/>
          </a:p>
        </p:txBody>
      </p:sp>
      <p:sp>
        <p:nvSpPr>
          <p:cNvPr id="611" name="" descr="{&quot;isTemplate&quot;:true,&quot;type&quot;:&quot;text&quot;}"/>
          <p:cNvSpPr txBox="1"/>
          <p:nvPr/>
        </p:nvSpPr>
        <p:spPr>
          <a:xfrm rot="0" flipH="0" flipV="0">
            <a:off x="4486275" y="5762625"/>
            <a:ext cx="5972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另有可选的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 xml:space="preserve"> CBOR 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远程会话栈：</a:t>
            </a:r>
            <a:r>
              <a:rPr lang="en-US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pi-protocol · pi-client · pi-server</a:t>
            </a:r>
            <a:r>
              <a:rPr lang="zh-CN" sz="1088">
                <a:solidFill>
                  <a:srgbClr val="E8EEF9">
                    <a:alpha val="70000"/>
                  </a:srgbClr>
                </a:solidFill>
                <a:latin typeface="Source Han Sans SC"/>
                <a:ea typeface="Source Han Sans SC"/>
              </a:rPr>
              <a:t>，独立叠加，不影响核心四层。</a:t>
            </a:r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13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22 / 33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6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1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7242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一次调用的完整数据流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7242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从一句话输入，到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agent_end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，中间到底发生了什么</a:t>
            </a:r>
            <a:endParaRPr/>
          </a:p>
        </p:txBody>
      </p:sp>
      <p:sp>
        <p:nvSpPr>
          <p:cNvPr id="619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REQUEST LIFECYCLE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事件回流贯穿全程</a:t>
            </a:r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85800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1" name="" descr="{&quot;isTemplate&quot;:true,&quot;type&quot;:&quot;text&quot;}"/>
          <p:cNvSpPr txBox="1"/>
          <p:nvPr/>
        </p:nvSpPr>
        <p:spPr>
          <a:xfrm rot="0" flipH="0" flipV="0">
            <a:off x="800100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800100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800100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自然语言需求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20383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2228850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26" name="" descr="{&quot;isTemplate&quot;:true,&quot;type&quot;:&quot;text&quot;}"/>
          <p:cNvSpPr txBox="1"/>
          <p:nvPr/>
        </p:nvSpPr>
        <p:spPr>
          <a:xfrm rot="0" flipH="0" flipV="0">
            <a:off x="2343150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627" name="" descr="{&quot;isTemplate&quot;:true,&quot;type&quot;:&quot;text&quot;}"/>
          <p:cNvSpPr txBox="1"/>
          <p:nvPr/>
        </p:nvSpPr>
        <p:spPr>
          <a:xfrm rot="0" flipH="0" flipV="0">
            <a:off x="2343150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AgentSession</a:t>
            </a:r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2343150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.prompt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入队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35909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30" name=""/>
          <p:cNvSpPr/>
          <p:nvPr/>
        </p:nvSpPr>
        <p:spPr>
          <a:xfrm rot="0" flipH="0" flipV="0">
            <a:off x="3781425" y="1666875"/>
            <a:ext cx="1352550" cy="1247775"/>
          </a:xfrm>
          <a:prstGeom prst="roundRect">
            <a:avLst>
              <a:gd name="adj" fmla="val 2290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3781425" y="1666875"/>
            <a:ext cx="1352550" cy="1247775"/>
          </a:xfrm>
          <a:custGeom>
            <a:pathLst>
              <a:path w="142" h="131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32" name="" descr="{&quot;isTemplate&quot;:true,&quot;type&quot;:&quot;text&quot;}"/>
          <p:cNvSpPr txBox="1"/>
          <p:nvPr/>
        </p:nvSpPr>
        <p:spPr>
          <a:xfrm rot="0" flipH="0" flipV="0">
            <a:off x="3895725" y="180022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633" name="" descr="{&quot;isTemplate&quot;:true,&quot;type&quot;:&quot;text&quot;}"/>
          <p:cNvSpPr txBox="1"/>
          <p:nvPr/>
        </p:nvSpPr>
        <p:spPr>
          <a:xfrm rot="0" flipH="0" flipV="0">
            <a:off x="3895725" y="202882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双层</a:t>
            </a: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while</a:t>
            </a:r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3895725" y="2343150"/>
            <a:ext cx="112395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内层工具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外层续跑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51339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36" name=""/>
          <p:cNvSpPr/>
          <p:nvPr/>
        </p:nvSpPr>
        <p:spPr>
          <a:xfrm rot="0" flipH="0" flipV="0">
            <a:off x="5324475" y="1771650"/>
            <a:ext cx="1352550" cy="1038225"/>
          </a:xfrm>
          <a:prstGeom prst="roundRect">
            <a:avLst>
              <a:gd name="adj" fmla="val 2752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5324475" y="1771650"/>
            <a:ext cx="1352550" cy="1038225"/>
          </a:xfrm>
          <a:custGeom>
            <a:pathLst>
              <a:path w="142" h="109">
                <a:moveTo>
                  <a:pt x="139" y="0"/>
                </a:moveTo>
                <a:cubicBezTo>
                  <a:pt x="141" y="0"/>
                  <a:pt x="142" y="1"/>
                  <a:pt x="142" y="3"/>
                </a:cubicBezTo>
                <a:cubicBezTo>
                  <a:pt x="142" y="2"/>
                  <a:pt x="141" y="2"/>
                  <a:pt x="141" y="2"/>
                </a:cubicBezTo>
                <a:lnTo>
                  <a:pt x="1" y="2"/>
                </a:lnTo>
                <a:cubicBezTo>
                  <a:pt x="1" y="2"/>
                  <a:pt x="0" y="2"/>
                  <a:pt x="0" y="3"/>
                </a:cubicBezTo>
                <a:cubicBezTo>
                  <a:pt x="0" y="1"/>
                  <a:pt x="1" y="0"/>
                  <a:pt x="3" y="0"/>
                </a:cubicBezTo>
                <a:lnTo>
                  <a:pt x="139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38" name="" descr="{&quot;isTemplate&quot;:true,&quot;type&quot;:&quot;text&quot;}"/>
          <p:cNvSpPr txBox="1"/>
          <p:nvPr/>
        </p:nvSpPr>
        <p:spPr>
          <a:xfrm rot="0" flipH="0" flipV="0">
            <a:off x="5438775" y="1905000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639" name="" descr="{&quot;isTemplate&quot;:true,&quot;type&quot;:&quot;text&quot;}"/>
          <p:cNvSpPr txBox="1"/>
          <p:nvPr/>
        </p:nvSpPr>
        <p:spPr>
          <a:xfrm rot="0" flipH="0" flipV="0">
            <a:off x="5438775" y="2133600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上下文转换</a:t>
            </a:r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5438775" y="2447925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transformContext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67702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42" name=""/>
          <p:cNvSpPr/>
          <p:nvPr/>
        </p:nvSpPr>
        <p:spPr>
          <a:xfrm rot="0" flipH="0" flipV="0">
            <a:off x="6867525" y="1762125"/>
            <a:ext cx="1352550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3" name="" descr="{&quot;isTemplate&quot;:true,&quot;type&quot;:&quot;text&quot;}"/>
          <p:cNvSpPr txBox="1"/>
          <p:nvPr/>
        </p:nvSpPr>
        <p:spPr>
          <a:xfrm rot="0" flipH="0" flipV="0">
            <a:off x="6981825" y="1895475"/>
            <a:ext cx="1123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644" name="" descr="{&quot;isTemplate&quot;:true,&quot;type&quot;:&quot;text&quot;}"/>
          <p:cNvSpPr txBox="1"/>
          <p:nvPr/>
        </p:nvSpPr>
        <p:spPr>
          <a:xfrm rot="0" flipH="0" flipV="0">
            <a:off x="6981825" y="2124075"/>
            <a:ext cx="11239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流式请求</a:t>
            </a:r>
            <a:endParaRPr/>
          </a:p>
        </p:txBody>
      </p:sp>
      <p:sp>
        <p:nvSpPr>
          <p:cNvPr id="645" name="" descr="{&quot;isTemplate&quot;:true,&quot;type&quot;:&quot;text&quot;}"/>
          <p:cNvSpPr txBox="1"/>
          <p:nvPr/>
        </p:nvSpPr>
        <p:spPr>
          <a:xfrm rot="0" flipH="0" flipV="0">
            <a:off x="6981825" y="2438400"/>
            <a:ext cx="11239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streamSimple</a:t>
            </a:r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8220075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47" name=""/>
          <p:cNvSpPr/>
          <p:nvPr/>
        </p:nvSpPr>
        <p:spPr>
          <a:xfrm rot="0" flipH="0" flipV="0">
            <a:off x="8410575" y="1762125"/>
            <a:ext cx="1362075" cy="1019175"/>
          </a:xfrm>
          <a:prstGeom prst="roundRect">
            <a:avLst>
              <a:gd name="adj" fmla="val 2804"/>
            </a:avLst>
          </a:prstGeom>
          <a:solidFill>
            <a:srgbClr val="16233D">
              <a:alpha val="95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8524875" y="1895475"/>
            <a:ext cx="1133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06</a:t>
            </a:r>
            <a:endParaRPr/>
          </a:p>
        </p:txBody>
      </p:sp>
      <p:sp>
        <p:nvSpPr>
          <p:cNvPr id="649" name="" descr="{&quot;isTemplate&quot;:true,&quot;type&quot;:&quot;text&quot;}"/>
          <p:cNvSpPr txBox="1"/>
          <p:nvPr/>
        </p:nvSpPr>
        <p:spPr>
          <a:xfrm rot="0" flipH="0" flipV="0">
            <a:off x="8524875" y="2124075"/>
            <a:ext cx="1133475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275" b="1">
                <a:solidFill>
                  <a:srgbClr val="E8EEF9"/>
                </a:solidFill>
                <a:latin typeface="Source Han Sans SC"/>
                <a:ea typeface="Source Han Sans SC"/>
              </a:rPr>
              <a:t>事件回流</a:t>
            </a:r>
            <a:endParaRPr/>
          </a:p>
        </p:txBody>
      </p:sp>
      <p:sp>
        <p:nvSpPr>
          <p:cNvPr id="650" name="" descr="{&quot;isTemplate&quot;:true,&quot;type&quot;:&quot;text&quot;}"/>
          <p:cNvSpPr txBox="1"/>
          <p:nvPr/>
        </p:nvSpPr>
        <p:spPr>
          <a:xfrm rot="0" flipH="0" flipV="0">
            <a:off x="8524875" y="2438400"/>
            <a:ext cx="1133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事件总线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 xml:space="preserve"> → UI</a:t>
            </a:r>
            <a:endParaRPr/>
          </a:p>
        </p:txBody>
      </p:sp>
      <p:sp>
        <p:nvSpPr>
          <p:cNvPr id="651" name="" descr="{&quot;isTemplate&quot;:true,&quot;type&quot;:&quot;text&quot;}"/>
          <p:cNvSpPr txBox="1"/>
          <p:nvPr/>
        </p:nvSpPr>
        <p:spPr>
          <a:xfrm rot="0" flipH="0" flipV="0">
            <a:off x="9772650" y="2190750"/>
            <a:ext cx="19050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652" name=""/>
          <p:cNvSpPr/>
          <p:nvPr/>
        </p:nvSpPr>
        <p:spPr>
          <a:xfrm rot="0" flipH="0" flipV="0">
            <a:off x="9963150" y="1762125"/>
            <a:ext cx="1543050" cy="1019175"/>
          </a:xfrm>
          <a:prstGeom prst="roundRect">
            <a:avLst>
              <a:gd name="adj" fmla="val 2804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10077450" y="1895475"/>
            <a:ext cx="13144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07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10077450" y="2124075"/>
            <a:ext cx="1314450" cy="25717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en-US" sz="1275" b="1">
                <a:solidFill>
                  <a:srgbClr val="E8EEF9"/>
                </a:solidFill>
                <a:latin typeface="Source Han Sans SC"/>
                <a:ea typeface="Source Han Sans SC"/>
              </a:rPr>
              <a:t>agent_end</a:t>
            </a:r>
            <a:endParaRPr/>
          </a:p>
        </p:txBody>
      </p:sp>
      <p:sp>
        <p:nvSpPr>
          <p:cNvPr id="655" name="" descr="{&quot;isTemplate&quot;:true,&quot;type&quot;:&quot;text&quot;}"/>
          <p:cNvSpPr txBox="1"/>
          <p:nvPr/>
        </p:nvSpPr>
        <p:spPr>
          <a:xfrm rot="0" flipH="0" flipV="0">
            <a:off x="10077450" y="2438400"/>
            <a:ext cx="1314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JetBrains Mono"/>
                <a:ea typeface="JetBrains Mono"/>
              </a:rPr>
              <a:t>本轮结束</a:t>
            </a:r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685800" y="3257550"/>
            <a:ext cx="10820400" cy="1428750"/>
          </a:xfrm>
          <a:prstGeom prst="roundRect">
            <a:avLst>
              <a:gd name="adj" fmla="val 2667"/>
            </a:avLst>
          </a:prstGeom>
          <a:solidFill>
            <a:srgbClr val="2AD4EE">
              <a:alpha val="5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57" name="" descr="{&quot;isTemplate&quot;:true,&quot;type&quot;:&quot;text&quot;}"/>
          <p:cNvSpPr txBox="1"/>
          <p:nvPr/>
        </p:nvSpPr>
        <p:spPr>
          <a:xfrm rot="0" flipH="0" flipV="0">
            <a:off x="857250" y="3390900"/>
            <a:ext cx="2428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步骤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③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展开</a:t>
            </a: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工具管线的四个阶段</a:t>
            </a:r>
            <a:endParaRPr/>
          </a:p>
        </p:txBody>
      </p:sp>
      <p:sp>
        <p:nvSpPr>
          <p:cNvPr id="658" name="" descr="{&quot;isTemplate&quot;:true,&quot;type&quot;:&quot;text&quot;}"/>
          <p:cNvSpPr txBox="1"/>
          <p:nvPr/>
        </p:nvSpPr>
        <p:spPr>
          <a:xfrm rot="0" flipH="0" flipV="0">
            <a:off x="8610600" y="3390900"/>
            <a:ext cx="2724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所有「每次工具调用都要做的事」都被收进这一层</a:t>
            </a:r>
            <a:endParaRPr/>
          </a:p>
        </p:txBody>
      </p:sp>
      <p:sp>
        <p:nvSpPr>
          <p:cNvPr id="659" name=""/>
          <p:cNvSpPr/>
          <p:nvPr/>
        </p:nvSpPr>
        <p:spPr>
          <a:xfrm rot="0" flipH="0" flipV="0">
            <a:off x="8858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0" name=""/>
          <p:cNvSpPr/>
          <p:nvPr/>
        </p:nvSpPr>
        <p:spPr>
          <a:xfrm rot="0" flipH="0" flipV="0">
            <a:off x="8858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10191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Prepare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0191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参数校验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beforeToolCall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拦截</a:t>
            </a:r>
            <a:endParaRPr/>
          </a:p>
        </p:txBody>
      </p:sp>
      <p:sp>
        <p:nvSpPr>
          <p:cNvPr id="663" name="" descr="{&quot;isTemplate&quot;:true,&quot;type&quot;:&quot;text&quot;}"/>
          <p:cNvSpPr txBox="1"/>
          <p:nvPr/>
        </p:nvSpPr>
        <p:spPr>
          <a:xfrm rot="0" flipH="0" flipV="0">
            <a:off x="10191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工具还没跑，先验一遍</a:t>
            </a:r>
            <a:endParaRPr/>
          </a:p>
        </p:txBody>
      </p:sp>
      <p:sp>
        <p:nvSpPr>
          <p:cNvPr id="664" name=""/>
          <p:cNvSpPr/>
          <p:nvPr/>
        </p:nvSpPr>
        <p:spPr>
          <a:xfrm rot="0" flipH="0" flipV="0">
            <a:off x="35337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35337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66" name="" descr="{&quot;isTemplate&quot;:true,&quot;type&quot;:&quot;text&quot;}"/>
          <p:cNvSpPr txBox="1"/>
          <p:nvPr/>
        </p:nvSpPr>
        <p:spPr>
          <a:xfrm rot="0" flipH="0" flipV="0">
            <a:off x="36671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Execute</a:t>
            </a:r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36671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execute() + onUpdate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进度回调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36671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真正干活的一步</a:t>
            </a:r>
            <a:endParaRPr/>
          </a:p>
        </p:txBody>
      </p:sp>
      <p:sp>
        <p:nvSpPr>
          <p:cNvPr id="669" name=""/>
          <p:cNvSpPr/>
          <p:nvPr/>
        </p:nvSpPr>
        <p:spPr>
          <a:xfrm rot="0" flipH="0" flipV="0">
            <a:off x="618172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0" name=""/>
          <p:cNvSpPr/>
          <p:nvPr/>
        </p:nvSpPr>
        <p:spPr>
          <a:xfrm rot="0" flipH="0" flipV="0">
            <a:off x="618172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1" name="" descr="{&quot;isTemplate&quot;:true,&quot;type&quot;:&quot;text&quot;}"/>
          <p:cNvSpPr txBox="1"/>
          <p:nvPr/>
        </p:nvSpPr>
        <p:spPr>
          <a:xfrm rot="0" flipH="0" flipV="0">
            <a:off x="631507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2AD4EE"/>
                </a:solidFill>
                <a:latin typeface="JetBrains Mono"/>
                <a:ea typeface="JetBrains Mono"/>
              </a:rPr>
              <a:t>Finalize</a:t>
            </a:r>
            <a:endParaRPr/>
          </a:p>
        </p:txBody>
      </p:sp>
      <p:sp>
        <p:nvSpPr>
          <p:cNvPr id="672" name="" descr="{&quot;isTemplate&quot;:true,&quot;type&quot;:&quot;text&quot;}"/>
          <p:cNvSpPr txBox="1"/>
          <p:nvPr/>
        </p:nvSpPr>
        <p:spPr>
          <a:xfrm rot="0" flipH="0" flipV="0">
            <a:off x="631507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afterToolCall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脱敏</a:t>
            </a:r>
            <a:endParaRPr/>
          </a:p>
        </p:txBody>
      </p:sp>
      <p:sp>
        <p:nvSpPr>
          <p:cNvPr id="673" name="" descr="{&quot;isTemplate&quot;:true,&quot;type&quot;:&quot;text&quot;}"/>
          <p:cNvSpPr txBox="1"/>
          <p:nvPr/>
        </p:nvSpPr>
        <p:spPr>
          <a:xfrm rot="0" flipH="0" flipV="0">
            <a:off x="631507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结果进上下文前先过一道</a:t>
            </a:r>
            <a:endParaRPr/>
          </a:p>
        </p:txBody>
      </p:sp>
      <p:sp>
        <p:nvSpPr>
          <p:cNvPr id="674" name=""/>
          <p:cNvSpPr/>
          <p:nvPr/>
        </p:nvSpPr>
        <p:spPr>
          <a:xfrm rot="0" flipH="0" flipV="0">
            <a:off x="8829675" y="3695700"/>
            <a:ext cx="2533650" cy="857250"/>
          </a:xfrm>
          <a:prstGeom prst="roundRect">
            <a:avLst>
              <a:gd name="adj" fmla="val 3333"/>
            </a:avLst>
          </a:prstGeom>
          <a:solidFill>
            <a:srgbClr val="16233D">
              <a:alpha val="9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5" name=""/>
          <p:cNvSpPr/>
          <p:nvPr/>
        </p:nvSpPr>
        <p:spPr>
          <a:xfrm rot="0" flipH="0" flipV="0">
            <a:off x="8829675" y="3695700"/>
            <a:ext cx="2533650" cy="857250"/>
          </a:xfrm>
          <a:custGeom>
            <a:pathLst>
              <a:path w="266" h="90">
                <a:moveTo>
                  <a:pt x="3" y="90"/>
                </a:moveTo>
                <a:cubicBezTo>
                  <a:pt x="1" y="90"/>
                  <a:pt x="0" y="89"/>
                  <a:pt x="0" y="87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9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6" name="" descr="{&quot;isTemplate&quot;:true,&quot;type&quot;:&quot;text&quot;}"/>
          <p:cNvSpPr txBox="1"/>
          <p:nvPr/>
        </p:nvSpPr>
        <p:spPr>
          <a:xfrm rot="0" flipH="0" flipV="0">
            <a:off x="8963025" y="3762375"/>
            <a:ext cx="22383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AD4EE"/>
                </a:solidFill>
                <a:latin typeface="JetBrains Mono"/>
                <a:ea typeface="JetBrains Mono"/>
              </a:rPr>
              <a:t>截断保护</a:t>
            </a:r>
            <a:endParaRPr/>
          </a:p>
        </p:txBody>
      </p:sp>
      <p:sp>
        <p:nvSpPr>
          <p:cNvPr id="677" name="" descr="{&quot;isTemplate&quot;:true,&quot;type&quot;:&quot;text&quot;}"/>
          <p:cNvSpPr txBox="1"/>
          <p:nvPr/>
        </p:nvSpPr>
        <p:spPr>
          <a:xfrm rot="0" flipH="0" flipV="0">
            <a:off x="8963025" y="4048125"/>
            <a:ext cx="22383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超长结果裁剪后回喂</a:t>
            </a:r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8963025" y="4343400"/>
            <a:ext cx="22383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E8EEF9">
                    <a:alpha val="45000"/>
                  </a:srgbClr>
                </a:solidFill>
                <a:latin typeface="Source Han Sans SC"/>
                <a:ea typeface="Source Han Sans SC"/>
              </a:rPr>
              <a:t>别让一条返回撑爆窗口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685800" y="4838700"/>
            <a:ext cx="6162675" cy="1219200"/>
          </a:xfrm>
          <a:prstGeom prst="roundRect">
            <a:avLst>
              <a:gd name="adj" fmla="val 3125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876300" y="5010150"/>
            <a:ext cx="57816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WHY TWO LOOPS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876300" y="5276850"/>
            <a:ext cx="57816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内层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在一轮里反复「模型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工具</a:t>
            </a:r>
            <a:r>
              <a:rPr lang="en-US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结果」，直到模型不再要工具；</a:t>
            </a:r>
            <a:r>
              <a:rPr lang="zh-CN" sz="1163" b="1">
                <a:solidFill>
                  <a:srgbClr val="E8EEF9"/>
                </a:solidFill>
                <a:latin typeface="Source Han Sans SC"/>
                <a:ea typeface="Source Han Sans SC"/>
              </a:rPr>
              <a:t>外层</a:t>
            </a:r>
            <a:r>
              <a:rPr lang="zh-CN" sz="1163">
                <a:solidFill>
                  <a:srgbClr val="E8EEF9">
                    <a:alpha val="74000"/>
                  </a:srgbClr>
                </a:solidFill>
                <a:latin typeface="Source Han Sans SC"/>
                <a:ea typeface="Source Han Sans SC"/>
              </a:rPr>
              <a:t>负责续跑——用户的插话与追问变成队列消息注入，而不是硬中断。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7038975" y="4838700"/>
            <a:ext cx="4467225" cy="1219200"/>
          </a:xfrm>
          <a:prstGeom prst="roundRect">
            <a:avLst>
              <a:gd name="adj" fmla="val 3125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83" name="" descr="{&quot;isTemplate&quot;:true,&quot;type&quot;:&quot;text&quot;}"/>
          <p:cNvSpPr txBox="1"/>
          <p:nvPr/>
        </p:nvSpPr>
        <p:spPr>
          <a:xfrm rot="0" flipH="0" flipV="0">
            <a:off x="7229475" y="5153025"/>
            <a:ext cx="4086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7229475" y="5419725"/>
            <a:ext cx="4086225" cy="3238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看懂了这条流，就懂了</a:t>
            </a: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的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一切扩展点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685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23 / 33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68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九个设计点：对应七层地图</a:t>
            </a:r>
            <a:endParaRPr/>
          </a:p>
        </p:txBody>
      </p:sp>
      <p:sp>
        <p:nvSpPr>
          <p:cNvPr id="69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的每一个设计点，都能落回前面那七层</a:t>
            </a:r>
            <a:endParaRPr/>
          </a:p>
        </p:txBody>
      </p:sp>
      <p:sp>
        <p:nvSpPr>
          <p:cNvPr id="692" name=""/>
          <p:cNvSpPr/>
          <p:nvPr/>
        </p:nvSpPr>
        <p:spPr>
          <a:xfrm rot="0" flipH="0" flipV="0">
            <a:off x="685800" y="1143000"/>
            <a:ext cx="2533650" cy="4914900"/>
          </a:xfrm>
          <a:custGeom>
            <a:pathLst>
              <a:path w="266" h="516">
                <a:moveTo>
                  <a:pt x="265" y="0"/>
                </a:moveTo>
                <a:lnTo>
                  <a:pt x="266" y="0"/>
                </a:lnTo>
                <a:lnTo>
                  <a:pt x="266" y="516"/>
                </a:lnTo>
                <a:lnTo>
                  <a:pt x="26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764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DESIGN NOTES</a:t>
            </a:r>
            <a:endParaRPr/>
          </a:p>
        </p:txBody>
      </p:sp>
      <p:sp>
        <p:nvSpPr>
          <p:cNvPr id="694" name="" descr="{&quot;isTemplate&quot;:true,&quot;type&quot;:&quot;text&quot;}"/>
          <p:cNvSpPr txBox="1"/>
          <p:nvPr/>
        </p:nvSpPr>
        <p:spPr>
          <a:xfrm rot="0" flipH="0" flipV="0">
            <a:off x="685800" y="1466850"/>
            <a:ext cx="22764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九个设计点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一张映射表</a:t>
            </a:r>
            <a:endParaRPr/>
          </a:p>
        </p:txBody>
      </p:sp>
      <p:sp>
        <p:nvSpPr>
          <p:cNvPr id="695" name="" descr="{&quot;isTemplate&quot;:true,&quot;type&quot;:&quot;text&quot;}"/>
          <p:cNvSpPr txBox="1"/>
          <p:nvPr/>
        </p:nvSpPr>
        <p:spPr>
          <a:xfrm rot="0" flipH="0" flipV="0">
            <a:off x="685800" y="2486025"/>
            <a:ext cx="227647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学完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的九个设计点，回头看七层地图，会发现它们一一对得上。</a:t>
            </a:r>
            <a:endParaRPr/>
          </a:p>
        </p:txBody>
      </p:sp>
      <p:sp>
        <p:nvSpPr>
          <p:cNvPr id="696" name=""/>
          <p:cNvSpPr/>
          <p:nvPr/>
        </p:nvSpPr>
        <p:spPr>
          <a:xfrm rot="0" flipH="0" flipV="0">
            <a:off x="685800" y="3648075"/>
            <a:ext cx="2276475" cy="914400"/>
          </a:xfrm>
          <a:prstGeom prst="roundRect">
            <a:avLst>
              <a:gd name="adj" fmla="val 4167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697" name="" descr="{&quot;isTemplate&quot;:true,&quot;type&quot;:&quot;text&quot;}"/>
          <p:cNvSpPr txBox="1"/>
          <p:nvPr/>
        </p:nvSpPr>
        <p:spPr>
          <a:xfrm rot="0" flipH="0" flipV="0">
            <a:off x="1323975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1714500" y="3848100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E8EEF9">
                    <a:alpha val="40000"/>
                  </a:srgbClr>
                </a:solidFill>
                <a:latin typeface="Source Han Sans SC"/>
                <a:ea typeface="Source Han Sans SC"/>
              </a:rPr>
              <a:t>→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2076450" y="3714750"/>
            <a:ext cx="25717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>
                <a:solidFill>
                  <a:srgbClr val="E8EEF9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00" name="" descr="{&quot;isTemplate&quot;:true,&quot;type&quot;:&quot;text&quot;}"/>
          <p:cNvSpPr txBox="1"/>
          <p:nvPr/>
        </p:nvSpPr>
        <p:spPr>
          <a:xfrm rot="0" flipH="0" flipV="0">
            <a:off x="733425" y="4343400"/>
            <a:ext cx="2190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9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个设计点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7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个功能层</a:t>
            </a:r>
            <a:r>
              <a:rPr lang="en-US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50">
                <a:solidFill>
                  <a:srgbClr val="E8EEF9">
                    <a:alpha val="58000"/>
                  </a:srgbClr>
                </a:solidFill>
                <a:latin typeface="Source Han Sans SC"/>
                <a:ea typeface="Source Han Sans SC"/>
              </a:rPr>
              <a:t>顺序一致</a:t>
            </a:r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85800" y="4962525"/>
            <a:ext cx="2276475" cy="1095375"/>
          </a:xfrm>
          <a:prstGeom prst="roundRect">
            <a:avLst>
              <a:gd name="adj" fmla="val 3478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838200" y="5095875"/>
            <a:ext cx="19716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703" name="" descr="{&quot;isTemplate&quot;:true,&quot;type&quot;:&quot;text&quot;}"/>
          <p:cNvSpPr txBox="1"/>
          <p:nvPr/>
        </p:nvSpPr>
        <p:spPr>
          <a:xfrm rot="0" flipH="0" flipV="0">
            <a:off x="838200" y="5334000"/>
            <a:ext cx="19716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编号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1–7 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就是层号</a:t>
            </a:r>
            <a:r>
              <a:rPr lang="en-US" sz="112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①–⑦</a:t>
            </a:r>
            <a:r>
              <a:rPr lang="zh-CN" sz="1125">
                <a:solidFill>
                  <a:srgbClr val="E8EEF9"/>
                </a:solidFill>
                <a:latin typeface="Source Han Sans SC"/>
                <a:ea typeface="Source Han Sans SC"/>
              </a:rPr>
              <a:t>。这不是巧合，是刻意的教学设计。</a:t>
            </a:r>
            <a:endParaRPr/>
          </a:p>
        </p:txBody>
      </p:sp>
      <p:sp>
        <p:nvSpPr>
          <p:cNvPr id="704" name=""/>
          <p:cNvSpPr/>
          <p:nvPr/>
        </p:nvSpPr>
        <p:spPr>
          <a:xfrm rot="0" flipH="0" flipV="0">
            <a:off x="3505200" y="1143000"/>
            <a:ext cx="8001000" cy="276225"/>
          </a:xfrm>
          <a:custGeom>
            <a:pathLst>
              <a:path w="840" h="29">
                <a:moveTo>
                  <a:pt x="0" y="28"/>
                </a:moveTo>
                <a:lnTo>
                  <a:pt x="840" y="28"/>
                </a:lnTo>
                <a:lnTo>
                  <a:pt x="840" y="29"/>
                </a:lnTo>
                <a:lnTo>
                  <a:pt x="0" y="29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3505200" y="1143000"/>
            <a:ext cx="2724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设计点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解决什么问题</a:t>
            </a:r>
            <a:r>
              <a:rPr lang="en-US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 xml:space="preserve"> / </a:t>
            </a:r>
            <a:r>
              <a:rPr lang="zh-CN" sz="1050" spc="1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对应功能层</a:t>
            </a:r>
            <a:endParaRPr/>
          </a:p>
        </p:txBody>
      </p:sp>
      <p:sp>
        <p:nvSpPr>
          <p:cNvPr id="706" name="" descr="{&quot;isTemplate&quot;:true,&quot;type&quot;:&quot;text&quot;}"/>
          <p:cNvSpPr txBox="1"/>
          <p:nvPr/>
        </p:nvSpPr>
        <p:spPr>
          <a:xfrm rot="0" flipH="0" flipV="0">
            <a:off x="9525000" y="1152525"/>
            <a:ext cx="1981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每一个设计点，都解决一类具体问题</a:t>
            </a:r>
            <a:endParaRPr/>
          </a:p>
        </p:txBody>
      </p:sp>
      <p:sp>
        <p:nvSpPr>
          <p:cNvPr id="707" name=""/>
          <p:cNvSpPr/>
          <p:nvPr/>
        </p:nvSpPr>
        <p:spPr>
          <a:xfrm rot="0" flipH="0" flipV="0">
            <a:off x="3505200" y="14097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3505200" y="15811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709" name="" descr="{&quot;isTemplate&quot;:true,&quot;type&quot;:&quot;text&quot;}"/>
          <p:cNvSpPr txBox="1"/>
          <p:nvPr/>
        </p:nvSpPr>
        <p:spPr>
          <a:xfrm rot="0" flipH="0" flipV="0">
            <a:off x="3790950" y="15716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模型适配</a:t>
            </a:r>
            <a:endParaRPr/>
          </a:p>
        </p:txBody>
      </p:sp>
      <p:sp>
        <p:nvSpPr>
          <p:cNvPr id="710" name=""/>
          <p:cNvSpPr/>
          <p:nvPr/>
        </p:nvSpPr>
        <p:spPr>
          <a:xfrm rot="0" flipH="0" flipV="0">
            <a:off x="5010150" y="15811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5172075" y="15430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一套统一类型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归一化流式事件：把厂商差异挡在循环之外，换模型不改业务代码</a:t>
            </a:r>
            <a:endParaRPr/>
          </a:p>
        </p:txBody>
      </p:sp>
      <p:sp>
        <p:nvSpPr>
          <p:cNvPr id="712" name=""/>
          <p:cNvSpPr/>
          <p:nvPr/>
        </p:nvSpPr>
        <p:spPr>
          <a:xfrm rot="0" flipH="0" flipV="0">
            <a:off x="10763250" y="15525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13" name="" descr="{&quot;isTemplate&quot;:true,&quot;type&quot;:&quot;text&quot;}"/>
          <p:cNvSpPr txBox="1"/>
          <p:nvPr/>
        </p:nvSpPr>
        <p:spPr>
          <a:xfrm rot="0" flipH="0" flipV="0">
            <a:off x="10877550" y="15906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①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模型层</a:t>
            </a:r>
            <a:endParaRPr/>
          </a:p>
        </p:txBody>
      </p:sp>
      <p:sp>
        <p:nvSpPr>
          <p:cNvPr id="714" name=""/>
          <p:cNvSpPr/>
          <p:nvPr/>
        </p:nvSpPr>
        <p:spPr>
          <a:xfrm rot="0" flipH="0" flipV="0">
            <a:off x="3505200" y="192405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5" name="" descr="{&quot;isTemplate&quot;:true,&quot;type&quot;:&quot;text&quot;}"/>
          <p:cNvSpPr txBox="1"/>
          <p:nvPr/>
        </p:nvSpPr>
        <p:spPr>
          <a:xfrm rot="0" flipH="0" flipV="0">
            <a:off x="3505200" y="21050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3790950" y="20859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上下文工程</a:t>
            </a:r>
            <a:endParaRPr/>
          </a:p>
        </p:txBody>
      </p:sp>
      <p:sp>
        <p:nvSpPr>
          <p:cNvPr id="717" name=""/>
          <p:cNvSpPr/>
          <p:nvPr/>
        </p:nvSpPr>
        <p:spPr>
          <a:xfrm rot="0" flipH="0" flipV="0">
            <a:off x="5010150" y="20955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8" name="" descr="{&quot;isTemplate&quot;:true,&quot;type&quot;:&quot;text&quot;}"/>
          <p:cNvSpPr txBox="1"/>
          <p:nvPr/>
        </p:nvSpPr>
        <p:spPr>
          <a:xfrm rot="0" flipH="0" flipV="0">
            <a:off x="5172075" y="20669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常驻最小化：系统提示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&lt;1000 token + 4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个工具，其余按需注入，放不下就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compaction</a:t>
            </a:r>
            <a:endParaRPr/>
          </a:p>
        </p:txBody>
      </p:sp>
      <p:sp>
        <p:nvSpPr>
          <p:cNvPr id="719" name=""/>
          <p:cNvSpPr/>
          <p:nvPr/>
        </p:nvSpPr>
        <p:spPr>
          <a:xfrm rot="0" flipH="0" flipV="0">
            <a:off x="10763250" y="20669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0" name="" descr="{&quot;isTemplate&quot;:true,&quot;type&quot;:&quot;text&quot;}"/>
          <p:cNvSpPr txBox="1"/>
          <p:nvPr/>
        </p:nvSpPr>
        <p:spPr>
          <a:xfrm rot="0" flipH="0" flipV="0">
            <a:off x="10877550" y="21050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②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提示层</a:t>
            </a:r>
            <a:endParaRPr/>
          </a:p>
        </p:txBody>
      </p:sp>
      <p:sp>
        <p:nvSpPr>
          <p:cNvPr id="721" name=""/>
          <p:cNvSpPr/>
          <p:nvPr/>
        </p:nvSpPr>
        <p:spPr>
          <a:xfrm rot="0" flipH="0" flipV="0">
            <a:off x="3505200" y="244792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3505200" y="26193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3790950" y="26098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工具系统</a:t>
            </a:r>
            <a:endParaRPr/>
          </a:p>
        </p:txBody>
      </p:sp>
      <p:sp>
        <p:nvSpPr>
          <p:cNvPr id="724" name=""/>
          <p:cNvSpPr/>
          <p:nvPr/>
        </p:nvSpPr>
        <p:spPr>
          <a:xfrm rot="0" flipH="0" flipV="0">
            <a:off x="5010150" y="26193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5" name="" descr="{&quot;isTemplate&quot;:true,&quot;type&quot;:&quot;text&quot;}"/>
          <p:cNvSpPr txBox="1"/>
          <p:nvPr/>
        </p:nvSpPr>
        <p:spPr>
          <a:xfrm rot="0" flipH="0" flipV="0">
            <a:off x="5172075" y="258127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四阶段流水线：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Prepare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Execute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执行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Finalize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改写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脱敏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→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截断保护</a:t>
            </a:r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10763250" y="25908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10877550" y="26289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③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工具层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3505200" y="2962275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9" name="" descr="{&quot;isTemplate&quot;:true,&quot;type&quot;:&quot;text&quot;}"/>
          <p:cNvSpPr txBox="1"/>
          <p:nvPr/>
        </p:nvSpPr>
        <p:spPr>
          <a:xfrm rot="0" flipH="0" flipV="0">
            <a:off x="3505200" y="31337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4</a:t>
            </a:r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3790950" y="31242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会话系统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5010150" y="31337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2" name="" descr="{&quot;isTemplate&quot;:true,&quot;type&quot;:&quot;text&quot;}"/>
          <p:cNvSpPr txBox="1"/>
          <p:nvPr/>
        </p:nvSpPr>
        <p:spPr>
          <a:xfrm rot="0" flipH="0" flipV="0">
            <a:off x="5172075" y="3095625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会话原语与持久化：历史怎么存、怎么取、怎么续跑，都是可替换的存储后端</a:t>
            </a:r>
            <a:endParaRPr/>
          </a:p>
        </p:txBody>
      </p:sp>
      <p:sp>
        <p:nvSpPr>
          <p:cNvPr id="733" name=""/>
          <p:cNvSpPr/>
          <p:nvPr/>
        </p:nvSpPr>
        <p:spPr>
          <a:xfrm rot="0" flipH="0" flipV="0">
            <a:off x="10763250" y="310515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34" name="" descr="{&quot;isTemplate&quot;:true,&quot;type&quot;:&quot;text&quot;}"/>
          <p:cNvSpPr txBox="1"/>
          <p:nvPr/>
        </p:nvSpPr>
        <p:spPr>
          <a:xfrm rot="0" flipH="0" flipV="0">
            <a:off x="10877550" y="314325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④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记忆层</a:t>
            </a:r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3505200" y="3476625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3505200" y="36576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5</a:t>
            </a:r>
            <a:endParaRPr/>
          </a:p>
        </p:txBody>
      </p:sp>
      <p:sp>
        <p:nvSpPr>
          <p:cNvPr id="737" name="" descr="{&quot;isTemplate&quot;:true,&quot;type&quot;:&quot;text&quot;}"/>
          <p:cNvSpPr txBox="1"/>
          <p:nvPr/>
        </p:nvSpPr>
        <p:spPr>
          <a:xfrm rot="0" flipH="0" flipV="0">
            <a:off x="3790950" y="363855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循环</a:t>
            </a:r>
            <a:endParaRPr/>
          </a:p>
        </p:txBody>
      </p:sp>
      <p:sp>
        <p:nvSpPr>
          <p:cNvPr id="738" name=""/>
          <p:cNvSpPr/>
          <p:nvPr/>
        </p:nvSpPr>
        <p:spPr>
          <a:xfrm rot="0" flipH="0" flipV="0">
            <a:off x="5010150" y="364807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5172075" y="36195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约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418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行双层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while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：内层跑工具调用、外层跑续跑，终止与最大轮次都有兜底</a:t>
            </a:r>
            <a:endParaRPr/>
          </a:p>
        </p:txBody>
      </p:sp>
      <p:sp>
        <p:nvSpPr>
          <p:cNvPr id="740" name=""/>
          <p:cNvSpPr/>
          <p:nvPr/>
        </p:nvSpPr>
        <p:spPr>
          <a:xfrm rot="0" flipH="0" flipV="0">
            <a:off x="10763250" y="3619500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1" name="" descr="{&quot;isTemplate&quot;:true,&quot;type&quot;:&quot;text&quot;}"/>
          <p:cNvSpPr txBox="1"/>
          <p:nvPr/>
        </p:nvSpPr>
        <p:spPr>
          <a:xfrm rot="0" flipH="0" flipV="0">
            <a:off x="10877550" y="3657600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⑤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控制层</a:t>
            </a:r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3505200" y="400050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3505200" y="417195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6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3790950" y="41624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扩展系统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5010150" y="41719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 descr="{&quot;isTemplate&quot;:true,&quot;type&quot;:&quot;text&quot;}"/>
          <p:cNvSpPr txBox="1"/>
          <p:nvPr/>
        </p:nvSpPr>
        <p:spPr>
          <a:xfrm rot="0" flipH="0" flipV="0">
            <a:off x="5172075" y="413385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能力全部外置成扩展：加工具、加拦截、加校验，全都不动内核一行代码</a:t>
            </a:r>
            <a:endParaRPr/>
          </a:p>
        </p:txBody>
      </p:sp>
      <p:sp>
        <p:nvSpPr>
          <p:cNvPr id="747" name=""/>
          <p:cNvSpPr/>
          <p:nvPr/>
        </p:nvSpPr>
        <p:spPr>
          <a:xfrm rot="0" flipH="0" flipV="0">
            <a:off x="10763250" y="414337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10877550" y="418147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⑥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护栏层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3505200" y="4514850"/>
            <a:ext cx="8001000" cy="523875"/>
          </a:xfrm>
          <a:custGeom>
            <a:pathLst>
              <a:path w="840" h="55">
                <a:moveTo>
                  <a:pt x="0" y="54"/>
                </a:moveTo>
                <a:lnTo>
                  <a:pt x="840" y="54"/>
                </a:lnTo>
                <a:lnTo>
                  <a:pt x="840" y="55"/>
                </a:lnTo>
                <a:lnTo>
                  <a:pt x="0" y="55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0" name="" descr="{&quot;isTemplate&quot;:true,&quot;type&quot;:&quot;text&quot;}"/>
          <p:cNvSpPr txBox="1"/>
          <p:nvPr/>
        </p:nvSpPr>
        <p:spPr>
          <a:xfrm rot="0" flipH="0" flipV="0">
            <a:off x="3505200" y="4686300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7</a:t>
            </a:r>
            <a:endParaRPr/>
          </a:p>
        </p:txBody>
      </p:sp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3790950" y="467677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事件系统</a:t>
            </a:r>
            <a:endParaRPr/>
          </a:p>
        </p:txBody>
      </p:sp>
      <p:sp>
        <p:nvSpPr>
          <p:cNvPr id="752" name=""/>
          <p:cNvSpPr/>
          <p:nvPr/>
        </p:nvSpPr>
        <p:spPr>
          <a:xfrm rot="0" flipH="0" flipV="0">
            <a:off x="5010150" y="468630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3" name="" descr="{&quot;isTemplate&quot;:true,&quot;type&quot;:&quot;text&quot;}"/>
          <p:cNvSpPr txBox="1"/>
          <p:nvPr/>
        </p:nvSpPr>
        <p:spPr>
          <a:xfrm rot="0" flipH="0" flipV="0">
            <a:off x="5172075" y="4648200"/>
            <a:ext cx="55911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事件总线贯穿全程：文本与思考增量实时回流，是可观测性的地基</a:t>
            </a:r>
            <a:endParaRPr/>
          </a:p>
        </p:txBody>
      </p:sp>
      <p:sp>
        <p:nvSpPr>
          <p:cNvPr id="754" name=""/>
          <p:cNvSpPr/>
          <p:nvPr/>
        </p:nvSpPr>
        <p:spPr>
          <a:xfrm rot="0" flipH="0" flipV="0">
            <a:off x="10763250" y="4657725"/>
            <a:ext cx="7429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55" name="" descr="{&quot;isTemplate&quot;:true,&quot;type&quot;:&quot;text&quot;}"/>
          <p:cNvSpPr txBox="1"/>
          <p:nvPr/>
        </p:nvSpPr>
        <p:spPr>
          <a:xfrm rot="0" flipH="0" flipV="0">
            <a:off x="10877550" y="4695825"/>
            <a:ext cx="51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 xml:space="preserve">⑦ </a:t>
            </a: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运营层</a:t>
            </a:r>
            <a:endParaRPr/>
          </a:p>
        </p:txBody>
      </p:sp>
      <p:sp>
        <p:nvSpPr>
          <p:cNvPr id="756" name=""/>
          <p:cNvSpPr/>
          <p:nvPr/>
        </p:nvSpPr>
        <p:spPr>
          <a:xfrm rot="0" flipH="0" flipV="0">
            <a:off x="3505200" y="5029200"/>
            <a:ext cx="8001000" cy="533400"/>
          </a:xfrm>
          <a:custGeom>
            <a:pathLst>
              <a:path w="840" h="56">
                <a:moveTo>
                  <a:pt x="0" y="55"/>
                </a:moveTo>
                <a:lnTo>
                  <a:pt x="840" y="55"/>
                </a:lnTo>
                <a:lnTo>
                  <a:pt x="840" y="56"/>
                </a:lnTo>
                <a:lnTo>
                  <a:pt x="0" y="56"/>
                </a:lnTo>
                <a:close/>
              </a:path>
            </a:pathLst>
          </a:custGeom>
          <a:solidFill>
            <a:srgbClr val="E8EEF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57" name="" descr="{&quot;isTemplate&quot;:true,&quot;type&quot;:&quot;text&quot;}"/>
          <p:cNvSpPr txBox="1"/>
          <p:nvPr/>
        </p:nvSpPr>
        <p:spPr>
          <a:xfrm rot="0" flipH="0" flipV="0">
            <a:off x="3505200" y="521017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8</a:t>
            </a:r>
            <a:endParaRPr/>
          </a:p>
        </p:txBody>
      </p:sp>
      <p:sp>
        <p:nvSpPr>
          <p:cNvPr id="758" name="" descr="{&quot;isTemplate&quot;:true,&quot;type&quot;:&quot;text&quot;}"/>
          <p:cNvSpPr txBox="1"/>
          <p:nvPr/>
        </p:nvSpPr>
        <p:spPr>
          <a:xfrm rot="0" flipH="0" flipV="0">
            <a:off x="3790950" y="5191125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安全与可观测</a:t>
            </a:r>
            <a:endParaRPr/>
          </a:p>
        </p:txBody>
      </p:sp>
      <p:sp>
        <p:nvSpPr>
          <p:cNvPr id="759" name=""/>
          <p:cNvSpPr/>
          <p:nvPr/>
        </p:nvSpPr>
        <p:spPr>
          <a:xfrm rot="0" flipH="0" flipV="0">
            <a:off x="5010150" y="5200650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0" name="" descr="{&quot;isTemplate&quot;:true,&quot;type&quot;:&quot;text&quot;}"/>
          <p:cNvSpPr txBox="1"/>
          <p:nvPr/>
        </p:nvSpPr>
        <p:spPr>
          <a:xfrm rot="0" flipH="0" flipV="0">
            <a:off x="5172075" y="5172075"/>
            <a:ext cx="574357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内核不做权限：权限、沙箱与审计交回给使用方，用扩展钩子自建拦截</a:t>
            </a:r>
            <a:endParaRPr/>
          </a:p>
        </p:txBody>
      </p:sp>
      <p:sp>
        <p:nvSpPr>
          <p:cNvPr id="761" name=""/>
          <p:cNvSpPr/>
          <p:nvPr/>
        </p:nvSpPr>
        <p:spPr>
          <a:xfrm rot="0" flipH="0" flipV="0">
            <a:off x="10915650" y="5172075"/>
            <a:ext cx="5905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2" name="" descr="{&quot;isTemplate&quot;:true,&quot;type&quot;:&quot;text&quot;}"/>
          <p:cNvSpPr txBox="1"/>
          <p:nvPr/>
        </p:nvSpPr>
        <p:spPr>
          <a:xfrm rot="0" flipH="0" flipV="0">
            <a:off x="11029950" y="5210175"/>
            <a:ext cx="361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⑥ + ⑦</a:t>
            </a:r>
            <a:endParaRPr/>
          </a:p>
        </p:txBody>
      </p:sp>
      <p:sp>
        <p:nvSpPr>
          <p:cNvPr id="763" name="" descr="{&quot;isTemplate&quot;:true,&quot;type&quot;:&quot;text&quot;}"/>
          <p:cNvSpPr txBox="1"/>
          <p:nvPr/>
        </p:nvSpPr>
        <p:spPr>
          <a:xfrm rot="0" flipH="0" flipV="0">
            <a:off x="3505200" y="5724525"/>
            <a:ext cx="285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9</a:t>
            </a:r>
            <a:endParaRPr/>
          </a:p>
        </p:txBody>
      </p:sp>
      <p:sp>
        <p:nvSpPr>
          <p:cNvPr id="764" name="" descr="{&quot;isTemplate&quot;:true,&quot;type&quot;:&quot;text&quot;}"/>
          <p:cNvSpPr txBox="1"/>
          <p:nvPr/>
        </p:nvSpPr>
        <p:spPr>
          <a:xfrm rot="0" flipH="0" flipV="0">
            <a:off x="3790950" y="5715000"/>
            <a:ext cx="1219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远程会话栈</a:t>
            </a:r>
            <a:endParaRPr/>
          </a:p>
        </p:txBody>
      </p:sp>
      <p:sp>
        <p:nvSpPr>
          <p:cNvPr id="765" name=""/>
          <p:cNvSpPr/>
          <p:nvPr/>
        </p:nvSpPr>
        <p:spPr>
          <a:xfrm rot="0" flipH="0" flipV="0">
            <a:off x="5010150" y="5724525"/>
            <a:ext cx="9525" cy="17145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66" name="" descr="{&quot;isTemplate&quot;:true,&quot;type&quot;:&quot;text&quot;}"/>
          <p:cNvSpPr txBox="1"/>
          <p:nvPr/>
        </p:nvSpPr>
        <p:spPr>
          <a:xfrm rot="0" flipH="0" flipV="0">
            <a:off x="5172075" y="5686425"/>
            <a:ext cx="5610225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CBOR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远程会话：协议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客户端</a:t>
            </a:r>
            <a:r>
              <a:rPr lang="en-US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服务端三层，可选，不影响核心四层</a:t>
            </a:r>
            <a:endParaRPr/>
          </a:p>
        </p:txBody>
      </p:sp>
      <p:sp>
        <p:nvSpPr>
          <p:cNvPr id="767" name=""/>
          <p:cNvSpPr/>
          <p:nvPr/>
        </p:nvSpPr>
        <p:spPr>
          <a:xfrm rot="0" flipH="0" flipV="0">
            <a:off x="10782300" y="5695950"/>
            <a:ext cx="72390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68" name="" descr="{&quot;isTemplate&quot;:true,&quot;type&quot;:&quot;text&quot;}"/>
          <p:cNvSpPr txBox="1"/>
          <p:nvPr/>
        </p:nvSpPr>
        <p:spPr>
          <a:xfrm rot="0" flipH="0" flipV="0">
            <a:off x="10896600" y="57340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JetBrains Mono"/>
                <a:ea typeface="JetBrains Mono"/>
              </a:rPr>
              <a:t>独立叠加</a:t>
            </a:r>
            <a:endParaRPr/>
          </a:p>
        </p:txBody>
      </p:sp>
      <p:sp>
        <p:nvSpPr>
          <p:cNvPr id="769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770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24 / 33</a:t>
            </a:r>
            <a:endParaRPr/>
          </a:p>
        </p:txBody>
      </p:sp>
    </p:spTree>
  </p:cSld>
</p:sld>
</file>

<file path=ppt/slides/slide2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7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73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774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27527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三层定制能力</a:t>
            </a:r>
            <a:endParaRPr/>
          </a:p>
        </p:txBody>
      </p:sp>
      <p:sp>
        <p:nvSpPr>
          <p:cNvPr id="775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投入成本从小时级到周级，按需选路线</a:t>
            </a:r>
            <a:endParaRPr/>
          </a:p>
        </p:txBody>
      </p:sp>
      <p:sp>
        <p:nvSpPr>
          <p:cNvPr id="776" name=""/>
          <p:cNvSpPr/>
          <p:nvPr/>
        </p:nvSpPr>
        <p:spPr>
          <a:xfrm rot="0" flipH="0" flipV="0">
            <a:off x="685800" y="1143000"/>
            <a:ext cx="6315075" cy="4914900"/>
          </a:xfrm>
          <a:custGeom>
            <a:pathLst>
              <a:path w="663" h="516">
                <a:moveTo>
                  <a:pt x="662" y="0"/>
                </a:moveTo>
                <a:lnTo>
                  <a:pt x="663" y="0"/>
                </a:lnTo>
                <a:lnTo>
                  <a:pt x="663" y="516"/>
                </a:lnTo>
                <a:lnTo>
                  <a:pt x="662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77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3525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ROUTES</a:t>
            </a:r>
            <a:endParaRPr/>
          </a:p>
        </p:txBody>
      </p:sp>
      <p:sp>
        <p:nvSpPr>
          <p:cNvPr id="778" name="" descr="{&quot;isTemplate&quot;:true,&quot;type&quot;:&quot;text&quot;}"/>
          <p:cNvSpPr txBox="1"/>
          <p:nvPr/>
        </p:nvSpPr>
        <p:spPr>
          <a:xfrm rot="0" flipH="0" flipV="0">
            <a:off x="5086350" y="1152525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越往下，改动越深、成本越高</a:t>
            </a:r>
            <a:endParaRPr/>
          </a:p>
        </p:txBody>
      </p:sp>
      <p:sp>
        <p:nvSpPr>
          <p:cNvPr id="779" name=""/>
          <p:cNvSpPr/>
          <p:nvPr/>
        </p:nvSpPr>
        <p:spPr>
          <a:xfrm rot="0" flipH="0" flipV="0">
            <a:off x="714375" y="14287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0" name=""/>
          <p:cNvSpPr/>
          <p:nvPr/>
        </p:nvSpPr>
        <p:spPr>
          <a:xfrm rot="0" flipH="0" flipV="0">
            <a:off x="714375" y="14287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81" name=""/>
          <p:cNvSpPr/>
          <p:nvPr/>
        </p:nvSpPr>
        <p:spPr>
          <a:xfrm rot="0" flipH="0" flipV="0">
            <a:off x="866775" y="20002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7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14550"/>
            <a:ext cx="180975" cy="180975"/>
          </a:xfrm>
          <a:prstGeom prst="rect">
            <a:avLst/>
          </a:prstGeom>
          <a:ln/>
        </p:spPr>
      </p:pic>
      <p:sp>
        <p:nvSpPr>
          <p:cNvPr id="783" name="" descr="{&quot;isTemplate&quot;:true,&quot;type&quot;:&quot;text&quot;}"/>
          <p:cNvSpPr txBox="1"/>
          <p:nvPr/>
        </p:nvSpPr>
        <p:spPr>
          <a:xfrm rot="0" flipH="0" flipV="0">
            <a:off x="1419225" y="16668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1</a:t>
            </a:r>
            <a:endParaRPr/>
          </a:p>
        </p:txBody>
      </p:sp>
      <p:sp>
        <p:nvSpPr>
          <p:cNvPr id="784" name="" descr="{&quot;isTemplate&quot;:true,&quot;type&quot;:&quot;text&quot;}"/>
          <p:cNvSpPr txBox="1"/>
          <p:nvPr/>
        </p:nvSpPr>
        <p:spPr>
          <a:xfrm rot="0" flipH="0" flipV="0">
            <a:off x="1914525" y="1666875"/>
            <a:ext cx="4572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Skills</a:t>
            </a:r>
            <a:endParaRPr/>
          </a:p>
        </p:txBody>
      </p:sp>
      <p:sp>
        <p:nvSpPr>
          <p:cNvPr id="785" name="" descr="{&quot;isTemplate&quot;:true,&quot;type&quot;:&quot;text&quot;}"/>
          <p:cNvSpPr txBox="1"/>
          <p:nvPr/>
        </p:nvSpPr>
        <p:spPr>
          <a:xfrm rot="0" flipH="0" flipV="0">
            <a:off x="2466975" y="166687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提示词层</a:t>
            </a:r>
            <a:endParaRPr/>
          </a:p>
        </p:txBody>
      </p:sp>
      <p:sp>
        <p:nvSpPr>
          <p:cNvPr id="786" name="" descr="{&quot;isTemplate&quot;:true,&quot;type&quot;:&quot;text&quot;}"/>
          <p:cNvSpPr txBox="1"/>
          <p:nvPr/>
        </p:nvSpPr>
        <p:spPr>
          <a:xfrm rot="0" flipH="0" flipV="0">
            <a:off x="1419225" y="1990725"/>
            <a:ext cx="441007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一个遵循开放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Skills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标准的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文件夹，描述「遇到某类任务该怎么做」。模型按需自动加载，不占常驻上下文。</a:t>
            </a:r>
            <a:endParaRPr/>
          </a:p>
        </p:txBody>
      </p:sp>
      <p:sp>
        <p:nvSpPr>
          <p:cNvPr id="787" name="" descr="{&quot;isTemplate&quot;:true,&quot;type&quot;:&quot;text&quot;}"/>
          <p:cNvSpPr txBox="1"/>
          <p:nvPr/>
        </p:nvSpPr>
        <p:spPr>
          <a:xfrm rot="0" flipH="0" flipV="0">
            <a:off x="1419225" y="2590800"/>
            <a:ext cx="44100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.pi/skills/release-checklist/SKILL.md</a:t>
            </a:r>
            <a:endParaRPr/>
          </a:p>
        </p:txBody>
      </p:sp>
      <p:sp>
        <p:nvSpPr>
          <p:cNvPr id="788" name=""/>
          <p:cNvSpPr/>
          <p:nvPr/>
        </p:nvSpPr>
        <p:spPr>
          <a:xfrm rot="0" flipH="0" flipV="0">
            <a:off x="5981700" y="2085975"/>
            <a:ext cx="561975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789" name="" descr="{&quot;isTemplate&quot;:true,&quot;type&quot;:&quot;text&quot;}"/>
          <p:cNvSpPr txBox="1"/>
          <p:nvPr/>
        </p:nvSpPr>
        <p:spPr>
          <a:xfrm rot="0" flipH="0" flipV="0">
            <a:off x="6076950" y="2124075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790" name=""/>
          <p:cNvSpPr/>
          <p:nvPr/>
        </p:nvSpPr>
        <p:spPr>
          <a:xfrm rot="0" flipH="0" flipV="0">
            <a:off x="714375" y="297180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1" name=""/>
          <p:cNvSpPr/>
          <p:nvPr/>
        </p:nvSpPr>
        <p:spPr>
          <a:xfrm rot="0" flipH="0" flipV="0">
            <a:off x="714375" y="297180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92" name=""/>
          <p:cNvSpPr/>
          <p:nvPr/>
        </p:nvSpPr>
        <p:spPr>
          <a:xfrm rot="0" flipH="0" flipV="0">
            <a:off x="866775" y="354330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79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57600"/>
            <a:ext cx="180975" cy="180975"/>
          </a:xfrm>
          <a:prstGeom prst="rect">
            <a:avLst/>
          </a:prstGeom>
          <a:ln/>
        </p:spPr>
      </p:pic>
      <p:sp>
        <p:nvSpPr>
          <p:cNvPr id="794" name="" descr="{&quot;isTemplate&quot;:true,&quot;type&quot;:&quot;text&quot;}"/>
          <p:cNvSpPr txBox="1"/>
          <p:nvPr/>
        </p:nvSpPr>
        <p:spPr>
          <a:xfrm rot="0" flipH="0" flipV="0">
            <a:off x="1419225" y="320992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2</a:t>
            </a:r>
            <a:endParaRPr/>
          </a:p>
        </p:txBody>
      </p:sp>
      <p:sp>
        <p:nvSpPr>
          <p:cNvPr id="795" name="" descr="{&quot;isTemplate&quot;:true,&quot;type&quot;:&quot;text&quot;}"/>
          <p:cNvSpPr txBox="1"/>
          <p:nvPr/>
        </p:nvSpPr>
        <p:spPr>
          <a:xfrm rot="0" flipH="0" flipV="0">
            <a:off x="1914525" y="32099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Extensions</a:t>
            </a:r>
            <a:endParaRPr/>
          </a:p>
        </p:txBody>
      </p:sp>
      <p:sp>
        <p:nvSpPr>
          <p:cNvPr id="796" name="" descr="{&quot;isTemplate&quot;:true,&quot;type&quot;:&quot;text&quot;}"/>
          <p:cNvSpPr txBox="1"/>
          <p:nvPr/>
        </p:nvSpPr>
        <p:spPr>
          <a:xfrm rot="0" flipH="0" flipV="0">
            <a:off x="2952750" y="3209925"/>
            <a:ext cx="4953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运行时层</a:t>
            </a:r>
            <a:endParaRPr/>
          </a:p>
        </p:txBody>
      </p:sp>
      <p:sp>
        <p:nvSpPr>
          <p:cNvPr id="797" name="" descr="{&quot;isTemplate&quot;:true,&quot;type&quot;:&quot;text&quot;}"/>
          <p:cNvSpPr txBox="1"/>
          <p:nvPr/>
        </p:nvSpPr>
        <p:spPr>
          <a:xfrm rot="0" flipH="0" flipV="0">
            <a:off x="1419225" y="353377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用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TypeScript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写扩展：给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加自定义工具，或修改运行时行为——在工具调用前后插入自己的校验与拦截。</a:t>
            </a:r>
            <a:endParaRPr/>
          </a:p>
        </p:txBody>
      </p:sp>
      <p:sp>
        <p:nvSpPr>
          <p:cNvPr id="798" name="" descr="{&quot;isTemplate&quot;:true,&quot;type&quot;:&quot;text&quot;}"/>
          <p:cNvSpPr txBox="1"/>
          <p:nvPr/>
        </p:nvSpPr>
        <p:spPr>
          <a:xfrm rot="0" flipH="0" flipV="0">
            <a:off x="1419225" y="413385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.pi/extensions/*.ts</a:t>
            </a:r>
            <a:endParaRPr/>
          </a:p>
        </p:txBody>
      </p:sp>
      <p:sp>
        <p:nvSpPr>
          <p:cNvPr id="799" name=""/>
          <p:cNvSpPr/>
          <p:nvPr/>
        </p:nvSpPr>
        <p:spPr>
          <a:xfrm rot="0" flipH="0" flipV="0">
            <a:off x="6105525" y="362902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00" name="" descr="{&quot;isTemplate&quot;:true,&quot;type&quot;:&quot;text&quot;}"/>
          <p:cNvSpPr txBox="1"/>
          <p:nvPr/>
        </p:nvSpPr>
        <p:spPr>
          <a:xfrm rot="0" flipH="0" flipV="0">
            <a:off x="6200775" y="36671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801" name=""/>
          <p:cNvSpPr/>
          <p:nvPr/>
        </p:nvSpPr>
        <p:spPr>
          <a:xfrm rot="0" flipH="0" flipV="0">
            <a:off x="714375" y="4514850"/>
            <a:ext cx="6010275" cy="1543050"/>
          </a:xfrm>
          <a:prstGeom prst="roundRect">
            <a:avLst>
              <a:gd name="adj" fmla="val 1852"/>
            </a:avLst>
          </a:prstGeom>
          <a:solidFill>
            <a:srgbClr val="16233D">
              <a:alpha val="8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02" name=""/>
          <p:cNvSpPr/>
          <p:nvPr/>
        </p:nvSpPr>
        <p:spPr>
          <a:xfrm rot="0" flipH="0" flipV="0">
            <a:off x="714375" y="4514850"/>
            <a:ext cx="6010275" cy="1543050"/>
          </a:xfrm>
          <a:custGeom>
            <a:pathLst>
              <a:path w="631" h="162">
                <a:moveTo>
                  <a:pt x="3" y="162"/>
                </a:moveTo>
                <a:cubicBezTo>
                  <a:pt x="1" y="162"/>
                  <a:pt x="0" y="161"/>
                  <a:pt x="0" y="159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62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03" name=""/>
          <p:cNvSpPr/>
          <p:nvPr/>
        </p:nvSpPr>
        <p:spPr>
          <a:xfrm rot="0" flipH="0" flipV="0">
            <a:off x="866775" y="5086350"/>
            <a:ext cx="400050" cy="400050"/>
          </a:xfrm>
          <a:prstGeom prst="roundRect">
            <a:avLst>
              <a:gd name="adj" fmla="val 9524"/>
            </a:avLst>
          </a:prstGeom>
          <a:solidFill>
            <a:srgbClr val="2AD4EE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80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200650"/>
            <a:ext cx="180975" cy="180975"/>
          </a:xfrm>
          <a:prstGeom prst="rect">
            <a:avLst/>
          </a:prstGeom>
          <a:ln/>
        </p:spPr>
      </p:pic>
      <p:sp>
        <p:nvSpPr>
          <p:cNvPr id="805" name="" descr="{&quot;isTemplate&quot;:true,&quot;type&quot;:&quot;text&quot;}"/>
          <p:cNvSpPr txBox="1"/>
          <p:nvPr/>
        </p:nvSpPr>
        <p:spPr>
          <a:xfrm rot="0" flipH="0" flipV="0">
            <a:off x="1419225" y="4752975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路线</a:t>
            </a: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 xml:space="preserve"> 3</a:t>
            </a:r>
            <a:endParaRPr/>
          </a:p>
        </p:txBody>
      </p:sp>
      <p:sp>
        <p:nvSpPr>
          <p:cNvPr id="806" name="" descr="{&quot;isTemplate&quot;:true,&quot;type&quot;:&quot;text&quot;}"/>
          <p:cNvSpPr txBox="1"/>
          <p:nvPr/>
        </p:nvSpPr>
        <p:spPr>
          <a:xfrm rot="0" flipH="0" flipV="0">
            <a:off x="1914525" y="4752975"/>
            <a:ext cx="3714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>SDK</a:t>
            </a:r>
            <a:endParaRPr/>
          </a:p>
        </p:txBody>
      </p:sp>
      <p:sp>
        <p:nvSpPr>
          <p:cNvPr id="807" name="" descr="{&quot;isTemplate&quot;:true,&quot;type&quot;:&quot;text&quot;}"/>
          <p:cNvSpPr txBox="1"/>
          <p:nvPr/>
        </p:nvSpPr>
        <p:spPr>
          <a:xfrm rot="0" flipH="0" flipV="0">
            <a:off x="2381250" y="4752975"/>
            <a:ext cx="6191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50000"/>
                  </a:srgbClr>
                </a:solidFill>
                <a:latin typeface="Source Han Sans SC"/>
                <a:ea typeface="Source Han Sans SC"/>
              </a:rPr>
              <a:t>进程内嵌层</a:t>
            </a:r>
            <a:endParaRPr/>
          </a:p>
        </p:txBody>
      </p:sp>
      <p:sp>
        <p:nvSpPr>
          <p:cNvPr id="808" name="" descr="{&quot;isTemplate&quot;:true,&quot;type&quot;:&quot;text&quot;}"/>
          <p:cNvSpPr txBox="1"/>
          <p:nvPr/>
        </p:nvSpPr>
        <p:spPr>
          <a:xfrm rot="0" flipH="0" flipV="0">
            <a:off x="1419225" y="5076825"/>
            <a:ext cx="4533900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createAgentSession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在调用方进程内构建完整会话，可注入存储、配置、认证、模型注册表与工具。</a:t>
            </a:r>
            <a:endParaRPr/>
          </a:p>
        </p:txBody>
      </p:sp>
      <p:sp>
        <p:nvSpPr>
          <p:cNvPr id="809" name="" descr="{&quot;isTemplate&quot;:true,&quot;type&quot;:&quot;text&quot;}"/>
          <p:cNvSpPr txBox="1"/>
          <p:nvPr/>
        </p:nvSpPr>
        <p:spPr>
          <a:xfrm rot="0" flipH="0" flipV="0">
            <a:off x="1419225" y="567690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无桥接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无子进程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· </a:t>
            </a:r>
            <a:r>
              <a:rPr lang="zh-CN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无</a:t>
            </a:r>
            <a:r>
              <a:rPr lang="en-US" sz="938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 socket</a:t>
            </a:r>
            <a:endParaRPr/>
          </a:p>
        </p:txBody>
      </p:sp>
      <p:sp>
        <p:nvSpPr>
          <p:cNvPr id="810" name=""/>
          <p:cNvSpPr/>
          <p:nvPr/>
        </p:nvSpPr>
        <p:spPr>
          <a:xfrm rot="0" flipH="0" flipV="0">
            <a:off x="6105525" y="5172075"/>
            <a:ext cx="438150" cy="228600"/>
          </a:xfrm>
          <a:prstGeom prst="roundRect">
            <a:avLst>
              <a:gd name="adj" fmla="val 12500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3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11" name="" descr="{&quot;isTemplate&quot;:true,&quot;type&quot;:&quot;text&quot;}"/>
          <p:cNvSpPr txBox="1"/>
          <p:nvPr/>
        </p:nvSpPr>
        <p:spPr>
          <a:xfrm rot="0" flipH="0" flipV="0">
            <a:off x="6200775" y="521017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812" name="" descr="{&quot;isTemplate&quot;:true,&quot;type&quot;:&quot;text&quot;}"/>
          <p:cNvSpPr txBox="1"/>
          <p:nvPr/>
        </p:nvSpPr>
        <p:spPr>
          <a:xfrm rot="0" flipH="0" flipV="0">
            <a:off x="7296150" y="1143000"/>
            <a:ext cx="421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COST LADDER</a:t>
            </a:r>
            <a:endParaRPr/>
          </a:p>
        </p:txBody>
      </p:sp>
      <p:sp>
        <p:nvSpPr>
          <p:cNvPr id="813" name="" descr="{&quot;isTemplate&quot;:true,&quot;type&quot;:&quot;text&quot;}"/>
          <p:cNvSpPr txBox="1"/>
          <p:nvPr/>
        </p:nvSpPr>
        <p:spPr>
          <a:xfrm rot="0" flipH="0" flipV="0">
            <a:off x="7296150" y="1466850"/>
            <a:ext cx="5048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Skills</a:t>
            </a:r>
            <a:endParaRPr/>
          </a:p>
        </p:txBody>
      </p:sp>
      <p:sp>
        <p:nvSpPr>
          <p:cNvPr id="814" name="" descr="{&quot;isTemplate&quot;:true,&quot;type&quot;:&quot;text&quot;}"/>
          <p:cNvSpPr txBox="1"/>
          <p:nvPr/>
        </p:nvSpPr>
        <p:spPr>
          <a:xfrm rot="0" flipH="0" flipV="0">
            <a:off x="11106150" y="1466850"/>
            <a:ext cx="400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小时级</a:t>
            </a:r>
            <a:endParaRPr/>
          </a:p>
        </p:txBody>
      </p:sp>
      <p:sp>
        <p:nvSpPr>
          <p:cNvPr id="815" name=""/>
          <p:cNvSpPr/>
          <p:nvPr/>
        </p:nvSpPr>
        <p:spPr>
          <a:xfrm rot="0" flipH="0" flipV="0">
            <a:off x="7296150" y="1704975"/>
            <a:ext cx="14287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16" name="" descr="{&quot;isTemplate&quot;:true,&quot;type&quot;:&quot;text&quot;}"/>
          <p:cNvSpPr txBox="1"/>
          <p:nvPr/>
        </p:nvSpPr>
        <p:spPr>
          <a:xfrm rot="0" flipH="0" flipV="0">
            <a:off x="7296150" y="194310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Extensions</a:t>
            </a:r>
            <a:endParaRPr/>
          </a:p>
        </p:txBody>
      </p:sp>
      <p:sp>
        <p:nvSpPr>
          <p:cNvPr id="817" name="" descr="{&quot;isTemplate&quot;:true,&quot;type&quot;:&quot;text&quot;}"/>
          <p:cNvSpPr txBox="1"/>
          <p:nvPr/>
        </p:nvSpPr>
        <p:spPr>
          <a:xfrm rot="0" flipH="0" flipV="0">
            <a:off x="11239500" y="194310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天级</a:t>
            </a:r>
            <a:endParaRPr/>
          </a:p>
        </p:txBody>
      </p:sp>
      <p:sp>
        <p:nvSpPr>
          <p:cNvPr id="818" name=""/>
          <p:cNvSpPr/>
          <p:nvPr/>
        </p:nvSpPr>
        <p:spPr>
          <a:xfrm rot="0" flipH="0" flipV="0">
            <a:off x="7296150" y="2181225"/>
            <a:ext cx="278130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19" name="" descr="{&quot;isTemplate&quot;:true,&quot;type&quot;:&quot;text&quot;}"/>
          <p:cNvSpPr txBox="1"/>
          <p:nvPr/>
        </p:nvSpPr>
        <p:spPr>
          <a:xfrm rot="0" flipH="0" flipV="0">
            <a:off x="7296150" y="2419350"/>
            <a:ext cx="257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E8EEF9"/>
                </a:solidFill>
                <a:latin typeface="JetBrains Mono"/>
                <a:ea typeface="JetBrains Mono"/>
              </a:rPr>
              <a:t>SDK</a:t>
            </a:r>
            <a:endParaRPr/>
          </a:p>
        </p:txBody>
      </p:sp>
      <p:sp>
        <p:nvSpPr>
          <p:cNvPr id="820" name="" descr="{&quot;isTemplate&quot;:true,&quot;type&quot;:&quot;text&quot;}"/>
          <p:cNvSpPr txBox="1"/>
          <p:nvPr/>
        </p:nvSpPr>
        <p:spPr>
          <a:xfrm rot="0" flipH="0" flipV="0">
            <a:off x="11239500" y="2419350"/>
            <a:ext cx="26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AD4EE"/>
                </a:solidFill>
                <a:latin typeface="Source Han Sans SC"/>
                <a:ea typeface="Source Han Sans SC"/>
              </a:rPr>
              <a:t>周级</a:t>
            </a:r>
            <a:endParaRPr/>
          </a:p>
        </p:txBody>
      </p:sp>
      <p:sp>
        <p:nvSpPr>
          <p:cNvPr id="821" name=""/>
          <p:cNvSpPr/>
          <p:nvPr/>
        </p:nvSpPr>
        <p:spPr>
          <a:xfrm rot="0" flipH="0" flipV="0">
            <a:off x="7296150" y="2657475"/>
            <a:ext cx="4210050" cy="85725"/>
          </a:xfrm>
          <a:prstGeom prst="roundRect">
            <a:avLst>
              <a:gd name="adj" fmla="val 22222"/>
            </a:avLst>
          </a:prstGeom>
          <a:gradFill>
            <a:gsLst>
              <a:gs pos="0">
                <a:srgbClr val="2AD4EE"/>
              </a:gs>
              <a:gs pos="100000">
                <a:srgbClr val="2AD4EE">
                  <a:alpha val="1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22" name=""/>
          <p:cNvSpPr/>
          <p:nvPr/>
        </p:nvSpPr>
        <p:spPr>
          <a:xfrm rot="0" flipH="0" flipV="0">
            <a:off x="7296150" y="2971800"/>
            <a:ext cx="4210050" cy="1171575"/>
          </a:xfrm>
          <a:prstGeom prst="roundRect">
            <a:avLst>
              <a:gd name="adj" fmla="val 3252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3" name="" descr="{&quot;isTemplate&quot;:true,&quot;type&quot;:&quot;text&quot;}"/>
          <p:cNvSpPr txBox="1"/>
          <p:nvPr/>
        </p:nvSpPr>
        <p:spPr>
          <a:xfrm rot="0" flipH="0" flipV="0">
            <a:off x="7448550" y="3124200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ASK FIRST</a:t>
            </a:r>
            <a:endParaRPr/>
          </a:p>
        </p:txBody>
      </p:sp>
      <p:sp>
        <p:nvSpPr>
          <p:cNvPr id="824" name="" descr="{&quot;isTemplate&quot;:true,&quot;type&quot;:&quot;text&quot;}"/>
          <p:cNvSpPr txBox="1"/>
          <p:nvPr/>
        </p:nvSpPr>
        <p:spPr>
          <a:xfrm rot="0" flipH="0" flipV="0">
            <a:off x="7448550" y="3381375"/>
            <a:ext cx="3905250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绝大多数团队需求，停在</a:t>
            </a:r>
            <a:r>
              <a:rPr lang="en-US" sz="1163" b="1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Skills </a:t>
            </a:r>
            <a:r>
              <a:rPr lang="zh-CN" sz="1163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就够了——先把经验写成文档，再谈改代码。</a:t>
            </a:r>
            <a:endParaRPr/>
          </a:p>
        </p:txBody>
      </p:sp>
      <p:sp>
        <p:nvSpPr>
          <p:cNvPr id="825" name=""/>
          <p:cNvSpPr/>
          <p:nvPr/>
        </p:nvSpPr>
        <p:spPr>
          <a:xfrm rot="0" flipH="0" flipV="0">
            <a:off x="7296150" y="4867275"/>
            <a:ext cx="4210050" cy="1190625"/>
          </a:xfrm>
          <a:prstGeom prst="roundRect">
            <a:avLst>
              <a:gd name="adj" fmla="val 3200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26" name="" descr="{&quot;isTemplate&quot;:true,&quot;type&quot;:&quot;text&quot;}"/>
          <p:cNvSpPr txBox="1"/>
          <p:nvPr/>
        </p:nvSpPr>
        <p:spPr>
          <a:xfrm rot="0" flipH="0" flipV="0">
            <a:off x="7448550" y="5019675"/>
            <a:ext cx="3905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827" name="" descr="{&quot;isTemplate&quot;:true,&quot;type&quot;:&quot;text&quot;}"/>
          <p:cNvSpPr txBox="1"/>
          <p:nvPr/>
        </p:nvSpPr>
        <p:spPr>
          <a:xfrm rot="0" flipH="0" flipV="0">
            <a:off x="7448550" y="5276850"/>
            <a:ext cx="390525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先问「我要改造哪一层」，再选路线——不要一上来就走最深的那条。</a:t>
            </a:r>
            <a:endParaRPr/>
          </a:p>
        </p:txBody>
      </p:sp>
      <p:sp>
        <p:nvSpPr>
          <p:cNvPr id="828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829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25 / 33</a:t>
            </a:r>
            <a:endParaRPr/>
          </a:p>
        </p:txBody>
      </p:sp>
    </p:spTree>
  </p:cSld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8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832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833" name=""/>
          <p:cNvSpPr/>
          <p:nvPr/>
        </p:nvSpPr>
        <p:spPr>
          <a:xfrm rot="0" flipH="0" flipV="0">
            <a:off x="0" y="0"/>
            <a:ext cx="9906000" cy="6858000"/>
          </a:xfrm>
          <a:prstGeom prst="rect">
            <a:avLst/>
          </a:prstGeom>
          <a:gradFill>
            <a:gsLst>
              <a:gs pos="0">
                <a:srgbClr val="0B1220">
                  <a:alpha val="97000"/>
                </a:srgbClr>
              </a:gs>
              <a:gs pos="50000">
                <a:srgbClr val="0B1220">
                  <a:alpha val="84000"/>
                </a:srgbClr>
              </a:gs>
              <a:gs pos="100000">
                <a:srgbClr val="0B1220">
                  <a:alpha val="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34" name=""/>
          <p:cNvSpPr/>
          <p:nvPr/>
        </p:nvSpPr>
        <p:spPr>
          <a:xfrm rot="0" flipH="0" flipV="0">
            <a:off x="0" y="0"/>
            <a:ext cx="57150" cy="6858000"/>
          </a:xfrm>
          <a:prstGeom prst="rect">
            <a:avLst/>
          </a:prstGeom>
          <a:gradFill>
            <a:gsLst>
              <a:gs pos="0">
                <a:srgbClr val="2AD4EE"/>
              </a:gs>
              <a:gs pos="100000">
                <a:srgbClr val="2AD4EE">
                  <a:alpha val="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35" name="" descr="{&quot;isTemplate&quot;:true,&quot;type&quot;:&quot;text&quot;}"/>
          <p:cNvSpPr txBox="1"/>
          <p:nvPr/>
        </p:nvSpPr>
        <p:spPr>
          <a:xfrm rot="0" flipH="0" flipV="0">
            <a:off x="838200" y="1447800"/>
            <a:ext cx="6667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spc="525">
                <a:solidFill>
                  <a:srgbClr val="2AD4EE"/>
                </a:solidFill>
                <a:latin typeface="JetBrains Mono"/>
                <a:ea typeface="JetBrains Mono"/>
              </a:rPr>
              <a:t>CHAPTER 04</a:t>
            </a:r>
            <a:endParaRPr/>
          </a:p>
        </p:txBody>
      </p:sp>
      <p:sp>
        <p:nvSpPr>
          <p:cNvPr id="836" name="" descr="{&quot;isTemplate&quot;:true,&quot;type&quot;:&quot;text&quot;}"/>
          <p:cNvSpPr txBox="1"/>
          <p:nvPr/>
        </p:nvSpPr>
        <p:spPr>
          <a:xfrm rot="0" flipH="0" flipV="0">
            <a:off x="838200" y="1866900"/>
            <a:ext cx="6667500" cy="17621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E8EEF9"/>
                </a:solidFill>
                <a:latin typeface="Source Han Sans SC"/>
                <a:ea typeface="Source Han Sans SC"/>
              </a:rPr>
              <a:t>落地实践：</a:t>
            </a:r>
            <a:endParaRPr/>
          </a:p>
          <a:p>
            <a:pPr>
              <a:lnSpc>
                <a:spcPct val="120000"/>
              </a:lnSpc>
            </a:pPr>
            <a:r>
              <a:rPr lang="zh-CN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>智数问答</a:t>
            </a:r>
            <a:r>
              <a:rPr lang="en-US" sz="4800" b="1" spc="75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agent-DQ</a:t>
            </a:r>
            <a:endParaRPr/>
          </a:p>
        </p:txBody>
      </p:sp>
      <p:sp>
        <p:nvSpPr>
          <p:cNvPr id="837" name=""/>
          <p:cNvSpPr/>
          <p:nvPr/>
        </p:nvSpPr>
        <p:spPr>
          <a:xfrm rot="0" flipH="0" flipV="0">
            <a:off x="838200" y="3810000"/>
            <a:ext cx="7239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38" name="" descr="{&quot;isTemplate&quot;:true,&quot;type&quot;:&quot;text&quot;}"/>
          <p:cNvSpPr txBox="1"/>
          <p:nvPr/>
        </p:nvSpPr>
        <p:spPr>
          <a:xfrm rot="0" flipH="0" flipV="0">
            <a:off x="838200" y="4076700"/>
            <a:ext cx="6667500" cy="847725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把前面所有知识，</a:t>
            </a:r>
            <a:endParaRPr/>
          </a:p>
          <a:p>
            <a:pPr>
              <a:lnSpc>
                <a:spcPct val="175000"/>
              </a:lnSpc>
            </a:pPr>
            <a:r>
              <a:rPr lang="zh-CN" sz="1575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装进一个真实业务系统。</a:t>
            </a:r>
            <a:endParaRPr/>
          </a:p>
        </p:txBody>
      </p:sp>
      <p:sp>
        <p:nvSpPr>
          <p:cNvPr id="839" name=""/>
          <p:cNvSpPr/>
          <p:nvPr/>
        </p:nvSpPr>
        <p:spPr>
          <a:xfrm rot="0" flipH="0" flipV="0">
            <a:off x="838200" y="5105400"/>
            <a:ext cx="4000500" cy="9525"/>
          </a:xfrm>
          <a:prstGeom prst="rect">
            <a:avLst/>
          </a:prstGeom>
          <a:solidFill>
            <a:srgbClr val="E8EEF9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40" name="" descr="{&quot;isTemplate&quot;:true,&quot;type&quot;:&quot;text&quot;}"/>
          <p:cNvSpPr txBox="1"/>
          <p:nvPr/>
        </p:nvSpPr>
        <p:spPr>
          <a:xfrm rot="0" flipH="0" flipV="0">
            <a:off x="838200" y="5267325"/>
            <a:ext cx="6667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本章要回答</a:t>
            </a:r>
            <a:endParaRPr/>
          </a:p>
        </p:txBody>
      </p:sp>
      <p:sp>
        <p:nvSpPr>
          <p:cNvPr id="841" name=""/>
          <p:cNvSpPr/>
          <p:nvPr/>
        </p:nvSpPr>
        <p:spPr>
          <a:xfrm rot="0" flipH="0" flipV="0">
            <a:off x="838200" y="561022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42" name="" descr="{&quot;isTemplate&quot;:true,&quot;type&quot;:&quot;text&quot;}"/>
          <p:cNvSpPr txBox="1"/>
          <p:nvPr/>
        </p:nvSpPr>
        <p:spPr>
          <a:xfrm rot="0" flipH="0" flipV="0">
            <a:off x="1000125" y="5534025"/>
            <a:ext cx="2590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三级路由是怎么把准确率拉起来的？</a:t>
            </a:r>
            <a:endParaRPr/>
          </a:p>
        </p:txBody>
      </p:sp>
      <p:sp>
        <p:nvSpPr>
          <p:cNvPr id="843" name=""/>
          <p:cNvSpPr/>
          <p:nvPr/>
        </p:nvSpPr>
        <p:spPr>
          <a:xfrm rot="0" flipH="0" flipV="0">
            <a:off x="838200" y="58864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44" name="" descr="{&quot;isTemplate&quot;:true,&quot;type&quot;:&quot;text&quot;}"/>
          <p:cNvSpPr txBox="1"/>
          <p:nvPr/>
        </p:nvSpPr>
        <p:spPr>
          <a:xfrm rot="0" flipH="0" flipV="0">
            <a:off x="1000125" y="5810250"/>
            <a:ext cx="27527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加一个工具，为什么不用改主干代码？</a:t>
            </a:r>
            <a:endParaRPr/>
          </a:p>
        </p:txBody>
      </p:sp>
      <p:sp>
        <p:nvSpPr>
          <p:cNvPr id="845" name=""/>
          <p:cNvSpPr/>
          <p:nvPr/>
        </p:nvSpPr>
        <p:spPr>
          <a:xfrm rot="0" flipH="0" flipV="0">
            <a:off x="838200" y="6162675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46" name="" descr="{&quot;isTemplate&quot;:true,&quot;type&quot;:&quot;text&quot;}"/>
          <p:cNvSpPr txBox="1"/>
          <p:nvPr/>
        </p:nvSpPr>
        <p:spPr>
          <a:xfrm rot="0" flipH="0" flipV="0">
            <a:off x="1000125" y="6086475"/>
            <a:ext cx="21050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78000"/>
                  </a:srgbClr>
                </a:solidFill>
                <a:latin typeface="Source Han Sans SC"/>
                <a:ea typeface="Source Han Sans SC"/>
              </a:rPr>
              <a:t>真实项目里到底踩过哪些坑？</a:t>
            </a:r>
            <a:endParaRPr/>
          </a:p>
        </p:txBody>
      </p:sp>
      <p:sp>
        <p:nvSpPr>
          <p:cNvPr id="847" name=""/>
          <p:cNvSpPr/>
          <p:nvPr/>
        </p:nvSpPr>
        <p:spPr>
          <a:xfrm rot="0" flipH="0" flipV="0">
            <a:off x="7620000" y="3200400"/>
            <a:ext cx="3733800" cy="2295525"/>
          </a:xfrm>
          <a:prstGeom prst="roundRect">
            <a:avLst>
              <a:gd name="adj" fmla="val 1660"/>
            </a:avLst>
          </a:prstGeom>
          <a:solidFill>
            <a:srgbClr val="0B1220">
              <a:alpha val="8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48" name="" descr="{&quot;isTemplate&quot;:true,&quot;type&quot;:&quot;text&quot;}"/>
          <p:cNvSpPr txBox="1"/>
          <p:nvPr/>
        </p:nvSpPr>
        <p:spPr>
          <a:xfrm rot="0" flipH="0" flipV="0">
            <a:off x="7848600" y="3409950"/>
            <a:ext cx="857250" cy="876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5700" b="1">
                <a:solidFill>
                  <a:srgbClr val="2AD4EE">
                    <a:alpha val="55000"/>
                  </a:srgbClr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849" name="" descr="{&quot;isTemplate&quot;:true,&quot;type&quot;:&quot;text&quot;}"/>
          <p:cNvSpPr txBox="1"/>
          <p:nvPr/>
        </p:nvSpPr>
        <p:spPr>
          <a:xfrm rot="0" flipH="0" flipV="0">
            <a:off x="9801225" y="4057650"/>
            <a:ext cx="1323975" cy="228600"/>
          </a:xfrm>
          <a:prstGeom prst="rect"/>
        </p:spPr>
        <p:txBody>
          <a:bodyPr wrap="none" lIns="0" tIns="0" rIns="0" bIns="57150"/>
          <a:p>
            <a:pPr>
              <a:lnSpc>
                <a:spcPct val="100000"/>
              </a:lnSpc>
            </a:pPr>
            <a:r>
              <a:rPr lang="en-US" sz="975" spc="225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PAGES 26 – 32</a:t>
            </a:r>
            <a:endParaRPr/>
          </a:p>
        </p:txBody>
      </p:sp>
      <p:sp>
        <p:nvSpPr>
          <p:cNvPr id="850" name=""/>
          <p:cNvSpPr/>
          <p:nvPr/>
        </p:nvSpPr>
        <p:spPr>
          <a:xfrm rot="0" flipH="0" flipV="0">
            <a:off x="7848600" y="455295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1" name="" descr="{&quot;isTemplate&quot;:true,&quot;type&quot;:&quot;text&quot;}"/>
          <p:cNvSpPr txBox="1"/>
          <p:nvPr/>
        </p:nvSpPr>
        <p:spPr>
          <a:xfrm rot="0" flipH="0" flipV="0">
            <a:off x="8134350" y="4457700"/>
            <a:ext cx="14573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项目概览与三级路由</a:t>
            </a:r>
            <a:endParaRPr/>
          </a:p>
        </p:txBody>
      </p:sp>
      <p:sp>
        <p:nvSpPr>
          <p:cNvPr id="852" name=""/>
          <p:cNvSpPr/>
          <p:nvPr/>
        </p:nvSpPr>
        <p:spPr>
          <a:xfrm rot="0" flipH="0" flipV="0">
            <a:off x="7848600" y="4867275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3" name="" descr="{&quot;isTemplate&quot;:true,&quot;type&quot;:&quot;text&quot;}"/>
          <p:cNvSpPr txBox="1"/>
          <p:nvPr/>
        </p:nvSpPr>
        <p:spPr>
          <a:xfrm rot="0" flipH="0" flipV="0">
            <a:off x="8134350" y="4772025"/>
            <a:ext cx="2571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发现式注册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隔离安全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流式渲染</a:t>
            </a:r>
            <a:endParaRPr/>
          </a:p>
        </p:txBody>
      </p:sp>
      <p:sp>
        <p:nvSpPr>
          <p:cNvPr id="854" name=""/>
          <p:cNvSpPr/>
          <p:nvPr/>
        </p:nvSpPr>
        <p:spPr>
          <a:xfrm rot="0" flipH="0" flipV="0">
            <a:off x="7848600" y="5181600"/>
            <a:ext cx="171450" cy="9525"/>
          </a:xfrm>
          <a:prstGeom prst="rect">
            <a:avLst/>
          </a:pr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55" name="" descr="{&quot;isTemplate&quot;:true,&quot;type&quot;:&quot;text&quot;}"/>
          <p:cNvSpPr txBox="1"/>
          <p:nvPr/>
        </p:nvSpPr>
        <p:spPr>
          <a:xfrm rot="0" flipH="0" flipV="0">
            <a:off x="8134350" y="5086350"/>
            <a:ext cx="1495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四个真实</a:t>
            </a:r>
            <a:r>
              <a:rPr lang="en-US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 xml:space="preserve"> Bug </a:t>
            </a:r>
            <a:r>
              <a:rPr lang="zh-CN" sz="1275">
                <a:solidFill>
                  <a:srgbClr val="E8EEF9">
                    <a:alpha val="82000"/>
                  </a:srgbClr>
                </a:solidFill>
                <a:latin typeface="Source Han Sans SC"/>
                <a:ea typeface="Source Han Sans SC"/>
              </a:rPr>
              <a:t>与修法</a:t>
            </a:r>
            <a:endParaRPr/>
          </a:p>
        </p:txBody>
      </p:sp>
      <p:sp>
        <p:nvSpPr>
          <p:cNvPr id="856" name="" descr="{&quot;isTemplate&quot;:true,&quot;type&quot;:&quot;text&quot;}"/>
          <p:cNvSpPr txBox="1"/>
          <p:nvPr/>
        </p:nvSpPr>
        <p:spPr>
          <a:xfrm rot="0" flipH="0" flipV="0">
            <a:off x="838200" y="6419850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26 / 33</a:t>
            </a:r>
            <a:endParaRPr/>
          </a:p>
        </p:txBody>
      </p:sp>
    </p:spTree>
  </p:cSld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8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859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860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项目概览：一句话与一套栈</a:t>
            </a:r>
            <a:endParaRPr/>
          </a:p>
        </p:txBody>
      </p:sp>
      <p:sp>
        <p:nvSpPr>
          <p:cNvPr id="861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8862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自然语言进，结构化结果出，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在中间做编排</a:t>
            </a:r>
            <a:endParaRPr/>
          </a:p>
        </p:txBody>
      </p:sp>
      <p:sp>
        <p:nvSpPr>
          <p:cNvPr id="862" name=""/>
          <p:cNvSpPr/>
          <p:nvPr/>
        </p:nvSpPr>
        <p:spPr>
          <a:xfrm rot="0" flipH="0" flipV="0">
            <a:off x="685800" y="1143000"/>
            <a:ext cx="5895975" cy="4914900"/>
          </a:xfrm>
          <a:custGeom>
            <a:pathLst>
              <a:path w="619" h="516">
                <a:moveTo>
                  <a:pt x="618" y="0"/>
                </a:moveTo>
                <a:lnTo>
                  <a:pt x="619" y="0"/>
                </a:lnTo>
                <a:lnTo>
                  <a:pt x="619" y="516"/>
                </a:lnTo>
                <a:lnTo>
                  <a:pt x="618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6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12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END-TO-END</a:t>
            </a:r>
            <a:endParaRPr/>
          </a:p>
        </p:txBody>
      </p:sp>
      <p:sp>
        <p:nvSpPr>
          <p:cNvPr id="864" name="" descr="{&quot;isTemplate&quot;:true,&quot;type&quot;:&quot;text&quot;}"/>
          <p:cNvSpPr txBox="1"/>
          <p:nvPr/>
        </p:nvSpPr>
        <p:spPr>
          <a:xfrm rot="0" flipH="0" flipV="0">
            <a:off x="4991100" y="1152525"/>
            <a:ext cx="1285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HTTP + SSE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全链路流式</a:t>
            </a:r>
            <a:endParaRPr/>
          </a:p>
        </p:txBody>
      </p:sp>
      <p:sp>
        <p:nvSpPr>
          <p:cNvPr id="865" name=""/>
          <p:cNvSpPr/>
          <p:nvPr/>
        </p:nvSpPr>
        <p:spPr>
          <a:xfrm rot="0" flipH="0" flipV="0">
            <a:off x="685800" y="142875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66" name="" descr="{&quot;isTemplate&quot;:true,&quot;type&quot;:&quot;text&quot;}"/>
          <p:cNvSpPr txBox="1"/>
          <p:nvPr/>
        </p:nvSpPr>
        <p:spPr>
          <a:xfrm rot="0" flipH="0" flipV="0">
            <a:off x="838200" y="175260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CLIENT</a:t>
            </a:r>
            <a:endParaRPr/>
          </a:p>
        </p:txBody>
      </p:sp>
      <p:sp>
        <p:nvSpPr>
          <p:cNvPr id="867" name="" descr="{&quot;isTemplate&quot;:true,&quot;type&quot;:&quot;text&quot;}"/>
          <p:cNvSpPr txBox="1"/>
          <p:nvPr/>
        </p:nvSpPr>
        <p:spPr>
          <a:xfrm rot="0" flipH="0" flipV="0">
            <a:off x="1562100" y="161925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用户输入</a:t>
            </a:r>
            <a:endParaRPr/>
          </a:p>
        </p:txBody>
      </p:sp>
      <p:sp>
        <p:nvSpPr>
          <p:cNvPr id="868" name="" descr="{&quot;isTemplate&quot;:true,&quot;type&quot;:&quot;text&quot;}"/>
          <p:cNvSpPr txBox="1"/>
          <p:nvPr/>
        </p:nvSpPr>
        <p:spPr>
          <a:xfrm rot="0" flipH="0" flipV="0">
            <a:off x="1562100" y="186690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自然语言提问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前端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Vue3 + TS + Pinia</a:t>
            </a:r>
            <a:endParaRPr/>
          </a:p>
        </p:txBody>
      </p:sp>
      <p:sp>
        <p:nvSpPr>
          <p:cNvPr id="869" name="" descr="{&quot;isTemplate&quot;:true,&quot;type&quot;:&quot;text&quot;}"/>
          <p:cNvSpPr txBox="1"/>
          <p:nvPr/>
        </p:nvSpPr>
        <p:spPr>
          <a:xfrm rot="0" flipH="0" flipV="0">
            <a:off x="933450" y="222885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870" name=""/>
          <p:cNvSpPr/>
          <p:nvPr/>
        </p:nvSpPr>
        <p:spPr>
          <a:xfrm rot="0" flipH="0" flipV="0">
            <a:off x="685800" y="239077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1" name="" descr="{&quot;isTemplate&quot;:true,&quot;type&quot;:&quot;text&quot;}"/>
          <p:cNvSpPr txBox="1"/>
          <p:nvPr/>
        </p:nvSpPr>
        <p:spPr>
          <a:xfrm rot="0" flipH="0" flipV="0">
            <a:off x="838200" y="271462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SERVER</a:t>
            </a:r>
            <a:endParaRPr/>
          </a:p>
        </p:txBody>
      </p:sp>
      <p:sp>
        <p:nvSpPr>
          <p:cNvPr id="872" name="" descr="{&quot;isTemplate&quot;:true,&quot;type&quot;:&quot;text&quot;}"/>
          <p:cNvSpPr txBox="1"/>
          <p:nvPr/>
        </p:nvSpPr>
        <p:spPr>
          <a:xfrm rot="0" flipH="0" flipV="0">
            <a:off x="1562100" y="258127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Node (Koa)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服务</a:t>
            </a:r>
            <a:endParaRPr/>
          </a:p>
        </p:txBody>
      </p:sp>
      <p:sp>
        <p:nvSpPr>
          <p:cNvPr id="873" name="" descr="{&quot;isTemplate&quot;:true,&quot;type&quot;:&quot;text&quot;}"/>
          <p:cNvSpPr txBox="1"/>
          <p:nvPr/>
        </p:nvSpPr>
        <p:spPr>
          <a:xfrm rot="0" flipH="0" flipV="0">
            <a:off x="1562100" y="282892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鉴权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数据范围注入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SSE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通道</a:t>
            </a:r>
            <a:endParaRPr/>
          </a:p>
        </p:txBody>
      </p:sp>
      <p:sp>
        <p:nvSpPr>
          <p:cNvPr id="874" name="" descr="{&quot;isTemplate&quot;:true,&quot;type&quot;:&quot;text&quot;}"/>
          <p:cNvSpPr txBox="1"/>
          <p:nvPr/>
        </p:nvSpPr>
        <p:spPr>
          <a:xfrm rot="0" flipH="0" flipV="0">
            <a:off x="933450" y="31908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875" name=""/>
          <p:cNvSpPr/>
          <p:nvPr/>
        </p:nvSpPr>
        <p:spPr>
          <a:xfrm rot="0" flipH="0" flipV="0">
            <a:off x="685800" y="3352800"/>
            <a:ext cx="5591175" cy="781050"/>
          </a:xfrm>
          <a:prstGeom prst="roundRect">
            <a:avLst>
              <a:gd name="adj" fmla="val 3659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76" name="" descr="{&quot;isTemplate&quot;:true,&quot;type&quot;:&quot;text&quot;}"/>
          <p:cNvSpPr txBox="1"/>
          <p:nvPr/>
        </p:nvSpPr>
        <p:spPr>
          <a:xfrm rot="0" flipH="0" flipV="0">
            <a:off x="838200" y="36766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2AD4EE"/>
                </a:solidFill>
                <a:latin typeface="JetBrains Mono"/>
                <a:ea typeface="JetBrains Mono"/>
              </a:rPr>
              <a:t>AGENT</a:t>
            </a:r>
            <a:endParaRPr/>
          </a:p>
        </p:txBody>
      </p:sp>
      <p:sp>
        <p:nvSpPr>
          <p:cNvPr id="877" name="" descr="{&quot;isTemplate&quot;:true,&quot;type&quot;:&quot;text&quot;}"/>
          <p:cNvSpPr txBox="1"/>
          <p:nvPr/>
        </p:nvSpPr>
        <p:spPr>
          <a:xfrm rot="0" flipH="0" flipV="0">
            <a:off x="1562100" y="35433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智能体</a:t>
            </a:r>
            <a:endParaRPr/>
          </a:p>
        </p:txBody>
      </p:sp>
      <p:sp>
        <p:nvSpPr>
          <p:cNvPr id="878" name="" descr="{&quot;isTemplate&quot;:true,&quot;type&quot;:&quot;text&quot;}"/>
          <p:cNvSpPr txBox="1"/>
          <p:nvPr/>
        </p:nvSpPr>
        <p:spPr>
          <a:xfrm rot="0" flipH="0" flipV="0">
            <a:off x="1562100" y="37909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@earendil-works/pi-coding-agent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，编排核心</a:t>
            </a:r>
            <a:endParaRPr/>
          </a:p>
        </p:txBody>
      </p:sp>
      <p:sp>
        <p:nvSpPr>
          <p:cNvPr id="879" name="" descr="{&quot;isTemplate&quot;:true,&quot;type&quot;:&quot;text&quot;}"/>
          <p:cNvSpPr txBox="1"/>
          <p:nvPr/>
        </p:nvSpPr>
        <p:spPr>
          <a:xfrm rot="0" flipH="0" flipV="0">
            <a:off x="933450" y="4143375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880" name=""/>
          <p:cNvSpPr/>
          <p:nvPr/>
        </p:nvSpPr>
        <p:spPr>
          <a:xfrm rot="0" flipH="0" flipV="0">
            <a:off x="685800" y="4305300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1" name="" descr="{&quot;isTemplate&quot;:true,&quot;type&quot;:&quot;text&quot;}"/>
          <p:cNvSpPr txBox="1"/>
          <p:nvPr/>
        </p:nvSpPr>
        <p:spPr>
          <a:xfrm rot="0" flipH="0" flipV="0">
            <a:off x="838200" y="4629150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TOOLS</a:t>
            </a:r>
            <a:endParaRPr/>
          </a:p>
        </p:txBody>
      </p:sp>
      <p:sp>
        <p:nvSpPr>
          <p:cNvPr id="882" name="" descr="{&quot;isTemplate&quot;:true,&quot;type&quot;:&quot;text&quot;}"/>
          <p:cNvSpPr txBox="1"/>
          <p:nvPr/>
        </p:nvSpPr>
        <p:spPr>
          <a:xfrm rot="0" flipH="0" flipV="0">
            <a:off x="1562100" y="4495800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查询工具</a:t>
            </a:r>
            <a:endParaRPr/>
          </a:p>
        </p:txBody>
      </p:sp>
      <p:sp>
        <p:nvSpPr>
          <p:cNvPr id="883" name="" descr="{&quot;isTemplate&quot;:true,&quot;type&quot;:&quot;text&quot;}"/>
          <p:cNvSpPr txBox="1"/>
          <p:nvPr/>
        </p:nvSpPr>
        <p:spPr>
          <a:xfrm rot="0" flipH="0" flipV="0">
            <a:off x="1562100" y="4743450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指标模板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受控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发射</a:t>
            </a:r>
            <a:endParaRPr/>
          </a:p>
        </p:txBody>
      </p:sp>
      <p:sp>
        <p:nvSpPr>
          <p:cNvPr id="884" name="" descr="{&quot;isTemplate&quot;:true,&quot;type&quot;:&quot;text&quot;}"/>
          <p:cNvSpPr txBox="1"/>
          <p:nvPr/>
        </p:nvSpPr>
        <p:spPr>
          <a:xfrm rot="0" flipH="0" flipV="0">
            <a:off x="933450" y="5105400"/>
            <a:ext cx="76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↓</a:t>
            </a:r>
            <a:endParaRPr/>
          </a:p>
        </p:txBody>
      </p:sp>
      <p:sp>
        <p:nvSpPr>
          <p:cNvPr id="885" name=""/>
          <p:cNvSpPr/>
          <p:nvPr/>
        </p:nvSpPr>
        <p:spPr>
          <a:xfrm rot="0" flipH="0" flipV="0">
            <a:off x="685800" y="5267325"/>
            <a:ext cx="5591175" cy="790575"/>
          </a:xfrm>
          <a:prstGeom prst="roundRect">
            <a:avLst>
              <a:gd name="adj" fmla="val 3614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0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886" name="" descr="{&quot;isTemplate&quot;:true,&quot;type&quot;:&quot;text&quot;}"/>
          <p:cNvSpPr txBox="1"/>
          <p:nvPr/>
        </p:nvSpPr>
        <p:spPr>
          <a:xfrm rot="0" flipH="0" flipV="0">
            <a:off x="838200" y="5591175"/>
            <a:ext cx="590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E8EEF9">
                    <a:alpha val="40000"/>
                  </a:srgbClr>
                </a:solidFill>
                <a:latin typeface="JetBrains Mono"/>
                <a:ea typeface="JetBrains Mono"/>
              </a:rPr>
              <a:t>RENDER</a:t>
            </a:r>
            <a:endParaRPr/>
          </a:p>
        </p:txBody>
      </p:sp>
      <p:sp>
        <p:nvSpPr>
          <p:cNvPr id="887" name="" descr="{&quot;isTemplate&quot;:true,&quot;type&quot;:&quot;text&quot;}"/>
          <p:cNvSpPr txBox="1"/>
          <p:nvPr/>
        </p:nvSpPr>
        <p:spPr>
          <a:xfrm rot="0" flipH="0" flipV="0">
            <a:off x="1562100" y="5457825"/>
            <a:ext cx="45624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E8EEF9"/>
                </a:solidFill>
                <a:latin typeface="Source Han Sans SC"/>
                <a:ea typeface="Source Han Sans SC"/>
              </a:rPr>
              <a:t>前端流式渲染</a:t>
            </a:r>
            <a:endParaRPr/>
          </a:p>
        </p:txBody>
      </p:sp>
      <p:sp>
        <p:nvSpPr>
          <p:cNvPr id="888" name="" descr="{&quot;isTemplate&quot;:true,&quot;type&quot;:&quot;text&quot;}"/>
          <p:cNvSpPr txBox="1"/>
          <p:nvPr/>
        </p:nvSpPr>
        <p:spPr>
          <a:xfrm rot="0" flipH="0" flipV="0">
            <a:off x="1562100" y="5705475"/>
            <a:ext cx="4562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文本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表格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图表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· KPI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卡片，按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renderer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路由</a:t>
            </a:r>
            <a:endParaRPr/>
          </a:p>
        </p:txBody>
      </p:sp>
      <p:sp>
        <p:nvSpPr>
          <p:cNvPr id="889" name="" descr="{&quot;isTemplate&quot;:true,&quot;type&quot;:&quot;text&quot;}"/>
          <p:cNvSpPr txBox="1"/>
          <p:nvPr/>
        </p:nvSpPr>
        <p:spPr>
          <a:xfrm rot="0" flipH="0" flipV="0">
            <a:off x="6877050" y="1143000"/>
            <a:ext cx="46291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TECH STACK</a:t>
            </a:r>
            <a:endParaRPr/>
          </a:p>
        </p:txBody>
      </p:sp>
      <p:sp>
        <p:nvSpPr>
          <p:cNvPr id="890" name=""/>
          <p:cNvSpPr/>
          <p:nvPr/>
        </p:nvSpPr>
        <p:spPr>
          <a:xfrm rot="0" flipH="0" flipV="0">
            <a:off x="6877050" y="14478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1" name="" descr="{&quot;isTemplate&quot;:true,&quot;type&quot;:&quot;text&quot;}"/>
          <p:cNvSpPr txBox="1"/>
          <p:nvPr/>
        </p:nvSpPr>
        <p:spPr>
          <a:xfrm rot="0" flipH="0" flipV="0">
            <a:off x="6877050" y="15811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前端</a:t>
            </a:r>
            <a:endParaRPr/>
          </a:p>
        </p:txBody>
      </p:sp>
      <p:sp>
        <p:nvSpPr>
          <p:cNvPr id="892" name="" descr="{&quot;isTemplate&quot;:true,&quot;type&quot;:&quot;text&quot;}"/>
          <p:cNvSpPr txBox="1"/>
          <p:nvPr/>
        </p:nvSpPr>
        <p:spPr>
          <a:xfrm rot="0" flipH="0" flipV="0">
            <a:off x="7524750" y="15335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Vue3 + TS + Pinia + Router</a:t>
            </a:r>
            <a:endParaRPr/>
          </a:p>
        </p:txBody>
      </p:sp>
      <p:sp>
        <p:nvSpPr>
          <p:cNvPr id="893" name=""/>
          <p:cNvSpPr/>
          <p:nvPr/>
        </p:nvSpPr>
        <p:spPr>
          <a:xfrm rot="0" flipH="0" flipV="0">
            <a:off x="6877050" y="18859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4" name="" descr="{&quot;isTemplate&quot;:true,&quot;type&quot;:&quot;text&quot;}"/>
          <p:cNvSpPr txBox="1"/>
          <p:nvPr/>
        </p:nvSpPr>
        <p:spPr>
          <a:xfrm rot="0" flipH="0" flipV="0">
            <a:off x="6877050" y="20193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服务端</a:t>
            </a:r>
            <a:endParaRPr/>
          </a:p>
        </p:txBody>
      </p:sp>
      <p:sp>
        <p:nvSpPr>
          <p:cNvPr id="895" name="" descr="{&quot;isTemplate&quot;:true,&quot;type&quot;:&quot;text&quot;}"/>
          <p:cNvSpPr txBox="1"/>
          <p:nvPr/>
        </p:nvSpPr>
        <p:spPr>
          <a:xfrm rot="0" flipH="0" flipV="0">
            <a:off x="7524750" y="19716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Node + TS + Koa</a:t>
            </a:r>
            <a:endParaRPr/>
          </a:p>
        </p:txBody>
      </p:sp>
      <p:sp>
        <p:nvSpPr>
          <p:cNvPr id="896" name=""/>
          <p:cNvSpPr/>
          <p:nvPr/>
        </p:nvSpPr>
        <p:spPr>
          <a:xfrm rot="0" flipH="0" flipV="0">
            <a:off x="6877050" y="23241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97" name="" descr="{&quot;isTemplate&quot;:true,&quot;type&quot;:&quot;text&quot;}"/>
          <p:cNvSpPr txBox="1"/>
          <p:nvPr/>
        </p:nvSpPr>
        <p:spPr>
          <a:xfrm rot="0" flipH="0" flipV="0">
            <a:off x="6877050" y="24574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智能体</a:t>
            </a:r>
            <a:endParaRPr/>
          </a:p>
        </p:txBody>
      </p:sp>
      <p:sp>
        <p:nvSpPr>
          <p:cNvPr id="898" name="" descr="{&quot;isTemplate&quot;:true,&quot;type&quot;:&quot;text&quot;}"/>
          <p:cNvSpPr txBox="1"/>
          <p:nvPr/>
        </p:nvSpPr>
        <p:spPr>
          <a:xfrm rot="0" flipH="0" flipV="0">
            <a:off x="7524750" y="24098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>@earendil-works/pi-coding-agent</a:t>
            </a:r>
            <a:endParaRPr/>
          </a:p>
        </p:txBody>
      </p:sp>
      <p:sp>
        <p:nvSpPr>
          <p:cNvPr id="899" name=""/>
          <p:cNvSpPr/>
          <p:nvPr/>
        </p:nvSpPr>
        <p:spPr>
          <a:xfrm rot="0" flipH="0" flipV="0">
            <a:off x="6877050" y="276225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0" name="" descr="{&quot;isTemplate&quot;:true,&quot;type&quot;:&quot;text&quot;}"/>
          <p:cNvSpPr txBox="1"/>
          <p:nvPr/>
        </p:nvSpPr>
        <p:spPr>
          <a:xfrm rot="0" flipH="0" flipV="0">
            <a:off x="6877050" y="28956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数据</a:t>
            </a:r>
            <a:endParaRPr/>
          </a:p>
        </p:txBody>
      </p:sp>
      <p:sp>
        <p:nvSpPr>
          <p:cNvPr id="901" name="" descr="{&quot;isTemplate&quot;:true,&quot;type&quot;:&quot;text&quot;}"/>
          <p:cNvSpPr txBox="1"/>
          <p:nvPr/>
        </p:nvSpPr>
        <p:spPr>
          <a:xfrm rot="0" flipH="0" flipV="0">
            <a:off x="7524750" y="284797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内存</a:t>
            </a: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JSON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种子数据，无需外部数据库</a:t>
            </a:r>
            <a:endParaRPr/>
          </a:p>
        </p:txBody>
      </p:sp>
      <p:sp>
        <p:nvSpPr>
          <p:cNvPr id="902" name=""/>
          <p:cNvSpPr/>
          <p:nvPr/>
        </p:nvSpPr>
        <p:spPr>
          <a:xfrm rot="0" flipH="0" flipV="0">
            <a:off x="6877050" y="3200400"/>
            <a:ext cx="4629150" cy="447675"/>
          </a:xfrm>
          <a:custGeom>
            <a:pathLst>
              <a:path w="486" h="47">
                <a:moveTo>
                  <a:pt x="0" y="46"/>
                </a:moveTo>
                <a:lnTo>
                  <a:pt x="486" y="46"/>
                </a:lnTo>
                <a:lnTo>
                  <a:pt x="486" y="47"/>
                </a:lnTo>
                <a:lnTo>
                  <a:pt x="0" y="47"/>
                </a:lnTo>
                <a:close/>
              </a:path>
            </a:pathLst>
          </a:custGeom>
          <a:solidFill>
            <a:srgbClr val="E8EEF9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03" name="" descr="{&quot;isTemplate&quot;:true,&quot;type&quot;:&quot;text&quot;}"/>
          <p:cNvSpPr txBox="1"/>
          <p:nvPr/>
        </p:nvSpPr>
        <p:spPr>
          <a:xfrm rot="0" flipH="0" flipV="0">
            <a:off x="6877050" y="333375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注册</a:t>
            </a:r>
            <a:endParaRPr/>
          </a:p>
        </p:txBody>
      </p:sp>
      <p:sp>
        <p:nvSpPr>
          <p:cNvPr id="904" name="" descr="{&quot;isTemplate&quot;:true,&quot;type&quot;:&quot;text&quot;}"/>
          <p:cNvSpPr txBox="1"/>
          <p:nvPr/>
        </p:nvSpPr>
        <p:spPr>
          <a:xfrm rot="0" flipH="0" flipV="0">
            <a:off x="7524750" y="3286125"/>
            <a:ext cx="39814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.pi/ </a:t>
            </a:r>
            <a:r>
              <a:rPr lang="zh-CN" sz="1088">
                <a:solidFill>
                  <a:srgbClr val="E8EEF9"/>
                </a:solidFill>
                <a:latin typeface="Source Han Sans SC"/>
                <a:ea typeface="Source Han Sans SC"/>
              </a:rPr>
              <a:t>目录发现式注册，代码零硬编码</a:t>
            </a:r>
            <a:endParaRPr/>
          </a:p>
        </p:txBody>
      </p:sp>
      <p:sp>
        <p:nvSpPr>
          <p:cNvPr id="905" name=""/>
          <p:cNvSpPr/>
          <p:nvPr/>
        </p:nvSpPr>
        <p:spPr>
          <a:xfrm rot="0" flipH="0" flipV="0">
            <a:off x="6877050" y="3829050"/>
            <a:ext cx="4629150" cy="1181100"/>
          </a:xfrm>
          <a:prstGeom prst="roundRect">
            <a:avLst>
              <a:gd name="adj" fmla="val 3226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06" name="" descr="{&quot;isTemplate&quot;:true,&quot;type&quot;:&quot;text&quot;}"/>
          <p:cNvSpPr txBox="1"/>
          <p:nvPr/>
        </p:nvSpPr>
        <p:spPr>
          <a:xfrm rot="0" flipH="0" flipV="0">
            <a:off x="7029450" y="3962400"/>
            <a:ext cx="4324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E8EEF9">
                    <a:alpha val="45000"/>
                  </a:srgbClr>
                </a:solidFill>
                <a:latin typeface="JetBrains Mono"/>
                <a:ea typeface="JetBrains Mono"/>
              </a:rPr>
              <a:t>要解决的三件事</a:t>
            </a:r>
            <a:endParaRPr/>
          </a:p>
        </p:txBody>
      </p:sp>
      <p:sp>
        <p:nvSpPr>
          <p:cNvPr id="907" name="" descr="{&quot;isTemplate&quot;:true,&quot;type&quot;:&quot;text&quot;}"/>
          <p:cNvSpPr txBox="1"/>
          <p:nvPr/>
        </p:nvSpPr>
        <p:spPr>
          <a:xfrm rot="0" flipH="0" flipV="0">
            <a:off x="7029450" y="42195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1</a:t>
            </a:r>
            <a:endParaRPr/>
          </a:p>
        </p:txBody>
      </p:sp>
      <p:sp>
        <p:nvSpPr>
          <p:cNvPr id="908" name="" descr="{&quot;isTemplate&quot;:true,&quot;type&quot;:&quot;text&quot;}"/>
          <p:cNvSpPr txBox="1"/>
          <p:nvPr/>
        </p:nvSpPr>
        <p:spPr>
          <a:xfrm rot="0" flipH="0" flipV="0">
            <a:off x="7277100" y="42100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用户角色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部门的数据范围隔离</a:t>
            </a:r>
            <a:endParaRPr/>
          </a:p>
        </p:txBody>
      </p:sp>
      <p:sp>
        <p:nvSpPr>
          <p:cNvPr id="909" name="" descr="{&quot;isTemplate&quot;:true,&quot;type&quot;:&quot;text&quot;}"/>
          <p:cNvSpPr txBox="1"/>
          <p:nvPr/>
        </p:nvSpPr>
        <p:spPr>
          <a:xfrm rot="0" flipH="0" flipV="0">
            <a:off x="7029450" y="446722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2</a:t>
            </a:r>
            <a:endParaRPr/>
          </a:p>
        </p:txBody>
      </p:sp>
      <p:sp>
        <p:nvSpPr>
          <p:cNvPr id="910" name="" descr="{&quot;isTemplate&quot;:true,&quot;type&quot;:&quot;text&quot;}"/>
          <p:cNvSpPr txBox="1"/>
          <p:nvPr/>
        </p:nvSpPr>
        <p:spPr>
          <a:xfrm rot="0" flipH="0" flipV="0">
            <a:off x="7277100" y="445770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多租户隔离（共享库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tenant_id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）</a:t>
            </a:r>
            <a:endParaRPr/>
          </a:p>
        </p:txBody>
      </p:sp>
      <p:sp>
        <p:nvSpPr>
          <p:cNvPr id="911" name="" descr="{&quot;isTemplate&quot;:true,&quot;type&quot;:&quot;text&quot;}"/>
          <p:cNvSpPr txBox="1"/>
          <p:nvPr/>
        </p:nvSpPr>
        <p:spPr>
          <a:xfrm rot="0" flipH="0" flipV="0">
            <a:off x="7029450" y="4714875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0</a:t>
            </a:r>
            <a:r>
              <a:rPr lang="en-US" sz="975">
                <a:solidFill>
                  <a:srgbClr val="2AD4EE"/>
                </a:solidFill>
                <a:latin typeface="JetBrains Mono"/>
                <a:ea typeface="JetBrains Mono"/>
              </a:rPr>
              <a:t>3</a:t>
            </a:r>
            <a:endParaRPr/>
          </a:p>
        </p:txBody>
      </p:sp>
      <p:sp>
        <p:nvSpPr>
          <p:cNvPr id="912" name="" descr="{&quot;isTemplate&quot;:true,&quot;type&quot;:&quot;text&quot;}"/>
          <p:cNvSpPr txBox="1"/>
          <p:nvPr/>
        </p:nvSpPr>
        <p:spPr>
          <a:xfrm rot="0" flipH="0" flipV="0">
            <a:off x="7277100" y="4705350"/>
            <a:ext cx="4076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指标的准确性与可追溯</a:t>
            </a:r>
            <a:endParaRPr/>
          </a:p>
        </p:txBody>
      </p:sp>
      <p:sp>
        <p:nvSpPr>
          <p:cNvPr id="913" name=""/>
          <p:cNvSpPr/>
          <p:nvPr/>
        </p:nvSpPr>
        <p:spPr>
          <a:xfrm rot="0" flipH="0" flipV="0">
            <a:off x="6877050" y="5238750"/>
            <a:ext cx="4629150" cy="819150"/>
          </a:xfrm>
          <a:prstGeom prst="roundRect">
            <a:avLst>
              <a:gd name="adj" fmla="val 465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14" name="" descr="{&quot;isTemplate&quot;:true,&quot;type&quot;:&quot;text&quot;}"/>
          <p:cNvSpPr txBox="1"/>
          <p:nvPr/>
        </p:nvSpPr>
        <p:spPr>
          <a:xfrm rot="0" flipH="0" flipV="0">
            <a:off x="7029450" y="5372100"/>
            <a:ext cx="432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15" name="" descr="{&quot;isTemplate&quot;:true,&quot;type&quot;:&quot;text&quot;}"/>
          <p:cNvSpPr txBox="1"/>
          <p:nvPr/>
        </p:nvSpPr>
        <p:spPr>
          <a:xfrm rot="0" flipH="0" flipV="0">
            <a:off x="7029450" y="5610225"/>
            <a:ext cx="4324350" cy="3143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0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是</a:t>
            </a:r>
            <a:r>
              <a:rPr lang="zh-CN" sz="1200">
                <a:solidFill>
                  <a:srgbClr val="2AD4EE"/>
                </a:solidFill>
                <a:latin typeface="Source Han Sans SC"/>
                <a:ea typeface="Source Han Sans SC"/>
              </a:rPr>
              <a:t>编排核心</a:t>
            </a:r>
            <a:r>
              <a:rPr lang="zh-CN" sz="1200">
                <a:solidFill>
                  <a:srgbClr val="E8EEF9"/>
                </a:solidFill>
                <a:latin typeface="Source Han Sans SC"/>
                <a:ea typeface="Source Han Sans SC"/>
              </a:rPr>
              <a:t>，不是外挂组件。</a:t>
            </a:r>
            <a:endParaRPr/>
          </a:p>
        </p:txBody>
      </p:sp>
      <p:sp>
        <p:nvSpPr>
          <p:cNvPr id="91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1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27 / 33</a:t>
            </a:r>
            <a:endParaRPr/>
          </a:p>
        </p:txBody>
      </p:sp>
    </p:spTree>
  </p:cSld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9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20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21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三级路由：准确性的核心</a:t>
            </a:r>
            <a:endParaRPr/>
          </a:p>
        </p:txBody>
      </p:sp>
      <p:sp>
        <p:nvSpPr>
          <p:cNvPr id="922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按顺序判断，不得跳级；缺参数就不调工具</a:t>
            </a:r>
            <a:endParaRPr/>
          </a:p>
        </p:txBody>
      </p:sp>
      <p:sp>
        <p:nvSpPr>
          <p:cNvPr id="923" name=""/>
          <p:cNvSpPr/>
          <p:nvPr/>
        </p:nvSpPr>
        <p:spPr>
          <a:xfrm rot="0" flipH="0" flipV="0">
            <a:off x="685800" y="1143000"/>
            <a:ext cx="3200400" cy="4914900"/>
          </a:xfrm>
          <a:custGeom>
            <a:pathLst>
              <a:path w="336" h="516">
                <a:moveTo>
                  <a:pt x="335" y="0"/>
                </a:moveTo>
                <a:lnTo>
                  <a:pt x="336" y="0"/>
                </a:lnTo>
                <a:lnTo>
                  <a:pt x="336" y="516"/>
                </a:lnTo>
                <a:lnTo>
                  <a:pt x="335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886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ROUTING BY PRIORITY</a:t>
            </a:r>
            <a:endParaRPr/>
          </a:p>
        </p:txBody>
      </p:sp>
      <p:sp>
        <p:nvSpPr>
          <p:cNvPr id="925" name="" descr="{&quot;isTemplate&quot;:true,&quot;type&quot;:&quot;text&quot;}"/>
          <p:cNvSpPr txBox="1"/>
          <p:nvPr/>
        </p:nvSpPr>
        <p:spPr>
          <a:xfrm rot="0" flipH="0" flipV="0">
            <a:off x="685800" y="1409700"/>
            <a:ext cx="2886075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2AD4EE"/>
                </a:solidFill>
                <a:latin typeface="JetBrains Mono"/>
                <a:ea typeface="JetBrains Mono"/>
              </a:rPr>
              <a:t>三级</a:t>
            </a:r>
            <a:endParaRPr/>
          </a:p>
        </p:txBody>
      </p:sp>
      <p:sp>
        <p:nvSpPr>
          <p:cNvPr id="926" name="" descr="{&quot;isTemplate&quot;:true,&quot;type&quot;:&quot;text&quot;}"/>
          <p:cNvSpPr txBox="1"/>
          <p:nvPr/>
        </p:nvSpPr>
        <p:spPr>
          <a:xfrm rot="0" flipH="0" flipV="0">
            <a:off x="685800" y="2667000"/>
            <a:ext cx="2886075" cy="723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强约束优先，</a:t>
            </a:r>
            <a:endParaRPr/>
          </a:p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自由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兜底</a:t>
            </a:r>
            <a:endParaRPr/>
          </a:p>
        </p:txBody>
      </p:sp>
      <p:sp>
        <p:nvSpPr>
          <p:cNvPr id="927" name="" descr="{&quot;isTemplate&quot;:true,&quot;type&quot;:&quot;text&quot;}"/>
          <p:cNvSpPr txBox="1"/>
          <p:nvPr/>
        </p:nvSpPr>
        <p:spPr>
          <a:xfrm rot="0" flipH="0" flipV="0">
            <a:off x="685800" y="3543300"/>
            <a:ext cx="2886075" cy="962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越往上，模型能编造的空间越小。自由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永远放在最后，而且一定会被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AST 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校验和范围注入重写一遍。</a:t>
            </a:r>
            <a:endParaRPr/>
          </a:p>
        </p:txBody>
      </p:sp>
      <p:sp>
        <p:nvSpPr>
          <p:cNvPr id="928" name=""/>
          <p:cNvSpPr/>
          <p:nvPr/>
        </p:nvSpPr>
        <p:spPr>
          <a:xfrm rot="0" flipH="0" flipV="0">
            <a:off x="685800" y="4819650"/>
            <a:ext cx="2886075" cy="1238250"/>
          </a:xfrm>
          <a:prstGeom prst="roundRect">
            <a:avLst>
              <a:gd name="adj" fmla="val 3077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29" name="" descr="{&quot;isTemplate&quot;:true,&quot;type&quot;:&quot;text&quot;}"/>
          <p:cNvSpPr txBox="1"/>
          <p:nvPr/>
        </p:nvSpPr>
        <p:spPr>
          <a:xfrm rot="0" flipH="0" flipV="0">
            <a:off x="857250" y="4972050"/>
            <a:ext cx="25431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30" name="" descr="{&quot;isTemplate&quot;:true,&quot;type&quot;:&quot;text&quot;}"/>
          <p:cNvSpPr txBox="1"/>
          <p:nvPr/>
        </p:nvSpPr>
        <p:spPr>
          <a:xfrm rot="0" flipH="0" flipV="0">
            <a:off x="857250" y="5238750"/>
            <a:ext cx="2543175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把「选哪条路」从模型手里收回来，才是准不准的关键。</a:t>
            </a:r>
            <a:endParaRPr/>
          </a:p>
        </p:txBody>
      </p:sp>
      <p:sp>
        <p:nvSpPr>
          <p:cNvPr id="931" name="" descr="{&quot;isTemplate&quot;:true,&quot;type&quot;:&quot;text&quot;}"/>
          <p:cNvSpPr txBox="1"/>
          <p:nvPr/>
        </p:nvSpPr>
        <p:spPr>
          <a:xfrm rot="0" flipH="0" flipV="0">
            <a:off x="4210050" y="1143000"/>
            <a:ext cx="3209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DECISION ORDER ·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自上而下，命中即停</a:t>
            </a:r>
            <a:endParaRPr/>
          </a:p>
        </p:txBody>
      </p:sp>
      <p:sp>
        <p:nvSpPr>
          <p:cNvPr id="932" name="" descr="{&quot;isTemplate&quot;:true,&quot;type&quot;:&quot;text&quot;}"/>
          <p:cNvSpPr txBox="1"/>
          <p:nvPr/>
        </p:nvSpPr>
        <p:spPr>
          <a:xfrm rot="0" flipH="0" flipV="0">
            <a:off x="10515600" y="1152525"/>
            <a:ext cx="990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跳级</a:t>
            </a:r>
            <a:r>
              <a:rPr lang="en-US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准确率失控</a:t>
            </a:r>
            <a:endParaRPr/>
          </a:p>
        </p:txBody>
      </p:sp>
      <p:sp>
        <p:nvSpPr>
          <p:cNvPr id="933" name=""/>
          <p:cNvSpPr/>
          <p:nvPr/>
        </p:nvSpPr>
        <p:spPr>
          <a:xfrm rot="0" flipH="0" flipV="0">
            <a:off x="4248150" y="1428750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2AD4EE">
              <a:alpha val="13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34" name=""/>
          <p:cNvSpPr/>
          <p:nvPr/>
        </p:nvSpPr>
        <p:spPr>
          <a:xfrm rot="0" flipH="0" flipV="0">
            <a:off x="4248150" y="1428750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35" name="" descr="{&quot;isTemplate&quot;:true,&quot;type&quot;:&quot;text&quot;}"/>
          <p:cNvSpPr txBox="1"/>
          <p:nvPr/>
        </p:nvSpPr>
        <p:spPr>
          <a:xfrm rot="0" flipH="0" flipV="0">
            <a:off x="4419600" y="18192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①</a:t>
            </a:r>
            <a:endParaRPr/>
          </a:p>
        </p:txBody>
      </p:sp>
      <p:sp>
        <p:nvSpPr>
          <p:cNvPr id="936" name="" descr="{&quot;isTemplate&quot;:true,&quot;type&quot;:&quot;text&quot;}"/>
          <p:cNvSpPr txBox="1"/>
          <p:nvPr/>
        </p:nvSpPr>
        <p:spPr>
          <a:xfrm rot="0" flipH="0" flipV="0">
            <a:off x="4895850" y="1714500"/>
            <a:ext cx="7334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业务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API</a:t>
            </a:r>
            <a:endParaRPr/>
          </a:p>
        </p:txBody>
      </p:sp>
      <p:sp>
        <p:nvSpPr>
          <p:cNvPr id="937" name="" descr="{&quot;isTemplate&quot;:true,&quot;type&quot;:&quot;text&quot;}"/>
          <p:cNvSpPr txBox="1"/>
          <p:nvPr/>
        </p:nvSpPr>
        <p:spPr>
          <a:xfrm rot="0" flipH="0" flipV="0">
            <a:off x="5743575" y="1714500"/>
            <a:ext cx="13335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938" name="" descr="{&quot;isTemplate&quot;:true,&quot;type&quot;:&quot;text&quot;}"/>
          <p:cNvSpPr txBox="1"/>
          <p:nvPr/>
        </p:nvSpPr>
        <p:spPr>
          <a:xfrm rot="0" flipH="0" flipV="0">
            <a:off x="4895850" y="2019300"/>
            <a:ext cx="57340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先看问题是否命中租户的业务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清单；字典类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可直接按名调用。参数齐全才执行。</a:t>
            </a:r>
            <a:endParaRPr/>
          </a:p>
        </p:txBody>
      </p:sp>
      <p:sp>
        <p:nvSpPr>
          <p:cNvPr id="939" name=""/>
          <p:cNvSpPr/>
          <p:nvPr/>
        </p:nvSpPr>
        <p:spPr>
          <a:xfrm rot="0" flipH="0" flipV="0">
            <a:off x="10782300" y="1876425"/>
            <a:ext cx="5524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0" name="" descr="{&quot;isTemplate&quot;:true,&quot;type&quot;:&quot;text&quot;}"/>
          <p:cNvSpPr txBox="1"/>
          <p:nvPr/>
        </p:nvSpPr>
        <p:spPr>
          <a:xfrm rot="0" flipH="0" flipV="0">
            <a:off x="10877550" y="191452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强约束</a:t>
            </a:r>
            <a:endParaRPr/>
          </a:p>
        </p:txBody>
      </p:sp>
      <p:sp>
        <p:nvSpPr>
          <p:cNvPr id="941" name="" descr="{&quot;isTemplate&quot;:true,&quot;type&quot;:&quot;text&quot;}"/>
          <p:cNvSpPr txBox="1"/>
          <p:nvPr/>
        </p:nvSpPr>
        <p:spPr>
          <a:xfrm rot="0" flipH="0" flipV="0">
            <a:off x="4533900" y="26003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942" name=""/>
          <p:cNvSpPr/>
          <p:nvPr/>
        </p:nvSpPr>
        <p:spPr>
          <a:xfrm rot="0" flipH="0" flipV="0">
            <a:off x="4248150" y="2809875"/>
            <a:ext cx="7296150" cy="1104900"/>
          </a:xfrm>
          <a:prstGeom prst="roundRect">
            <a:avLst>
              <a:gd name="adj" fmla="val 2586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43" name=""/>
          <p:cNvSpPr/>
          <p:nvPr/>
        </p:nvSpPr>
        <p:spPr>
          <a:xfrm rot="0" flipH="0" flipV="0">
            <a:off x="4248150" y="2809875"/>
            <a:ext cx="7296150" cy="1104900"/>
          </a:xfrm>
          <a:custGeom>
            <a:pathLst>
              <a:path w="766" h="116">
                <a:moveTo>
                  <a:pt x="4" y="116"/>
                </a:moveTo>
                <a:cubicBezTo>
                  <a:pt x="3" y="116"/>
                  <a:pt x="2" y="116"/>
                  <a:pt x="1" y="115"/>
                </a:cubicBezTo>
                <a:cubicBezTo>
                  <a:pt x="0" y="114"/>
                  <a:pt x="0" y="114"/>
                  <a:pt x="0" y="11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44" name="" descr="{&quot;isTemplate&quot;:true,&quot;type&quot;:&quot;text&quot;}"/>
          <p:cNvSpPr txBox="1"/>
          <p:nvPr/>
        </p:nvSpPr>
        <p:spPr>
          <a:xfrm rot="0" flipH="0" flipV="0">
            <a:off x="4419600" y="3190875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②</a:t>
            </a:r>
            <a:endParaRPr/>
          </a:p>
        </p:txBody>
      </p:sp>
      <p:sp>
        <p:nvSpPr>
          <p:cNvPr id="945" name="" descr="{&quot;isTemplate&quot;:true,&quot;type&quot;:&quot;text&quot;}"/>
          <p:cNvSpPr txBox="1"/>
          <p:nvPr/>
        </p:nvSpPr>
        <p:spPr>
          <a:xfrm rot="0" flipH="0" flipV="0">
            <a:off x="4895850" y="3095625"/>
            <a:ext cx="8001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指标模板</a:t>
            </a:r>
            <a:endParaRPr/>
          </a:p>
        </p:txBody>
      </p:sp>
      <p:sp>
        <p:nvSpPr>
          <p:cNvPr id="946" name="" descr="{&quot;isTemplate&quot;:true,&quot;type&quot;:&quot;text&quot;}"/>
          <p:cNvSpPr txBox="1"/>
          <p:nvPr/>
        </p:nvSpPr>
        <p:spPr>
          <a:xfrm rot="0" flipH="0" flipV="0">
            <a:off x="5810250" y="30956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947" name="" descr="{&quot;isTemplate&quot;:true,&quot;type&quot;:&quot;text&quot;}"/>
          <p:cNvSpPr txBox="1"/>
          <p:nvPr/>
        </p:nvSpPr>
        <p:spPr>
          <a:xfrm rot="0" flipH="0" flipV="0">
            <a:off x="4895850" y="34004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未命中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API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，再看是否命中预定义指标字典；检查维度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时间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过滤参数是否齐全。</a:t>
            </a:r>
            <a:endParaRPr/>
          </a:p>
        </p:txBody>
      </p:sp>
      <p:sp>
        <p:nvSpPr>
          <p:cNvPr id="948" name=""/>
          <p:cNvSpPr/>
          <p:nvPr/>
        </p:nvSpPr>
        <p:spPr>
          <a:xfrm rot="0" flipH="0" flipV="0">
            <a:off x="10668000" y="32575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49" name="" descr="{&quot;isTemplate&quot;:true,&quot;type&quot;:&quot;text&quot;}"/>
          <p:cNvSpPr txBox="1"/>
          <p:nvPr/>
        </p:nvSpPr>
        <p:spPr>
          <a:xfrm rot="0" flipH="0" flipV="0">
            <a:off x="10763250" y="32956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中等约束</a:t>
            </a:r>
            <a:endParaRPr/>
          </a:p>
        </p:txBody>
      </p:sp>
      <p:sp>
        <p:nvSpPr>
          <p:cNvPr id="950" name="" descr="{&quot;isTemplate&quot;:true,&quot;type&quot;:&quot;text&quot;}"/>
          <p:cNvSpPr txBox="1"/>
          <p:nvPr/>
        </p:nvSpPr>
        <p:spPr>
          <a:xfrm rot="0" flipH="0" flipV="0">
            <a:off x="4533900" y="3971925"/>
            <a:ext cx="523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 xml:space="preserve">↓ </a:t>
            </a:r>
            <a:r>
              <a:rPr lang="zh-CN" sz="975">
                <a:solidFill>
                  <a:srgbClr val="2AD4EE">
                    <a:alpha val="70000"/>
                  </a:srgbClr>
                </a:solidFill>
                <a:latin typeface="JetBrains Mono"/>
                <a:ea typeface="JetBrains Mono"/>
              </a:rPr>
              <a:t>未命中</a:t>
            </a:r>
            <a:endParaRPr/>
          </a:p>
        </p:txBody>
      </p:sp>
      <p:sp>
        <p:nvSpPr>
          <p:cNvPr id="951" name=""/>
          <p:cNvSpPr/>
          <p:nvPr/>
        </p:nvSpPr>
        <p:spPr>
          <a:xfrm rot="0" flipH="0" flipV="0">
            <a:off x="4248150" y="4181475"/>
            <a:ext cx="7296150" cy="1114425"/>
          </a:xfrm>
          <a:prstGeom prst="roundRect">
            <a:avLst>
              <a:gd name="adj" fmla="val 2564"/>
            </a:avLst>
          </a:prstGeom>
          <a:solidFill>
            <a:srgbClr val="16233D">
              <a:alpha val="9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52" name=""/>
          <p:cNvSpPr/>
          <p:nvPr/>
        </p:nvSpPr>
        <p:spPr>
          <a:xfrm rot="0" flipH="0" flipV="0">
            <a:off x="4248150" y="4181475"/>
            <a:ext cx="7296150" cy="1114425"/>
          </a:xfrm>
          <a:custGeom>
            <a:pathLst>
              <a:path w="766" h="117">
                <a:moveTo>
                  <a:pt x="4" y="117"/>
                </a:moveTo>
                <a:cubicBezTo>
                  <a:pt x="3" y="117"/>
                  <a:pt x="2" y="117"/>
                  <a:pt x="1" y="116"/>
                </a:cubicBezTo>
                <a:cubicBezTo>
                  <a:pt x="0" y="115"/>
                  <a:pt x="0" y="115"/>
                  <a:pt x="0" y="114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" y="0"/>
                </a:lnTo>
                <a:close/>
              </a:path>
            </a:pathLst>
          </a:cu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53" name="" descr="{&quot;isTemplate&quot;:true,&quot;type&quot;:&quot;text&quot;}"/>
          <p:cNvSpPr txBox="1"/>
          <p:nvPr/>
        </p:nvSpPr>
        <p:spPr>
          <a:xfrm rot="0" flipH="0" flipV="0">
            <a:off x="4419600" y="4572000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>
                <a:solidFill>
                  <a:srgbClr val="2AD4EE"/>
                </a:solidFill>
                <a:latin typeface="JetBrains Mono"/>
                <a:ea typeface="JetBrains Mono"/>
              </a:rPr>
              <a:t>③</a:t>
            </a:r>
            <a:endParaRPr/>
          </a:p>
        </p:txBody>
      </p:sp>
      <p:sp>
        <p:nvSpPr>
          <p:cNvPr id="954" name="" descr="{&quot;isTemplate&quot;:true,&quot;type&quot;:&quot;text&quot;}"/>
          <p:cNvSpPr txBox="1"/>
          <p:nvPr/>
        </p:nvSpPr>
        <p:spPr>
          <a:xfrm rot="0" flipH="0" flipV="0">
            <a:off x="4895850" y="4467225"/>
            <a:ext cx="80962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受控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SQL</a:t>
            </a:r>
            <a:endParaRPr/>
          </a:p>
        </p:txBody>
      </p:sp>
      <p:sp>
        <p:nvSpPr>
          <p:cNvPr id="955" name="" descr="{&quot;isTemplate&quot;:true,&quot;type&quot;:&quot;text&quot;}"/>
          <p:cNvSpPr txBox="1"/>
          <p:nvPr/>
        </p:nvSpPr>
        <p:spPr>
          <a:xfrm rot="0" flipH="0" flipV="0">
            <a:off x="5819775" y="4467225"/>
            <a:ext cx="9429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2AD4EE"/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956" name="" descr="{&quot;isTemplate&quot;:true,&quot;type&quot;:&quot;text&quot;}"/>
          <p:cNvSpPr txBox="1"/>
          <p:nvPr/>
        </p:nvSpPr>
        <p:spPr>
          <a:xfrm rot="0" flipH="0" flipV="0">
            <a:off x="4895850" y="4772025"/>
            <a:ext cx="56197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前两级都没命中才走自由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SQL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；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校验</a:t>
            </a:r>
            <a:r>
              <a:rPr lang="en-US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13">
                <a:solidFill>
                  <a:srgbClr val="E8EEF9">
                    <a:alpha val="60000"/>
                  </a:srgbClr>
                </a:solidFill>
                <a:latin typeface="Source Han Sans SC"/>
                <a:ea typeface="Source Han Sans SC"/>
              </a:rPr>
              <a:t>强制注入租户与数据范围后执行。</a:t>
            </a:r>
            <a:endParaRPr/>
          </a:p>
        </p:txBody>
      </p:sp>
      <p:sp>
        <p:nvSpPr>
          <p:cNvPr id="957" name=""/>
          <p:cNvSpPr/>
          <p:nvPr/>
        </p:nvSpPr>
        <p:spPr>
          <a:xfrm rot="0" flipH="0" flipV="0">
            <a:off x="10668000" y="4629150"/>
            <a:ext cx="666750" cy="219075"/>
          </a:xfrm>
          <a:prstGeom prst="roundRect">
            <a:avLst>
              <a:gd name="adj" fmla="val 13043"/>
            </a:avLst>
          </a:prstGeom>
          <a:solidFill>
            <a:srgbClr val="2AD4EE">
              <a:alpha val="10000"/>
            </a:srgbClr>
          </a:solidFill>
          <a:ln w="12700">
            <a:solidFill>
              <a:srgbClr val="2AD4EE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58" name="" descr="{&quot;isTemplate&quot;:true,&quot;type&quot;:&quot;text&quot;}"/>
          <p:cNvSpPr txBox="1"/>
          <p:nvPr/>
        </p:nvSpPr>
        <p:spPr>
          <a:xfrm rot="0" flipH="0" flipV="0">
            <a:off x="10763250" y="46672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受控兜底</a:t>
            </a:r>
            <a:endParaRPr/>
          </a:p>
        </p:txBody>
      </p:sp>
      <p:sp>
        <p:nvSpPr>
          <p:cNvPr id="959" name=""/>
          <p:cNvSpPr/>
          <p:nvPr/>
        </p:nvSpPr>
        <p:spPr>
          <a:xfrm rot="0" flipH="0" flipV="0">
            <a:off x="4238625" y="5410200"/>
            <a:ext cx="7296150" cy="647700"/>
          </a:xfrm>
          <a:prstGeom prst="rect">
            <a:avLst/>
          </a:prstGeom>
          <a:solidFill>
            <a:srgbClr val="2AD4EE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60" name=""/>
          <p:cNvSpPr/>
          <p:nvPr/>
        </p:nvSpPr>
        <p:spPr>
          <a:xfrm rot="0" flipH="0" flipV="0">
            <a:off x="4210050" y="5410200"/>
            <a:ext cx="7324725" cy="647700"/>
          </a:xfrm>
          <a:custGeom>
            <a:pathLst>
              <a:path w="769" h="68">
                <a:moveTo>
                  <a:pt x="0" y="0"/>
                </a:moveTo>
                <a:lnTo>
                  <a:pt x="3" y="0"/>
                </a:lnTo>
                <a:lnTo>
                  <a:pt x="3" y="68"/>
                </a:lnTo>
                <a:lnTo>
                  <a:pt x="0" y="68"/>
                </a:lnTo>
                <a:close/>
              </a:path>
            </a:pathLst>
          </a:custGeom>
          <a:solidFill>
            <a:srgbClr val="2AD4EE">
              <a:alpha val="6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61" name="" descr="{&quot;isTemplate&quot;:true,&quot;type&quot;:&quot;text&quot;}"/>
          <p:cNvSpPr txBox="1"/>
          <p:nvPr/>
        </p:nvSpPr>
        <p:spPr>
          <a:xfrm rot="0" flipH="0" flipV="0">
            <a:off x="4410075" y="5657850"/>
            <a:ext cx="571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150">
                <a:solidFill>
                  <a:srgbClr val="2AD4EE"/>
                </a:solidFill>
                <a:latin typeface="JetBrains Mono"/>
                <a:ea typeface="JetBrains Mono"/>
              </a:rPr>
              <a:t>两条铁律</a:t>
            </a:r>
            <a:endParaRPr/>
          </a:p>
        </p:txBody>
      </p:sp>
      <p:sp>
        <p:nvSpPr>
          <p:cNvPr id="962" name="" descr="{&quot;isTemplate&quot;:true,&quot;type&quot;:&quot;text&quot;}"/>
          <p:cNvSpPr txBox="1"/>
          <p:nvPr/>
        </p:nvSpPr>
        <p:spPr>
          <a:xfrm rot="0" flipH="0" flipV="0">
            <a:off x="5172075" y="5600700"/>
            <a:ext cx="6162675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不得跳级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：只能按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①→②→③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顺序判断</a:t>
            </a:r>
            <a:r>
              <a:rPr lang="en-US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｜</a:t>
            </a:r>
            <a:r>
              <a:rPr lang="zh-CN" sz="1125" b="1">
                <a:solidFill>
                  <a:srgbClr val="E8EEF9"/>
                </a:solidFill>
                <a:latin typeface="Source Han Sans SC"/>
                <a:ea typeface="Source Han Sans SC"/>
              </a:rPr>
              <a:t>缺参不调工具</a:t>
            </a:r>
            <a:r>
              <a:rPr lang="zh-CN" sz="1125">
                <a:solidFill>
                  <a:srgbClr val="E8EEF9">
                    <a:alpha val="76000"/>
                  </a:srgbClr>
                </a:solidFill>
                <a:latin typeface="Source Han Sans SC"/>
                <a:ea typeface="Source Han Sans SC"/>
              </a:rPr>
              <a:t>：先向用户索要，补齐后重新判断</a:t>
            </a:r>
            <a:endParaRPr/>
          </a:p>
        </p:txBody>
      </p:sp>
      <p:sp>
        <p:nvSpPr>
          <p:cNvPr id="96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96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28 / 33</a:t>
            </a:r>
            <a:endParaRPr/>
          </a:p>
        </p:txBody>
      </p:sp>
    </p:spTree>
  </p:cSld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9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96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6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48482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发现式注册：加工具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丢一个文件</a:t>
            </a:r>
            <a:endParaRPr/>
          </a:p>
        </p:txBody>
      </p:sp>
      <p:sp>
        <p:nvSpPr>
          <p:cNvPr id="96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4848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代码里零硬编码工具数组，能力全在磁盘上</a:t>
            </a:r>
            <a:endParaRPr/>
          </a:p>
        </p:txBody>
      </p:sp>
      <p:sp>
        <p:nvSpPr>
          <p:cNvPr id="970" name=""/>
          <p:cNvSpPr/>
          <p:nvPr/>
        </p:nvSpPr>
        <p:spPr>
          <a:xfrm rot="0" flipH="0" flipV="0">
            <a:off x="685800" y="1143000"/>
            <a:ext cx="2609850" cy="4914900"/>
          </a:xfrm>
          <a:custGeom>
            <a:pathLst>
              <a:path w="274" h="516">
                <a:moveTo>
                  <a:pt x="273" y="0"/>
                </a:moveTo>
                <a:lnTo>
                  <a:pt x="274" y="0"/>
                </a:lnTo>
                <a:lnTo>
                  <a:pt x="274" y="516"/>
                </a:lnTo>
                <a:lnTo>
                  <a:pt x="273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7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333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DISCOVERY</a:t>
            </a:r>
            <a:endParaRPr/>
          </a:p>
        </p:txBody>
      </p:sp>
      <p:sp>
        <p:nvSpPr>
          <p:cNvPr id="972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33362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加一个工具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等于丢一个文件</a:t>
            </a:r>
            <a:endParaRPr/>
          </a:p>
        </p:txBody>
      </p:sp>
      <p:sp>
        <p:nvSpPr>
          <p:cNvPr id="973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333625" cy="990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启动时，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DefaultResourceLoader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扫描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200">
                <a:solidFill>
                  <a:srgbClr val="2AD4EE"/>
                </a:solidFill>
                <a:latin typeface="Source Han Sans SC"/>
                <a:ea typeface="Source Han Sans SC"/>
              </a:rPr>
              <a:t>.pi/extensions/*.ts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，每个文件自己注册自己的工具。</a:t>
            </a:r>
            <a:endParaRPr/>
          </a:p>
        </p:txBody>
      </p:sp>
      <p:sp>
        <p:nvSpPr>
          <p:cNvPr id="974" name=""/>
          <p:cNvSpPr/>
          <p:nvPr/>
        </p:nvSpPr>
        <p:spPr>
          <a:xfrm rot="0" flipH="0" flipV="0">
            <a:off x="685800" y="37528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75" name="" descr="{&quot;isTemplate&quot;:true,&quot;type&quot;:&quot;text&quot;}"/>
          <p:cNvSpPr txBox="1"/>
          <p:nvPr/>
        </p:nvSpPr>
        <p:spPr>
          <a:xfrm rot="0" flipH="0" flipV="0">
            <a:off x="828675" y="368617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新增工具不动主干代码</a:t>
            </a:r>
            <a:endParaRPr/>
          </a:p>
        </p:txBody>
      </p:sp>
      <p:sp>
        <p:nvSpPr>
          <p:cNvPr id="976" name=""/>
          <p:cNvSpPr/>
          <p:nvPr/>
        </p:nvSpPr>
        <p:spPr>
          <a:xfrm rot="0" flipH="0" flipV="0">
            <a:off x="685800" y="409575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77" name="" descr="{&quot;isTemplate&quot;:true,&quot;type&quot;:&quot;text&quot;}"/>
          <p:cNvSpPr txBox="1"/>
          <p:nvPr/>
        </p:nvSpPr>
        <p:spPr>
          <a:xfrm rot="0" flipH="0" flipV="0">
            <a:off x="828675" y="4029075"/>
            <a:ext cx="21907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AGENTS.md / APPEND_SYSTEM.md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自动合并进系统提示</a:t>
            </a:r>
            <a:endParaRPr/>
          </a:p>
        </p:txBody>
      </p:sp>
      <p:sp>
        <p:nvSpPr>
          <p:cNvPr id="978" name=""/>
          <p:cNvSpPr/>
          <p:nvPr/>
        </p:nvSpPr>
        <p:spPr>
          <a:xfrm rot="0" flipH="0" flipV="0">
            <a:off x="685800" y="4686300"/>
            <a:ext cx="47625" cy="47625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979" name="" descr="{&quot;isTemplate&quot;:true,&quot;type&quot;:&quot;text&quot;}"/>
          <p:cNvSpPr txBox="1"/>
          <p:nvPr/>
        </p:nvSpPr>
        <p:spPr>
          <a:xfrm rot="0" flipH="0" flipV="0">
            <a:off x="828675" y="4619625"/>
            <a:ext cx="219075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删除能力</a:t>
            </a:r>
            <a:r>
              <a:rPr lang="en-US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088">
                <a:solidFill>
                  <a:srgbClr val="E8EEF9">
                    <a:alpha val="68000"/>
                  </a:srgbClr>
                </a:solidFill>
                <a:latin typeface="Source Han Sans SC"/>
                <a:ea typeface="Source Han Sans SC"/>
              </a:rPr>
              <a:t>删掉那个文件</a:t>
            </a:r>
            <a:endParaRPr/>
          </a:p>
        </p:txBody>
      </p:sp>
      <p:sp>
        <p:nvSpPr>
          <p:cNvPr id="980" name=""/>
          <p:cNvSpPr/>
          <p:nvPr/>
        </p:nvSpPr>
        <p:spPr>
          <a:xfrm rot="0" flipH="0" flipV="0">
            <a:off x="685800" y="4886325"/>
            <a:ext cx="233362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1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20288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982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202882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新增能力不改主干代码，这就是低耦合的落地方式。</a:t>
            </a:r>
            <a:endParaRPr/>
          </a:p>
        </p:txBody>
      </p:sp>
      <p:sp>
        <p:nvSpPr>
          <p:cNvPr id="983" name="" descr="{&quot;isTemplate&quot;:true,&quot;type&quot;:&quot;text&quot;}"/>
          <p:cNvSpPr txBox="1"/>
          <p:nvPr/>
        </p:nvSpPr>
        <p:spPr>
          <a:xfrm rot="0" flipH="0" flipV="0">
            <a:off x="3600450" y="1143000"/>
            <a:ext cx="2762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server/.pi/</a:t>
            </a:r>
            <a:endParaRPr/>
          </a:p>
        </p:txBody>
      </p:sp>
      <p:sp>
        <p:nvSpPr>
          <p:cNvPr id="984" name=""/>
          <p:cNvSpPr/>
          <p:nvPr/>
        </p:nvSpPr>
        <p:spPr>
          <a:xfrm rot="0" flipH="0" flipV="0">
            <a:off x="3600450" y="1428750"/>
            <a:ext cx="2762250" cy="4629150"/>
          </a:xfrm>
          <a:prstGeom prst="roundRect">
            <a:avLst>
              <a:gd name="adj" fmla="val 1379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985" name="" descr="{&quot;isTemplate&quot;:true,&quot;type&quot;:&quot;text&quot;}"/>
          <p:cNvSpPr txBox="1"/>
          <p:nvPr/>
        </p:nvSpPr>
        <p:spPr>
          <a:xfrm rot="0" flipH="0" flipV="0">
            <a:off x="3733800" y="16573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extensions/</a:t>
            </a:r>
            <a:endParaRPr/>
          </a:p>
        </p:txBody>
      </p:sp>
      <p:sp>
        <p:nvSpPr>
          <p:cNvPr id="986" name="" descr="{&quot;isTemplate&quot;:true,&quot;type&quot;:&quot;text&quot;}"/>
          <p:cNvSpPr txBox="1"/>
          <p:nvPr/>
        </p:nvSpPr>
        <p:spPr>
          <a:xfrm rot="0" flipH="0" flipV="0">
            <a:off x="3733800" y="20002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query-metric.ts</a:t>
            </a:r>
            <a:endParaRPr/>
          </a:p>
        </p:txBody>
      </p:sp>
      <p:sp>
        <p:nvSpPr>
          <p:cNvPr id="987" name="" descr="{&quot;isTemplate&quot;:true,&quot;type&quot;:&quot;text&quot;}"/>
          <p:cNvSpPr txBox="1"/>
          <p:nvPr/>
        </p:nvSpPr>
        <p:spPr>
          <a:xfrm rot="0" flipH="0" flipV="0">
            <a:off x="3733800" y="21812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query_metric</a:t>
            </a:r>
            <a:endParaRPr/>
          </a:p>
        </p:txBody>
      </p:sp>
      <p:sp>
        <p:nvSpPr>
          <p:cNvPr id="988" name="" descr="{&quot;isTemplate&quot;:true,&quot;type&quot;:&quot;text&quot;}"/>
          <p:cNvSpPr txBox="1"/>
          <p:nvPr/>
        </p:nvSpPr>
        <p:spPr>
          <a:xfrm rot="0" flipH="0" flipV="0">
            <a:off x="3733800" y="25050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call-api.ts</a:t>
            </a:r>
            <a:endParaRPr/>
          </a:p>
        </p:txBody>
      </p:sp>
      <p:sp>
        <p:nvSpPr>
          <p:cNvPr id="989" name="" descr="{&quot;isTemplate&quot;:true,&quot;type&quot;:&quot;text&quot;}"/>
          <p:cNvSpPr txBox="1"/>
          <p:nvPr/>
        </p:nvSpPr>
        <p:spPr>
          <a:xfrm rot="0" flipH="0" flipV="0">
            <a:off x="3733800" y="26860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call_business_api</a:t>
            </a:r>
            <a:endParaRPr/>
          </a:p>
        </p:txBody>
      </p:sp>
      <p:sp>
        <p:nvSpPr>
          <p:cNvPr id="990" name="" descr="{&quot;isTemplate&quot;:true,&quot;type&quot;:&quot;text&quot;}"/>
          <p:cNvSpPr txBox="1"/>
          <p:nvPr/>
        </p:nvSpPr>
        <p:spPr>
          <a:xfrm rot="0" flipH="0" flipV="0">
            <a:off x="3733800" y="30003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safe-sql.ts</a:t>
            </a:r>
            <a:endParaRPr/>
          </a:p>
        </p:txBody>
      </p:sp>
      <p:sp>
        <p:nvSpPr>
          <p:cNvPr id="991" name="" descr="{&quot;isTemplate&quot;:true,&quot;type&quot;:&quot;text&quot;}"/>
          <p:cNvSpPr txBox="1"/>
          <p:nvPr/>
        </p:nvSpPr>
        <p:spPr>
          <a:xfrm rot="0" flipH="0" flipV="0">
            <a:off x="3733800" y="31813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run_safe_sql</a:t>
            </a:r>
            <a:endParaRPr/>
          </a:p>
        </p:txBody>
      </p:sp>
      <p:sp>
        <p:nvSpPr>
          <p:cNvPr id="992" name="" descr="{&quot;isTemplate&quot;:true,&quot;type&quot;:&quot;text&quot;}"/>
          <p:cNvSpPr txBox="1"/>
          <p:nvPr/>
        </p:nvSpPr>
        <p:spPr>
          <a:xfrm rot="0" flipH="0" flipV="0">
            <a:off x="3733800" y="350520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emit-table.ts</a:t>
            </a:r>
            <a:endParaRPr/>
          </a:p>
        </p:txBody>
      </p:sp>
      <p:sp>
        <p:nvSpPr>
          <p:cNvPr id="993" name="" descr="{&quot;isTemplate&quot;:true,&quot;type&quot;:&quot;text&quot;}"/>
          <p:cNvSpPr txBox="1"/>
          <p:nvPr/>
        </p:nvSpPr>
        <p:spPr>
          <a:xfrm rot="0" flipH="0" flipV="0">
            <a:off x="3733800" y="368617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emit_table</a:t>
            </a:r>
            <a:endParaRPr/>
          </a:p>
        </p:txBody>
      </p:sp>
      <p:sp>
        <p:nvSpPr>
          <p:cNvPr id="994" name="" descr="{&quot;isTemplate&quot;:true,&quot;type&quot;:&quot;text&quot;}"/>
          <p:cNvSpPr txBox="1"/>
          <p:nvPr/>
        </p:nvSpPr>
        <p:spPr>
          <a:xfrm rot="0" flipH="0" flipV="0">
            <a:off x="3733800" y="401002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├─ emit-chart.ts</a:t>
            </a:r>
            <a:endParaRPr/>
          </a:p>
        </p:txBody>
      </p:sp>
      <p:sp>
        <p:nvSpPr>
          <p:cNvPr id="995" name="" descr="{&quot;isTemplate&quot;:true,&quot;type&quot;:&quot;text&quot;}"/>
          <p:cNvSpPr txBox="1"/>
          <p:nvPr/>
        </p:nvSpPr>
        <p:spPr>
          <a:xfrm rot="0" flipH="0" flipV="0">
            <a:off x="3733800" y="419100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emit_chart</a:t>
            </a:r>
            <a:endParaRPr/>
          </a:p>
        </p:txBody>
      </p:sp>
      <p:sp>
        <p:nvSpPr>
          <p:cNvPr id="996" name="" descr="{&quot;isTemplate&quot;:true,&quot;type&quot;:&quot;text&quot;}"/>
          <p:cNvSpPr txBox="1"/>
          <p:nvPr/>
        </p:nvSpPr>
        <p:spPr>
          <a:xfrm rot="0" flipH="0" flipV="0">
            <a:off x="3733800" y="45148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E8EEF9">
                    <a:alpha val="78000"/>
                  </a:srgbClr>
                </a:solidFill>
                <a:latin typeface="JetBrains Mono"/>
                <a:ea typeface="JetBrains Mono"/>
              </a:rPr>
              <a:t>│   └─ emit-kpi.ts</a:t>
            </a:r>
            <a:endParaRPr/>
          </a:p>
        </p:txBody>
      </p:sp>
      <p:sp>
        <p:nvSpPr>
          <p:cNvPr id="997" name="" descr="{&quot;isTemplate&quot;:true,&quot;type&quot;:&quot;text&quot;}"/>
          <p:cNvSpPr txBox="1"/>
          <p:nvPr/>
        </p:nvSpPr>
        <p:spPr>
          <a:xfrm rot="0" flipH="0" flipV="0">
            <a:off x="3733800" y="46958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emit_kpi</a:t>
            </a:r>
            <a:endParaRPr/>
          </a:p>
        </p:txBody>
      </p:sp>
      <p:sp>
        <p:nvSpPr>
          <p:cNvPr id="998" name="" descr="{&quot;isTemplate&quot;:true,&quot;type&quot;:&quot;text&quot;}"/>
          <p:cNvSpPr txBox="1"/>
          <p:nvPr/>
        </p:nvSpPr>
        <p:spPr>
          <a:xfrm rot="0" flipH="0" flipV="0">
            <a:off x="3733800" y="5010150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├─ AGENTS.md</a:t>
            </a:r>
            <a:endParaRPr/>
          </a:p>
        </p:txBody>
      </p:sp>
      <p:sp>
        <p:nvSpPr>
          <p:cNvPr id="999" name="" descr="{&quot;isTemplate&quot;:true,&quot;type&quot;:&quot;text&quot;}"/>
          <p:cNvSpPr txBox="1"/>
          <p:nvPr/>
        </p:nvSpPr>
        <p:spPr>
          <a:xfrm rot="0" flipH="0" flipV="0">
            <a:off x="3733800" y="5191125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自动合并进系统提示</a:t>
            </a:r>
            <a:endParaRPr/>
          </a:p>
        </p:txBody>
      </p:sp>
      <p:sp>
        <p:nvSpPr>
          <p:cNvPr id="1000" name="" descr="{&quot;isTemplate&quot;:true,&quot;type&quot;:&quot;text&quot;}"/>
          <p:cNvSpPr txBox="1"/>
          <p:nvPr/>
        </p:nvSpPr>
        <p:spPr>
          <a:xfrm rot="0" flipH="0" flipV="0">
            <a:off x="3733800" y="5514975"/>
            <a:ext cx="2495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E8EEF9"/>
                </a:solidFill>
                <a:latin typeface="JetBrains Mono"/>
                <a:ea typeface="JetBrains Mono"/>
              </a:rPr>
              <a:t>└─ APPEND_SYSTEM.md</a:t>
            </a:r>
            <a:endParaRPr/>
          </a:p>
        </p:txBody>
      </p:sp>
      <p:sp>
        <p:nvSpPr>
          <p:cNvPr id="1001" name="" descr="{&quot;isTemplate&quot;:true,&quot;type&quot;:&quot;text&quot;}"/>
          <p:cNvSpPr txBox="1"/>
          <p:nvPr/>
        </p:nvSpPr>
        <p:spPr>
          <a:xfrm rot="0" flipH="0" flipV="0">
            <a:off x="3733800" y="5695950"/>
            <a:ext cx="2495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 xml:space="preserve">→ </a:t>
            </a:r>
            <a:r>
              <a:rPr lang="zh-CN" sz="863">
                <a:solidFill>
                  <a:srgbClr val="2AD4EE">
                    <a:alpha val="72000"/>
                  </a:srgbClr>
                </a:solidFill>
                <a:latin typeface="JetBrains Mono"/>
                <a:ea typeface="JetBrains Mono"/>
              </a:rPr>
              <a:t>自动追加</a:t>
            </a:r>
            <a:endParaRPr/>
          </a:p>
        </p:txBody>
      </p:sp>
      <p:sp>
        <p:nvSpPr>
          <p:cNvPr id="1002" name="" descr="{&quot;isTemplate&quot;:true,&quot;type&quot;:&quot;text&quot;}"/>
          <p:cNvSpPr txBox="1"/>
          <p:nvPr/>
        </p:nvSpPr>
        <p:spPr>
          <a:xfrm rot="0" flipH="0" flipV="0">
            <a:off x="6553200" y="1143000"/>
            <a:ext cx="4953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extensions/emit-table.ts</a:t>
            </a:r>
            <a:endParaRPr/>
          </a:p>
        </p:txBody>
      </p:sp>
      <p:sp>
        <p:nvSpPr>
          <p:cNvPr id="100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0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29 / 33</a:t>
            </a:r>
            <a:endParaRPr/>
          </a:p>
        </p:txBody>
      </p:sp>
      <p:sp>
        <p:nvSpPr>
          <p:cNvPr id="1005" name=""/>
          <p:cNvSpPr/>
          <p:nvPr/>
        </p:nvSpPr>
        <p:spPr>
          <a:xfrm rot="0" flipH="0" flipV="0">
            <a:off x="6553200" y="1428750"/>
            <a:ext cx="4953000" cy="4267200"/>
          </a:xfrm>
          <a:prstGeom prst="roundRect">
            <a:avLst>
              <a:gd name="adj" fmla="val 1786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006" name=""/>
          <p:cNvSpPr txBox="1"/>
          <p:nvPr/>
        </p:nvSpPr>
        <p:spPr>
          <a:xfrm rot="0" flipH="0" flipV="0">
            <a:off x="6705600" y="1562100"/>
            <a:ext cx="4781550" cy="4000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defineTool,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ExtensionAPI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"@earendil-works/pi-coding-agent"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import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Type }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from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"@sinclair/typebox"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const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79B8FF"/>
                </a:solidFill>
                <a:latin typeface="Menlo"/>
                <a:ea typeface="Menlo"/>
              </a:rPr>
              <a:t>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=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defineTool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name: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"emit_table"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description: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"向用户输出明细表格。"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parameters: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Object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title: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Optional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rows: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Array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Record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Unknown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())),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source: Type.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String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}),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async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execute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_id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, 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 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return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{ details: { renderer: </a:t>
            </a:r>
            <a:r>
              <a:rPr sz="938">
                <a:solidFill>
                  <a:srgbClr val="9ECBFF"/>
                </a:solidFill>
                <a:latin typeface="Menlo"/>
                <a:ea typeface="Menlo"/>
              </a:rPr>
              <a:t>"table"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, data: p, source: p.source } };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},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});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5E7EB"/>
                </a:solidFill>
                <a:latin typeface="Menlo"/>
                <a:ea typeface="Menlo"/>
              </a:rPr>
              <a:t xml:space="preserve"> 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default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function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(</a:t>
            </a:r>
            <a:r>
              <a:rPr sz="938">
                <a:solidFill>
                  <a:srgbClr val="FFAB70"/>
                </a:solidFill>
                <a:latin typeface="Menlo"/>
                <a:ea typeface="Menlo"/>
              </a:rPr>
              <a:t>pi</a:t>
            </a:r>
            <a:r>
              <a:rPr sz="938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ExtensionAPI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) {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  pi.</a:t>
            </a:r>
            <a:r>
              <a:rPr sz="938">
                <a:solidFill>
                  <a:srgbClr val="B392F0"/>
                </a:solidFill>
                <a:latin typeface="Menlo"/>
                <a:ea typeface="Menlo"/>
              </a:rPr>
              <a:t>registerTool</a:t>
            </a: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 xml:space="preserve">(tool);  </a:t>
            </a:r>
            <a:r>
              <a:rPr sz="938">
                <a:solidFill>
                  <a:srgbClr val="6A737D"/>
                </a:solidFill>
                <a:latin typeface="Menlo"/>
                <a:ea typeface="Menlo"/>
              </a:rPr>
              <a:t>// 文件即工具，无需集中注册表</a:t>
            </a:r>
            <a:endParaRPr/>
          </a:p>
          <a:p>
            <a:pPr>
              <a:lnSpc>
                <a:spcPct val="140000"/>
              </a:lnSpc>
            </a:pPr>
            <a:r>
              <a:rPr sz="938">
                <a:solidFill>
                  <a:srgbClr val="E1E4E8"/>
                </a:solidFill>
                <a:latin typeface="Menlo"/>
                <a:ea typeface="Menlo"/>
              </a:rPr>
              <a:t>}</a:t>
            </a:r>
            <a:endParaRPr/>
          </a:p>
        </p:txBody>
      </p:sp>
    </p:spTree>
  </p:cSld>
</p:sld>
</file>

<file path=ppt/slides/slide3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0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36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37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54768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隔离与安全：租户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范围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SQL </a:t>
            </a: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守卫</a:t>
            </a:r>
            <a:endParaRPr/>
          </a:p>
        </p:txBody>
      </p:sp>
      <p:sp>
        <p:nvSpPr>
          <p:cNvPr id="1038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54768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三道防线都建在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PI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之外，所以它绕不过去</a:t>
            </a:r>
            <a:endParaRPr/>
          </a:p>
        </p:txBody>
      </p:sp>
      <p:sp>
        <p:nvSpPr>
          <p:cNvPr id="1039" name=""/>
          <p:cNvSpPr/>
          <p:nvPr/>
        </p:nvSpPr>
        <p:spPr>
          <a:xfrm rot="0" flipH="0" flipV="0">
            <a:off x="685800" y="1143000"/>
            <a:ext cx="5791200" cy="4914900"/>
          </a:xfrm>
          <a:custGeom>
            <a:pathLst>
              <a:path w="608" h="516">
                <a:moveTo>
                  <a:pt x="607" y="0"/>
                </a:moveTo>
                <a:lnTo>
                  <a:pt x="608" y="0"/>
                </a:lnTo>
                <a:lnTo>
                  <a:pt x="608" y="516"/>
                </a:lnTo>
                <a:lnTo>
                  <a:pt x="607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4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1336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THREE DEFENSE LINES</a:t>
            </a:r>
            <a:endParaRPr/>
          </a:p>
        </p:txBody>
      </p:sp>
      <p:sp>
        <p:nvSpPr>
          <p:cNvPr id="1041" name="" descr="{&quot;isTemplate&quot;:true,&quot;type&quot;:&quot;text&quot;}"/>
          <p:cNvSpPr txBox="1"/>
          <p:nvPr/>
        </p:nvSpPr>
        <p:spPr>
          <a:xfrm rot="0" flipH="0" flipV="0">
            <a:off x="5057775" y="1152525"/>
            <a:ext cx="11144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自外向内，逐层收紧</a:t>
            </a:r>
            <a:endParaRPr/>
          </a:p>
        </p:txBody>
      </p:sp>
      <p:sp>
        <p:nvSpPr>
          <p:cNvPr id="1042" name=""/>
          <p:cNvSpPr/>
          <p:nvPr/>
        </p:nvSpPr>
        <p:spPr>
          <a:xfrm rot="0" flipH="0" flipV="0">
            <a:off x="714375" y="1428750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43" name=""/>
          <p:cNvSpPr/>
          <p:nvPr/>
        </p:nvSpPr>
        <p:spPr>
          <a:xfrm rot="0" flipH="0" flipV="0">
            <a:off x="714375" y="1428750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44" name=""/>
          <p:cNvSpPr/>
          <p:nvPr/>
        </p:nvSpPr>
        <p:spPr>
          <a:xfrm rot="0" flipH="0" flipV="0">
            <a:off x="866775" y="2038350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0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2152650"/>
            <a:ext cx="190500" cy="190500"/>
          </a:xfrm>
          <a:prstGeom prst="rect">
            <a:avLst/>
          </a:prstGeom>
          <a:ln/>
        </p:spPr>
      </p:pic>
      <p:sp>
        <p:nvSpPr>
          <p:cNvPr id="1046" name="" descr="{&quot;isTemplate&quot;:true,&quot;type&quot;:&quot;text&quot;}"/>
          <p:cNvSpPr txBox="1"/>
          <p:nvPr/>
        </p:nvSpPr>
        <p:spPr>
          <a:xfrm rot="0" flipH="0" flipV="0">
            <a:off x="1438275" y="1695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47" name="" descr="{&quot;isTemplate&quot;:true,&quot;type&quot;:&quot;text&quot;}"/>
          <p:cNvSpPr txBox="1"/>
          <p:nvPr/>
        </p:nvSpPr>
        <p:spPr>
          <a:xfrm rot="0" flipH="0" flipV="0">
            <a:off x="1685925" y="169545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身份与数据范围</a:t>
            </a:r>
            <a:endParaRPr/>
          </a:p>
        </p:txBody>
      </p:sp>
      <p:sp>
        <p:nvSpPr>
          <p:cNvPr id="1048" name="" descr="{&quot;isTemplate&quot;:true,&quot;type&quot;:&quot;text&quot;}"/>
          <p:cNvSpPr txBox="1"/>
          <p:nvPr/>
        </p:nvSpPr>
        <p:spPr>
          <a:xfrm rot="0" flipH="0" flipV="0">
            <a:off x="1438275" y="2019300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带出用户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租户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角色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部门；中间件把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dataScope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显式放进会话上下文，不依赖全局隐式状态；数据访问层由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scoper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统一强制注入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与部门过滤。</a:t>
            </a:r>
            <a:endParaRPr/>
          </a:p>
        </p:txBody>
      </p:sp>
      <p:sp>
        <p:nvSpPr>
          <p:cNvPr id="1049" name=""/>
          <p:cNvSpPr/>
          <p:nvPr/>
        </p:nvSpPr>
        <p:spPr>
          <a:xfrm rot="0" flipH="0" flipV="0">
            <a:off x="714375" y="3057525"/>
            <a:ext cx="5486400" cy="1371600"/>
          </a:xfrm>
          <a:prstGeom prst="roundRect">
            <a:avLst>
              <a:gd name="adj" fmla="val 2083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50" name=""/>
          <p:cNvSpPr/>
          <p:nvPr/>
        </p:nvSpPr>
        <p:spPr>
          <a:xfrm rot="0" flipH="0" flipV="0">
            <a:off x="714375" y="3057525"/>
            <a:ext cx="5486400" cy="1371600"/>
          </a:xfrm>
          <a:custGeom>
            <a:pathLst>
              <a:path w="576" h="144">
                <a:moveTo>
                  <a:pt x="3" y="144"/>
                </a:moveTo>
                <a:cubicBezTo>
                  <a:pt x="1" y="144"/>
                  <a:pt x="0" y="143"/>
                  <a:pt x="0" y="141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44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51" name=""/>
          <p:cNvSpPr/>
          <p:nvPr/>
        </p:nvSpPr>
        <p:spPr>
          <a:xfrm rot="0" flipH="0" flipV="0">
            <a:off x="866775" y="353377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0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81075" y="3648075"/>
            <a:ext cx="190500" cy="190500"/>
          </a:xfrm>
          <a:prstGeom prst="rect">
            <a:avLst/>
          </a:prstGeom>
          <a:ln/>
        </p:spPr>
      </p:pic>
      <p:sp>
        <p:nvSpPr>
          <p:cNvPr id="1053" name="" descr="{&quot;isTemplate&quot;:true,&quot;type&quot;:&quot;text&quot;}"/>
          <p:cNvSpPr txBox="1"/>
          <p:nvPr/>
        </p:nvSpPr>
        <p:spPr>
          <a:xfrm rot="0" flipH="0" flipV="0">
            <a:off x="1438275" y="33242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054" name="" descr="{&quot;isTemplate&quot;:true,&quot;type&quot;:&quot;text&quot;}"/>
          <p:cNvSpPr txBox="1"/>
          <p:nvPr/>
        </p:nvSpPr>
        <p:spPr>
          <a:xfrm rot="0" flipH="0" flipV="0">
            <a:off x="1685925" y="33242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会话归属校验</a:t>
            </a:r>
            <a:endParaRPr/>
          </a:p>
        </p:txBody>
      </p:sp>
      <p:sp>
        <p:nvSpPr>
          <p:cNvPr id="1055" name="" descr="{&quot;isTemplate&quot;:true,&quot;type&quot;:&quot;text&quot;}"/>
          <p:cNvSpPr txBox="1"/>
          <p:nvPr/>
        </p:nvSpPr>
        <p:spPr>
          <a:xfrm rot="0" flipH="0" flipV="0">
            <a:off x="1438275" y="3648075"/>
            <a:ext cx="4581525" cy="5238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创建与恢复会话时都校验归属：一个会话只属于当前用户与租户。想越权读取别人的历史，在入口就被拒绝，根本进不到模型层。</a:t>
            </a:r>
            <a:endParaRPr/>
          </a:p>
        </p:txBody>
      </p:sp>
      <p:sp>
        <p:nvSpPr>
          <p:cNvPr id="1056" name=""/>
          <p:cNvSpPr/>
          <p:nvPr/>
        </p:nvSpPr>
        <p:spPr>
          <a:xfrm rot="0" flipH="0" flipV="0">
            <a:off x="714375" y="4429125"/>
            <a:ext cx="5486400" cy="1628775"/>
          </a:xfrm>
          <a:prstGeom prst="roundRect">
            <a:avLst>
              <a:gd name="adj" fmla="val 1754"/>
            </a:avLst>
          </a:prstGeom>
          <a:solidFill>
            <a:srgbClr val="16233D">
              <a:alpha val="9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57" name=""/>
          <p:cNvSpPr/>
          <p:nvPr/>
        </p:nvSpPr>
        <p:spPr>
          <a:xfrm rot="0" flipH="0" flipV="0">
            <a:off x="714375" y="4429125"/>
            <a:ext cx="5486400" cy="1628775"/>
          </a:xfrm>
          <a:custGeom>
            <a:pathLst>
              <a:path w="576" h="171">
                <a:moveTo>
                  <a:pt x="3" y="171"/>
                </a:moveTo>
                <a:cubicBezTo>
                  <a:pt x="1" y="171"/>
                  <a:pt x="0" y="170"/>
                  <a:pt x="0" y="168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3" y="171"/>
                </a:lnTo>
                <a:close/>
              </a:path>
            </a:pathLst>
          </a:custGeom>
          <a:solidFill>
            <a:srgbClr val="2AD4EE">
              <a:alpha val="7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58" name=""/>
          <p:cNvSpPr/>
          <p:nvPr/>
        </p:nvSpPr>
        <p:spPr>
          <a:xfrm rot="0" flipH="0" flipV="0">
            <a:off x="866775" y="5038725"/>
            <a:ext cx="419100" cy="419100"/>
          </a:xfrm>
          <a:prstGeom prst="roundRect">
            <a:avLst>
              <a:gd name="adj" fmla="val 9091"/>
            </a:avLst>
          </a:prstGeom>
          <a:solidFill>
            <a:srgbClr val="2AD4EE">
              <a:alpha val="12000"/>
            </a:srgbClr>
          </a:solidFill>
          <a:ln w="12700">
            <a:solidFill>
              <a:srgbClr val="2AD4EE">
                <a:alpha val="3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10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81075" y="5153025"/>
            <a:ext cx="190500" cy="190500"/>
          </a:xfrm>
          <a:prstGeom prst="rect">
            <a:avLst/>
          </a:prstGeom>
          <a:ln/>
        </p:spPr>
      </p:pic>
      <p:sp>
        <p:nvSpPr>
          <p:cNvPr id="1060" name="" descr="{&quot;isTemplate&quot;:true,&quot;type&quot;:&quot;text&quot;}"/>
          <p:cNvSpPr txBox="1"/>
          <p:nvPr/>
        </p:nvSpPr>
        <p:spPr>
          <a:xfrm rot="0" flipH="0" flipV="0">
            <a:off x="1438275" y="4695825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AD4EE">
                    <a:alpha val="75000"/>
                  </a:srgbClr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61" name="" descr="{&quot;isTemplate&quot;:true,&quot;type&quot;:&quot;text&quot;}"/>
          <p:cNvSpPr txBox="1"/>
          <p:nvPr/>
        </p:nvSpPr>
        <p:spPr>
          <a:xfrm rot="0" flipH="0" flipV="0">
            <a:off x="1685925" y="4695825"/>
            <a:ext cx="1790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守卫（</a:t>
            </a:r>
            <a:r>
              <a:rPr lang="en-US" sz="1575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575" b="1">
                <a:solidFill>
                  <a:srgbClr val="E8EEF9"/>
                </a:solidFill>
                <a:latin typeface="Source Han Sans SC"/>
                <a:ea typeface="Source Han Sans SC"/>
              </a:rPr>
              <a:t>级）</a:t>
            </a:r>
            <a:endParaRPr/>
          </a:p>
        </p:txBody>
      </p:sp>
      <p:sp>
        <p:nvSpPr>
          <p:cNvPr id="1062" name="" descr="{&quot;isTemplate&quot;:true,&quot;type&quot;:&quot;text&quot;}"/>
          <p:cNvSpPr txBox="1"/>
          <p:nvPr/>
        </p:nvSpPr>
        <p:spPr>
          <a:xfrm rot="0" flipH="0" flipV="0">
            <a:off x="1438275" y="5019675"/>
            <a:ext cx="4581525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2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仅允许单条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SELECT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，拒绝写操作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CTE /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子查询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INTO OUTFILE / FOR UPDATE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；表白名单；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级强制注入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tenant_id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、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is_deleted = 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与数据范围；强制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LIMIT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上限（默认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1000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行）。</a:t>
            </a:r>
            <a:endParaRPr/>
          </a:p>
        </p:txBody>
      </p:sp>
      <p:sp>
        <p:nvSpPr>
          <p:cNvPr id="1063" name="" descr="{&quot;isTemplate&quot;:true,&quot;type&quot;:&quot;text&quot;}"/>
          <p:cNvSpPr txBox="1"/>
          <p:nvPr/>
        </p:nvSpPr>
        <p:spPr>
          <a:xfrm rot="0" flipH="0" flipV="0">
            <a:off x="6772275" y="1143000"/>
            <a:ext cx="47339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TWO INVARIANTS</a:t>
            </a:r>
            <a:endParaRPr/>
          </a:p>
        </p:txBody>
      </p:sp>
      <p:sp>
        <p:nvSpPr>
          <p:cNvPr id="1064" name=""/>
          <p:cNvSpPr/>
          <p:nvPr/>
        </p:nvSpPr>
        <p:spPr>
          <a:xfrm rot="0" flipH="0" flipV="0">
            <a:off x="6772275" y="146685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5" name="" descr="{&quot;isTemplate&quot;:true,&quot;type&quot;:&quot;text&quot;}"/>
          <p:cNvSpPr txBox="1"/>
          <p:nvPr/>
        </p:nvSpPr>
        <p:spPr>
          <a:xfrm rot="0" flipH="0" flipV="0">
            <a:off x="6924675" y="160020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注入值不来自模型</a:t>
            </a:r>
            <a:endParaRPr/>
          </a:p>
        </p:txBody>
      </p:sp>
      <p:sp>
        <p:nvSpPr>
          <p:cNvPr id="1066" name="" descr="{&quot;isTemplate&quot;:true,&quot;type&quot;:&quot;text&quot;}"/>
          <p:cNvSpPr txBox="1"/>
          <p:nvPr/>
        </p:nvSpPr>
        <p:spPr>
          <a:xfrm rot="0" flipH="0" flipV="0">
            <a:off x="6924675" y="186690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SQL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里被注入的租户与范围值，全部来自</a:t>
            </a:r>
            <a:r>
              <a:rPr lang="en-US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JWT </a:t>
            </a: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会话上下文——模型写的字符串只是「建议」，不改写它的语义。</a:t>
            </a:r>
            <a:endParaRPr/>
          </a:p>
        </p:txBody>
      </p:sp>
      <p:sp>
        <p:nvSpPr>
          <p:cNvPr id="1067" name=""/>
          <p:cNvSpPr/>
          <p:nvPr/>
        </p:nvSpPr>
        <p:spPr>
          <a:xfrm rot="0" flipH="0" flipV="0">
            <a:off x="6772275" y="2667000"/>
            <a:ext cx="4733925" cy="1066800"/>
          </a:xfrm>
          <a:prstGeom prst="roundRect">
            <a:avLst>
              <a:gd name="adj" fmla="val 3571"/>
            </a:avLst>
          </a:prstGeom>
          <a:solidFill>
            <a:srgbClr val="16233D">
              <a:alpha val="92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68" name="" descr="{&quot;isTemplate&quot;:true,&quot;type&quot;:&quot;text&quot;}"/>
          <p:cNvSpPr txBox="1"/>
          <p:nvPr/>
        </p:nvSpPr>
        <p:spPr>
          <a:xfrm rot="0" flipH="0" flipV="0">
            <a:off x="6924675" y="2800350"/>
            <a:ext cx="4429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执行权永远在代码里</a:t>
            </a:r>
            <a:endParaRPr/>
          </a:p>
        </p:txBody>
      </p:sp>
      <p:sp>
        <p:nvSpPr>
          <p:cNvPr id="1069" name="" descr="{&quot;isTemplate&quot;:true,&quot;type&quot;:&quot;text&quot;}"/>
          <p:cNvSpPr txBox="1"/>
          <p:nvPr/>
        </p:nvSpPr>
        <p:spPr>
          <a:xfrm rot="0" flipH="0" flipV="0">
            <a:off x="6924675" y="3067050"/>
            <a:ext cx="4429125" cy="5334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050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模型只能说要查什么；怎么改、改完能不能跑、跑多少行，全部由服务端决定。</a:t>
            </a:r>
            <a:endParaRPr/>
          </a:p>
        </p:txBody>
      </p:sp>
      <p:sp>
        <p:nvSpPr>
          <p:cNvPr id="1070" name=""/>
          <p:cNvSpPr/>
          <p:nvPr/>
        </p:nvSpPr>
        <p:spPr>
          <a:xfrm rot="0" flipH="0" flipV="0">
            <a:off x="6772275" y="5153025"/>
            <a:ext cx="4733925" cy="904875"/>
          </a:xfrm>
          <a:prstGeom prst="roundRect">
            <a:avLst>
              <a:gd name="adj" fmla="val 4211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71" name="" descr="{&quot;isTemplate&quot;:true,&quot;type&quot;:&quot;text&quot;}"/>
          <p:cNvSpPr txBox="1"/>
          <p:nvPr/>
        </p:nvSpPr>
        <p:spPr>
          <a:xfrm rot="0" flipH="0" flipV="0">
            <a:off x="6943725" y="5305425"/>
            <a:ext cx="4391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072" name="" descr="{&quot;isTemplate&quot;:true,&quot;type&quot;:&quot;text&quot;}"/>
          <p:cNvSpPr txBox="1"/>
          <p:nvPr/>
        </p:nvSpPr>
        <p:spPr>
          <a:xfrm rot="0" flipH="0" flipV="0">
            <a:off x="6943725" y="5572125"/>
            <a:ext cx="4391025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层对这些</a:t>
            </a:r>
            <a:r>
              <a:rPr lang="zh-CN" sz="1275">
                <a:solidFill>
                  <a:srgbClr val="2AD4EE"/>
                </a:solidFill>
                <a:latin typeface="Source Han Sans SC"/>
                <a:ea typeface="Source Han Sans SC"/>
              </a:rPr>
              <a:t>无感知、也绕不过</a:t>
            </a:r>
            <a:r>
              <a:rPr lang="zh-CN" sz="1275">
                <a:solidFill>
                  <a:srgbClr val="E8EEF9"/>
                </a:solidFill>
                <a:latin typeface="Source Han Sans SC"/>
                <a:ea typeface="Source Han Sans SC"/>
              </a:rPr>
              <a:t>——安全才成立。</a:t>
            </a:r>
            <a:endParaRPr/>
          </a:p>
        </p:txBody>
      </p:sp>
      <p:sp>
        <p:nvSpPr>
          <p:cNvPr id="1073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074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30 / 33</a:t>
            </a:r>
            <a:endParaRPr/>
          </a:p>
        </p:txBody>
      </p:sp>
    </p:spTree>
  </p:cSld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07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77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078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流式链路与前端渲染扩展</a:t>
            </a:r>
            <a:endParaRPr/>
          </a:p>
        </p:txBody>
      </p:sp>
      <p:sp>
        <p:nvSpPr>
          <p:cNvPr id="1079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62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后端只说「这是什么」，前端决定「长什么样」</a:t>
            </a:r>
            <a:endParaRPr/>
          </a:p>
        </p:txBody>
      </p:sp>
      <p:sp>
        <p:nvSpPr>
          <p:cNvPr id="1080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 xml:space="preserve">SSE PIPELINE · </a:t>
            </a:r>
            <a:r>
              <a:rPr lang="zh-CN" sz="1125" spc="225">
                <a:solidFill>
                  <a:srgbClr val="2AD4EE"/>
                </a:solidFill>
                <a:latin typeface="JetBrains Mono"/>
                <a:ea typeface="JetBrains Mono"/>
              </a:rPr>
              <a:t>一条事件从会话到像素</a:t>
            </a:r>
            <a:endParaRPr/>
          </a:p>
        </p:txBody>
      </p:sp>
      <p:sp>
        <p:nvSpPr>
          <p:cNvPr id="1081" name=""/>
          <p:cNvSpPr/>
          <p:nvPr/>
        </p:nvSpPr>
        <p:spPr>
          <a:xfrm rot="0" flipH="0" flipV="0">
            <a:off x="68580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2" name="" descr="{&quot;isTemplate&quot;:true,&quot;type&quot;:&quot;text&quot;}"/>
          <p:cNvSpPr txBox="1"/>
          <p:nvPr/>
        </p:nvSpPr>
        <p:spPr>
          <a:xfrm rot="0" flipH="0" flipV="0">
            <a:off x="81915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sp>
        <p:nvSpPr>
          <p:cNvPr id="1083" name="" descr="{&quot;isTemplate&quot;:true,&quot;type&quot;:&quot;text&quot;}"/>
          <p:cNvSpPr txBox="1"/>
          <p:nvPr/>
        </p:nvSpPr>
        <p:spPr>
          <a:xfrm rot="0" flipH="0" flipV="0">
            <a:off x="81915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>session.subscribe</a:t>
            </a:r>
            <a:endParaRPr/>
          </a:p>
        </p:txBody>
      </p:sp>
      <p:sp>
        <p:nvSpPr>
          <p:cNvPr id="1084" name="" descr="{&quot;isTemplate&quot;:true,&quot;type&quot;:&quot;text&quot;}"/>
          <p:cNvSpPr txBox="1"/>
          <p:nvPr/>
        </p:nvSpPr>
        <p:spPr>
          <a:xfrm rot="0" flipH="0" flipV="0">
            <a:off x="81915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订阅会话事件流</a:t>
            </a:r>
            <a:endParaRPr/>
          </a:p>
        </p:txBody>
      </p:sp>
      <p:sp>
        <p:nvSpPr>
          <p:cNvPr id="1085" name="" descr="{&quot;isTemplate&quot;:true,&quot;type&quot;:&quot;text&quot;}"/>
          <p:cNvSpPr txBox="1"/>
          <p:nvPr/>
        </p:nvSpPr>
        <p:spPr>
          <a:xfrm rot="0" flipH="0" flipV="0">
            <a:off x="263842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086" name=""/>
          <p:cNvSpPr/>
          <p:nvPr/>
        </p:nvSpPr>
        <p:spPr>
          <a:xfrm rot="0" flipH="0" flipV="0">
            <a:off x="2847975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87" name="" descr="{&quot;isTemplate&quot;:true,&quot;type&quot;:&quot;text&quot;}"/>
          <p:cNvSpPr txBox="1"/>
          <p:nvPr/>
        </p:nvSpPr>
        <p:spPr>
          <a:xfrm rot="0" flipH="0" flipV="0">
            <a:off x="2981325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sp>
        <p:nvSpPr>
          <p:cNvPr id="1088" name="" descr="{&quot;isTemplate&quot;:true,&quot;type&quot;:&quot;text&quot;}"/>
          <p:cNvSpPr txBox="1"/>
          <p:nvPr/>
        </p:nvSpPr>
        <p:spPr>
          <a:xfrm rot="0" flipH="0" flipV="0">
            <a:off x="2981325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relay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事件映射</a:t>
            </a:r>
            <a:endParaRPr/>
          </a:p>
        </p:txBody>
      </p:sp>
      <p:sp>
        <p:nvSpPr>
          <p:cNvPr id="1089" name="" descr="{&quot;isTemplate&quot;:true,&quot;type&quot;:&quot;text&quot;}"/>
          <p:cNvSpPr txBox="1"/>
          <p:nvPr/>
        </p:nvSpPr>
        <p:spPr>
          <a:xfrm rot="0" flipH="0" flipV="0">
            <a:off x="2981325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PI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事件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→ SseEvent</a:t>
            </a:r>
            <a:endParaRPr/>
          </a:p>
        </p:txBody>
      </p:sp>
      <p:sp>
        <p:nvSpPr>
          <p:cNvPr id="1090" name="" descr="{&quot;isTemplate&quot;:true,&quot;type&quot;:&quot;text&quot;}"/>
          <p:cNvSpPr txBox="1"/>
          <p:nvPr/>
        </p:nvSpPr>
        <p:spPr>
          <a:xfrm rot="0" flipH="0" flipV="0">
            <a:off x="48006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091" name=""/>
          <p:cNvSpPr/>
          <p:nvPr/>
        </p:nvSpPr>
        <p:spPr>
          <a:xfrm rot="0" flipH="0" flipV="0">
            <a:off x="5010150" y="1619250"/>
            <a:ext cx="1962150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2" name="" descr="{&quot;isTemplate&quot;:true,&quot;type&quot;:&quot;text&quot;}"/>
          <p:cNvSpPr txBox="1"/>
          <p:nvPr/>
        </p:nvSpPr>
        <p:spPr>
          <a:xfrm rot="0" flipH="0" flipV="0">
            <a:off x="5143500" y="1619250"/>
            <a:ext cx="1695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sp>
        <p:nvSpPr>
          <p:cNvPr id="1093" name="" descr="{&quot;isTemplate&quot;:true,&quot;type&quot;:&quot;text&quot;}"/>
          <p:cNvSpPr txBox="1"/>
          <p:nvPr/>
        </p:nvSpPr>
        <p:spPr>
          <a:xfrm rot="0" flipH="0" flipV="0">
            <a:off x="5143500" y="1838325"/>
            <a:ext cx="169545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SSE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写出</a:t>
            </a:r>
            <a:endParaRPr/>
          </a:p>
        </p:txBody>
      </p:sp>
      <p:sp>
        <p:nvSpPr>
          <p:cNvPr id="1094" name="" descr="{&quot;isTemplate&quot;:true,&quot;type&quot;:&quot;text&quot;}"/>
          <p:cNvSpPr txBox="1"/>
          <p:nvPr/>
        </p:nvSpPr>
        <p:spPr>
          <a:xfrm rot="0" flipH="0" flipV="0">
            <a:off x="5143500" y="2152650"/>
            <a:ext cx="1695450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HTTP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分块推送</a:t>
            </a:r>
            <a:endParaRPr/>
          </a:p>
        </p:txBody>
      </p:sp>
      <p:sp>
        <p:nvSpPr>
          <p:cNvPr id="1095" name="" descr="{&quot;isTemplate&quot;:true,&quot;type&quot;:&quot;text&quot;}"/>
          <p:cNvSpPr txBox="1"/>
          <p:nvPr/>
        </p:nvSpPr>
        <p:spPr>
          <a:xfrm rot="0" flipH="0" flipV="0">
            <a:off x="6972300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096" name=""/>
          <p:cNvSpPr/>
          <p:nvPr/>
        </p:nvSpPr>
        <p:spPr>
          <a:xfrm rot="0" flipH="0" flipV="0">
            <a:off x="7181850" y="1619250"/>
            <a:ext cx="1952625" cy="742950"/>
          </a:xfrm>
          <a:prstGeom prst="roundRect">
            <a:avLst>
              <a:gd name="adj" fmla="val 3846"/>
            </a:avLst>
          </a:prstGeom>
          <a:solidFill>
            <a:srgbClr val="16233D">
              <a:alpha val="94000"/>
            </a:srgbClr>
          </a:solidFill>
          <a:ln w="12700">
            <a:solidFill>
              <a:srgbClr val="E8EEF9">
                <a:alpha val="1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097" name="" descr="{&quot;isTemplate&quot;:true,&quot;type&quot;:&quot;text&quot;}"/>
          <p:cNvSpPr txBox="1"/>
          <p:nvPr/>
        </p:nvSpPr>
        <p:spPr>
          <a:xfrm rot="0" flipH="0" flipV="0">
            <a:off x="7315200" y="1619250"/>
            <a:ext cx="1685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sp>
        <p:nvSpPr>
          <p:cNvPr id="1098" name="" descr="{&quot;isTemplate&quot;:true,&quot;type&quot;:&quot;text&quot;}"/>
          <p:cNvSpPr txBox="1"/>
          <p:nvPr/>
        </p:nvSpPr>
        <p:spPr>
          <a:xfrm rot="0" flipH="0" flipV="0">
            <a:off x="7315200" y="1838325"/>
            <a:ext cx="168592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前端分发</a:t>
            </a:r>
            <a:endParaRPr/>
          </a:p>
        </p:txBody>
      </p:sp>
      <p:sp>
        <p:nvSpPr>
          <p:cNvPr id="1099" name="" descr="{&quot;isTemplate&quot;:true,&quot;type&quot;:&quot;text&quot;}"/>
          <p:cNvSpPr txBox="1"/>
          <p:nvPr/>
        </p:nvSpPr>
        <p:spPr>
          <a:xfrm rot="0" flipH="0" flipV="0">
            <a:off x="7315200" y="2152650"/>
            <a:ext cx="168592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按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type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追加</a:t>
            </a: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插块</a:t>
            </a:r>
            <a:endParaRPr/>
          </a:p>
        </p:txBody>
      </p:sp>
      <p:sp>
        <p:nvSpPr>
          <p:cNvPr id="1100" name="" descr="{&quot;isTemplate&quot;:true,&quot;type&quot;:&quot;text&quot;}"/>
          <p:cNvSpPr txBox="1"/>
          <p:nvPr/>
        </p:nvSpPr>
        <p:spPr>
          <a:xfrm rot="0" flipH="0" flipV="0">
            <a:off x="9134475" y="1905000"/>
            <a:ext cx="209550" cy="1714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sz="1125">
                <a:solidFill>
                  <a:srgbClr val="2AD4EE">
                    <a:alpha val="75000"/>
                  </a:srgbClr>
                </a:solidFill>
                <a:latin typeface="Source Han Sans SC"/>
                <a:ea typeface="Source Han Sans SC"/>
              </a:rPr>
              <a:t>›</a:t>
            </a:r>
            <a:endParaRPr/>
          </a:p>
        </p:txBody>
      </p:sp>
      <p:sp>
        <p:nvSpPr>
          <p:cNvPr id="1101" name=""/>
          <p:cNvSpPr/>
          <p:nvPr/>
        </p:nvSpPr>
        <p:spPr>
          <a:xfrm rot="0" flipH="0" flipV="0">
            <a:off x="9344025" y="1619250"/>
            <a:ext cx="2162175" cy="742950"/>
          </a:xfrm>
          <a:prstGeom prst="roundRect">
            <a:avLst>
              <a:gd name="adj" fmla="val 3846"/>
            </a:avLst>
          </a:prstGeom>
          <a:solidFill>
            <a:srgbClr val="2AD4EE">
              <a:alpha val="14000"/>
            </a:srgbClr>
          </a:solidFill>
          <a:ln w="12700">
            <a:solidFill>
              <a:srgbClr val="2AD4EE">
                <a:alpha val="45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02" name="" descr="{&quot;isTemplate&quot;:true,&quot;type&quot;:&quot;text&quot;}"/>
          <p:cNvSpPr txBox="1"/>
          <p:nvPr/>
        </p:nvSpPr>
        <p:spPr>
          <a:xfrm rot="0" flipH="0" flipV="0">
            <a:off x="9477375" y="1619250"/>
            <a:ext cx="1895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2AD4EE"/>
                </a:solidFill>
                <a:latin typeface="JetBrains Mono"/>
                <a:ea typeface="JetBrains Mono"/>
              </a:rPr>
              <a:t>05</a:t>
            </a:r>
            <a:endParaRPr/>
          </a:p>
        </p:txBody>
      </p:sp>
      <p:sp>
        <p:nvSpPr>
          <p:cNvPr id="1103" name="" descr="{&quot;isTemplate&quot;:true,&quot;type&quot;:&quot;text&quot;}"/>
          <p:cNvSpPr txBox="1"/>
          <p:nvPr/>
        </p:nvSpPr>
        <p:spPr>
          <a:xfrm rot="0" flipH="0" flipV="0">
            <a:off x="9477375" y="1838325"/>
            <a:ext cx="1895475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en-US" sz="120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renderer </a:t>
            </a:r>
            <a:r>
              <a:rPr lang="zh-CN" sz="1200" b="1">
                <a:solidFill>
                  <a:srgbClr val="E8EEF9"/>
                </a:solidFill>
                <a:latin typeface="Source Han Sans SC"/>
                <a:ea typeface="Source Han Sans SC"/>
              </a:rPr>
              <a:t>注册表</a:t>
            </a:r>
            <a:endParaRPr/>
          </a:p>
        </p:txBody>
      </p:sp>
      <p:sp>
        <p:nvSpPr>
          <p:cNvPr id="1104" name="" descr="{&quot;isTemplate&quot;:true,&quot;type&quot;:&quot;text&quot;}"/>
          <p:cNvSpPr txBox="1"/>
          <p:nvPr/>
        </p:nvSpPr>
        <p:spPr>
          <a:xfrm rot="0" flipH="0" flipV="0">
            <a:off x="9477375" y="2152650"/>
            <a:ext cx="1895475" cy="2095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938">
                <a:solidFill>
                  <a:srgbClr val="E8EEF9">
                    <a:alpha val="55000"/>
                  </a:srgbClr>
                </a:solidFill>
                <a:latin typeface="Source Han Sans SC"/>
                <a:ea typeface="Source Han Sans SC"/>
              </a:rPr>
              <a:t>text · table · chart · kpi</a:t>
            </a:r>
            <a:endParaRPr/>
          </a:p>
        </p:txBody>
      </p:sp>
      <p:sp>
        <p:nvSpPr>
          <p:cNvPr id="1105" name="" descr="{&quot;isTemplate&quot;:true,&quot;type&quot;:&quot;text&quot;}"/>
          <p:cNvSpPr txBox="1"/>
          <p:nvPr/>
        </p:nvSpPr>
        <p:spPr>
          <a:xfrm rot="0" flipH="0" flipV="0">
            <a:off x="685800" y="2705100"/>
            <a:ext cx="58293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 xml:space="preserve">SSE </a:t>
            </a:r>
            <a:r>
              <a:rPr lang="zh-CN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事件契约（前后端共享）</a:t>
            </a:r>
            <a:endParaRPr/>
          </a:p>
        </p:txBody>
      </p:sp>
      <p:sp>
        <p:nvSpPr>
          <p:cNvPr id="1106" name=""/>
          <p:cNvSpPr/>
          <p:nvPr/>
        </p:nvSpPr>
        <p:spPr>
          <a:xfrm rot="0" flipH="0" flipV="0">
            <a:off x="6743700" y="2705100"/>
            <a:ext cx="4772025" cy="3352800"/>
          </a:xfrm>
          <a:custGeom>
            <a:pathLst>
              <a:path w="501" h="352">
                <a:moveTo>
                  <a:pt x="0" y="0"/>
                </a:moveTo>
                <a:lnTo>
                  <a:pt x="1" y="0"/>
                </a:lnTo>
                <a:lnTo>
                  <a:pt x="1" y="352"/>
                </a:lnTo>
                <a:lnTo>
                  <a:pt x="0" y="352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07" name="" descr="{&quot;isTemplate&quot;:true,&quot;type&quot;:&quot;text&quot;}"/>
          <p:cNvSpPr txBox="1"/>
          <p:nvPr/>
        </p:nvSpPr>
        <p:spPr>
          <a:xfrm rot="0" flipH="0" flipV="0">
            <a:off x="6981825" y="2705100"/>
            <a:ext cx="452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E8EEF9">
                    <a:alpha val="52000"/>
                  </a:srgbClr>
                </a:solidFill>
                <a:latin typeface="JetBrains Mono"/>
                <a:ea typeface="JetBrains Mono"/>
              </a:rPr>
              <a:t>RENDERER ROUTING</a:t>
            </a:r>
            <a:endParaRPr/>
          </a:p>
        </p:txBody>
      </p:sp>
      <p:sp>
        <p:nvSpPr>
          <p:cNvPr id="1108" name="" descr="{&quot;isTemplate&quot;:true,&quot;type&quot;:&quot;text&quot;}"/>
          <p:cNvSpPr txBox="1"/>
          <p:nvPr/>
        </p:nvSpPr>
        <p:spPr>
          <a:xfrm rot="0" flipH="0" flipV="0">
            <a:off x="6981825" y="29908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text</a:t>
            </a:r>
            <a:endParaRPr/>
          </a:p>
        </p:txBody>
      </p:sp>
      <p:sp>
        <p:nvSpPr>
          <p:cNvPr id="1109" name=""/>
          <p:cNvSpPr/>
          <p:nvPr/>
        </p:nvSpPr>
        <p:spPr>
          <a:xfrm rot="0" flipH="0" flipV="0">
            <a:off x="8010525" y="30003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0" name="" descr="{&quot;isTemplate&quot;:true,&quot;type&quot;:&quot;text&quot;}"/>
          <p:cNvSpPr txBox="1"/>
          <p:nvPr/>
        </p:nvSpPr>
        <p:spPr>
          <a:xfrm rot="0" flipH="0" flipV="0">
            <a:off x="8134350" y="29908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流式追加的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Markdown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正文</a:t>
            </a:r>
            <a:endParaRPr/>
          </a:p>
        </p:txBody>
      </p:sp>
      <p:sp>
        <p:nvSpPr>
          <p:cNvPr id="1111" name="" descr="{&quot;isTemplate&quot;:true,&quot;type&quot;:&quot;text&quot;}"/>
          <p:cNvSpPr txBox="1"/>
          <p:nvPr/>
        </p:nvSpPr>
        <p:spPr>
          <a:xfrm rot="0" flipH="0" flipV="0">
            <a:off x="6981825" y="32385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table</a:t>
            </a:r>
            <a:endParaRPr/>
          </a:p>
        </p:txBody>
      </p:sp>
      <p:sp>
        <p:nvSpPr>
          <p:cNvPr id="1112" name=""/>
          <p:cNvSpPr/>
          <p:nvPr/>
        </p:nvSpPr>
        <p:spPr>
          <a:xfrm rot="0" flipH="0" flipV="0">
            <a:off x="8010525" y="32480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3" name="" descr="{&quot;isTemplate&quot;:true,&quot;type&quot;:&quot;text&quot;}"/>
          <p:cNvSpPr txBox="1"/>
          <p:nvPr/>
        </p:nvSpPr>
        <p:spPr>
          <a:xfrm rot="0" flipH="0" flipV="0">
            <a:off x="8134350" y="32385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明细表格</a:t>
            </a:r>
            <a:endParaRPr/>
          </a:p>
        </p:txBody>
      </p:sp>
      <p:sp>
        <p:nvSpPr>
          <p:cNvPr id="1114" name="" descr="{&quot;isTemplate&quot;:true,&quot;type&quot;:&quot;text&quot;}"/>
          <p:cNvSpPr txBox="1"/>
          <p:nvPr/>
        </p:nvSpPr>
        <p:spPr>
          <a:xfrm rot="0" flipH="0" flipV="0">
            <a:off x="6981825" y="34861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chart</a:t>
            </a:r>
            <a:endParaRPr/>
          </a:p>
        </p:txBody>
      </p:sp>
      <p:sp>
        <p:nvSpPr>
          <p:cNvPr id="1115" name=""/>
          <p:cNvSpPr/>
          <p:nvPr/>
        </p:nvSpPr>
        <p:spPr>
          <a:xfrm rot="0" flipH="0" flipV="0">
            <a:off x="8010525" y="34956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6" name="" descr="{&quot;isTemplate&quot;:true,&quot;type&quot;:&quot;text&quot;}"/>
          <p:cNvSpPr txBox="1"/>
          <p:nvPr/>
        </p:nvSpPr>
        <p:spPr>
          <a:xfrm rot="0" flipH="0" flipV="0">
            <a:off x="8134350" y="34861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柱图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折线图</a:t>
            </a:r>
            <a:r>
              <a:rPr lang="en-US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饼图</a:t>
            </a:r>
            <a:endParaRPr/>
          </a:p>
        </p:txBody>
      </p:sp>
      <p:sp>
        <p:nvSpPr>
          <p:cNvPr id="1117" name="" descr="{&quot;isTemplate&quot;:true,&quot;type&quot;:&quot;text&quot;}"/>
          <p:cNvSpPr txBox="1"/>
          <p:nvPr/>
        </p:nvSpPr>
        <p:spPr>
          <a:xfrm rot="0" flipH="0" flipV="0">
            <a:off x="6981825" y="373380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kpi</a:t>
            </a:r>
            <a:endParaRPr/>
          </a:p>
        </p:txBody>
      </p:sp>
      <p:sp>
        <p:nvSpPr>
          <p:cNvPr id="1118" name=""/>
          <p:cNvSpPr/>
          <p:nvPr/>
        </p:nvSpPr>
        <p:spPr>
          <a:xfrm rot="0" flipH="0" flipV="0">
            <a:off x="8010525" y="374332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19" name="" descr="{&quot;isTemplate&quot;:true,&quot;type&quot;:&quot;text&quot;}"/>
          <p:cNvSpPr txBox="1"/>
          <p:nvPr/>
        </p:nvSpPr>
        <p:spPr>
          <a:xfrm rot="0" flipH="0" flipV="0">
            <a:off x="8134350" y="373380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单指标卡片（含同比环比）</a:t>
            </a:r>
            <a:endParaRPr/>
          </a:p>
        </p:txBody>
      </p:sp>
      <p:sp>
        <p:nvSpPr>
          <p:cNvPr id="1120" name="" descr="{&quot;isTemplate&quot;:true,&quot;type&quot;:&quot;text&quot;}"/>
          <p:cNvSpPr txBox="1"/>
          <p:nvPr/>
        </p:nvSpPr>
        <p:spPr>
          <a:xfrm rot="0" flipH="0" flipV="0">
            <a:off x="6981825" y="3981450"/>
            <a:ext cx="914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2AD4EE"/>
                </a:solidFill>
                <a:latin typeface="JetBrains Mono"/>
                <a:ea typeface="JetBrains Mono"/>
              </a:rPr>
              <a:t>metric_card</a:t>
            </a:r>
            <a:endParaRPr/>
          </a:p>
        </p:txBody>
      </p:sp>
      <p:sp>
        <p:nvSpPr>
          <p:cNvPr id="1121" name=""/>
          <p:cNvSpPr/>
          <p:nvPr/>
        </p:nvSpPr>
        <p:spPr>
          <a:xfrm rot="0" flipH="0" flipV="0">
            <a:off x="8010525" y="3990975"/>
            <a:ext cx="9525" cy="152400"/>
          </a:xfrm>
          <a:prstGeom prst="rect">
            <a:avLst/>
          </a:pr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22" name="" descr="{&quot;isTemplate&quot;:true,&quot;type&quot;:&quot;text&quot;}"/>
          <p:cNvSpPr txBox="1"/>
          <p:nvPr/>
        </p:nvSpPr>
        <p:spPr>
          <a:xfrm rot="0" flipH="0" flipV="0">
            <a:off x="8134350" y="3981450"/>
            <a:ext cx="3371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指标口径说明卡</a:t>
            </a:r>
            <a:endParaRPr/>
          </a:p>
        </p:txBody>
      </p:sp>
      <p:sp>
        <p:nvSpPr>
          <p:cNvPr id="1123" name=""/>
          <p:cNvSpPr/>
          <p:nvPr/>
        </p:nvSpPr>
        <p:spPr>
          <a:xfrm rot="0" flipH="0" flipV="0">
            <a:off x="6981825" y="4943475"/>
            <a:ext cx="4524375" cy="1114425"/>
          </a:xfrm>
          <a:prstGeom prst="roundRect">
            <a:avLst>
              <a:gd name="adj" fmla="val 3419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24" name="" descr="{&quot;isTemplate&quot;:true,&quot;type&quot;:&quot;text&quot;}"/>
          <p:cNvSpPr txBox="1"/>
          <p:nvPr/>
        </p:nvSpPr>
        <p:spPr>
          <a:xfrm rot="0" flipH="0" flipV="0">
            <a:off x="7134225" y="5076825"/>
            <a:ext cx="421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25" name="" descr="{&quot;isTemplate&quot;:true,&quot;type&quot;:&quot;text&quot;}"/>
          <p:cNvSpPr txBox="1"/>
          <p:nvPr/>
        </p:nvSpPr>
        <p:spPr>
          <a:xfrm rot="0" flipH="0" flipV="0">
            <a:off x="7134225" y="5314950"/>
            <a:ext cx="4219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后端只管发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结构化事件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，前端注册表决定它长什么样。加一种展示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=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注册一个</a:t>
            </a: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renderer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26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27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31 / 33</a:t>
            </a:r>
            <a:endParaRPr/>
          </a:p>
        </p:txBody>
      </p:sp>
      <p:sp>
        <p:nvSpPr>
          <p:cNvPr id="1128" name=""/>
          <p:cNvSpPr/>
          <p:nvPr/>
        </p:nvSpPr>
        <p:spPr>
          <a:xfrm rot="0" flipH="0" flipV="0">
            <a:off x="685800" y="2971800"/>
            <a:ext cx="5829300" cy="2562225"/>
          </a:xfrm>
          <a:prstGeom prst="roundRect">
            <a:avLst>
              <a:gd name="adj" fmla="val 2974"/>
            </a:avLst>
          </a:prstGeom>
          <a:solidFill>
            <a:srgbClr val="0E1116"/>
          </a:solidFill>
          <a:ln/>
        </p:spPr>
        <p:txBody>
          <a:bodyPr/>
          <a:p>
            <a:pPr/>
            <a:endParaRPr/>
          </a:p>
        </p:txBody>
      </p:sp>
      <p:sp>
        <p:nvSpPr>
          <p:cNvPr id="1129" name=""/>
          <p:cNvSpPr txBox="1"/>
          <p:nvPr/>
        </p:nvSpPr>
        <p:spPr>
          <a:xfrm rot="0" flipH="0" flipV="0">
            <a:off x="838200" y="3105150"/>
            <a:ext cx="5524500" cy="2295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40000"/>
              </a:lnSpc>
            </a:pP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export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SseEvent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=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"connected"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sessionId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"text_delta"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"thinking_delta"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delta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"turn_reset"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"tool_start"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"tool_end"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tool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"render"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renderer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B392F0"/>
                </a:solidFill>
                <a:latin typeface="Menlo"/>
                <a:ea typeface="Menlo"/>
              </a:rPr>
              <a:t>RendererType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>;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data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unknown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source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?: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"error"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;          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message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79B8FF"/>
                </a:solidFill>
                <a:latin typeface="Menlo"/>
                <a:ea typeface="Menlo"/>
              </a:rPr>
              <a:t>string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</a:t>
            </a:r>
            <a:endParaRPr/>
          </a:p>
          <a:p>
            <a:pPr>
              <a:lnSpc>
                <a:spcPct val="140000"/>
              </a:lnSpc>
            </a:pP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 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|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{ </a:t>
            </a:r>
            <a:r>
              <a:rPr sz="975">
                <a:solidFill>
                  <a:srgbClr val="FFAB70"/>
                </a:solidFill>
                <a:latin typeface="Menlo"/>
                <a:ea typeface="Menlo"/>
              </a:rPr>
              <a:t>type</a:t>
            </a:r>
            <a:r>
              <a:rPr sz="975">
                <a:solidFill>
                  <a:srgbClr val="F97583"/>
                </a:solidFill>
                <a:latin typeface="Menlo"/>
                <a:ea typeface="Menlo"/>
              </a:rPr>
              <a:t>: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</a:t>
            </a:r>
            <a:r>
              <a:rPr sz="975">
                <a:solidFill>
                  <a:srgbClr val="9ECBFF"/>
                </a:solidFill>
                <a:latin typeface="Menlo"/>
                <a:ea typeface="Menlo"/>
              </a:rPr>
              <a:t>"done"</a:t>
            </a:r>
            <a:r>
              <a:rPr sz="975">
                <a:solidFill>
                  <a:srgbClr val="E1E4E8"/>
                </a:solidFill>
                <a:latin typeface="Menlo"/>
                <a:ea typeface="Menlo"/>
              </a:rPr>
              <a:t xml:space="preserve"> };</a:t>
            </a:r>
            <a:endParaRPr/>
          </a:p>
        </p:txBody>
      </p:sp>
    </p:spTree>
  </p:cSld>
</p:sld>
</file>

<file path=ppt/slides/slide3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1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/>
              </a:gs>
              <a:gs pos="100000">
                <a:srgbClr val="16233D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32" name=""/>
          <p:cNvSpPr/>
          <p:nvPr/>
        </p:nvSpPr>
        <p:spPr>
          <a:xfrm rot="0" flipH="0" flipV="0">
            <a:off x="685800" y="295275"/>
            <a:ext cx="38100" cy="3429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33" name="" descr="{&quot;isTemplate&quot;:true,&quot;type&quot;:&quot;text&quot;}"/>
          <p:cNvSpPr txBox="1"/>
          <p:nvPr/>
        </p:nvSpPr>
        <p:spPr>
          <a:xfrm rot="0" flipH="0" flipV="0">
            <a:off x="876300" y="247650"/>
            <a:ext cx="35528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E8EEF9"/>
                </a:solidFill>
                <a:latin typeface="Source Han Sans SC"/>
                <a:ea typeface="Source Han Sans SC"/>
              </a:rPr>
              <a:t>踩坑实录：四个真实</a:t>
            </a:r>
            <a:r>
              <a:rPr lang="en-US" sz="25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</p:txBody>
      </p:sp>
      <p:sp>
        <p:nvSpPr>
          <p:cNvPr id="1134" name="" descr="{&quot;isTemplate&quot;:true,&quot;type&quot;:&quot;text&quot;}"/>
          <p:cNvSpPr txBox="1"/>
          <p:nvPr/>
        </p:nvSpPr>
        <p:spPr>
          <a:xfrm rot="0" flipH="0" flipV="0">
            <a:off x="876300" y="714375"/>
            <a:ext cx="35528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现象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根因</a:t>
            </a:r>
            <a:r>
              <a:rPr lang="en-US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275">
                <a:solidFill>
                  <a:srgbClr val="E8EEF9">
                    <a:alpha val="52000"/>
                  </a:srgbClr>
                </a:solidFill>
                <a:latin typeface="Source Han Sans SC"/>
                <a:ea typeface="Source Han Sans SC"/>
              </a:rPr>
              <a:t>修法，一个不少地记下来</a:t>
            </a:r>
            <a:endParaRPr/>
          </a:p>
        </p:txBody>
      </p:sp>
      <p:sp>
        <p:nvSpPr>
          <p:cNvPr id="1135" name=""/>
          <p:cNvSpPr/>
          <p:nvPr/>
        </p:nvSpPr>
        <p:spPr>
          <a:xfrm rot="0" flipH="0" flipV="0">
            <a:off x="685800" y="1143000"/>
            <a:ext cx="2495550" cy="4914900"/>
          </a:xfrm>
          <a:custGeom>
            <a:pathLst>
              <a:path w="262" h="516">
                <a:moveTo>
                  <a:pt x="261" y="0"/>
                </a:moveTo>
                <a:lnTo>
                  <a:pt x="262" y="0"/>
                </a:lnTo>
                <a:lnTo>
                  <a:pt x="262" y="516"/>
                </a:lnTo>
                <a:lnTo>
                  <a:pt x="261" y="516"/>
                </a:lnTo>
                <a:close/>
              </a:path>
            </a:pathLst>
          </a:custGeom>
          <a:solidFill>
            <a:srgbClr val="E8EEF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3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238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AD4EE"/>
                </a:solidFill>
                <a:latin typeface="JetBrains Mono"/>
                <a:ea typeface="JetBrains Mono"/>
              </a:rPr>
              <a:t>POSTMORTEM</a:t>
            </a:r>
            <a:endParaRPr/>
          </a:p>
        </p:txBody>
      </p:sp>
      <p:sp>
        <p:nvSpPr>
          <p:cNvPr id="1137" name="" descr="{&quot;isTemplate&quot;:true,&quot;type&quot;:&quot;text&quot;}"/>
          <p:cNvSpPr txBox="1"/>
          <p:nvPr/>
        </p:nvSpPr>
        <p:spPr>
          <a:xfrm rot="0" flipH="0" flipV="0">
            <a:off x="685800" y="1485900"/>
            <a:ext cx="22383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四个</a:t>
            </a:r>
            <a:r>
              <a:rPr lang="en-US" sz="1950" b="1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Bug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E8EEF9"/>
                </a:solidFill>
                <a:latin typeface="Source Han Sans SC"/>
                <a:ea typeface="Source Han Sans SC"/>
              </a:rPr>
              <a:t>四条边界</a:t>
            </a:r>
            <a:endParaRPr/>
          </a:p>
        </p:txBody>
      </p:sp>
      <p:sp>
        <p:nvSpPr>
          <p:cNvPr id="1138" name="" descr="{&quot;isTemplate&quot;:true,&quot;type&quot;:&quot;text&quot;}"/>
          <p:cNvSpPr txBox="1"/>
          <p:nvPr/>
        </p:nvSpPr>
        <p:spPr>
          <a:xfrm rot="0" flipH="0" flipV="0">
            <a:off x="685800" y="2524125"/>
            <a:ext cx="2238375" cy="1323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这四个坑没有一个是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模型不行</a:t>
            </a:r>
            <a:r>
              <a:rPr lang="en-US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200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。全部出在加载方式、订阅生命周期、错误传播与空结果的边界上。</a:t>
            </a:r>
            <a:endParaRPr/>
          </a:p>
        </p:txBody>
      </p:sp>
      <p:sp>
        <p:nvSpPr>
          <p:cNvPr id="1139" name=""/>
          <p:cNvSpPr/>
          <p:nvPr/>
        </p:nvSpPr>
        <p:spPr>
          <a:xfrm rot="0" flipH="0" flipV="0">
            <a:off x="685800" y="4886325"/>
            <a:ext cx="2238375" cy="1171575"/>
          </a:xfrm>
          <a:prstGeom prst="roundRect">
            <a:avLst>
              <a:gd name="adj" fmla="val 3252"/>
            </a:avLst>
          </a:prstGeom>
          <a:solidFill>
            <a:srgbClr val="2AD4EE">
              <a:alpha val="8000"/>
            </a:srgbClr>
          </a:solidFill>
          <a:ln w="12700">
            <a:solidFill>
              <a:srgbClr val="2AD4EE">
                <a:alpha val="22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sp>
        <p:nvSpPr>
          <p:cNvPr id="1140" name="" descr="{&quot;isTemplate&quot;:true,&quot;type&quot;:&quot;text&quot;}"/>
          <p:cNvSpPr txBox="1"/>
          <p:nvPr/>
        </p:nvSpPr>
        <p:spPr>
          <a:xfrm rot="0" flipH="0" flipV="0">
            <a:off x="838200" y="5038725"/>
            <a:ext cx="1933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225">
                <a:solidFill>
                  <a:srgbClr val="2AD4EE"/>
                </a:solidFill>
                <a:latin typeface="JetBrains Mono"/>
                <a:ea typeface="JetBrains Mono"/>
              </a:rPr>
              <a:t>所以</a:t>
            </a:r>
            <a:endParaRPr/>
          </a:p>
        </p:txBody>
      </p:sp>
      <p:sp>
        <p:nvSpPr>
          <p:cNvPr id="1141" name="" descr="{&quot;isTemplate&quot;:true,&quot;type&quot;:&quot;text&quot;}"/>
          <p:cNvSpPr txBox="1"/>
          <p:nvPr/>
        </p:nvSpPr>
        <p:spPr>
          <a:xfrm rot="0" flipH="0" flipV="0">
            <a:off x="838200" y="5295900"/>
            <a:ext cx="1933575" cy="6096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163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Agent 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的坑大多不在模型，在</a:t>
            </a:r>
            <a:r>
              <a:rPr lang="zh-CN" sz="1163">
                <a:solidFill>
                  <a:srgbClr val="2AD4EE"/>
                </a:solidFill>
                <a:latin typeface="Source Han Sans SC"/>
                <a:ea typeface="Source Han Sans SC"/>
              </a:rPr>
              <a:t>边界</a:t>
            </a:r>
            <a:r>
              <a:rPr lang="zh-CN" sz="1163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42" name=""/>
          <p:cNvSpPr/>
          <p:nvPr/>
        </p:nvSpPr>
        <p:spPr>
          <a:xfrm rot="0" flipH="0" flipV="0">
            <a:off x="346710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43" name=""/>
          <p:cNvSpPr/>
          <p:nvPr/>
        </p:nvSpPr>
        <p:spPr>
          <a:xfrm rot="0" flipH="0" flipV="0">
            <a:off x="346710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44" name="" descr="{&quot;isTemplate&quot;:true,&quot;type&quot;:&quot;text&quot;}"/>
          <p:cNvSpPr txBox="1"/>
          <p:nvPr/>
        </p:nvSpPr>
        <p:spPr>
          <a:xfrm rot="0" flipH="0" flipV="0">
            <a:off x="361950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01</a:t>
            </a:r>
            <a:endParaRPr/>
          </a:p>
        </p:txBody>
      </p:sp>
      <p:pic>
        <p:nvPicPr>
          <p:cNvPr id="11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029075" y="1390650"/>
            <a:ext cx="142875" cy="142875"/>
          </a:xfrm>
          <a:prstGeom prst="rect">
            <a:avLst/>
          </a:prstGeom>
          <a:ln/>
        </p:spPr>
      </p:pic>
      <p:sp>
        <p:nvSpPr>
          <p:cNvPr id="1146" name="" descr="{&quot;isTemplate&quot;:true,&quot;type&quot;:&quot;text&quot;}"/>
          <p:cNvSpPr txBox="1"/>
          <p:nvPr/>
        </p:nvSpPr>
        <p:spPr>
          <a:xfrm rot="0" flipH="0" flipV="0">
            <a:off x="428625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上下文在工具里读不到</a:t>
            </a:r>
            <a:endParaRPr/>
          </a:p>
        </p:txBody>
      </p:sp>
      <p:sp>
        <p:nvSpPr>
          <p:cNvPr id="1147" name="" descr="{&quot;isTemplate&quot;:true,&quot;type&quot;:&quot;text&quot;}"/>
          <p:cNvSpPr txBox="1"/>
          <p:nvPr/>
        </p:nvSpPr>
        <p:spPr>
          <a:xfrm rot="0" flipH="0" flipV="0">
            <a:off x="3619500" y="2324100"/>
            <a:ext cx="3600450" cy="7429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.pi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扩展由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jiti(CJS)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加载，对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context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import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是独立编译副本，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AsyncLocalStorage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实例被隔离，工具内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getCtx()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永远失败。</a:t>
            </a:r>
            <a:endParaRPr/>
          </a:p>
        </p:txBody>
      </p:sp>
      <p:sp>
        <p:nvSpPr>
          <p:cNvPr id="1148" name="" descr="{&quot;isTemplate&quot;:true,&quot;type&quot;:&quot;text&quot;}"/>
          <p:cNvSpPr txBox="1"/>
          <p:nvPr/>
        </p:nvSpPr>
        <p:spPr>
          <a:xfrm rot="0" flipH="0" flipV="0">
            <a:off x="3619500" y="3143250"/>
            <a:ext cx="360045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不打补丁——删掉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ALS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，会话上下文沿调用链显式传参。</a:t>
            </a:r>
            <a:endParaRPr/>
          </a:p>
        </p:txBody>
      </p:sp>
      <p:sp>
        <p:nvSpPr>
          <p:cNvPr id="1149" name=""/>
          <p:cNvSpPr/>
          <p:nvPr/>
        </p:nvSpPr>
        <p:spPr>
          <a:xfrm rot="0" flipH="0" flipV="0">
            <a:off x="7600950" y="117157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0" name=""/>
          <p:cNvSpPr/>
          <p:nvPr/>
        </p:nvSpPr>
        <p:spPr>
          <a:xfrm rot="0" flipH="0" flipV="0">
            <a:off x="7600950" y="117157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1" name="" descr="{&quot;isTemplate&quot;:true,&quot;type&quot;:&quot;text&quot;}"/>
          <p:cNvSpPr txBox="1"/>
          <p:nvPr/>
        </p:nvSpPr>
        <p:spPr>
          <a:xfrm rot="0" flipH="0" flipV="0">
            <a:off x="7753350" y="130492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02</a:t>
            </a:r>
            <a:endParaRPr/>
          </a:p>
        </p:txBody>
      </p:sp>
      <p:pic>
        <p:nvPicPr>
          <p:cNvPr id="115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162925" y="1390650"/>
            <a:ext cx="142875" cy="142875"/>
          </a:xfrm>
          <a:prstGeom prst="rect">
            <a:avLst/>
          </a:prstGeom>
          <a:ln/>
        </p:spPr>
      </p:pic>
      <p:sp>
        <p:nvSpPr>
          <p:cNvPr id="1153" name="" descr="{&quot;isTemplate&quot;:true,&quot;type&quot;:&quot;text&quot;}"/>
          <p:cNvSpPr txBox="1"/>
          <p:nvPr/>
        </p:nvSpPr>
        <p:spPr>
          <a:xfrm rot="0" flipH="0" flipV="0">
            <a:off x="8420100" y="133350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每个字都重复两遍</a:t>
            </a:r>
            <a:endParaRPr/>
          </a:p>
        </p:txBody>
      </p:sp>
      <p:sp>
        <p:nvSpPr>
          <p:cNvPr id="1154" name="" descr="{&quot;isTemplate&quot;:true,&quot;type&quot;:&quot;text&quot;}"/>
          <p:cNvSpPr txBox="1"/>
          <p:nvPr/>
        </p:nvSpPr>
        <p:spPr>
          <a:xfrm rot="0" flipH="0" flipV="0">
            <a:off x="7753350" y="23241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EventBus.attach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二次调用时，旧订阅的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unsubscribe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引用被覆盖却从未调用，新旧回调并存，每个事件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emit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两遍。</a:t>
            </a:r>
            <a:endParaRPr/>
          </a:p>
        </p:txBody>
      </p:sp>
      <p:sp>
        <p:nvSpPr>
          <p:cNvPr id="1155" name="" descr="{&quot;isTemplate&quot;:true,&quot;type&quot;:&quot;text&quot;}"/>
          <p:cNvSpPr txBox="1"/>
          <p:nvPr/>
        </p:nvSpPr>
        <p:spPr>
          <a:xfrm rot="0" flipH="0" flipV="0">
            <a:off x="7753350" y="289560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attach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开头先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detach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旧回调，保证任一时刻只有一个订阅者。</a:t>
            </a:r>
            <a:endParaRPr/>
          </a:p>
        </p:txBody>
      </p:sp>
      <p:sp>
        <p:nvSpPr>
          <p:cNvPr id="1156" name=""/>
          <p:cNvSpPr/>
          <p:nvPr/>
        </p:nvSpPr>
        <p:spPr>
          <a:xfrm rot="0" flipH="0" flipV="0">
            <a:off x="346710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7" name=""/>
          <p:cNvSpPr/>
          <p:nvPr/>
        </p:nvSpPr>
        <p:spPr>
          <a:xfrm rot="0" flipH="0" flipV="0">
            <a:off x="346710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58" name="" descr="{&quot;isTemplate&quot;:true,&quot;type&quot;:&quot;text&quot;}"/>
          <p:cNvSpPr txBox="1"/>
          <p:nvPr/>
        </p:nvSpPr>
        <p:spPr>
          <a:xfrm rot="0" flipH="0" flipV="0">
            <a:off x="361950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03</a:t>
            </a:r>
            <a:endParaRPr/>
          </a:p>
        </p:txBody>
      </p:sp>
      <p:pic>
        <p:nvPicPr>
          <p:cNvPr id="115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029075" y="3924300"/>
            <a:ext cx="142875" cy="142875"/>
          </a:xfrm>
          <a:prstGeom prst="rect">
            <a:avLst/>
          </a:prstGeom>
          <a:ln/>
        </p:spPr>
      </p:pic>
      <p:sp>
        <p:nvSpPr>
          <p:cNvPr id="1160" name="" descr="{&quot;isTemplate&quot;:true,&quot;type&quot;:&quot;text&quot;}"/>
          <p:cNvSpPr txBox="1"/>
          <p:nvPr/>
        </p:nvSpPr>
        <p:spPr>
          <a:xfrm rot="0" flipH="0" flipV="0">
            <a:off x="428625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页面空白，模型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没有输出</a:t>
            </a:r>
            <a:r>
              <a:rPr lang="en-US" sz="1238" b="1">
                <a:solidFill>
                  <a:srgbClr val="E8EEF9"/>
                </a:solidFill>
                <a:latin typeface="Source Han Sans SC"/>
                <a:ea typeface="Source Han Sans SC"/>
              </a:rPr>
              <a:t>"</a:t>
            </a:r>
            <a:endParaRPr/>
          </a:p>
        </p:txBody>
      </p:sp>
      <p:sp>
        <p:nvSpPr>
          <p:cNvPr id="1161" name="" descr="{&quot;isTemplate&quot;:true,&quot;type&quot;:&quot;text&quot;}"/>
          <p:cNvSpPr txBox="1"/>
          <p:nvPr/>
        </p:nvSpPr>
        <p:spPr>
          <a:xfrm rot="0" flipH="0" flipV="0">
            <a:off x="361950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模型层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429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（余额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/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限流）被内部重试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3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次后放弃，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prompt()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不抛异常，错误全程静默。</a:t>
            </a:r>
            <a:endParaRPr/>
          </a:p>
        </p:txBody>
      </p:sp>
      <p:sp>
        <p:nvSpPr>
          <p:cNvPr id="1162" name="" descr="{&quot;isTemplate&quot;:true,&quot;type&quot;:&quot;text&quot;}"/>
          <p:cNvSpPr txBox="1"/>
          <p:nvPr/>
        </p:nvSpPr>
        <p:spPr>
          <a:xfrm rot="0" flipH="0" flipV="0">
            <a:off x="361950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message_end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分支兜底：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stopReason = error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时补推</a:t>
            </a:r>
            <a:r>
              <a:rPr lang="en-US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 xml:space="preserve"> SSE error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，页面直接显示失败原因。</a:t>
            </a:r>
            <a:endParaRPr/>
          </a:p>
        </p:txBody>
      </p:sp>
      <p:sp>
        <p:nvSpPr>
          <p:cNvPr id="1163" name=""/>
          <p:cNvSpPr/>
          <p:nvPr/>
        </p:nvSpPr>
        <p:spPr>
          <a:xfrm rot="0" flipH="0" flipV="0">
            <a:off x="7600950" y="3705225"/>
            <a:ext cx="3905250" cy="2381250"/>
          </a:xfrm>
          <a:prstGeom prst="roundRect">
            <a:avLst>
              <a:gd name="adj" fmla="val 1200"/>
            </a:avLst>
          </a:prstGeom>
          <a:solidFill>
            <a:srgbClr val="16233D">
              <a:alpha val="9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64" name=""/>
          <p:cNvSpPr/>
          <p:nvPr/>
        </p:nvSpPr>
        <p:spPr>
          <a:xfrm rot="0" flipH="0" flipV="0">
            <a:off x="7600950" y="3705225"/>
            <a:ext cx="3905250" cy="2381250"/>
          </a:xfrm>
          <a:custGeom>
            <a:pathLst>
              <a:path w="410" h="250">
                <a:moveTo>
                  <a:pt x="407" y="0"/>
                </a:moveTo>
                <a:cubicBezTo>
                  <a:pt x="409" y="0"/>
                  <a:pt x="410" y="1"/>
                  <a:pt x="410" y="3"/>
                </a:cubicBezTo>
                <a:lnTo>
                  <a:pt x="0" y="3"/>
                </a:lnTo>
                <a:cubicBezTo>
                  <a:pt x="0" y="1"/>
                  <a:pt x="1" y="0"/>
                  <a:pt x="3" y="0"/>
                </a:cubicBezTo>
                <a:lnTo>
                  <a:pt x="407" y="0"/>
                </a:lnTo>
                <a:close/>
              </a:path>
            </a:pathLst>
          </a:custGeom>
          <a:solidFill>
            <a:srgbClr val="2AD4EE">
              <a:alpha val="75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65" name="" descr="{&quot;isTemplate&quot;:true,&quot;type&quot;:&quot;text&quot;}"/>
          <p:cNvSpPr txBox="1"/>
          <p:nvPr/>
        </p:nvSpPr>
        <p:spPr>
          <a:xfrm rot="0" flipH="0" flipV="0">
            <a:off x="7753350" y="3838575"/>
            <a:ext cx="2952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>
                <a:solidFill>
                  <a:srgbClr val="2AD4EE"/>
                </a:solidFill>
                <a:latin typeface="JetBrains Mono"/>
                <a:ea typeface="JetBrains Mono"/>
              </a:rPr>
              <a:t>04</a:t>
            </a:r>
            <a:endParaRPr/>
          </a:p>
        </p:txBody>
      </p:sp>
      <p:pic>
        <p:nvPicPr>
          <p:cNvPr id="1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8162925" y="3924300"/>
            <a:ext cx="142875" cy="142875"/>
          </a:xfrm>
          <a:prstGeom prst="rect">
            <a:avLst/>
          </a:prstGeom>
          <a:ln/>
        </p:spPr>
      </p:pic>
      <p:sp>
        <p:nvSpPr>
          <p:cNvPr id="1167" name="" descr="{&quot;isTemplate&quot;:true,&quot;type&quot;:&quot;text&quot;}"/>
          <p:cNvSpPr txBox="1"/>
          <p:nvPr/>
        </p:nvSpPr>
        <p:spPr>
          <a:xfrm rot="0" flipH="0" flipV="0">
            <a:off x="8420100" y="3867150"/>
            <a:ext cx="2933700" cy="257175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38" b="1">
                <a:solidFill>
                  <a:srgbClr val="E8EEF9"/>
                </a:solidFill>
                <a:latin typeface="Source Han Sans SC"/>
                <a:ea typeface="Source Han Sans SC"/>
              </a:rPr>
              <a:t>无数据时反复换参重试</a:t>
            </a:r>
            <a:endParaRPr/>
          </a:p>
        </p:txBody>
      </p:sp>
      <p:sp>
        <p:nvSpPr>
          <p:cNvPr id="1168" name="" descr="{&quot;isTemplate&quot;:true,&quot;type&quot;:&quot;text&quot;}"/>
          <p:cNvSpPr txBox="1"/>
          <p:nvPr/>
        </p:nvSpPr>
        <p:spPr>
          <a:xfrm rot="0" flipH="0" flipV="0">
            <a:off x="7753350" y="48577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根因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模型很难接受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空结果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"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，会降级改</a:t>
            </a:r>
            <a:r>
              <a:rPr lang="en-US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 xml:space="preserve"> SQL </a:t>
            </a:r>
            <a:r>
              <a:rPr lang="zh-CN" sz="1013">
                <a:solidFill>
                  <a:srgbClr val="E8EEF9">
                    <a:alpha val="66000"/>
                  </a:srgbClr>
                </a:solidFill>
                <a:latin typeface="Source Han Sans SC"/>
                <a:ea typeface="Source Han Sans SC"/>
              </a:rPr>
              <a:t>或换参数重来，既浪费轮次，也可能编造数据。</a:t>
            </a:r>
            <a:endParaRPr/>
          </a:p>
        </p:txBody>
      </p:sp>
      <p:sp>
        <p:nvSpPr>
          <p:cNvPr id="1169" name="" descr="{&quot;isTemplate&quot;:true,&quot;type&quot;:&quot;text&quot;}"/>
          <p:cNvSpPr txBox="1"/>
          <p:nvPr/>
        </p:nvSpPr>
        <p:spPr>
          <a:xfrm rot="0" flipH="0" flipV="0">
            <a:off x="7753350" y="5429250"/>
            <a:ext cx="3600450" cy="4953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38">
                <a:solidFill>
                  <a:srgbClr val="2AD4EE"/>
                </a:solidFill>
                <a:latin typeface="Source Han Sans SC"/>
                <a:ea typeface="Source Han Sans SC"/>
              </a:rPr>
              <a:t>修法</a:t>
            </a:r>
            <a:r>
              <a:rPr lang="en-US" sz="938">
                <a:solidFill>
                  <a:srgbClr val="2AD4EE"/>
                </a:solidFill>
                <a:latin typeface="Source Han Sans SC"/>
                <a:ea typeface="Source Han Sans SC"/>
              </a:rPr>
              <a:t xml:space="preserve"> </a:t>
            </a:r>
            <a:r>
              <a:rPr lang="zh-CN" sz="1013">
                <a:solidFill>
                  <a:srgbClr val="E8EEF9">
                    <a:alpha val="80000"/>
                  </a:srgbClr>
                </a:solidFill>
                <a:latin typeface="Source Han Sans SC"/>
                <a:ea typeface="Source Han Sans SC"/>
              </a:rPr>
              <a:t>双层熔断：软引导下发终止指令，硬熔断由服务端直接拒绝二次调用。</a:t>
            </a:r>
            <a:endParaRPr/>
          </a:p>
        </p:txBody>
      </p:sp>
      <p:sp>
        <p:nvSpPr>
          <p:cNvPr id="1170" name="" descr="{&quot;isTemplate&quot;:true,&quot;type&quot;:&quot;text&quot;}"/>
          <p:cNvSpPr txBox="1"/>
          <p:nvPr/>
        </p:nvSpPr>
        <p:spPr>
          <a:xfrm rot="0" flipH="0" flipV="0">
            <a:off x="685800" y="6276975"/>
            <a:ext cx="1743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从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LLM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Agent </a:t>
            </a:r>
            <a:r>
              <a:rPr lang="zh-CN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>再到</a:t>
            </a:r>
            <a:r>
              <a:rPr lang="en-US" sz="1050">
                <a:solidFill>
                  <a:srgbClr val="E8EEF9">
                    <a:alpha val="42000"/>
                  </a:srgbClr>
                </a:solidFill>
                <a:latin typeface="Source Han Sans SC"/>
                <a:ea typeface="Source Han Sans SC"/>
              </a:rPr>
              <a:t xml:space="preserve"> Pi Agent</a:t>
            </a:r>
            <a:endParaRPr/>
          </a:p>
        </p:txBody>
      </p:sp>
      <p:sp>
        <p:nvSpPr>
          <p:cNvPr id="1171" name="" descr="{&quot;isTemplate&quot;:true,&quot;type&quot;:&quot;text&quot;}"/>
          <p:cNvSpPr txBox="1"/>
          <p:nvPr/>
        </p:nvSpPr>
        <p:spPr>
          <a:xfrm rot="0" flipH="0" flipV="0">
            <a:off x="10953750" y="6276975"/>
            <a:ext cx="552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E8EEF9">
                    <a:alpha val="42000"/>
                  </a:srgbClr>
                </a:solidFill>
                <a:latin typeface="JetBrains Mono"/>
                <a:ea typeface="JetBrains Mono"/>
              </a:rPr>
              <a:t>32 / 33</a:t>
            </a:r>
            <a:endParaRPr/>
          </a:p>
        </p:txBody>
      </p:sp>
    </p:spTree>
  </p:cSld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7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1220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174" name="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0" flipH="0" flipV="0">
            <a:off x="0" y="0"/>
            <a:ext cx="14630400" cy="9753600"/>
          </a:xfrm>
          <a:custGeom>
            <a:pathLst>
              <a:path w="1536" h="1024">
                <a:moveTo>
                  <a:pt x="1280" y="720"/>
                </a:moveTo>
                <a:lnTo>
                  <a:pt x="0" y="720"/>
                </a:lnTo>
                <a:lnTo>
                  <a:pt x="0" y="0"/>
                </a:lnTo>
                <a:lnTo>
                  <a:pt x="1280" y="0"/>
                </a:lnTo>
                <a:close/>
              </a:path>
            </a:pathLst>
          </a:custGeom>
          <a:ln/>
        </p:spPr>
      </p:pic>
      <p:sp>
        <p:nvSpPr>
          <p:cNvPr id="1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93000"/>
                </a:srgbClr>
              </a:gs>
              <a:gs pos="26000">
                <a:srgbClr val="0B1220">
                  <a:alpha val="74000"/>
                </a:srgbClr>
              </a:gs>
              <a:gs pos="52000">
                <a:srgbClr val="0B1220">
                  <a:alpha val="52000"/>
                </a:srgbClr>
              </a:gs>
              <a:gs pos="100000">
                <a:srgbClr val="0B1220">
                  <a:alpha val="94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7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1220">
                  <a:alpha val="80000"/>
                </a:srgbClr>
              </a:gs>
              <a:gs pos="50000">
                <a:srgbClr val="0B1220">
                  <a:alpha val="10000"/>
                </a:srgbClr>
              </a:gs>
              <a:gs pos="100000">
                <a:srgbClr val="0B1220">
                  <a:alpha val="8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177" name="" descr="{&quot;isTemplate&quot;:true,&quot;type&quot;:&quot;text&quot;}"/>
          <p:cNvSpPr txBox="1"/>
          <p:nvPr/>
        </p:nvSpPr>
        <p:spPr>
          <a:xfrm rot="0" flipH="0" flipV="0">
            <a:off x="5600700" y="990600"/>
            <a:ext cx="10001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0">
                <a:solidFill>
                  <a:srgbClr val="2AD4EE"/>
                </a:solidFill>
                <a:latin typeface="JetBrains Mono"/>
                <a:ea typeface="JetBrains Mono"/>
              </a:rPr>
              <a:t>ENDING</a:t>
            </a:r>
            <a:endParaRPr/>
          </a:p>
        </p:txBody>
      </p:sp>
      <p:sp>
        <p:nvSpPr>
          <p:cNvPr id="1178" name="" descr="{&quot;isTemplate&quot;:true,&quot;type&quot;:&quot;text&quot;}"/>
          <p:cNvSpPr txBox="1"/>
          <p:nvPr/>
        </p:nvSpPr>
        <p:spPr>
          <a:xfrm rot="0" flipH="0" flipV="0">
            <a:off x="2200275" y="1409700"/>
            <a:ext cx="7800975" cy="885825"/>
          </a:xfrm>
          <a:prstGeom prst="rect"/>
        </p:spPr>
        <p:txBody>
          <a:bodyPr wrap="none" lIns="0" tIns="0" rIns="0" bIns="0"/>
          <a:p>
            <a:pPr algn="ctr">
              <a:lnSpc>
                <a:spcPct val="125000"/>
              </a:lnSpc>
            </a:pP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模型是原料，</a:t>
            </a:r>
            <a:r>
              <a:rPr lang="zh-CN" sz="4650" b="1" spc="75">
                <a:solidFill>
                  <a:srgbClr val="2AD4EE"/>
                </a:solidFill>
                <a:latin typeface="Source Han Sans SC"/>
                <a:ea typeface="Source Han Sans SC"/>
              </a:rPr>
              <a:t>工程才是产品</a:t>
            </a:r>
            <a:r>
              <a:rPr lang="zh-CN" sz="4650" b="1" spc="75">
                <a:solidFill>
                  <a:srgbClr val="E8EEF9"/>
                </a:solidFill>
                <a:latin typeface="Source Han Sans SC"/>
                <a:ea typeface="Source Han Sans SC"/>
              </a:rPr>
              <a:t>。</a:t>
            </a:r>
            <a:endParaRPr/>
          </a:p>
        </p:txBody>
      </p:sp>
      <p:sp>
        <p:nvSpPr>
          <p:cNvPr id="1179" name=""/>
          <p:cNvSpPr/>
          <p:nvPr/>
        </p:nvSpPr>
        <p:spPr>
          <a:xfrm rot="0" flipH="0" flipV="0">
            <a:off x="5648325" y="2505075"/>
            <a:ext cx="914400" cy="38100"/>
          </a:xfrm>
          <a:prstGeom prst="rect">
            <a:avLst/>
          </a:prstGeom>
          <a:solidFill>
            <a:srgbClr val="2AD4EE"/>
          </a:solidFill>
          <a:ln/>
        </p:spPr>
        <p:txBody>
          <a:bodyPr/>
          <a:p>
            <a:pPr/>
            <a:endParaRPr/>
          </a:p>
        </p:txBody>
      </p:sp>
      <p:sp>
        <p:nvSpPr>
          <p:cNvPr id="1180" name=""/>
          <p:cNvSpPr/>
          <p:nvPr/>
        </p:nvSpPr>
        <p:spPr>
          <a:xfrm rot="0" flipH="0" flipV="0">
            <a:off x="1143000" y="3343275"/>
            <a:ext cx="3314700" cy="1181100"/>
          </a:xfrm>
          <a:custGeom>
            <a:pathLst>
              <a:path w="348" h="124">
                <a:moveTo>
                  <a:pt x="347" y="0"/>
                </a:moveTo>
                <a:lnTo>
                  <a:pt x="348" y="0"/>
                </a:lnTo>
                <a:lnTo>
                  <a:pt x="348" y="124"/>
                </a:lnTo>
                <a:lnTo>
                  <a:pt x="347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81" name="" descr="{&quot;isTemplate&quot;:true,&quot;type&quot;:&quot;text&quot;}"/>
          <p:cNvSpPr txBox="1"/>
          <p:nvPr/>
        </p:nvSpPr>
        <p:spPr>
          <a:xfrm rot="0" flipH="0" flipV="0">
            <a:off x="2552700" y="3343275"/>
            <a:ext cx="485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MODEL</a:t>
            </a:r>
            <a:endParaRPr/>
          </a:p>
        </p:txBody>
      </p:sp>
      <p:sp>
        <p:nvSpPr>
          <p:cNvPr id="1182" name="" descr="{&quot;isTemplate&quot;:true,&quot;type&quot;:&quot;text&quot;}"/>
          <p:cNvSpPr txBox="1"/>
          <p:nvPr/>
        </p:nvSpPr>
        <p:spPr>
          <a:xfrm rot="0" flipH="0" flipV="0">
            <a:off x="258127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模型</a:t>
            </a:r>
            <a:endParaRPr/>
          </a:p>
        </p:txBody>
      </p:sp>
      <p:sp>
        <p:nvSpPr>
          <p:cNvPr id="1183" name="" descr="{&quot;isTemplate&quot;:true,&quot;type&quot;:&quot;text&quot;}"/>
          <p:cNvSpPr txBox="1"/>
          <p:nvPr/>
        </p:nvSpPr>
        <p:spPr>
          <a:xfrm rot="0" flipH="0" flipV="0">
            <a:off x="1371600" y="3952875"/>
            <a:ext cx="2838450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无状态、有窗口。它决定「下一步干什么」，但什么都不记得。</a:t>
            </a:r>
            <a:endParaRPr/>
          </a:p>
        </p:txBody>
      </p:sp>
      <p:sp>
        <p:nvSpPr>
          <p:cNvPr id="1184" name=""/>
          <p:cNvSpPr/>
          <p:nvPr/>
        </p:nvSpPr>
        <p:spPr>
          <a:xfrm rot="0" flipH="0" flipV="0">
            <a:off x="4448175" y="3343275"/>
            <a:ext cx="3305175" cy="1181100"/>
          </a:xfrm>
          <a:custGeom>
            <a:pathLst>
              <a:path w="347" h="124">
                <a:moveTo>
                  <a:pt x="346" y="0"/>
                </a:moveTo>
                <a:lnTo>
                  <a:pt x="347" y="0"/>
                </a:lnTo>
                <a:lnTo>
                  <a:pt x="347" y="124"/>
                </a:lnTo>
                <a:lnTo>
                  <a:pt x="346" y="124"/>
                </a:lnTo>
                <a:close/>
              </a:path>
            </a:pathLst>
          </a:custGeom>
          <a:solidFill>
            <a:srgbClr val="E8EEF9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185" name="" descr="{&quot;isTemplate&quot;:true,&quot;type&quot;:&quot;text&quot;}"/>
          <p:cNvSpPr txBox="1"/>
          <p:nvPr/>
        </p:nvSpPr>
        <p:spPr>
          <a:xfrm rot="0" flipH="0" flipV="0">
            <a:off x="5562600" y="3343275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ENGINEERING</a:t>
            </a:r>
            <a:endParaRPr/>
          </a:p>
        </p:txBody>
      </p:sp>
      <p:sp>
        <p:nvSpPr>
          <p:cNvPr id="1186" name="" descr="{&quot;isTemplate&quot;:true,&quot;type&quot;:&quot;text&quot;}"/>
          <p:cNvSpPr txBox="1"/>
          <p:nvPr/>
        </p:nvSpPr>
        <p:spPr>
          <a:xfrm rot="0" flipH="0" flipV="0">
            <a:off x="5886450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工程</a:t>
            </a:r>
            <a:endParaRPr/>
          </a:p>
        </p:txBody>
      </p:sp>
      <p:sp>
        <p:nvSpPr>
          <p:cNvPr id="1187" name="" descr="{&quot;isTemplate&quot;:true,&quot;type&quot;:&quot;text&quot;}"/>
          <p:cNvSpPr txBox="1"/>
          <p:nvPr/>
        </p:nvSpPr>
        <p:spPr>
          <a:xfrm rot="0" flipH="0" flipV="0">
            <a:off x="4676775" y="3952875"/>
            <a:ext cx="282892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七层功能地图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十条设计原则。边界，比能力更重要。</a:t>
            </a:r>
            <a:endParaRPr/>
          </a:p>
        </p:txBody>
      </p:sp>
      <p:sp>
        <p:nvSpPr>
          <p:cNvPr id="1188" name="" descr="{&quot;isTemplate&quot;:true,&quot;type&quot;:&quot;text&quot;}"/>
          <p:cNvSpPr txBox="1"/>
          <p:nvPr/>
        </p:nvSpPr>
        <p:spPr>
          <a:xfrm rot="0" flipH="0" flipV="0">
            <a:off x="9010650" y="3343275"/>
            <a:ext cx="771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225">
                <a:solidFill>
                  <a:srgbClr val="2AD4EE">
                    <a:alpha val="85000"/>
                  </a:srgbClr>
                </a:solidFill>
                <a:latin typeface="JetBrains Mono"/>
                <a:ea typeface="JetBrains Mono"/>
              </a:rPr>
              <a:t>DELIVERY</a:t>
            </a:r>
            <a:endParaRPr/>
          </a:p>
        </p:txBody>
      </p:sp>
      <p:sp>
        <p:nvSpPr>
          <p:cNvPr id="1189" name="" descr="{&quot;isTemplate&quot;:true,&quot;type&quot;:&quot;text&quot;}"/>
          <p:cNvSpPr txBox="1"/>
          <p:nvPr/>
        </p:nvSpPr>
        <p:spPr>
          <a:xfrm rot="0" flipH="0" flipV="0">
            <a:off x="9191625" y="36004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8EEF9"/>
                </a:solidFill>
                <a:latin typeface="Source Han Sans SC"/>
                <a:ea typeface="Source Han Sans SC"/>
              </a:rPr>
              <a:t>落地</a:t>
            </a:r>
            <a:endParaRPr/>
          </a:p>
        </p:txBody>
      </p:sp>
      <p:sp>
        <p:nvSpPr>
          <p:cNvPr id="1190" name="" descr="{&quot;isTemplate&quot;:true,&quot;type&quot;:&quot;text&quot;}"/>
          <p:cNvSpPr txBox="1"/>
          <p:nvPr/>
        </p:nvSpPr>
        <p:spPr>
          <a:xfrm rot="0" flipH="0" flipV="0">
            <a:off x="7972425" y="3952875"/>
            <a:ext cx="2847975" cy="571500"/>
          </a:xfrm>
          <a:prstGeom prst="rect"/>
        </p:spPr>
        <p:txBody>
          <a:bodyPr wrap="square" lIns="0" tIns="0" rIns="0" bIns="0">
            <a:normAutofit/>
          </a:bodyPr>
          <a:p>
            <a:pPr algn="ctr">
              <a:lnSpc>
                <a:spcPct val="170000"/>
              </a:lnSpc>
            </a:pP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三级路由</a:t>
            </a:r>
            <a:r>
              <a:rPr lang="en-US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 xml:space="preserve"> + </a:t>
            </a:r>
            <a:r>
              <a:rPr lang="zh-CN" sz="1088">
                <a:solidFill>
                  <a:srgbClr val="E8EEF9">
                    <a:alpha val="72000"/>
                  </a:srgbClr>
                </a:solidFill>
                <a:latin typeface="Source Han Sans SC"/>
                <a:ea typeface="Source Han Sans SC"/>
              </a:rPr>
              <a:t>发现式注册，把知识装进一个真实业务系统。</a:t>
            </a:r>
            <a:endParaRPr/>
          </a:p>
        </p:txBody>
      </p:sp>
      <p:sp>
        <p:nvSpPr>
          <p:cNvPr id="1191" name="" descr="{&quot;isTemplate&quot;:true,&quot;type&quot;:&quot;text&quot;}"/>
          <p:cNvSpPr txBox="1"/>
          <p:nvPr/>
        </p:nvSpPr>
        <p:spPr>
          <a:xfrm rot="0" flipH="0" flipV="0">
            <a:off x="5229225" y="5314950"/>
            <a:ext cx="17335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谢谢</a:t>
            </a:r>
            <a:r>
              <a:rPr lang="en-US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 xml:space="preserve"> · </a:t>
            </a:r>
            <a:r>
              <a:rPr lang="zh-CN" sz="1650" b="1" spc="150">
                <a:solidFill>
                  <a:srgbClr val="E8EEF9"/>
                </a:solidFill>
                <a:latin typeface="Source Han Sans SC"/>
                <a:ea typeface="Source Han Sans SC"/>
              </a:rPr>
              <a:t>欢迎提问</a:t>
            </a:r>
            <a:endParaRPr/>
          </a:p>
        </p:txBody>
      </p:sp>
      <p:sp>
        <p:nvSpPr>
          <p:cNvPr id="1192" name="" descr="{&quot;isTemplate&quot;:true,&quot;type&quot;:&quot;text&quot;}"/>
          <p:cNvSpPr txBox="1"/>
          <p:nvPr/>
        </p:nvSpPr>
        <p:spPr>
          <a:xfrm rot="0" flipH="0" flipV="0">
            <a:off x="4562475" y="5705475"/>
            <a:ext cx="3067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从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LLM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Agent 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再到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 xml:space="preserve"> Pi Agent</a:t>
            </a:r>
            <a:r>
              <a:rPr lang="zh-CN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　·　</a:t>
            </a:r>
            <a:r>
              <a:rPr lang="en-US" sz="1050">
                <a:solidFill>
                  <a:srgbClr val="E8EEF9">
                    <a:alpha val="48000"/>
                  </a:srgbClr>
                </a:solidFill>
                <a:latin typeface="JetBrains Mono"/>
                <a:ea typeface="JetBrains Mono"/>
              </a:rPr>
              <a:t>33 / 33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2026-10-16T19:16:58Z</dcterms:created>
  <dcterms:modified xsi:type="dcterms:W3CDTF">2026-10-16T19:16:58Z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{"AIGC":{"Label":"1","ContentProducer":"00119111010856365494821B355","ProduceID":"01a1441d43c67297b55334a537419e52","ReservedCode1":"","ContentPropagator":"00119111010856365494821B355","PropagateID":"01a1441d43c67297b55334a537419e52","ReservedCode2":""}}</vt:lpwstr>
  </property>
</Properties>
</file>