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24" Type="http://schemas.openxmlformats.org/officeDocument/2006/relationships/slide" Target="slides/slide24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6" Type="http://schemas.openxmlformats.org/officeDocument/2006/relationships/slide" Target="slides/slide6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23" Type="http://schemas.openxmlformats.org/officeDocument/2006/relationships/slide" Target="slides/slide23.xml" /><Relationship Id="rId18" Type="http://schemas.openxmlformats.org/officeDocument/2006/relationships/slide" Target="slides/slide18.xml" /><Relationship Id="rId38" Type="http://schemas.openxmlformats.org/officeDocument/2006/relationships/viewProps" Target="viewProps.xml" /><Relationship Id="rId19" Type="http://schemas.openxmlformats.org/officeDocument/2006/relationships/slide" Target="slides/slide19.xml" /><Relationship Id="rId8" Type="http://schemas.openxmlformats.org/officeDocument/2006/relationships/slide" Target="slides/slide8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2" Type="http://schemas.openxmlformats.org/officeDocument/2006/relationships/slide" Target="slides/slide32.xml" /><Relationship Id="rId33" Type="http://schemas.openxmlformats.org/officeDocument/2006/relationships/slide" Target="slides/slide33.xml" /><Relationship Id="rId34" Type="http://schemas.openxmlformats.org/officeDocument/2006/relationships/slide" Target="slides/slide34.xml" /><Relationship Id="rId35" Type="http://schemas.openxmlformats.org/officeDocument/2006/relationships/notesMaster" Target="notesMasters/notesMaster1.xml" /><Relationship Id="rId36" Type="http://schemas.openxmlformats.org/officeDocument/2006/relationships/presProps" Target="presProps.xml" /><Relationship Id="rId37" Type="http://schemas.openxmlformats.org/officeDocument/2006/relationships/tableStyles" Target="tableStyles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svg" /><Relationship Id="rId2" Type="http://schemas.openxmlformats.org/officeDocument/2006/relationships/image" Target="media/image29.svg" /><Relationship Id="rId3" Type="http://schemas.openxmlformats.org/officeDocument/2006/relationships/image" Target="media/image30.svg" /><Relationship Id="rId4" Type="http://schemas.openxmlformats.org/officeDocument/2006/relationships/image" Target="media/image31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2.svg" /><Relationship Id="rId2" Type="http://schemas.openxmlformats.org/officeDocument/2006/relationships/image" Target="media/image33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6" Type="http://schemas.openxmlformats.org/officeDocument/2006/relationships/image" Target="media/image8.svg" /><Relationship Id="rId3" Type="http://schemas.openxmlformats.org/officeDocument/2006/relationships/image" Target="media/image3.svg" /><Relationship Id="rId1" Type="http://schemas.openxmlformats.org/officeDocument/2006/relationships/image" Target="media/image5.svg" /><Relationship Id="rId5" Type="http://schemas.openxmlformats.org/officeDocument/2006/relationships/image" Target="media/image7.svg" /><Relationship Id="rId2" Type="http://schemas.openxmlformats.org/officeDocument/2006/relationships/image" Target="media/image6.svg" /><Relationship Id="rId4" Type="http://schemas.openxmlformats.org/officeDocument/2006/relationships/image" Target="media/image4.svg" /><Relationship Id="rId7" Type="http://schemas.openxmlformats.org/officeDocument/2006/relationships/image" Target="media/image9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Relationship Id="rId2" Type="http://schemas.openxmlformats.org/officeDocument/2006/relationships/image" Target="media/image11.sv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5.svg" /><Relationship Id="rId1" Type="http://schemas.openxmlformats.org/officeDocument/2006/relationships/image" Target="media/image13.svg" /><Relationship Id="rId2" Type="http://schemas.openxmlformats.org/officeDocument/2006/relationships/image" Target="media/image14.sv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7.svg" /><Relationship Id="rId3" Type="http://schemas.openxmlformats.org/officeDocument/2006/relationships/image" Target="media/image18.sv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png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Relationship Id="rId2" Type="http://schemas.openxmlformats.org/officeDocument/2006/relationships/image" Target="media/image22.svg" /><Relationship Id="rId3" Type="http://schemas.openxmlformats.org/officeDocument/2006/relationships/image" Target="media/image23.svg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4.svg" /><Relationship Id="rId2" Type="http://schemas.openxmlformats.org/officeDocument/2006/relationships/image" Target="media/image25.svg" /><Relationship Id="rId3" Type="http://schemas.openxmlformats.org/officeDocument/2006/relationships/image" Target="media/image26.svg" /><Relationship Id="rId4" Type="http://schemas.openxmlformats.org/officeDocument/2006/relationships/image" Target="media/image27.svg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8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89535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2000">
                <a:srgbClr val="0B1220">
                  <a:alpha val="86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0" y="4762500"/>
            <a:ext cx="12192000" cy="2095500"/>
          </a:xfrm>
          <a:prstGeom prst="rect">
            <a:avLst/>
          </a:prstGeom>
          <a:gradFill>
            <a:gsLst>
              <a:gs pos="0">
                <a:srgbClr val="0B1220">
                  <a:alpha val="94000"/>
                </a:srgbClr>
              </a:gs>
              <a:gs pos="100000">
                <a:srgbClr val="0B1220">
                  <a:alpha val="0"/>
                </a:srgbClr>
              </a:gs>
            </a:gsLst>
            <a:lin ang="16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838200" y="533400"/>
            <a:ext cx="105156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38200" y="1190625"/>
            <a:ext cx="438150" cy="2857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409700" y="1104900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300">
                <a:solidFill>
                  <a:srgbClr val="2AD4EE"/>
                </a:solidFill>
                <a:latin typeface="Source Han Sans SC"/>
                <a:ea typeface="Source Han Sans SC"/>
              </a:rPr>
              <a:t>内部技术分享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743200" y="1104900"/>
            <a:ext cx="73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2026.10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1628775"/>
            <a:ext cx="7239000" cy="219075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从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到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>再到</a:t>
            </a:r>
            <a:r>
              <a:rPr lang="en-US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838200" y="4105275"/>
            <a:ext cx="28575" cy="5715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38200" y="4848225"/>
            <a:ext cx="7239000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模型是原料，工程才是产品。</a:t>
            </a:r>
            <a:endParaRPr/>
          </a:p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一条从「会聊天」到「能干活的系统」的完整链路：认知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工程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框架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落地。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9353550" y="1409700"/>
            <a:ext cx="2000250" cy="1352550"/>
          </a:xfrm>
          <a:prstGeom prst="roundRect">
            <a:avLst>
              <a:gd name="adj" fmla="val 2817"/>
            </a:avLst>
          </a:prstGeom>
          <a:solidFill>
            <a:srgbClr val="0B1220">
              <a:alpha val="7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525125" y="14954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820400" y="1485900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287000" y="18383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582275" y="1828800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AGENT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039350" y="21812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334625" y="217170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PI AGENT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010775" y="25241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306050" y="2514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PRACTICE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38200" y="61722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01350" y="617220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01 / 34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90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90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四章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34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页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一条从模型到业务系统的完整链路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23145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85800" y="3400425"/>
            <a:ext cx="2314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CHAPTERS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85800" y="3781425"/>
            <a:ext cx="381000" cy="1905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2314575" cy="1028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先补认知，再建工程观；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然后看一个范本，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最后落进一个真实系统。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3619500" y="1143000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248150" y="12668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：一切的地基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248150" y="16002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看懂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的无状态本质，理解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为什么必须做上下文工程。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087100" y="13239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03–10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4248150" y="2009775"/>
            <a:ext cx="5524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343400" y="2047875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Token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4876800" y="20097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972050" y="20478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上下文窗口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5810250" y="2009775"/>
            <a:ext cx="1143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5905500" y="20478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Function Calling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3619500" y="2371725"/>
            <a:ext cx="7886700" cy="1247775"/>
          </a:xfrm>
          <a:custGeom>
            <a:pathLst>
              <a:path w="828" h="131">
                <a:moveTo>
                  <a:pt x="0" y="130"/>
                </a:moveTo>
                <a:lnTo>
                  <a:pt x="828" y="130"/>
                </a:lnTo>
                <a:lnTo>
                  <a:pt x="828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619500" y="25336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248150" y="249555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：从“能聊”到“能干”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248150" y="282892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掌握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与七层功能地图，说清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的能力边界到底在哪。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087100" y="255270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11–19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4248150" y="3238500"/>
            <a:ext cx="5238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4343400" y="32766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ReAct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48482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49434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七层地图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56483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7435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十条原则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3619500" y="3609975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619500" y="37719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4248150" y="373380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：一个极简范式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理解极简哲学与严格单向的分层架构，看懂它的每一个设计取舍。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1087100" y="379095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20–26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4248150" y="4476750"/>
            <a:ext cx="8286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343400" y="4514850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418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行内核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51530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2482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四层架构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59531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0483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三层定制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619500" y="50006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248150" y="49625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落地实践：智数问答</a:t>
            </a: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248150" y="52959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完整拆解一个真实业务系统，带走可直接复用的踩坑经验。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1087100" y="50196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27–33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424815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434340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三级路由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5048250" y="57054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5143500" y="57435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发现式注册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598170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07695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02 / 34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96" name="" descr="&lt;Slide style={{ width: 1280, height: 720, position: 'relative', overflow: 'hidden', background: '#0B1220', fontFamily: '&quot;Source Han Sans SC&quot;, &quot;Noto Sans SC&quot;, &quot;Microsoft YaHei&quot;, sans-serif' }}&gt;&#13;&#10;    &lt;Image src=&quot;assets/sec_llm.png&quot; style={{ position: 'absolute', left: 0, top: 0, width: 1536, height: 1024 }} /&gt;&#13;&#10;&#13;&#10;    &lt;Box style={{ position: 'absolute', left: 0, top: 0, width: 1040, height: 720, background: 'linear-gradient(90deg, rgba(11,18,32,0.97) 0%, rgba(11,18,32,0.84) 50%, rgba(11,18,32,0) 100%)' }} /&gt;&#13;&#10;    &lt;Box style={{ position: 'absolute', left: 0, top: 0, width: 6, height: 720, background: 'linear-gradient(180deg, #2AD4EE 0%, rgba(42,212,238,0) 100%)' }} /&gt;&#13;&#10;&#13;&#10;    {/* 左：整列分布 */}&#13;&#10;    &lt;Box style={{ position: 'absolute', left: 88, top: 152, width: 700, height: 508, flexDirection: 'column', justifyContent: 'space-between' }}&gt;&#13;&#10;        &lt;Box style={{ flexDirection: 'column' }}&gt;&#13;&#10;            &lt;Text style={{ fontSize: 18, color: '#2AD4EE', letterSpacing: 7, fontFamily: '&quot;JetBrains Mono&quot;, &quot;Cascadia Mono&quot;, Consolas, monospace' }}&gt;CHAPTER 01&lt;/Text&gt;&#13;&#10;            &lt;Text style={{ marginTop: 22, fontSize: 64, fontWeight: 'bold', color: '#E8EEF9', letterSpacing: 1, lineHeight: 1.2 }}&gt;&#13;&#10;                LLM：&#13;&#10;                &lt;br /&gt;&#13;&#10;                &lt;span style={{ color: '#2AD4EE' }}&gt;一切的地基&lt;/span&gt;&#13;&#10;            &lt;/Text&gt;&#13;&#10;        &lt;/Box&gt;&#13;&#10;&#13;&#10;        &lt;Box style={{ flexDirection: 'column' }}&gt;&#13;&#10;            &lt;Box style={{ width: 76, height: 4, background: '#2AD4EE' }} /&gt;&#13;&#10;            &lt;Text style={{ marginTop: 24, fontSize: 21, color: 'rgba(232,238,249,0.72)', lineHeight: 1.75 }}&gt;&#13;&#10;                不认识 LLM 的「无状态」，&#13;&#10;                &lt;br /&gt;&#13;&#10;                就理解不了 Agent 的上下文工程。&#13;&#10;            &lt;/Text&gt;&#13;&#10;        &lt;/Box&gt;&#13;&#10;&#13;&#10;        &lt;Box style={{ flexDirection: 'column' }}&gt;&#13;&#10;            &lt;Box style={{ width: 420, height: 1, background: 'rgba(232,238,249,0.18)' }} /&gt;&#13;&#10;            &lt;Text style={{ marginTop: 16, fontSize: 13, color: 'rgba(232,238,249,0.42)', letterSpacing: 3, fontFamily: '&quot;JetBrains Mono&quot;, &quot;Cascadia Mono&quot;, Consolas, monospace' }}&gt;本章要回答&lt;/Text&gt;&#13;&#10;            &lt;Box style={{ marginTop: 12, flexDirection: 'column', gap: 8 }}&gt;&#13;&#10;                {['LLM 每次请求到底记住了什么？', '为什么必须用工具调用？', '手写 Prompt 与原生 FC 差在哪？'].map((t, i) =&gt; (&#13;&#10;                    &lt;Box key={i} style={{ flexDirection: 'row', alignItems: 'center', gap: 12 }}&gt;&#13;&#10;                        &lt;Box style={{ width: 5, height: 5, background: '#2AD4EE' }} /&gt;&#13;&#10;                        &lt;Text style={{ fontSize: 17, color: 'rgba(232,238,249,0.78)' }}&gt;{t}&lt;/Text&gt;&#13;&#10;                    &lt;/Box&gt;&#13;&#10;                ))}&#13;&#10;            &lt;/Box&gt;&#13;&#10;        &lt;/Box&gt;&#13;&#10;    &lt;/Box&gt;&#13;&#10;&#13;&#10;    {/* 右：章节号 + 目录 */}&#13;&#10;    &lt;Box style={{ position: 'absolute', right: 88, top: 336, width: 392, flexDirection: 'column', paddingTop: 22, paddingBottom: 22, paddingLeft: 24, paddingRight: 24, background: 'rgba(11,18,32,0.82)', border: '1px solid rgba(42,212,238,0.22)', borderRadius: 4 }}&gt;&#13;&#10;        &lt;Box style={{ flexDirection: 'row', alignItems: 'flex-end', justifyContent: 'space-between' }}&gt;&#13;&#10;            &lt;Text style={{ fontSize: 76, fontWeight: 'bold', color: 'rgba(42,212,238,0.55)', fontFamily: '&quot;JetBrains Mono&quot;, &quot;Cascadia Mono&quot;, Consolas, monospace', lineHeight: 1 }}&gt;01&lt;/Text&gt;&#13;&#10;            &lt;Text style={{ fontSize: 13, color: 'rgba(232,238,249,0.42)', letterSpacing: 3, fontFamily: '&quot;JetBrains Mono&quot;, &quot;Cascadia Mono&quot;, Consolas, monospace', paddingBottom: 8 }}&gt;PAGES 03 – 10&lt;/Text&gt;&#13;&#10;        &lt;/Box&gt;&#13;&#10;        &lt;Box style={{ marginTop: 16, flexDirection: 'column', gap: 10 }}&gt;&#13;&#10;            {['messages 里的四种 role', '无状态与上下文窗口', '四个必记的核心概念', '两种调用方式与 Function Calling'].map((t, i) =&gt; (&#13;&#10;                &lt;Box key={i} style={{ flexDirection: 'row', alignItems: 'center', gap: 12 }}&gt;&#13;&#10;                    &lt;Box style={{ width: 18, height: 1, background: 'rgba(42,212,238,0.6)' }} /&gt;&#13;&#10;                    &lt;Text style={{ fontSize: 16, color: 'rgba(232,238,249,0.82)' }}&gt;{t}&lt;/Text&gt;&#13;&#10;                &lt;/Box&gt;&#13;&#10;            ))}&#13;&#10;        &lt;/Box&gt;&#13;&#10;    &lt;/Box&gt;&#13;&#10;&#13;&#10;    &lt;Text style={{ position: 'absolute', left: 88, top: 674, fontSize: 14, color: 'rgba(232,238,249,0.42)', fontFamily: '&quot;JetBrains Mono&quot;, &quot;Cascadia Mono&quot;, Consolas, monospace' }}&gt;03 / 34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998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999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00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01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一切的地基</a:t>
            </a:r>
            <a:endParaRPr/>
          </a:p>
        </p:txBody>
      </p:sp>
      <p:sp>
        <p:nvSpPr>
          <p:cNvPr id="1003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不认识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的「无状态」，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就理解不了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的上下文工程。</a:t>
            </a:r>
            <a:endParaRPr/>
          </a:p>
        </p:txBody>
      </p:sp>
      <p:sp>
        <p:nvSpPr>
          <p:cNvPr id="1005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/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1007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276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每次请求到底记住了什么？</a:t>
            </a:r>
            <a:endParaRPr/>
          </a:p>
        </p:txBody>
      </p:sp>
      <p:sp>
        <p:nvSpPr>
          <p:cNvPr id="1009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为什么必须用工具调用？</a:t>
            </a:r>
            <a:endParaRPr/>
          </a:p>
        </p:txBody>
      </p:sp>
      <p:sp>
        <p:nvSpPr>
          <p:cNvPr id="1011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手写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与原生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FC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差在哪？</a:t>
            </a:r>
            <a:endParaRPr/>
          </a:p>
        </p:txBody>
      </p:sp>
      <p:sp>
        <p:nvSpPr>
          <p:cNvPr id="1013" name=""/>
          <p:cNvSpPr/>
          <p:nvPr/>
        </p:nvSpPr>
        <p:spPr>
          <a:xfrm rot="0" flipH="0" flipV="0">
            <a:off x="7620000" y="3200400"/>
            <a:ext cx="3733800" cy="2495550"/>
          </a:xfrm>
          <a:prstGeom prst="roundRect">
            <a:avLst>
              <a:gd name="adj" fmla="val 1527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03 – 10</a:t>
            </a:r>
            <a:endParaRPr/>
          </a:p>
        </p:txBody>
      </p:sp>
      <p:sp>
        <p:nvSpPr>
          <p:cNvPr id="1016" name=""/>
          <p:cNvSpPr/>
          <p:nvPr/>
        </p:nvSpPr>
        <p:spPr>
          <a:xfrm rot="0" flipH="0" flipV="0">
            <a:off x="7848600" y="45339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8134350" y="44386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里的四种</a:t>
            </a: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role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7848600" y="48196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8134350" y="47244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无状态与上下文窗口</a:t>
            </a:r>
            <a:endParaRPr/>
          </a:p>
        </p:txBody>
      </p:sp>
      <p:sp>
        <p:nvSpPr>
          <p:cNvPr id="1020" name=""/>
          <p:cNvSpPr/>
          <p:nvPr/>
        </p:nvSpPr>
        <p:spPr>
          <a:xfrm rot="0" flipH="0" flipV="0">
            <a:off x="7848600" y="51054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8134350" y="50101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四个必记的核心概念</a:t>
            </a:r>
            <a:endParaRPr/>
          </a:p>
        </p:txBody>
      </p:sp>
      <p:sp>
        <p:nvSpPr>
          <p:cNvPr id="1022" name=""/>
          <p:cNvSpPr/>
          <p:nvPr/>
        </p:nvSpPr>
        <p:spPr>
          <a:xfrm rot="0" flipH="0" flipV="0">
            <a:off x="7848600" y="53911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/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8134350" y="5295900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两种调用方式与</a:t>
            </a: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Function Calling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 / 34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2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362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里的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role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：谁在说话</a:t>
            </a:r>
            <a:endParaRPr/>
          </a:p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36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同一句话换个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role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，模型对它的理解就完全不一样</a:t>
            </a:r>
            <a:endParaRPr/>
          </a:p>
        </p:txBody>
      </p:sp>
      <p:sp>
        <p:nvSpPr>
          <p:cNvPr id="1231" name=""/>
          <p:cNvSpPr/>
          <p:nvPr/>
        </p:nvSpPr>
        <p:spPr>
          <a:xfrm rot="0" flipH="0" flipV="0">
            <a:off x="6858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8572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system</a:t>
            </a:r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系统提示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定规则</a:t>
            </a:r>
            <a:endParaRPr/>
          </a:p>
        </p:txBody>
      </p:sp>
      <p:sp>
        <p:nvSpPr>
          <p:cNvPr id="1234" name=""/>
          <p:cNvSpPr/>
          <p:nvPr/>
        </p:nvSpPr>
        <p:spPr>
          <a:xfrm rot="0" flipH="0" flipV="0">
            <a:off x="8572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35" name="" descr="{&quot;isTemplate&quot;:true,&quot;type&quot;:&quot;text&quot;}"/>
          <p:cNvSpPr txBox="1"/>
          <p:nvPr/>
        </p:nvSpPr>
        <p:spPr>
          <a:xfrm rot="0" flipH="0" flipV="0">
            <a:off x="8572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身份、能力边界、输出格式。通常放在第一条，优先级最高——用户说什么都盖不过它。</a:t>
            </a:r>
            <a:endParaRPr/>
          </a:p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8572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永远放最前</a:t>
            </a:r>
            <a:endParaRPr/>
          </a:p>
        </p:txBody>
      </p:sp>
      <p:sp>
        <p:nvSpPr>
          <p:cNvPr id="1237" name=""/>
          <p:cNvSpPr/>
          <p:nvPr/>
        </p:nvSpPr>
        <p:spPr>
          <a:xfrm rot="0" flipH="0" flipV="0">
            <a:off x="34290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8" name="" descr="{&quot;isTemplate&quot;:true,&quot;type&quot;:&quot;text&quot;}"/>
          <p:cNvSpPr txBox="1"/>
          <p:nvPr/>
        </p:nvSpPr>
        <p:spPr>
          <a:xfrm rot="0" flipH="0" flipV="0">
            <a:off x="36004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user</a:t>
            </a:r>
            <a:endParaRPr/>
          </a:p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36004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用户输入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提需求</a:t>
            </a:r>
            <a:endParaRPr/>
          </a:p>
        </p:txBody>
      </p:sp>
      <p:sp>
        <p:nvSpPr>
          <p:cNvPr id="1240" name=""/>
          <p:cNvSpPr/>
          <p:nvPr/>
        </p:nvSpPr>
        <p:spPr>
          <a:xfrm rot="0" flipH="0" flipV="0">
            <a:off x="36004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36004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这一轮用户说的话。方案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A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里，工具执行结果也用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user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身份拼成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回喂。</a:t>
            </a:r>
            <a:endParaRPr/>
          </a:p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36004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每轮必有</a:t>
            </a:r>
            <a:endParaRPr/>
          </a:p>
        </p:txBody>
      </p:sp>
      <p:sp>
        <p:nvSpPr>
          <p:cNvPr id="1243" name=""/>
          <p:cNvSpPr/>
          <p:nvPr/>
        </p:nvSpPr>
        <p:spPr>
          <a:xfrm rot="0" flipH="0" flipV="0">
            <a:off x="61722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4" name="" descr="{&quot;isTemplate&quot;:true,&quot;type&quot;:&quot;text&quot;}"/>
          <p:cNvSpPr txBox="1"/>
          <p:nvPr/>
        </p:nvSpPr>
        <p:spPr>
          <a:xfrm rot="0" flipH="0" flipV="0">
            <a:off x="63436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assistant</a:t>
            </a:r>
            <a:endParaRPr/>
          </a:p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63436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模型输出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留痕</a:t>
            </a:r>
            <a:endParaRPr/>
          </a:p>
        </p:txBody>
      </p:sp>
      <p:sp>
        <p:nvSpPr>
          <p:cNvPr id="1246" name=""/>
          <p:cNvSpPr/>
          <p:nvPr/>
        </p:nvSpPr>
        <p:spPr>
          <a:xfrm rot="0" flipH="0" flipV="0">
            <a:off x="63436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63436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模型上一轮的回答，包括它要求调用的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tool_calls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。必须原样回填，它才知道自己做过什么。</a:t>
            </a:r>
            <a:endParaRPr/>
          </a:p>
        </p:txBody>
      </p:sp>
      <p:sp>
        <p:nvSpPr>
          <p:cNvPr id="1248" name="" descr="{&quot;isTemplate&quot;:true,&quot;type&quot;:&quot;text&quot;}"/>
          <p:cNvSpPr txBox="1"/>
          <p:nvPr/>
        </p:nvSpPr>
        <p:spPr>
          <a:xfrm rot="0" flipH="0" flipV="0">
            <a:off x="63436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必须回填</a:t>
            </a:r>
            <a:endParaRPr/>
          </a:p>
        </p:txBody>
      </p:sp>
      <p:sp>
        <p:nvSpPr>
          <p:cNvPr id="1249" name=""/>
          <p:cNvSpPr/>
          <p:nvPr/>
        </p:nvSpPr>
        <p:spPr>
          <a:xfrm rot="0" flipH="0" flipV="0">
            <a:off x="89154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90868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tool</a:t>
            </a:r>
            <a:endParaRPr/>
          </a:p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90868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工具结果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外部事实</a:t>
            </a:r>
            <a:endParaRPr/>
          </a:p>
        </p:txBody>
      </p:sp>
      <p:sp>
        <p:nvSpPr>
          <p:cNvPr id="1252" name=""/>
          <p:cNvSpPr/>
          <p:nvPr/>
        </p:nvSpPr>
        <p:spPr>
          <a:xfrm rot="0" flipH="0" flipV="0">
            <a:off x="90868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53" name="" descr="{&quot;isTemplate&quot;:true,&quot;type&quot;:&quot;text&quot;}"/>
          <p:cNvSpPr txBox="1"/>
          <p:nvPr/>
        </p:nvSpPr>
        <p:spPr>
          <a:xfrm rot="0" flipH="0" flipV="0">
            <a:off x="90868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工具执行完的返回值，用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tool_call_id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绑定到具体那次调用，模型才知道结果属于哪一次请求。</a:t>
            </a:r>
            <a:endParaRPr/>
          </a:p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90868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原生</a:t>
            </a:r>
            <a:r>
              <a:rPr lang="en-US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 xml:space="preserve"> FC </a:t>
            </a: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专用</a:t>
            </a:r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685800" y="3524250"/>
            <a:ext cx="3152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MESSAGES · </a:t>
            </a:r>
            <a:r>
              <a:rPr lang="zh-CN" sz="97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一次完整工具调用后，数组长这样</a:t>
            </a:r>
            <a:endParaRPr/>
          </a:p>
        </p:txBody>
      </p:sp>
      <p:sp>
        <p:nvSpPr>
          <p:cNvPr id="1256" name=""/>
          <p:cNvSpPr/>
          <p:nvPr/>
        </p:nvSpPr>
        <p:spPr>
          <a:xfrm rot="0" flipH="0" flipV="0">
            <a:off x="3933825" y="3600450"/>
            <a:ext cx="7572375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57" name=""/>
          <p:cNvSpPr/>
          <p:nvPr/>
        </p:nvSpPr>
        <p:spPr>
          <a:xfrm rot="0" flipH="0" flipV="0">
            <a:off x="685800" y="5486400"/>
            <a:ext cx="10820400" cy="571500"/>
          </a:xfrm>
          <a:prstGeom prst="roundRect">
            <a:avLst>
              <a:gd name="adj" fmla="val 666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8" name="" descr="{&quot;isTemplate&quot;:true,&quot;type&quot;:&quot;text&quot;}"/>
          <p:cNvSpPr txBox="1"/>
          <p:nvPr/>
        </p:nvSpPr>
        <p:spPr>
          <a:xfrm rot="0" flipH="0" flipV="0">
            <a:off x="857250" y="56673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记住</a:t>
            </a:r>
            <a:endParaRPr/>
          </a:p>
        </p:txBody>
      </p:sp>
      <p:sp>
        <p:nvSpPr>
          <p:cNvPr id="1259" name="" descr="{&quot;isTemplate&quot;:true,&quot;type&quot;:&quot;text&quot;}"/>
          <p:cNvSpPr txBox="1"/>
          <p:nvPr/>
        </p:nvSpPr>
        <p:spPr>
          <a:xfrm rot="0" flipH="0" flipV="0">
            <a:off x="1333500" y="5619750"/>
            <a:ext cx="100012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role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不是日志标签，是对话的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语法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——它决定这段话被当成指令、提问、我自己的话，还是外部事实。</a:t>
            </a:r>
            <a:endParaRPr/>
          </a:p>
        </p:txBody>
      </p:sp>
      <p:sp>
        <p:nvSpPr>
          <p:cNvPr id="126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6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04 / 34</a:t>
            </a:r>
            <a:endParaRPr/>
          </a:p>
        </p:txBody>
      </p:sp>
      <p:sp>
        <p:nvSpPr>
          <p:cNvPr id="1262" name=""/>
          <p:cNvSpPr/>
          <p:nvPr/>
        </p:nvSpPr>
        <p:spPr>
          <a:xfrm rot="0" flipH="0" flipV="0">
            <a:off x="685800" y="3676650"/>
            <a:ext cx="10820400" cy="1714500"/>
          </a:xfrm>
          <a:prstGeom prst="roundRect">
            <a:avLst>
              <a:gd name="adj" fmla="val 4444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3" name=""/>
          <p:cNvSpPr txBox="1"/>
          <p:nvPr/>
        </p:nvSpPr>
        <p:spPr>
          <a:xfrm rot="0" flipH="0" flipV="0">
            <a:off x="838200" y="3810000"/>
            <a:ext cx="10515600" cy="1447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messages </a:t>
            </a:r>
            <a:r>
              <a:rPr sz="112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[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"system"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"你是智数问答助手，只回答指标类问题"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"华东区上月销售额多少？"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"assistant"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"tool_calls"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: [{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"id"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"call_01"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79B8FF"/>
                </a:solidFill>
                <a:latin typeface="Menlo"/>
                <a:ea typeface="Menlo"/>
              </a:rPr>
              <a:t>...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}]},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"tool_call_id"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"call_01"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"1.28 亿"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]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6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43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是「无状态的文本预测器」</a:t>
            </a:r>
            <a:endParaRPr/>
          </a:p>
        </p:txBody>
      </p:sp>
      <p:sp>
        <p:nvSpPr>
          <p:cNvPr id="126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4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理解这一点，才理解为什么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的上下文要自己算</a:t>
            </a:r>
            <a:endParaRPr/>
          </a:p>
        </p:txBody>
      </p:sp>
      <p:sp>
        <p:nvSpPr>
          <p:cNvPr id="1269" name=""/>
          <p:cNvSpPr/>
          <p:nvPr/>
        </p:nvSpPr>
        <p:spPr>
          <a:xfrm rot="0" flipH="0" flipV="0">
            <a:off x="685800" y="1143000"/>
            <a:ext cx="3429000" cy="4914900"/>
          </a:xfrm>
          <a:custGeom>
            <a:pathLst>
              <a:path w="360" h="516">
                <a:moveTo>
                  <a:pt x="359" y="0"/>
                </a:moveTo>
                <a:lnTo>
                  <a:pt x="360" y="0"/>
                </a:lnTo>
                <a:lnTo>
                  <a:pt x="360" y="516"/>
                </a:lnTo>
                <a:lnTo>
                  <a:pt x="359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7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DEFINITION</a:t>
            </a:r>
            <a:endParaRPr/>
          </a:p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685800" y="1447800"/>
            <a:ext cx="3133725" cy="800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模型本身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没有内存</a:t>
            </a:r>
            <a:endParaRPr/>
          </a:p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685800" y="2381250"/>
            <a:ext cx="31337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它不会记住上一次对话。不把历史完整塞回</a:t>
            </a:r>
            <a:r>
              <a:rPr lang="en-US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messages</a:t>
            </a: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，它就不知道之前聊过什么——所谓「记忆」，每次请求都要你重建。</a:t>
            </a:r>
            <a:endParaRPr/>
          </a:p>
        </p:txBody>
      </p:sp>
      <p:sp>
        <p:nvSpPr>
          <p:cNvPr id="1273" name=""/>
          <p:cNvSpPr/>
          <p:nvPr/>
        </p:nvSpPr>
        <p:spPr>
          <a:xfrm rot="0" flipH="0" flipV="0">
            <a:off x="685800" y="3467100"/>
            <a:ext cx="5905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74" name="" descr="{&quot;isTemplate&quot;:true,&quot;type&quot;:&quot;text&quot;}"/>
          <p:cNvSpPr txBox="1"/>
          <p:nvPr/>
        </p:nvSpPr>
        <p:spPr>
          <a:xfrm rot="0" flipH="0" flipV="0">
            <a:off x="781050" y="35052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无状态</a:t>
            </a:r>
            <a:endParaRPr/>
          </a:p>
        </p:txBody>
      </p:sp>
      <p:sp>
        <p:nvSpPr>
          <p:cNvPr id="1275" name=""/>
          <p:cNvSpPr/>
          <p:nvPr/>
        </p:nvSpPr>
        <p:spPr>
          <a:xfrm rot="0" flipH="0" flipV="0">
            <a:off x="1352550" y="34671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1447800" y="35052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每次重发</a:t>
            </a:r>
            <a:endParaRPr/>
          </a:p>
        </p:txBody>
      </p:sp>
      <p:sp>
        <p:nvSpPr>
          <p:cNvPr id="1277" name=""/>
          <p:cNvSpPr/>
          <p:nvPr/>
        </p:nvSpPr>
        <p:spPr>
          <a:xfrm rot="0" flipH="0" flipV="0">
            <a:off x="2152650" y="3467100"/>
            <a:ext cx="10668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78" name="" descr="{&quot;isTemplate&quot;:true,&quot;type&quot;:&quot;text&quot;}"/>
          <p:cNvSpPr txBox="1"/>
          <p:nvPr/>
        </p:nvSpPr>
        <p:spPr>
          <a:xfrm rot="0" flipH="0" flipV="0">
            <a:off x="2247900" y="350520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1279" name=""/>
          <p:cNvSpPr/>
          <p:nvPr/>
        </p:nvSpPr>
        <p:spPr>
          <a:xfrm rot="0" flipH="0" flipV="0">
            <a:off x="685800" y="3876675"/>
            <a:ext cx="3133725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685800" y="40195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ACTIONS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两个必做动作</a:t>
            </a:r>
            <a:endParaRPr/>
          </a:p>
        </p:txBody>
      </p:sp>
      <p:sp>
        <p:nvSpPr>
          <p:cNvPr id="1281" name="" descr="{&quot;isTemplate&quot;:true,&quot;type&quot;:&quot;text&quot;}"/>
          <p:cNvSpPr txBox="1"/>
          <p:nvPr/>
        </p:nvSpPr>
        <p:spPr>
          <a:xfrm rot="0" flipH="0" flipV="0">
            <a:off x="685800" y="4286250"/>
            <a:ext cx="3133725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超窗之前：摘要压缩（</a:t>
            </a:r>
            <a:r>
              <a:rPr lang="en-US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compaction</a:t>
            </a: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进上下文前：工具返回精简</a:t>
            </a:r>
            <a:r>
              <a:rPr lang="en-US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1282" name=""/>
          <p:cNvSpPr/>
          <p:nvPr/>
        </p:nvSpPr>
        <p:spPr>
          <a:xfrm rot="0" flipH="0" flipV="0">
            <a:off x="714375" y="5238750"/>
            <a:ext cx="3133725" cy="8191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83" name=""/>
          <p:cNvSpPr/>
          <p:nvPr/>
        </p:nvSpPr>
        <p:spPr>
          <a:xfrm rot="0" flipH="0" flipV="0">
            <a:off x="685800" y="5238750"/>
            <a:ext cx="3162300" cy="819150"/>
          </a:xfrm>
          <a:custGeom>
            <a:pathLst>
              <a:path w="332" h="86">
                <a:moveTo>
                  <a:pt x="0" y="0"/>
                </a:moveTo>
                <a:lnTo>
                  <a:pt x="3" y="0"/>
                </a:lnTo>
                <a:lnTo>
                  <a:pt x="3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4" name="" descr="{&quot;isTemplate&quot;:true,&quot;type&quot;:&quot;text&quot;}"/>
          <p:cNvSpPr txBox="1"/>
          <p:nvPr/>
        </p:nvSpPr>
        <p:spPr>
          <a:xfrm rot="0" flipH="0" flipV="0">
            <a:off x="866775" y="5353050"/>
            <a:ext cx="2800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上下文窗口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一次能读完的</a:t>
            </a:r>
            <a:r>
              <a:rPr lang="zh-CN" sz="1200">
                <a:solidFill>
                  <a:srgbClr val="2AD4EE"/>
                </a:solidFill>
                <a:latin typeface="Source Han Sans SC"/>
                <a:ea typeface="Source Han Sans SC"/>
              </a:rPr>
              <a:t>总量上限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（输入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输出）。</a:t>
            </a:r>
            <a:endParaRPr/>
          </a:p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4457700" y="114300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CONTEXT WINDOW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以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128k token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为例</a:t>
            </a:r>
            <a:endParaRPr/>
          </a:p>
        </p:txBody>
      </p:sp>
      <p:sp>
        <p:nvSpPr>
          <p:cNvPr id="1286" name=""/>
          <p:cNvSpPr/>
          <p:nvPr/>
        </p:nvSpPr>
        <p:spPr>
          <a:xfrm rot="0" flipH="0" flipV="0">
            <a:off x="4457700" y="1466850"/>
            <a:ext cx="7048500" cy="742950"/>
          </a:xfrm>
          <a:prstGeom prst="roundRect">
            <a:avLst>
              <a:gd name="adj" fmla="val 5128"/>
            </a:avLst>
          </a:prstGeom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7" name=""/>
          <p:cNvSpPr/>
          <p:nvPr/>
        </p:nvSpPr>
        <p:spPr>
          <a:xfrm rot="0" flipH="0" flipV="0">
            <a:off x="4457700" y="1466850"/>
            <a:ext cx="3990975" cy="742950"/>
          </a:xfrm>
          <a:prstGeom prst="rect">
            <a:avLst/>
          </a:prstGeom>
          <a:solidFill>
            <a:srgbClr val="2AD4EE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88" name=""/>
          <p:cNvSpPr/>
          <p:nvPr/>
        </p:nvSpPr>
        <p:spPr>
          <a:xfrm rot="0" flipH="0" flipV="0">
            <a:off x="4457700" y="1466850"/>
            <a:ext cx="4000500" cy="742950"/>
          </a:xfrm>
          <a:custGeom>
            <a:pathLst>
              <a:path w="420" h="78">
                <a:moveTo>
                  <a:pt x="419" y="0"/>
                </a:moveTo>
                <a:lnTo>
                  <a:pt x="420" y="0"/>
                </a:lnTo>
                <a:lnTo>
                  <a:pt x="420" y="78"/>
                </a:lnTo>
                <a:lnTo>
                  <a:pt x="419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4591050" y="16478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历史对话</a:t>
            </a:r>
            <a:endParaRPr/>
          </a:p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4591050" y="1876425"/>
            <a:ext cx="3752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多轮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messages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工具返回</a:t>
            </a:r>
            <a:endParaRPr/>
          </a:p>
        </p:txBody>
      </p:sp>
      <p:sp>
        <p:nvSpPr>
          <p:cNvPr id="1291" name=""/>
          <p:cNvSpPr/>
          <p:nvPr/>
        </p:nvSpPr>
        <p:spPr>
          <a:xfrm rot="0" flipH="0" flipV="0">
            <a:off x="8448675" y="1466850"/>
            <a:ext cx="1647825" cy="742950"/>
          </a:xfrm>
          <a:prstGeom prst="rect">
            <a:avLst/>
          </a:prstGeom>
          <a:solidFill>
            <a:srgbClr val="2AD4EE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92" name=""/>
          <p:cNvSpPr/>
          <p:nvPr/>
        </p:nvSpPr>
        <p:spPr>
          <a:xfrm rot="0" flipH="0" flipV="0">
            <a:off x="8448675" y="1466850"/>
            <a:ext cx="1657350" cy="742950"/>
          </a:xfrm>
          <a:custGeom>
            <a:pathLst>
              <a:path w="174" h="78">
                <a:moveTo>
                  <a:pt x="173" y="0"/>
                </a:moveTo>
                <a:lnTo>
                  <a:pt x="174" y="0"/>
                </a:lnTo>
                <a:lnTo>
                  <a:pt x="174" y="78"/>
                </a:lnTo>
                <a:lnTo>
                  <a:pt x="173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8562975" y="1647825"/>
            <a:ext cx="144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本轮输入</a:t>
            </a:r>
            <a:endParaRPr/>
          </a:p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8562975" y="187642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B1220">
                    <a:alpha val="72000"/>
                  </a:srgbClr>
                </a:solidFill>
                <a:latin typeface="Source Han Sans SC"/>
                <a:ea typeface="Source Han Sans SC"/>
              </a:rPr>
              <a:t>用户问题</a:t>
            </a:r>
            <a:endParaRPr/>
          </a:p>
        </p:txBody>
      </p:sp>
      <p:sp>
        <p:nvSpPr>
          <p:cNvPr id="1295" name=""/>
          <p:cNvSpPr/>
          <p:nvPr/>
        </p:nvSpPr>
        <p:spPr>
          <a:xfrm rot="0" flipH="0" flipV="0">
            <a:off x="10096500" y="1466850"/>
            <a:ext cx="1409700" cy="7429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96" name="" descr="{&quot;isTemplate&quot;:true,&quot;type&quot;:&quot;text&quot;}"/>
          <p:cNvSpPr txBox="1"/>
          <p:nvPr/>
        </p:nvSpPr>
        <p:spPr>
          <a:xfrm rot="0" flipH="0" flipV="0">
            <a:off x="10210800" y="16478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预留输出</a:t>
            </a:r>
            <a:endParaRPr/>
          </a:p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10210800" y="1876425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maxTokens</a:t>
            </a:r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4457700" y="22860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6981825" y="2286000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超过上限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最前面的信息被丢弃</a:t>
            </a:r>
            <a:endParaRPr/>
          </a:p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11210925" y="2286000"/>
            <a:ext cx="295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128k</a:t>
            </a:r>
            <a:endParaRPr/>
          </a:p>
        </p:txBody>
      </p:sp>
      <p:sp>
        <p:nvSpPr>
          <p:cNvPr id="1301" name="" descr="{&quot;isTemplate&quot;:true,&quot;type&quot;:&quot;text&quot;}"/>
          <p:cNvSpPr txBox="1"/>
          <p:nvPr/>
        </p:nvSpPr>
        <p:spPr>
          <a:xfrm rot="0" flipH="0" flipV="0">
            <a:off x="4457700" y="272415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TOKEN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计费与窗口的最小单位</a:t>
            </a:r>
            <a:endParaRPr/>
          </a:p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4457700" y="3028950"/>
            <a:ext cx="704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「企业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2025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年营收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3.2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亿元」</a:t>
            </a:r>
            <a:endParaRPr/>
          </a:p>
        </p:txBody>
      </p:sp>
      <p:sp>
        <p:nvSpPr>
          <p:cNvPr id="1303" name=""/>
          <p:cNvSpPr/>
          <p:nvPr/>
        </p:nvSpPr>
        <p:spPr>
          <a:xfrm rot="0" flipH="0" flipV="0">
            <a:off x="4457700" y="3390900"/>
            <a:ext cx="49530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4" name="" descr="{&quot;isTemplate&quot;:true,&quot;type&quot;:&quot;text&quot;}"/>
          <p:cNvSpPr txBox="1"/>
          <p:nvPr/>
        </p:nvSpPr>
        <p:spPr>
          <a:xfrm rot="0" flipH="0" flipV="0">
            <a:off x="4562475" y="34385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企业</a:t>
            </a:r>
            <a:endParaRPr/>
          </a:p>
        </p:txBody>
      </p:sp>
      <p:sp>
        <p:nvSpPr>
          <p:cNvPr id="1305" name=""/>
          <p:cNvSpPr/>
          <p:nvPr/>
        </p:nvSpPr>
        <p:spPr>
          <a:xfrm rot="0" flipH="0" flipV="0">
            <a:off x="5029200" y="3390900"/>
            <a:ext cx="55245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6" name="" descr="{&quot;isTemplate&quot;:true,&quot;type&quot;:&quot;text&quot;}"/>
          <p:cNvSpPr txBox="1"/>
          <p:nvPr/>
        </p:nvSpPr>
        <p:spPr>
          <a:xfrm rot="0" flipH="0" flipV="0">
            <a:off x="5133975" y="34385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2025</a:t>
            </a:r>
            <a:endParaRPr/>
          </a:p>
        </p:txBody>
      </p:sp>
      <p:sp>
        <p:nvSpPr>
          <p:cNvPr id="1307" name=""/>
          <p:cNvSpPr/>
          <p:nvPr/>
        </p:nvSpPr>
        <p:spPr>
          <a:xfrm rot="0" flipH="0" flipV="0">
            <a:off x="56578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8" name="" descr="{&quot;isTemplate&quot;:true,&quot;type&quot;:&quot;text&quot;}"/>
          <p:cNvSpPr txBox="1"/>
          <p:nvPr/>
        </p:nvSpPr>
        <p:spPr>
          <a:xfrm rot="0" flipH="0" flipV="0">
            <a:off x="57626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年</a:t>
            </a:r>
            <a:endParaRPr/>
          </a:p>
        </p:txBody>
      </p:sp>
      <p:sp>
        <p:nvSpPr>
          <p:cNvPr id="1309" name=""/>
          <p:cNvSpPr/>
          <p:nvPr/>
        </p:nvSpPr>
        <p:spPr>
          <a:xfrm rot="0" flipH="0" flipV="0">
            <a:off x="6086475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0" name="" descr="{&quot;isTemplate&quot;:true,&quot;type&quot;:&quot;text&quot;}"/>
          <p:cNvSpPr txBox="1"/>
          <p:nvPr/>
        </p:nvSpPr>
        <p:spPr>
          <a:xfrm rot="0" flipH="0" flipV="0">
            <a:off x="6191250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营</a:t>
            </a:r>
            <a:endParaRPr/>
          </a:p>
        </p:txBody>
      </p:sp>
      <p:sp>
        <p:nvSpPr>
          <p:cNvPr id="1311" name=""/>
          <p:cNvSpPr/>
          <p:nvPr/>
        </p:nvSpPr>
        <p:spPr>
          <a:xfrm rot="0" flipH="0" flipV="0">
            <a:off x="651510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2" name="" descr="{&quot;isTemplate&quot;:true,&quot;type&quot;:&quot;text&quot;}"/>
          <p:cNvSpPr txBox="1"/>
          <p:nvPr/>
        </p:nvSpPr>
        <p:spPr>
          <a:xfrm rot="0" flipH="0" flipV="0">
            <a:off x="661987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收</a:t>
            </a:r>
            <a:endParaRPr/>
          </a:p>
        </p:txBody>
      </p:sp>
      <p:sp>
        <p:nvSpPr>
          <p:cNvPr id="1313" name=""/>
          <p:cNvSpPr/>
          <p:nvPr/>
        </p:nvSpPr>
        <p:spPr>
          <a:xfrm rot="0" flipH="0" flipV="0">
            <a:off x="6943725" y="3390900"/>
            <a:ext cx="4667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7048500" y="3438525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3.2</a:t>
            </a:r>
            <a:endParaRPr/>
          </a:p>
        </p:txBody>
      </p:sp>
      <p:sp>
        <p:nvSpPr>
          <p:cNvPr id="1315" name=""/>
          <p:cNvSpPr/>
          <p:nvPr/>
        </p:nvSpPr>
        <p:spPr>
          <a:xfrm rot="0" flipH="0" flipV="0">
            <a:off x="74866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6" name="" descr="{&quot;isTemplate&quot;:true,&quot;type&quot;:&quot;text&quot;}"/>
          <p:cNvSpPr txBox="1"/>
          <p:nvPr/>
        </p:nvSpPr>
        <p:spPr>
          <a:xfrm rot="0" flipH="0" flipV="0">
            <a:off x="75914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亿</a:t>
            </a:r>
            <a:endParaRPr/>
          </a:p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7972425" y="343852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9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（中文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汉字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≈ 2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318" name=""/>
          <p:cNvSpPr/>
          <p:nvPr/>
        </p:nvSpPr>
        <p:spPr>
          <a:xfrm rot="0" flipH="0" flipV="0">
            <a:off x="4457700" y="5419725"/>
            <a:ext cx="7048500" cy="638175"/>
          </a:xfrm>
          <a:prstGeom prst="roundRect">
            <a:avLst>
              <a:gd name="adj" fmla="val 597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9" name="" descr="{&quot;isTemplate&quot;:true,&quot;type&quot;:&quot;text&quot;}"/>
          <p:cNvSpPr txBox="1"/>
          <p:nvPr/>
        </p:nvSpPr>
        <p:spPr>
          <a:xfrm rot="0" flipH="0" flipV="0">
            <a:off x="4629150" y="56292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5143500" y="5572125"/>
            <a:ext cx="61912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多轮工具调用后上下文膨胀是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必然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，不是意外——预算要自己管。</a:t>
            </a:r>
            <a:endParaRPr/>
          </a:p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2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05 / 34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2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四个必须先记住的概念</a:t>
            </a:r>
            <a:endParaRPr/>
          </a:p>
        </p:txBody>
      </p:sp>
      <p:sp>
        <p:nvSpPr>
          <p:cNvPr id="132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它们分别管着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说什么、怎么说、会不会编、记不记得住</a:t>
            </a:r>
            <a:endParaRPr/>
          </a:p>
        </p:txBody>
      </p:sp>
      <p:sp>
        <p:nvSpPr>
          <p:cNvPr id="1328" name=""/>
          <p:cNvSpPr/>
          <p:nvPr/>
        </p:nvSpPr>
        <p:spPr>
          <a:xfrm rot="0" flipH="0" flipV="0">
            <a:off x="685800" y="1143000"/>
            <a:ext cx="6505575" cy="4914900"/>
          </a:xfrm>
          <a:custGeom>
            <a:pathLst>
              <a:path w="683" h="516">
                <a:moveTo>
                  <a:pt x="682" y="0"/>
                </a:moveTo>
                <a:lnTo>
                  <a:pt x="683" y="0"/>
                </a:lnTo>
                <a:lnTo>
                  <a:pt x="683" y="516"/>
                </a:lnTo>
                <a:lnTo>
                  <a:pt x="68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29" name=""/>
          <p:cNvSpPr/>
          <p:nvPr/>
        </p:nvSpPr>
        <p:spPr>
          <a:xfrm rot="0" flipH="0" flipV="0">
            <a:off x="685800" y="1143000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30" name=""/>
          <p:cNvSpPr/>
          <p:nvPr/>
        </p:nvSpPr>
        <p:spPr>
          <a:xfrm rot="0" flipH="0" flipV="0">
            <a:off x="685800" y="1238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3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1343025"/>
            <a:ext cx="200025" cy="200025"/>
          </a:xfrm>
          <a:prstGeom prst="rect">
            <a:avLst/>
          </a:prstGeom>
          <a:ln/>
        </p:spPr>
      </p:pic>
      <p:sp>
        <p:nvSpPr>
          <p:cNvPr id="1332" name="" descr="{&quot;isTemplate&quot;:true,&quot;type&quot;:&quot;text&quot;}"/>
          <p:cNvSpPr txBox="1"/>
          <p:nvPr/>
        </p:nvSpPr>
        <p:spPr>
          <a:xfrm rot="0" flipH="0" flipV="0">
            <a:off x="1238250" y="12382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Prompt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提示词</a:t>
            </a:r>
            <a:endParaRPr/>
          </a:p>
        </p:txBody>
      </p:sp>
      <p:sp>
        <p:nvSpPr>
          <p:cNvPr id="1333" name="" descr="{&quot;isTemplate&quot;:true,&quot;type&quot;:&quot;text&quot;}"/>
          <p:cNvSpPr txBox="1"/>
          <p:nvPr/>
        </p:nvSpPr>
        <p:spPr>
          <a:xfrm rot="0" flipH="0" flipV="0">
            <a:off x="1238250" y="15240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定角色、定任务、定边界、定输出格式。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System Prompt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就是它的岗位说明书。</a:t>
            </a:r>
            <a:endParaRPr/>
          </a:p>
        </p:txBody>
      </p:sp>
      <p:sp>
        <p:nvSpPr>
          <p:cNvPr id="1334" name=""/>
          <p:cNvSpPr/>
          <p:nvPr/>
        </p:nvSpPr>
        <p:spPr>
          <a:xfrm rot="0" flipH="0" flipV="0">
            <a:off x="685800" y="2524125"/>
            <a:ext cx="6162675" cy="790575"/>
          </a:xfrm>
          <a:custGeom>
            <a:pathLst>
              <a:path w="647" h="83">
                <a:moveTo>
                  <a:pt x="0" y="82"/>
                </a:moveTo>
                <a:lnTo>
                  <a:pt x="647" y="82"/>
                </a:lnTo>
                <a:lnTo>
                  <a:pt x="647" y="83"/>
                </a:lnTo>
                <a:lnTo>
                  <a:pt x="0" y="83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35" name=""/>
          <p:cNvSpPr/>
          <p:nvPr/>
        </p:nvSpPr>
        <p:spPr>
          <a:xfrm rot="0" flipH="0" flipV="0">
            <a:off x="685800" y="261937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3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0575" y="2724150"/>
            <a:ext cx="200025" cy="200025"/>
          </a:xfrm>
          <a:prstGeom prst="rect">
            <a:avLst/>
          </a:prstGeom>
          <a:ln/>
        </p:spPr>
      </p:pic>
      <p:sp>
        <p:nvSpPr>
          <p:cNvPr id="1337" name="" descr="{&quot;isTemplate&quot;:true,&quot;type&quot;:&quot;text&quot;}"/>
          <p:cNvSpPr txBox="1"/>
          <p:nvPr/>
        </p:nvSpPr>
        <p:spPr>
          <a:xfrm rot="0" flipH="0" flipV="0">
            <a:off x="1238250" y="261937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温度</a:t>
            </a:r>
            <a:endParaRPr/>
          </a:p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1238250" y="2905125"/>
            <a:ext cx="56102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控制随机性。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最确定，适合工具调用与结构化输出；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0.7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有创造力；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&gt;1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容易胡编。</a:t>
            </a:r>
            <a:endParaRPr/>
          </a:p>
        </p:txBody>
      </p:sp>
      <p:sp>
        <p:nvSpPr>
          <p:cNvPr id="1339" name=""/>
          <p:cNvSpPr/>
          <p:nvPr/>
        </p:nvSpPr>
        <p:spPr>
          <a:xfrm rot="0" flipH="0" flipV="0">
            <a:off x="685800" y="3609975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40" name=""/>
          <p:cNvSpPr/>
          <p:nvPr/>
        </p:nvSpPr>
        <p:spPr>
          <a:xfrm rot="0" flipH="0" flipV="0">
            <a:off x="685800" y="370522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3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90575" y="3810000"/>
            <a:ext cx="200025" cy="200025"/>
          </a:xfrm>
          <a:prstGeom prst="rect">
            <a:avLst/>
          </a:prstGeom>
          <a:ln/>
        </p:spPr>
      </p:pic>
      <p:sp>
        <p:nvSpPr>
          <p:cNvPr id="1342" name="" descr="{&quot;isTemplate&quot;:true,&quot;type&quot;:&quot;text&quot;}"/>
          <p:cNvSpPr txBox="1"/>
          <p:nvPr/>
        </p:nvSpPr>
        <p:spPr>
          <a:xfrm rot="0" flipH="0" flipV="0">
            <a:off x="1238250" y="370522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幻觉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Hallucination</a:t>
            </a:r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1238250" y="3990975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模型会编造不存在的事实、参数、表名。压制的可靠办法只有一个：让它基于工具返回的真实数据作答。</a:t>
            </a:r>
            <a:endParaRPr/>
          </a:p>
        </p:txBody>
      </p:sp>
      <p:sp>
        <p:nvSpPr>
          <p:cNvPr id="1344" name=""/>
          <p:cNvSpPr/>
          <p:nvPr/>
        </p:nvSpPr>
        <p:spPr>
          <a:xfrm rot="0" flipH="0" flipV="0">
            <a:off x="685800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3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90575" y="5191125"/>
            <a:ext cx="200025" cy="200025"/>
          </a:xfrm>
          <a:prstGeom prst="rect">
            <a:avLst/>
          </a:prstGeom>
          <a:ln/>
        </p:spPr>
      </p:pic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1238250" y="50863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Embedding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嵌入向量</a:t>
            </a:r>
            <a:endParaRPr/>
          </a:p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1238250" y="53721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把文本转成向量，用相似度衡量语义远近（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相似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无关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-1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相反），是长期记忆的地基。</a:t>
            </a:r>
            <a:endParaRPr/>
          </a:p>
        </p:txBody>
      </p:sp>
      <p:sp>
        <p:nvSpPr>
          <p:cNvPr id="1348" name="" descr="{&quot;isTemplate&quot;:true,&quot;type&quot;:&quot;text&quot;}"/>
          <p:cNvSpPr txBox="1"/>
          <p:nvPr/>
        </p:nvSpPr>
        <p:spPr>
          <a:xfrm rot="0" flipH="0" flipV="0">
            <a:off x="7524750" y="1143000"/>
            <a:ext cx="398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PUT TOGETHER</a:t>
            </a:r>
            <a:endParaRPr/>
          </a:p>
        </p:txBody>
      </p:sp>
      <p:sp>
        <p:nvSpPr>
          <p:cNvPr id="1349" name="" descr="{&quot;isTemplate&quot;:true,&quot;type&quot;:&quot;text&quot;}"/>
          <p:cNvSpPr txBox="1"/>
          <p:nvPr/>
        </p:nvSpPr>
        <p:spPr>
          <a:xfrm rot="0" flipH="0" flipV="0">
            <a:off x="7524750" y="1485900"/>
            <a:ext cx="398145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四个概念，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四道稳定性的闸门</a:t>
            </a:r>
            <a:endParaRPr/>
          </a:p>
        </p:txBody>
      </p:sp>
      <p:sp>
        <p:nvSpPr>
          <p:cNvPr id="1350" name="" descr="{&quot;isTemplate&quot;:true,&quot;type&quot;:&quot;text&quot;}"/>
          <p:cNvSpPr txBox="1"/>
          <p:nvPr/>
        </p:nvSpPr>
        <p:spPr>
          <a:xfrm rot="0" flipH="0" flipV="0">
            <a:off x="7524750" y="24765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说什么</a:t>
            </a:r>
            <a:endParaRPr/>
          </a:p>
        </p:txBody>
      </p:sp>
      <p:sp>
        <p:nvSpPr>
          <p:cNvPr id="1351" name="" descr="{&quot;isTemplate&quot;:true,&quot;type&quot;:&quot;text&quot;}"/>
          <p:cNvSpPr txBox="1"/>
          <p:nvPr/>
        </p:nvSpPr>
        <p:spPr>
          <a:xfrm rot="0" flipH="0" flipV="0">
            <a:off x="11029950" y="2476500"/>
            <a:ext cx="47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Prompt</a:t>
            </a:r>
            <a:endParaRPr/>
          </a:p>
        </p:txBody>
      </p:sp>
      <p:sp>
        <p:nvSpPr>
          <p:cNvPr id="1352" name=""/>
          <p:cNvSpPr/>
          <p:nvPr/>
        </p:nvSpPr>
        <p:spPr>
          <a:xfrm rot="0" flipH="0" flipV="0">
            <a:off x="7524750" y="2724150"/>
            <a:ext cx="39814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53" name="" descr="{&quot;isTemplate&quot;:true,&quot;type&quot;:&quot;text&quot;}"/>
          <p:cNvSpPr txBox="1"/>
          <p:nvPr/>
        </p:nvSpPr>
        <p:spPr>
          <a:xfrm rot="0" flipH="0" flipV="0">
            <a:off x="7524750" y="28670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怎么答</a:t>
            </a:r>
            <a:endParaRPr/>
          </a:p>
        </p:txBody>
      </p:sp>
      <p:sp>
        <p:nvSpPr>
          <p:cNvPr id="1354" name="" descr="{&quot;isTemplate&quot;:true,&quot;type&quot;:&quot;text&quot;}"/>
          <p:cNvSpPr txBox="1"/>
          <p:nvPr/>
        </p:nvSpPr>
        <p:spPr>
          <a:xfrm rot="0" flipH="0" flipV="0">
            <a:off x="10325100" y="28670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Temperature = 0</a:t>
            </a:r>
            <a:endParaRPr/>
          </a:p>
        </p:txBody>
      </p:sp>
      <p:sp>
        <p:nvSpPr>
          <p:cNvPr id="1355" name=""/>
          <p:cNvSpPr/>
          <p:nvPr/>
        </p:nvSpPr>
        <p:spPr>
          <a:xfrm rot="0" flipH="0" flipV="0">
            <a:off x="7524750" y="3114675"/>
            <a:ext cx="31051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56" name="" descr="{&quot;isTemplate&quot;:true,&quot;type&quot;:&quot;text&quot;}"/>
          <p:cNvSpPr txBox="1"/>
          <p:nvPr/>
        </p:nvSpPr>
        <p:spPr>
          <a:xfrm rot="0" flipH="0" flipV="0">
            <a:off x="7524750" y="32575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会不会编</a:t>
            </a:r>
            <a:endParaRPr/>
          </a:p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10706100" y="325755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工具真实数据</a:t>
            </a:r>
            <a:endParaRPr/>
          </a:p>
        </p:txBody>
      </p:sp>
      <p:sp>
        <p:nvSpPr>
          <p:cNvPr id="1358" name=""/>
          <p:cNvSpPr/>
          <p:nvPr/>
        </p:nvSpPr>
        <p:spPr>
          <a:xfrm rot="0" flipH="0" flipV="0">
            <a:off x="7524750" y="3505200"/>
            <a:ext cx="2466975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59" name="" descr="{&quot;isTemplate&quot;:true,&quot;type&quot;:&quot;text&quot;}"/>
          <p:cNvSpPr txBox="1"/>
          <p:nvPr/>
        </p:nvSpPr>
        <p:spPr>
          <a:xfrm rot="0" flipH="0" flipV="0">
            <a:off x="7524750" y="36480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记得住吗</a:t>
            </a:r>
            <a:endParaRPr/>
          </a:p>
        </p:txBody>
      </p:sp>
      <p:sp>
        <p:nvSpPr>
          <p:cNvPr id="1360" name="" descr="{&quot;isTemplate&quot;:true,&quot;type&quot;:&quot;text&quot;}"/>
          <p:cNvSpPr txBox="1"/>
          <p:nvPr/>
        </p:nvSpPr>
        <p:spPr>
          <a:xfrm rot="0" flipH="0" flipV="0">
            <a:off x="10163175" y="3648075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 xml:space="preserve">Embedding + </a:t>
            </a: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向量库</a:t>
            </a:r>
            <a:endParaRPr/>
          </a:p>
        </p:txBody>
      </p:sp>
      <p:sp>
        <p:nvSpPr>
          <p:cNvPr id="1361" name=""/>
          <p:cNvSpPr/>
          <p:nvPr/>
        </p:nvSpPr>
        <p:spPr>
          <a:xfrm rot="0" flipH="0" flipV="0">
            <a:off x="7524750" y="3895725"/>
            <a:ext cx="182880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62" name=""/>
          <p:cNvSpPr/>
          <p:nvPr/>
        </p:nvSpPr>
        <p:spPr>
          <a:xfrm rot="0" flipH="0" flipV="0">
            <a:off x="7524750" y="5067300"/>
            <a:ext cx="3981450" cy="990600"/>
          </a:xfrm>
          <a:prstGeom prst="roundRect">
            <a:avLst>
              <a:gd name="adj" fmla="val 384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7696200" y="5219700"/>
            <a:ext cx="36385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这四点决定了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稳定性上限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——它们出问题，模型再强也救不回来。</a:t>
            </a:r>
            <a:endParaRPr/>
          </a:p>
        </p:txBody>
      </p:sp>
      <p:sp>
        <p:nvSpPr>
          <p:cNvPr id="136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6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06 / 34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6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36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695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两种调用方式：对话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vs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endParaRPr/>
          </a:p>
        </p:txBody>
      </p:sp>
      <p:sp>
        <p:nvSpPr>
          <p:cNvPr id="137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69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从「只会说」到「能动手」，差别就在出口是文本还是结构化参数</a:t>
            </a:r>
            <a:endParaRPr/>
          </a:p>
        </p:txBody>
      </p:sp>
      <p:sp>
        <p:nvSpPr>
          <p:cNvPr id="1371" name=""/>
          <p:cNvSpPr/>
          <p:nvPr/>
        </p:nvSpPr>
        <p:spPr>
          <a:xfrm rot="0" flipH="0" flipV="0">
            <a:off x="685800" y="1143000"/>
            <a:ext cx="3238500" cy="4095750"/>
          </a:xfrm>
          <a:custGeom>
            <a:pathLst>
              <a:path w="340" h="430">
                <a:moveTo>
                  <a:pt x="339" y="0"/>
                </a:moveTo>
                <a:lnTo>
                  <a:pt x="340" y="0"/>
                </a:lnTo>
                <a:lnTo>
                  <a:pt x="340" y="430"/>
                </a:lnTo>
                <a:lnTo>
                  <a:pt x="339" y="4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62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THE DIVIDE</a:t>
            </a:r>
            <a:endParaRPr/>
          </a:p>
        </p:txBody>
      </p:sp>
      <p:sp>
        <p:nvSpPr>
          <p:cNvPr id="1373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62275" cy="1000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模型只说，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不做</a:t>
            </a:r>
            <a:endParaRPr/>
          </a:p>
        </p:txBody>
      </p:sp>
      <p:sp>
        <p:nvSpPr>
          <p:cNvPr id="1374" name="" descr="{&quot;isTemplate&quot;:true,&quot;type&quot;:&quot;text&quot;}"/>
          <p:cNvSpPr txBox="1"/>
          <p:nvPr/>
        </p:nvSpPr>
        <p:spPr>
          <a:xfrm rot="0" flipH="0" flipV="0">
            <a:off x="685800" y="2638425"/>
            <a:ext cx="29622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两种方式里，模型都只负责「说要调什么」；真正执行函数的永远是我们的代码。这就是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安全的关键——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375" name=""/>
          <p:cNvSpPr/>
          <p:nvPr/>
        </p:nvSpPr>
        <p:spPr>
          <a:xfrm rot="0" flipH="0" flipV="0">
            <a:off x="6858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6" name="" descr="{&quot;isTemplate&quot;:true,&quot;type&quot;:&quot;text&quot;}"/>
          <p:cNvSpPr txBox="1"/>
          <p:nvPr/>
        </p:nvSpPr>
        <p:spPr>
          <a:xfrm rot="0" flipH="0" flipV="0">
            <a:off x="7810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建议权在模型</a:t>
            </a:r>
            <a:endParaRPr/>
          </a:p>
        </p:txBody>
      </p:sp>
      <p:sp>
        <p:nvSpPr>
          <p:cNvPr id="1377" name=""/>
          <p:cNvSpPr/>
          <p:nvPr/>
        </p:nvSpPr>
        <p:spPr>
          <a:xfrm rot="0" flipH="0" flipV="0">
            <a:off x="17526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8" name="" descr="{&quot;isTemplate&quot;:true,&quot;type&quot;:&quot;text&quot;}"/>
          <p:cNvSpPr txBox="1"/>
          <p:nvPr/>
        </p:nvSpPr>
        <p:spPr>
          <a:xfrm rot="0" flipH="0" flipV="0">
            <a:off x="18478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执行权在代码</a:t>
            </a:r>
            <a:endParaRPr/>
          </a:p>
        </p:txBody>
      </p:sp>
      <p:sp>
        <p:nvSpPr>
          <p:cNvPr id="1379" name=""/>
          <p:cNvSpPr/>
          <p:nvPr/>
        </p:nvSpPr>
        <p:spPr>
          <a:xfrm rot="0" flipH="0" flipV="0">
            <a:off x="685800" y="450532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80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结构化参数</a:t>
            </a:r>
            <a:endParaRPr/>
          </a:p>
        </p:txBody>
      </p:sp>
      <p:pic>
        <p:nvPicPr>
          <p:cNvPr id="13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267200" y="1171575"/>
            <a:ext cx="152400" cy="152400"/>
          </a:xfrm>
          <a:prstGeom prst="rect">
            <a:avLst/>
          </a:prstGeom>
          <a:ln/>
        </p:spPr>
      </p:pic>
      <p:sp>
        <p:nvSpPr>
          <p:cNvPr id="1382" name="" descr="{&quot;isTemplate&quot;:true,&quot;type&quot;:&quot;text&quot;}"/>
          <p:cNvSpPr txBox="1"/>
          <p:nvPr/>
        </p:nvSpPr>
        <p:spPr>
          <a:xfrm rot="0" flipH="0" flipV="0">
            <a:off x="4514850" y="1143000"/>
            <a:ext cx="2362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① </a:t>
            </a:r>
            <a:r>
              <a:rPr lang="zh-CN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普通对话</a:t>
            </a: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· Chat Completions</a:t>
            </a:r>
            <a:endParaRPr/>
          </a:p>
        </p:txBody>
      </p:sp>
      <p:sp>
        <p:nvSpPr>
          <p:cNvPr id="1383" name=""/>
          <p:cNvSpPr/>
          <p:nvPr/>
        </p:nvSpPr>
        <p:spPr>
          <a:xfrm rot="0" flipH="0" flipV="0">
            <a:off x="42672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4676775" y="16668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385" name="" descr="{&quot;isTemplate&quot;:true,&quot;type&quot;:&quot;text&quot;}"/>
          <p:cNvSpPr txBox="1"/>
          <p:nvPr/>
        </p:nvSpPr>
        <p:spPr>
          <a:xfrm rot="0" flipH="0" flipV="0">
            <a:off x="4572000" y="1895475"/>
            <a:ext cx="81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56959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87" name=""/>
          <p:cNvSpPr/>
          <p:nvPr/>
        </p:nvSpPr>
        <p:spPr>
          <a:xfrm rot="0" flipH="0" flipV="0">
            <a:off x="61341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88" name="" descr="{&quot;isTemplate&quot;:true,&quot;type&quot;:&quot;text&quot;}"/>
          <p:cNvSpPr txBox="1"/>
          <p:nvPr/>
        </p:nvSpPr>
        <p:spPr>
          <a:xfrm rot="0" flipH="0" flipV="0">
            <a:off x="6715125" y="1666875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389" name="" descr="{&quot;isTemplate&quot;:true,&quot;type&quot;:&quot;text&quot;}"/>
          <p:cNvSpPr txBox="1"/>
          <p:nvPr/>
        </p:nvSpPr>
        <p:spPr>
          <a:xfrm rot="0" flipH="0" flipV="0">
            <a:off x="6724650" y="1895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生成</a:t>
            </a:r>
            <a:endParaRPr/>
          </a:p>
        </p:txBody>
      </p:sp>
      <p:sp>
        <p:nvSpPr>
          <p:cNvPr id="1390" name="" descr="{&quot;isTemplate&quot;:true,&quot;type&quot;:&quot;text&quot;}"/>
          <p:cNvSpPr txBox="1"/>
          <p:nvPr/>
        </p:nvSpPr>
        <p:spPr>
          <a:xfrm rot="0" flipH="0" flipV="0">
            <a:off x="75628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91" name=""/>
          <p:cNvSpPr/>
          <p:nvPr/>
        </p:nvSpPr>
        <p:spPr>
          <a:xfrm rot="0" flipH="0" flipV="0">
            <a:off x="8001000" y="1476375"/>
            <a:ext cx="220980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2" name="" descr="{&quot;isTemplate&quot;:true,&quot;type&quot;:&quot;text&quot;}"/>
          <p:cNvSpPr txBox="1"/>
          <p:nvPr/>
        </p:nvSpPr>
        <p:spPr>
          <a:xfrm rot="0" flipH="0" flipV="0">
            <a:off x="8724900" y="16668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纯文本输出</a:t>
            </a:r>
            <a:endParaRPr/>
          </a:p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8181975" y="1895475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程序只拿到一个字符串，到此为止</a:t>
            </a:r>
            <a:endParaRPr/>
          </a:p>
        </p:txBody>
      </p:sp>
      <p:pic>
        <p:nvPicPr>
          <p:cNvPr id="13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67200" y="4019550"/>
            <a:ext cx="152400" cy="152400"/>
          </a:xfrm>
          <a:prstGeom prst="rect">
            <a:avLst/>
          </a:prstGeom>
          <a:ln/>
        </p:spPr>
      </p:pic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4514850" y="3990975"/>
            <a:ext cx="2238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②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Function Calling</a:t>
            </a:r>
            <a:endParaRPr/>
          </a:p>
        </p:txBody>
      </p:sp>
      <p:sp>
        <p:nvSpPr>
          <p:cNvPr id="1396" name=""/>
          <p:cNvSpPr/>
          <p:nvPr/>
        </p:nvSpPr>
        <p:spPr>
          <a:xfrm rot="0" flipH="0" flipV="0">
            <a:off x="426720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7" name="" descr="{&quot;isTemplate&quot;:true,&quot;type&quot;:&quot;text&quot;}"/>
          <p:cNvSpPr txBox="1"/>
          <p:nvPr/>
        </p:nvSpPr>
        <p:spPr>
          <a:xfrm rot="0" flipH="0" flipV="0">
            <a:off x="461962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398" name="" descr="{&quot;isTemplate&quot;:true,&quot;type&quot;:&quot;text&quot;}"/>
          <p:cNvSpPr txBox="1"/>
          <p:nvPr/>
        </p:nvSpPr>
        <p:spPr>
          <a:xfrm rot="0" flipH="0" flipV="0">
            <a:off x="4343400" y="4819650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「</a:t>
            </a: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128×456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等于几」</a:t>
            </a:r>
            <a:endParaRPr/>
          </a:p>
        </p:txBody>
      </p:sp>
      <p:sp>
        <p:nvSpPr>
          <p:cNvPr id="1399" name="" descr="{&quot;isTemplate&quot;:true,&quot;type&quot;:&quot;text&quot;}"/>
          <p:cNvSpPr txBox="1"/>
          <p:nvPr/>
        </p:nvSpPr>
        <p:spPr>
          <a:xfrm rot="0" flipH="0" flipV="0">
            <a:off x="55816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00" name=""/>
          <p:cNvSpPr/>
          <p:nvPr/>
        </p:nvSpPr>
        <p:spPr>
          <a:xfrm rot="0" flipH="0" flipV="0">
            <a:off x="592455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6124575" y="45910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tool_calls</a:t>
            </a:r>
            <a:endParaRPr/>
          </a:p>
        </p:txBody>
      </p:sp>
      <p:sp>
        <p:nvSpPr>
          <p:cNvPr id="1402" name="" descr="{&quot;isTemplate&quot;:true,&quot;type&quot;:&quot;text&quot;}"/>
          <p:cNvSpPr txBox="1"/>
          <p:nvPr/>
        </p:nvSpPr>
        <p:spPr>
          <a:xfrm rot="0" flipH="0" flipV="0">
            <a:off x="6467475" y="4819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 xml:space="preserve">JSON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>参数</a:t>
            </a:r>
            <a:endParaRPr/>
          </a:p>
        </p:txBody>
      </p:sp>
      <p:sp>
        <p:nvSpPr>
          <p:cNvPr id="1403" name="" descr="{&quot;isTemplate&quot;:true,&quot;type&quot;:&quot;text&quot;}"/>
          <p:cNvSpPr txBox="1"/>
          <p:nvPr/>
        </p:nvSpPr>
        <p:spPr>
          <a:xfrm rot="0" flipH="0" flipV="0">
            <a:off x="7620000" y="4667250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⇄</a:t>
            </a:r>
            <a:endParaRPr/>
          </a:p>
        </p:txBody>
      </p:sp>
      <p:sp>
        <p:nvSpPr>
          <p:cNvPr id="1404" name=""/>
          <p:cNvSpPr/>
          <p:nvPr/>
        </p:nvSpPr>
        <p:spPr>
          <a:xfrm rot="0" flipH="0" flipV="0">
            <a:off x="800100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5" name="" descr="{&quot;isTemplate&quot;:true,&quot;type&quot;:&quot;text&quot;}"/>
          <p:cNvSpPr txBox="1"/>
          <p:nvPr/>
        </p:nvSpPr>
        <p:spPr>
          <a:xfrm rot="0" flipH="0" flipV="0">
            <a:off x="8239125" y="45910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你的代码真正执行</a:t>
            </a:r>
            <a:endParaRPr/>
          </a:p>
        </p:txBody>
      </p:sp>
      <p:sp>
        <p:nvSpPr>
          <p:cNvPr id="1406" name="" descr="{&quot;isTemplate&quot;:true,&quot;type&quot;:&quot;text&quot;}"/>
          <p:cNvSpPr txBox="1"/>
          <p:nvPr/>
        </p:nvSpPr>
        <p:spPr>
          <a:xfrm rot="0" flipH="0" flipV="0">
            <a:off x="8343900" y="4819650"/>
            <a:ext cx="1019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role=tool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结果回填</a:t>
            </a:r>
            <a:endParaRPr/>
          </a:p>
        </p:txBody>
      </p:sp>
      <p:sp>
        <p:nvSpPr>
          <p:cNvPr id="1407" name="" descr="{&quot;isTemplate&quot;:true,&quot;type&quot;:&quot;text&quot;}"/>
          <p:cNvSpPr txBox="1"/>
          <p:nvPr/>
        </p:nvSpPr>
        <p:spPr>
          <a:xfrm rot="0" flipH="0" flipV="0">
            <a:off x="96964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08" name=""/>
          <p:cNvSpPr/>
          <p:nvPr/>
        </p:nvSpPr>
        <p:spPr>
          <a:xfrm rot="0" flipH="0" flipV="0">
            <a:off x="1003935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9" name="" descr="{&quot;isTemplate&quot;:true,&quot;type&quot;:&quot;text&quot;}"/>
          <p:cNvSpPr txBox="1"/>
          <p:nvPr/>
        </p:nvSpPr>
        <p:spPr>
          <a:xfrm rot="0" flipH="0" flipV="0">
            <a:off x="1039177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最终回答</a:t>
            </a:r>
            <a:endParaRPr/>
          </a:p>
        </p:txBody>
      </p:sp>
      <p:sp>
        <p:nvSpPr>
          <p:cNvPr id="1410" name="" descr="{&quot;isTemplate&quot;:true,&quot;type&quot;:&quot;text&quot;}"/>
          <p:cNvSpPr txBox="1"/>
          <p:nvPr/>
        </p:nvSpPr>
        <p:spPr>
          <a:xfrm rot="0" flipH="0" flipV="0">
            <a:off x="10515600" y="4819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58368</a:t>
            </a:r>
            <a:endParaRPr/>
          </a:p>
        </p:txBody>
      </p:sp>
      <p:sp>
        <p:nvSpPr>
          <p:cNvPr id="1411" name=""/>
          <p:cNvSpPr/>
          <p:nvPr/>
        </p:nvSpPr>
        <p:spPr>
          <a:xfrm rot="0" flipH="0" flipV="0">
            <a:off x="685800" y="5372100"/>
            <a:ext cx="10820400" cy="685800"/>
          </a:xfrm>
          <a:prstGeom prst="roundRect">
            <a:avLst>
              <a:gd name="adj" fmla="val 555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12" name="" descr="{&quot;isTemplate&quot;:true,&quot;type&quot;:&quot;text&quot;}"/>
          <p:cNvSpPr txBox="1"/>
          <p:nvPr/>
        </p:nvSpPr>
        <p:spPr>
          <a:xfrm rot="0" flipH="0" flipV="0">
            <a:off x="876300" y="5610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共同点</a:t>
            </a:r>
            <a:endParaRPr/>
          </a:p>
        </p:txBody>
      </p:sp>
      <p:sp>
        <p:nvSpPr>
          <p:cNvPr id="1413" name=""/>
          <p:cNvSpPr/>
          <p:nvPr/>
        </p:nvSpPr>
        <p:spPr>
          <a:xfrm rot="0" flipH="0" flipV="0">
            <a:off x="1543050" y="5572125"/>
            <a:ext cx="9525" cy="28575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14" name="" descr="{&quot;isTemplate&quot;:true,&quot;type&quot;:&quot;text&quot;}"/>
          <p:cNvSpPr txBox="1"/>
          <p:nvPr/>
        </p:nvSpPr>
        <p:spPr>
          <a:xfrm rot="0" flipH="0" flipV="0">
            <a:off x="1704975" y="5381625"/>
            <a:ext cx="9610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模型不碰真实世界，它只输出「调哪个工具、传什么参数」；执行永远发生在你的进程里——这就是工具调用成为「聊天机器人」与「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」分水岭的原因。</a:t>
            </a:r>
            <a:endParaRPr/>
          </a:p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41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07 / 34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4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41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19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：手写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142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19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自己发明格式、自己解析、自己执行——理解原理最直观的一条路</a:t>
            </a:r>
            <a:endParaRPr/>
          </a:p>
        </p:txBody>
      </p:sp>
      <p:sp>
        <p:nvSpPr>
          <p:cNvPr id="142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fc_demo_a.py</a:t>
            </a:r>
            <a:endParaRPr/>
          </a:p>
        </p:txBody>
      </p:sp>
      <p:sp>
        <p:nvSpPr>
          <p:cNvPr id="1423" name=""/>
          <p:cNvSpPr/>
          <p:nvPr/>
        </p:nvSpPr>
        <p:spPr>
          <a:xfrm rot="0" flipH="0" flipV="0">
            <a:off x="20383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24" name="" descr="{&quot;isTemplate&quot;:true,&quot;type&quot;:&quot;text&quot;}"/>
          <p:cNvSpPr txBox="1"/>
          <p:nvPr/>
        </p:nvSpPr>
        <p:spPr>
          <a:xfrm rot="0" flipH="0" flipV="0">
            <a:off x="2162175" y="1143000"/>
            <a:ext cx="543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约定：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Thought → Action: tool[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] → Answer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，并明令禁止编造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1425" name=""/>
          <p:cNvSpPr/>
          <p:nvPr/>
        </p:nvSpPr>
        <p:spPr>
          <a:xfrm rot="0" flipH="0" flipV="0">
            <a:off x="685800" y="4514850"/>
            <a:ext cx="3619500" cy="1543050"/>
          </a:xfrm>
          <a:custGeom>
            <a:pathLst>
              <a:path w="380" h="162">
                <a:moveTo>
                  <a:pt x="379" y="0"/>
                </a:moveTo>
                <a:lnTo>
                  <a:pt x="380" y="0"/>
                </a:lnTo>
                <a:lnTo>
                  <a:pt x="380" y="162"/>
                </a:lnTo>
                <a:lnTo>
                  <a:pt x="379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26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01</a:t>
            </a:r>
            <a:endParaRPr/>
          </a:p>
        </p:txBody>
      </p:sp>
      <p:sp>
        <p:nvSpPr>
          <p:cNvPr id="1427" name="" descr="{&quot;isTemplate&quot;:true,&quot;type&quot;:&quot;text&quot;}"/>
          <p:cNvSpPr txBox="1"/>
          <p:nvPr/>
        </p:nvSpPr>
        <p:spPr>
          <a:xfrm rot="0" flipH="0" flipV="0">
            <a:off x="685800" y="4752975"/>
            <a:ext cx="335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模型自演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1428" name="" descr="{&quot;isTemplate&quot;:true,&quot;type&quot;:&quot;text&quot;}"/>
          <p:cNvSpPr txBox="1"/>
          <p:nvPr/>
        </p:nvSpPr>
        <p:spPr>
          <a:xfrm rot="0" flipH="0" flipV="0">
            <a:off x="685800" y="5048250"/>
            <a:ext cx="3352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太弱时，模型会把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/ Answer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一口气全「演」出来，甚至编造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Observation: 58848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（真实值是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58368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1429" name=""/>
          <p:cNvSpPr/>
          <p:nvPr/>
        </p:nvSpPr>
        <p:spPr>
          <a:xfrm rot="0" flipH="0" flipV="0">
            <a:off x="4295775" y="4514850"/>
            <a:ext cx="3609975" cy="1543050"/>
          </a:xfrm>
          <a:custGeom>
            <a:pathLst>
              <a:path w="379" h="162">
                <a:moveTo>
                  <a:pt x="378" y="0"/>
                </a:moveTo>
                <a:lnTo>
                  <a:pt x="379" y="0"/>
                </a:lnTo>
                <a:lnTo>
                  <a:pt x="379" y="162"/>
                </a:lnTo>
                <a:lnTo>
                  <a:pt x="378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30" name="" descr="{&quot;isTemplate&quot;:true,&quot;type&quot;:&quot;text&quot;}"/>
          <p:cNvSpPr txBox="1"/>
          <p:nvPr/>
        </p:nvSpPr>
        <p:spPr>
          <a:xfrm rot="0" flipH="0" flipV="0">
            <a:off x="4543425" y="45148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02</a:t>
            </a:r>
            <a:endParaRPr/>
          </a:p>
        </p:txBody>
      </p:sp>
      <p:sp>
        <p:nvSpPr>
          <p:cNvPr id="1431" name="" descr="{&quot;isTemplate&quot;:true,&quot;type&quot;:&quot;text&quot;}"/>
          <p:cNvSpPr txBox="1"/>
          <p:nvPr/>
        </p:nvSpPr>
        <p:spPr>
          <a:xfrm rot="0" flipH="0" flipV="0">
            <a:off x="4543425" y="4752975"/>
            <a:ext cx="3095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编造结果被原样拼回</a:t>
            </a:r>
            <a:endParaRPr/>
          </a:p>
        </p:txBody>
      </p:sp>
      <p:sp>
        <p:nvSpPr>
          <p:cNvPr id="1432" name="" descr="{&quot;isTemplate&quot;:true,&quot;type&quot;:&quot;text&quot;}"/>
          <p:cNvSpPr txBox="1"/>
          <p:nvPr/>
        </p:nvSpPr>
        <p:spPr>
          <a:xfrm rot="0" flipH="0" flipV="0">
            <a:off x="4543425" y="5048250"/>
            <a:ext cx="30956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把模型输出整段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append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进历史，编造的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与真实结果打架，模型每轮重复同样的幻觉，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5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轮全部耗尽。</a:t>
            </a:r>
            <a:endParaRPr/>
          </a:p>
        </p:txBody>
      </p:sp>
      <p:sp>
        <p:nvSpPr>
          <p:cNvPr id="1433" name="" descr="{&quot;isTemplate&quot;:true,&quot;type&quot;:&quot;text&quot;}"/>
          <p:cNvSpPr txBox="1"/>
          <p:nvPr/>
        </p:nvSpPr>
        <p:spPr>
          <a:xfrm rot="0" flipH="0" flipV="0">
            <a:off x="8143875" y="4514850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03</a:t>
            </a:r>
            <a:endParaRPr/>
          </a:p>
        </p:txBody>
      </p:sp>
      <p:sp>
        <p:nvSpPr>
          <p:cNvPr id="1434" name="" descr="{&quot;isTemplate&quot;:true,&quot;type&quot;:&quot;text&quot;}"/>
          <p:cNvSpPr txBox="1"/>
          <p:nvPr/>
        </p:nvSpPr>
        <p:spPr>
          <a:xfrm rot="0" flipH="0" flipV="0">
            <a:off x="8143875" y="47529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循环耗尽返回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None</a:t>
            </a:r>
            <a:endParaRPr/>
          </a:p>
        </p:txBody>
      </p:sp>
      <p:sp>
        <p:nvSpPr>
          <p:cNvPr id="1435" name="" descr="{&quot;isTemplate&quot;:true,&quot;type&quot;:&quot;text&quot;}"/>
          <p:cNvSpPr txBox="1"/>
          <p:nvPr/>
        </p:nvSpPr>
        <p:spPr>
          <a:xfrm rot="0" flipH="0" flipV="0">
            <a:off x="8143875" y="5048250"/>
            <a:ext cx="3362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run()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没有兜底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return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，最终打印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None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；报错信息只有一个空值，排查全靠猜。</a:t>
            </a:r>
            <a:endParaRPr/>
          </a:p>
        </p:txBody>
      </p:sp>
      <p:sp>
        <p:nvSpPr>
          <p:cNvPr id="143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43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08 / 34</a:t>
            </a:r>
            <a:endParaRPr/>
          </a:p>
        </p:txBody>
      </p:sp>
      <p:sp>
        <p:nvSpPr>
          <p:cNvPr id="1438" name=""/>
          <p:cNvSpPr/>
          <p:nvPr/>
        </p:nvSpPr>
        <p:spPr>
          <a:xfrm rot="0" flipH="0" flipV="0">
            <a:off x="685800" y="1390650"/>
            <a:ext cx="10820400" cy="2962275"/>
          </a:xfrm>
          <a:prstGeom prst="roundRect">
            <a:avLst>
              <a:gd name="adj" fmla="val 2572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439" name=""/>
          <p:cNvSpPr txBox="1"/>
          <p:nvPr/>
        </p:nvSpPr>
        <p:spPr>
          <a:xfrm rot="0" flipH="0" flipV="0">
            <a:off x="838200" y="1524000"/>
            <a:ext cx="10515600" cy="2695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def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B392F0"/>
                </a:solidFill>
                <a:latin typeface="Menlo"/>
                <a:ea typeface="Menlo"/>
              </a:rPr>
              <a:t>run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(q):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messages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[{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"system"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PROMPT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}, 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:q}]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_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range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5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):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最大轮数兜底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out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llm(messages, </a:t>
            </a:r>
            <a:r>
              <a:rPr sz="1050">
                <a:solidFill>
                  <a:srgbClr val="FFAB70"/>
                </a:solidFill>
                <a:latin typeface="Menlo"/>
                <a:ea typeface="Menlo"/>
              </a:rPr>
              <a:t>stop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])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生成阶段强制截断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hit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Action: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(\w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+?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\]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not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hit:   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没有 Action = 答完了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Answer: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result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globals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()[hit.group(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)](hit.group(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真正执行工具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"assistant"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    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 out.split(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]})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截干净再拼回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 xml:space="preserve">"Observation: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result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"达到最大轮数，未能得到答案"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兜底返回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4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442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3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572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：原生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（推荐）</a:t>
            </a:r>
            <a:endParaRPr/>
          </a:p>
        </p:txBody>
      </p:sp>
      <p:sp>
        <p:nvSpPr>
          <p:cNvPr id="1444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声明，模型直接返回结构化参数——不用正则</a:t>
            </a:r>
            <a:endParaRPr/>
          </a:p>
        </p:txBody>
      </p:sp>
      <p:sp>
        <p:nvSpPr>
          <p:cNvPr id="1445" name=""/>
          <p:cNvSpPr/>
          <p:nvPr/>
        </p:nvSpPr>
        <p:spPr>
          <a:xfrm rot="0" flipH="0" flipV="0">
            <a:off x="685800" y="1143000"/>
            <a:ext cx="3200400" cy="4381500"/>
          </a:xfrm>
          <a:custGeom>
            <a:pathLst>
              <a:path w="336" h="460">
                <a:moveTo>
                  <a:pt x="335" y="0"/>
                </a:moveTo>
                <a:lnTo>
                  <a:pt x="336" y="0"/>
                </a:lnTo>
                <a:lnTo>
                  <a:pt x="336" y="460"/>
                </a:lnTo>
                <a:lnTo>
                  <a:pt x="335" y="46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4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WHY BETTER</a:t>
            </a:r>
            <a:endParaRPr/>
          </a:p>
        </p:txBody>
      </p:sp>
      <p:sp>
        <p:nvSpPr>
          <p:cNvPr id="1447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格式是官方标准，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不用自己发明</a:t>
            </a:r>
            <a:endParaRPr/>
          </a:p>
        </p:txBody>
      </p:sp>
      <p:sp>
        <p:nvSpPr>
          <p:cNvPr id="1448" name="" descr="{&quot;isTemplate&quot;:true,&quot;type&quot;:&quot;text&quot;}"/>
          <p:cNvSpPr txBox="1"/>
          <p:nvPr/>
        </p:nvSpPr>
        <p:spPr>
          <a:xfrm rot="0" flipH="0" flipV="0">
            <a:off x="685800" y="25336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正式声明并随请求传入；模型开启特训过的「工具模式」，返回值直接是结构化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，稳定性和兼容性都由模型侧保证。</a:t>
            </a:r>
            <a:endParaRPr/>
          </a:p>
        </p:txBody>
      </p:sp>
      <p:sp>
        <p:nvSpPr>
          <p:cNvPr id="1449" name=""/>
          <p:cNvSpPr/>
          <p:nvPr/>
        </p:nvSpPr>
        <p:spPr>
          <a:xfrm rot="0" flipH="0" flipV="0">
            <a:off x="685800" y="4067175"/>
            <a:ext cx="103822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50" name="" descr="{&quot;isTemplate&quot;:true,&quot;type&quot;:&quot;text&quot;}"/>
          <p:cNvSpPr txBox="1"/>
          <p:nvPr/>
        </p:nvSpPr>
        <p:spPr>
          <a:xfrm rot="0" flipH="0" flipV="0">
            <a:off x="781050" y="410527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JSON Schema</a:t>
            </a:r>
            <a:endParaRPr/>
          </a:p>
        </p:txBody>
      </p:sp>
      <p:sp>
        <p:nvSpPr>
          <p:cNvPr id="1451" name=""/>
          <p:cNvSpPr/>
          <p:nvPr/>
        </p:nvSpPr>
        <p:spPr>
          <a:xfrm rot="0" flipH="0" flipV="0">
            <a:off x="1800225" y="4067175"/>
            <a:ext cx="762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1895475" y="41052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tool_calls</a:t>
            </a:r>
            <a:endParaRPr/>
          </a:p>
        </p:txBody>
      </p:sp>
      <p:sp>
        <p:nvSpPr>
          <p:cNvPr id="1453" name=""/>
          <p:cNvSpPr/>
          <p:nvPr/>
        </p:nvSpPr>
        <p:spPr>
          <a:xfrm rot="0" flipH="0" flipV="0">
            <a:off x="2638425" y="40671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54" name="" descr="{&quot;isTemplate&quot;:true,&quot;type&quot;:&quot;text&quot;}"/>
          <p:cNvSpPr txBox="1"/>
          <p:nvPr/>
        </p:nvSpPr>
        <p:spPr>
          <a:xfrm rot="0" flipH="0" flipV="0">
            <a:off x="2733675" y="4105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无需正则</a:t>
            </a:r>
            <a:endParaRPr/>
          </a:p>
        </p:txBody>
      </p:sp>
      <p:sp>
        <p:nvSpPr>
          <p:cNvPr id="1455" name=""/>
          <p:cNvSpPr/>
          <p:nvPr/>
        </p:nvSpPr>
        <p:spPr>
          <a:xfrm rot="0" flipH="0" flipV="0">
            <a:off x="714375" y="4343400"/>
            <a:ext cx="2924175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56" name=""/>
          <p:cNvSpPr/>
          <p:nvPr/>
        </p:nvSpPr>
        <p:spPr>
          <a:xfrm rot="0" flipH="0" flipV="0">
            <a:off x="714375" y="4343400"/>
            <a:ext cx="2924175" cy="1181100"/>
          </a:xfrm>
          <a:custGeom>
            <a:pathLst>
              <a:path w="307" h="12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23"/>
                </a:lnTo>
                <a:cubicBezTo>
                  <a:pt x="3" y="123"/>
                  <a:pt x="3" y="124"/>
                  <a:pt x="4" y="124"/>
                </a:cubicBez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57" name="" descr="{&quot;isTemplate&quot;:true,&quot;type&quot;:&quot;text&quot;}"/>
          <p:cNvSpPr txBox="1"/>
          <p:nvPr/>
        </p:nvSpPr>
        <p:spPr>
          <a:xfrm rot="0" flipH="0" flipV="0">
            <a:off x="866775" y="4476750"/>
            <a:ext cx="25908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就是写给模型看的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文档——模型选错工具，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是这里写得烂。</a:t>
            </a:r>
            <a:endParaRPr/>
          </a:p>
        </p:txBody>
      </p:sp>
      <p:sp>
        <p:nvSpPr>
          <p:cNvPr id="1458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fc_demo_b.js</a:t>
            </a:r>
            <a:endParaRPr/>
          </a:p>
        </p:txBody>
      </p:sp>
      <p:sp>
        <p:nvSpPr>
          <p:cNvPr id="1459" name=""/>
          <p:cNvSpPr/>
          <p:nvPr/>
        </p:nvSpPr>
        <p:spPr>
          <a:xfrm rot="0" flipH="0" flipV="0">
            <a:off x="55816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60" name="" descr="{&quot;isTemplate&quot;:true,&quot;type&quot;:&quot;text&quot;}"/>
          <p:cNvSpPr txBox="1"/>
          <p:nvPr/>
        </p:nvSpPr>
        <p:spPr>
          <a:xfrm rot="0" flipH="0" flipV="0">
            <a:off x="5705475" y="1143000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声明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调用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回填，三步走完</a:t>
            </a:r>
            <a:endParaRPr/>
          </a:p>
        </p:txBody>
      </p:sp>
      <p:sp>
        <p:nvSpPr>
          <p:cNvPr id="1461" name=""/>
          <p:cNvSpPr/>
          <p:nvPr/>
        </p:nvSpPr>
        <p:spPr>
          <a:xfrm rot="0" flipH="0" flipV="0">
            <a:off x="685800" y="5619750"/>
            <a:ext cx="10820400" cy="438150"/>
          </a:xfrm>
          <a:prstGeom prst="roundRect">
            <a:avLst>
              <a:gd name="adj" fmla="val 869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2" name="" descr="{&quot;isTemplate&quot;:true,&quot;type&quot;:&quot;text&quot;}"/>
          <p:cNvSpPr txBox="1"/>
          <p:nvPr/>
        </p:nvSpPr>
        <p:spPr>
          <a:xfrm rot="0" flipH="0" flipV="0">
            <a:off x="876300" y="57340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结论</a:t>
            </a:r>
            <a:endParaRPr/>
          </a:p>
        </p:txBody>
      </p:sp>
      <p:sp>
        <p:nvSpPr>
          <p:cNvPr id="1463" name=""/>
          <p:cNvSpPr/>
          <p:nvPr/>
        </p:nvSpPr>
        <p:spPr>
          <a:xfrm rot="0" flipH="0" flipV="0">
            <a:off x="1371600" y="57054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64" name="" descr="{&quot;isTemplate&quot;:true,&quot;type&quot;:&quot;text&quot;}"/>
          <p:cNvSpPr txBox="1"/>
          <p:nvPr/>
        </p:nvSpPr>
        <p:spPr>
          <a:xfrm rot="0" flipH="0" flipV="0">
            <a:off x="1533525" y="5686425"/>
            <a:ext cx="97821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实际项目一律用原生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；手写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只用来理解原理——模型自动把「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128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乘以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456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」翻译成了表达式，靠的就是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description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46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46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09 / 34</a:t>
            </a:r>
            <a:endParaRPr/>
          </a:p>
        </p:txBody>
      </p:sp>
      <p:sp>
        <p:nvSpPr>
          <p:cNvPr id="1467" name=""/>
          <p:cNvSpPr/>
          <p:nvPr/>
        </p:nvSpPr>
        <p:spPr>
          <a:xfrm rot="0" flipH="0" flipV="0">
            <a:off x="4229100" y="1390650"/>
            <a:ext cx="7277100" cy="3152775"/>
          </a:xfrm>
          <a:prstGeom prst="roundRect">
            <a:avLst>
              <a:gd name="adj" fmla="val 2417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468" name=""/>
          <p:cNvSpPr txBox="1"/>
          <p:nvPr/>
        </p:nvSpPr>
        <p:spPr>
          <a:xfrm rot="0" flipH="0" flipV="0">
            <a:off x="4381500" y="1524000"/>
            <a:ext cx="6972300" cy="2886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① 用 JSON Schema 声明工具（name / description / parameters）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[{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"function"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function: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"calculate"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"计算数学表达式的值，如加减乘除"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parameters: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"object"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required: [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"expression"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],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properties: { expression: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"string"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"数学表达式，如 128*456"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} } },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}}];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② tools 随请求传入；模型返回结构化 tool_calls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msg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llm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(messages, tools);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of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msg.tool_calls)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args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JSON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parse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(tc.function.arguments);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参数直接是 JSON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[tc.function.name](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...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Object.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values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(args));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messages.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push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({ role: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"tool"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tool_call_id: tc.id, content: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(r)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05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A/B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对比与一条安全红线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五个维度看差别，一条原则定生死</a:t>
            </a:r>
            <a:endParaRPr/>
          </a:p>
        </p:txBody>
      </p:sp>
      <p:graphicFrame>
        <p:nvGraphicFramePr>
          <p:cNvPr id="29" name=""/>
          <p:cNvGraphicFramePr/>
          <p:nvPr/>
        </p:nvGraphicFramePr>
        <p:xfrm rot="0" flipH="0" flipV="0">
          <a:off x="685800" y="1143000"/>
          <a:ext cx="10820400" cy="3238500"/>
        </p:xfrm>
        <a:graphic>
          <a:graphicData uri="http://schemas.openxmlformats.org/drawingml/2006/table">
            <a:tbl>
              <a:tblGrid>
                <a:gridCol w="1339603">
                  <a:extLst>
                    <a:ext uri="{9D8B030D-6E8A-4147-A177-3AD203B41FA5}">
                      <a16:colId val="1"/>
                    </a:ext>
                  </a:extLst>
                </a:gridCol>
                <a:gridCol w="4723136">
                  <a:extLst>
                    <a:ext uri="{9D8B030D-6E8A-4147-A177-3AD203B41FA5}">
                      <a16:colId val="2"/>
                    </a:ext>
                  </a:extLst>
                </a:gridCol>
                <a:gridCol w="475766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E8EEF9">
                              <a:alpha val="70000"/>
                            </a:srgbClr>
                          </a:solidFill>
                          <a:latin typeface="Microsoft YaHei"/>
                          <a:ea typeface="Microsoft YaHei"/>
                        </a:rPr>
                        <a:t>方案 A · 手写 Prompt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方案 B · 原生 Function Calling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格式约定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自己发明（Action:工具名[参数]）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官方标准（JSON Schema）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普通文本，要正则抠参数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结构化 tool_calls JSON，直接解析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稳定性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模型可能不守格式，需各种兜底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模型专门训练过，非常稳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兼容性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任何模型都能用（哪怕不支持 FC）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需要模型支持（GLM-4 / GPT 等）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使用建议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理解原理用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实际项目一律用这个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0" name=""/>
          <p:cNvSpPr/>
          <p:nvPr/>
        </p:nvSpPr>
        <p:spPr>
          <a:xfrm rot="0" flipH="0" flipV="0">
            <a:off x="68580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7630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选型结论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7630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能用原生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就不用自己发明格式。手写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的价值在于让你看清循环内部长什么样——理解原理，而不是交付方案。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19125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8175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安全红线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38175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两种方案里，模型都只负责「说要调什么」，真正执行函数的永远是我们的代码——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10 / 34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1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02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从“能聊”到“能干”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的核心代码就一个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真正的开发量，全在循环之外。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066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的能力边界到底在哪？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一个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系统要处理哪些功能点？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怎么写才不翻车？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11 – 19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ReAct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循环与终止条件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工具、记忆与控制层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七层功能地图与十条原则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 / 34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91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= LLM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91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让模型从「只会聊天」变成「能干活、会决策、可循环」的程序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85800" y="1143000"/>
            <a:ext cx="10820400" cy="1152525"/>
          </a:xfrm>
          <a:custGeom>
            <a:pathLst>
              <a:path w="1136" h="121">
                <a:moveTo>
                  <a:pt x="0" y="120"/>
                </a:moveTo>
                <a:lnTo>
                  <a:pt x="1136" y="120"/>
                </a:lnTo>
                <a:lnTo>
                  <a:pt x="1136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885950" y="1219200"/>
            <a:ext cx="20097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124325" y="13811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=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572000" y="1314450"/>
            <a:ext cx="962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68642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5790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277100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648575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86777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23925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858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大脑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85800" y="2771775"/>
            <a:ext cx="246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4669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无状态的推理引擎。它决定「下一步该干什么」，但自己不记得任何事。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33909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手脚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6195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619500" y="3124200"/>
            <a:ext cx="223837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你写的普通函数。模型只能「说要调用哪个」，执行权始终在你手里。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3246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上下文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3246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2238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短期靠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，长期靠向量库。近期带原文，远期压摘要。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029700" y="249555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循环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029700" y="27717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029700" y="3124200"/>
            <a:ext cx="2476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简单任务单循环就够，复杂任务先拆步骤。别一上来就过度设计。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四要素缺任何一项，它都只是一个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会聊天的模型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——而不是一个能自己把活干完的程序。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 / 34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67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>ReAct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：思考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Reasoning + Acting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：让模型交替输出「思考」与「行动」，直到能回答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REASONING + ACTING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9334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一段话，</a:t>
            </a:r>
            <a:endParaRPr/>
          </a:p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拆成思考与行动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模型不再一次性给答案，而是交替输出「我要做什么」和「我调用什么工具」；系统执行后把结果作为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喂回去，模型再决定下一步。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85800" y="4105275"/>
            <a:ext cx="7048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81050" y="41433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1466850" y="4105275"/>
            <a:ext cx="6286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562100" y="414337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2171700" y="4105275"/>
            <a:ext cx="9906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2266950" y="414337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85800" y="5181600"/>
            <a:ext cx="2924175" cy="876300"/>
          </a:xfrm>
          <a:prstGeom prst="roundRect">
            <a:avLst>
              <a:gd name="adj" fmla="val 4348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38200" y="5314950"/>
            <a:ext cx="2619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没有最大轮数兜底的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，一次死循环就能烧掉一个月的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预算。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727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THE LOOP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229100" y="1685925"/>
            <a:ext cx="20097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400550" y="1838325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思考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400550" y="2133600"/>
            <a:ext cx="1724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400550" y="2381250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我要先查北京天气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23887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657975" y="1685925"/>
            <a:ext cx="2000250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829425" y="18383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829425" y="213360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829425" y="2381250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get_weather[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北京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]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65822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9077325" y="1685925"/>
            <a:ext cx="24288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248775" y="183832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248775" y="2133600"/>
            <a:ext cx="2143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9248775" y="23812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晴，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28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度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4229100" y="3200400"/>
            <a:ext cx="7277100" cy="495300"/>
          </a:xfrm>
          <a:prstGeom prst="roundRect">
            <a:avLst>
              <a:gd name="adj" fmla="val 7692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45000"/>
              </a:srgbClr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400550" y="33337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↺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629150" y="3352800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还没拿到答案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带着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回到「思考」，进入下一轮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229100" y="4105275"/>
            <a:ext cx="2095500" cy="800100"/>
          </a:xfrm>
          <a:prstGeom prst="roundRect">
            <a:avLst>
              <a:gd name="adj" fmla="val 4762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067300" y="42862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220"/>
                </a:solidFill>
                <a:latin typeface="Source Han Sans SC"/>
                <a:ea typeface="Source Han Sans SC"/>
              </a:rPr>
              <a:t>回答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057775" y="458152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Answer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496050" y="44100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证据足够</a:t>
            </a:r>
            <a:r>
              <a:rPr lang="en-US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输出最终答案，退出循环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229100" y="5334000"/>
            <a:ext cx="727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终止条件</a:t>
            </a: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四个都要有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229100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572000" y="5743575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模型输出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Answer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76950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667500" y="57435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最大轮数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7915275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648700" y="57435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超时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9763125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296525" y="574357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token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13 / 34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工具与记忆：手脚和上下文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真正干活的地方，和真正决定成本的地方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85800" y="1143000"/>
            <a:ext cx="6086475" cy="4914900"/>
          </a:xfrm>
          <a:custGeom>
            <a:pathLst>
              <a:path w="639" h="516">
                <a:moveTo>
                  <a:pt x="638" y="0"/>
                </a:moveTo>
                <a:lnTo>
                  <a:pt x="639" y="0"/>
                </a:lnTo>
                <a:lnTo>
                  <a:pt x="639" y="516"/>
                </a:lnTo>
                <a:lnTo>
                  <a:pt x="63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90625"/>
            <a:ext cx="171450" cy="171450"/>
          </a:xfrm>
          <a:prstGeom prst="rect">
            <a:avLst/>
          </a:prstGeom>
          <a:ln/>
        </p:spPr>
      </p:pic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52500" y="11430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工具：手脚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2095500" y="11906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85800" y="1495425"/>
            <a:ext cx="5762625" cy="1028700"/>
          </a:xfrm>
          <a:custGeom>
            <a:pathLst>
              <a:path w="605" h="108">
                <a:moveTo>
                  <a:pt x="0" y="107"/>
                </a:moveTo>
                <a:lnTo>
                  <a:pt x="605" y="107"/>
                </a:lnTo>
                <a:lnTo>
                  <a:pt x="605" y="108"/>
                </a:lnTo>
                <a:lnTo>
                  <a:pt x="0" y="108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85800" y="159067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62050" y="159067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小而专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62050" y="1857375"/>
            <a:ext cx="5286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search_order + refund_order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优于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handle_anything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。一个工具干一件事，模型才用得准。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85800" y="2952750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3048000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62050" y="3048000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描述大于实现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162050" y="3314700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就是给模型看的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文档。模型选错工具，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的原因是这里写得烂。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85800" y="4143375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" y="42386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62050" y="42386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参数先校验再执行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62050" y="45053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模型真的会瞎传参数，类型与范围都要验；「合法」也不等于「安全」。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85800" y="54197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62050" y="54197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失败要回喂，不要吞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62050" y="56864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工具抛错别让程序崩，把报错拼回上下文，让模型下一轮自己调整。</a:t>
            </a:r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05650" y="1190625"/>
            <a:ext cx="171450" cy="1714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372350" y="11430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记忆：上下文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724900" y="1190625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MEMORY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105650" y="15906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近期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原文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086725" y="15906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历史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本轮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7105650" y="1857375"/>
            <a:ext cx="4400550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105650" y="206692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远期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摘要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086725" y="2066925"/>
            <a:ext cx="1647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超窗裁剪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/ compaction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压缩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105650" y="2333625"/>
            <a:ext cx="334327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105650" y="25431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事实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卡片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086725" y="254317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结构化字段，稳定可查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105650" y="2809875"/>
            <a:ext cx="23717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105650" y="3019425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知识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向量库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248650" y="30194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Embedding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检索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105650" y="3286125"/>
            <a:ext cx="14954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7105650" y="4838700"/>
            <a:ext cx="4400550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277100" y="4991100"/>
            <a:ext cx="405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口诀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277100" y="5257800"/>
            <a:ext cx="4057650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近期带原文，远期压摘要；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事实存卡片，知识进向量库。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14 / 34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048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学习路径：五个阶段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048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从「手写一遍」到「工程化」，每个阶段解决一类新问题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LEARNING PATH · 5 STAGES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801225" y="1143000"/>
            <a:ext cx="170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难度与工程量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: </a:t>
            </a: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依次递增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85800" y="4152900"/>
            <a:ext cx="6362700" cy="1905000"/>
          </a:xfrm>
          <a:custGeom>
            <a:pathLst>
              <a:path w="668" h="200">
                <a:moveTo>
                  <a:pt x="667" y="0"/>
                </a:moveTo>
                <a:lnTo>
                  <a:pt x="668" y="0"/>
                </a:lnTo>
                <a:lnTo>
                  <a:pt x="668" y="200"/>
                </a:lnTo>
                <a:lnTo>
                  <a:pt x="667" y="20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611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为什么顺序不能颠倒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85800" y="4572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28675" y="4495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1–2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是「看穿黑盒」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：不亲手拼一次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，你永远不知道模型为什么不听话。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85800" y="4953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28675" y="4876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是「成本与记忆」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：上下文是所有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问题的共同源头。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85800" y="5334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28675" y="5257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是「边界」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：真实世界的错误，几乎都发生在工具与数据的接缝处。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85800" y="5715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28675" y="5638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5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才轮到工程化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：没有前四步的直觉，框架只会让你更糊涂。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267575" y="4152900"/>
            <a:ext cx="4238625" cy="1905000"/>
          </a:xfrm>
          <a:prstGeom prst="roundRect">
            <a:avLst>
              <a:gd name="adj" fmla="val 20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477125" y="4391025"/>
            <a:ext cx="3819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477125" y="4714875"/>
            <a:ext cx="3819525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先手写，再上框架。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跳过手写阶段，出问题时你连</a:t>
            </a:r>
            <a:r>
              <a:rPr lang="zh-CN" sz="1425">
                <a:solidFill>
                  <a:srgbClr val="2AD4EE"/>
                </a:solidFill>
                <a:latin typeface="Source Han Sans SC"/>
                <a:ea typeface="Source Han Sans SC"/>
              </a:rPr>
              <a:t>日志该看哪一行</a:t>
            </a: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都不知道。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15 / 34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85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52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85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手写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5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自己拼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、自己正则解析输出，把循环每个环节摸一遍。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04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85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一个能跑的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28765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29432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28765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原生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FC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876550" y="2324100"/>
            <a:ext cx="20574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改用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声明工具，模型直接返回结构化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tool_calls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28956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28765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29908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稳定的工具契约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0673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1339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0673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记忆与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RAG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0673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上下文裁剪、摘要压缩、向量检索，让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记得住事。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0863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0673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1816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可控的上下文预算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2580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3247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2580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多工具实战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25805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工具变多、结果变脏、失败变常态，开始处理真实的边界。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2771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2580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3723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敢给业务用的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9448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515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448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框架与工程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448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上框架、做观测、加护栏、建评测，从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demo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走到系统。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9467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9448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563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可维护的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系统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800100" y="1666875"/>
            <a:ext cx="10591800" cy="19050"/>
          </a:xfrm>
          <a:prstGeom prst="rect">
            <a:avLst/>
          </a:prstGeom>
          <a:gradFill>
            <a:gsLst>
              <a:gs pos="0">
                <a:srgbClr val="2AD4EE">
                  <a:alpha val="85000"/>
                </a:srgbClr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686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七层功能地图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686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的能力边界不来自模型，来自这七层的工程量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85800" y="1143000"/>
            <a:ext cx="3543300" cy="4914900"/>
          </a:xfrm>
          <a:custGeom>
            <a:pathLst>
              <a:path w="372" h="516">
                <a:moveTo>
                  <a:pt x="371" y="0"/>
                </a:moveTo>
                <a:lnTo>
                  <a:pt x="372" y="0"/>
                </a:lnTo>
                <a:lnTo>
                  <a:pt x="372" y="516"/>
                </a:lnTo>
                <a:lnTo>
                  <a:pt x="37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FUNCTION MAP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85800" y="1390650"/>
            <a:ext cx="3209925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600" b="1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5800" y="3028950"/>
            <a:ext cx="3209925" cy="800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七层里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前五层只是「搭起来」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85800" y="4000500"/>
            <a:ext cx="32099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①~⑤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决定它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能不能跑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⑥~⑦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决定它</a:t>
            </a:r>
            <a:r>
              <a:rPr lang="zh-CN" sz="1200" b="1">
                <a:solidFill>
                  <a:srgbClr val="2AD4EE"/>
                </a:solidFill>
                <a:latin typeface="Source Han Sans SC"/>
                <a:ea typeface="Source Han Sans SC"/>
              </a:rPr>
              <a:t>敢不敢给别人用、出事查不查得清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85800" y="4743450"/>
            <a:ext cx="3209925" cy="1314450"/>
          </a:xfrm>
          <a:prstGeom prst="roundRect">
            <a:avLst>
              <a:gd name="adj" fmla="val 2899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57250" y="4914900"/>
            <a:ext cx="2867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57250" y="5219700"/>
            <a:ext cx="28670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换模型只动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sz="1275">
                <a:solidFill>
                  <a:srgbClr val="2AD4EE"/>
                </a:solidFill>
                <a:latin typeface="Source Han Sans SC"/>
                <a:ea typeface="Source Han Sans SC"/>
              </a:rPr>
              <a:t>①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，加工具只动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sz="1275">
                <a:solidFill>
                  <a:srgbClr val="2AD4EE"/>
                </a:solidFill>
                <a:latin typeface="Source Han Sans SC"/>
                <a:ea typeface="Source Han Sans SC"/>
              </a:rPr>
              <a:t>③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——分层，是为了让改动可预测。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572000" y="1143000"/>
            <a:ext cx="2257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LAYER STACK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自下而上读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9744075" y="1190625"/>
            <a:ext cx="76200" cy="76200"/>
          </a:xfrm>
          <a:prstGeom prst="rect">
            <a:avLst/>
          </a:prstGeom>
          <a:solidFill>
            <a:srgbClr val="2AD4EE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896475" y="115252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越往上，越接近「生产可用」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562600" y="1428750"/>
            <a:ext cx="4953000" cy="495300"/>
          </a:xfrm>
          <a:prstGeom prst="roundRect">
            <a:avLst>
              <a:gd name="adj" fmla="val 576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715000" y="15525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0" y="155257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运营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781800" y="158115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924675" y="159067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观测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评测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成本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372100" y="2114550"/>
            <a:ext cx="5334000" cy="495300"/>
          </a:xfrm>
          <a:prstGeom prst="roundRect">
            <a:avLst>
              <a:gd name="adj" fmla="val 576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524500" y="22383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⑥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905500" y="223837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591300" y="226695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734175" y="2276475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输入审查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输出脱敏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181600" y="2809875"/>
            <a:ext cx="57150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334000" y="29337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⑤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715000" y="29337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控制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400800" y="29622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543675" y="2971800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循环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终止条件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5029200" y="3495675"/>
            <a:ext cx="60198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181600" y="36195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562600" y="36195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248400" y="36480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391275" y="36576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4876800" y="4181475"/>
            <a:ext cx="63246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029200" y="43053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410200" y="43053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0" y="43338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238875" y="43434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手脚与契约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4743450" y="4876800"/>
            <a:ext cx="65913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895850" y="50006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276850" y="500062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提示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962650" y="502920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105525" y="50387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目标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格式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610100" y="5562600"/>
            <a:ext cx="68580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762500" y="56864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143500" y="568642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829300" y="571500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972175" y="57245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选型与接入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16 / 34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逐层拆解：每层到底要写什么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少写一层，问题就会以最难查的方式冒出来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85800" y="1143000"/>
            <a:ext cx="2781300" cy="4914900"/>
          </a:xfrm>
          <a:custGeom>
            <a:pathLst>
              <a:path w="292" h="516">
                <a:moveTo>
                  <a:pt x="291" y="0"/>
                </a:moveTo>
                <a:lnTo>
                  <a:pt x="292" y="0"/>
                </a:lnTo>
                <a:lnTo>
                  <a:pt x="292" y="516"/>
                </a:lnTo>
                <a:lnTo>
                  <a:pt x="29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LAYER BY LAYER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4860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把七层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摊成一张清单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4860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每一层都有必须落地的动作项。它们不写进代码，就会在某个凌晨的线上事故里，以最难查的方式出现。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85800" y="4562475"/>
            <a:ext cx="248602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21812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①~⑤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写不好，系统跑不起来；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⑥~⑦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不写，系统跑起来之后你不敢让人用。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3810000" y="1143000"/>
            <a:ext cx="3743325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3810000" y="1143000"/>
            <a:ext cx="3743325" cy="1038225"/>
          </a:xfrm>
          <a:custGeom>
            <a:pathLst>
              <a:path w="393" h="109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8"/>
                </a:lnTo>
                <a:cubicBezTo>
                  <a:pt x="2" y="108"/>
                  <a:pt x="2" y="109"/>
                  <a:pt x="3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43350" y="1581150"/>
            <a:ext cx="161925" cy="161925"/>
          </a:xfrm>
          <a:prstGeom prst="rect">
            <a:avLst/>
          </a:prstGeom>
          <a:ln/>
        </p:spPr>
      </p:pic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219575" y="14001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381500" y="14001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219575" y="16764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密钥与多模型切换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超时重试与降级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流式输出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810000" y="2276475"/>
            <a:ext cx="3743325" cy="1276350"/>
          </a:xfrm>
          <a:prstGeom prst="roundRect">
            <a:avLst>
              <a:gd name="adj" fmla="val 2239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3810000" y="2276475"/>
            <a:ext cx="3743325" cy="1276350"/>
          </a:xfrm>
          <a:custGeom>
            <a:pathLst>
              <a:path w="393" h="134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3"/>
                </a:lnTo>
                <a:cubicBezTo>
                  <a:pt x="2" y="133"/>
                  <a:pt x="2" y="134"/>
                  <a:pt x="3" y="134"/>
                </a:cubicBezTo>
                <a:cubicBezTo>
                  <a:pt x="1" y="134"/>
                  <a:pt x="0" y="133"/>
                  <a:pt x="0" y="1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43350" y="2838450"/>
            <a:ext cx="161925" cy="161925"/>
          </a:xfrm>
          <a:prstGeom prst="rect">
            <a:avLst/>
          </a:prstGeom>
          <a:ln/>
        </p:spPr>
      </p:pic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219575" y="25336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381500" y="25336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提示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219575" y="28098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目标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边界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输出格式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少样本示例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系统提示版本化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3810000" y="3648075"/>
            <a:ext cx="3743325" cy="1285875"/>
          </a:xfrm>
          <a:prstGeom prst="roundRect">
            <a:avLst>
              <a:gd name="adj" fmla="val 222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3810000" y="3648075"/>
            <a:ext cx="3743325" cy="1285875"/>
          </a:xfrm>
          <a:custGeom>
            <a:pathLst>
              <a:path w="393" h="13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4"/>
                </a:lnTo>
                <a:cubicBezTo>
                  <a:pt x="2" y="134"/>
                  <a:pt x="2" y="135"/>
                  <a:pt x="3" y="135"/>
                </a:cubicBezTo>
                <a:cubicBezTo>
                  <a:pt x="1" y="135"/>
                  <a:pt x="0" y="134"/>
                  <a:pt x="0" y="13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43350" y="4210050"/>
            <a:ext cx="161925" cy="161925"/>
          </a:xfrm>
          <a:prstGeom prst="rect">
            <a:avLst/>
          </a:prstGeom>
          <a:ln/>
        </p:spPr>
      </p:pic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219575" y="39052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381500" y="39052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219575" y="41814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JSON Schema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描述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参数类型与范围校验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错误信息回喂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3810000" y="5029200"/>
            <a:ext cx="3743325" cy="1028700"/>
          </a:xfrm>
          <a:prstGeom prst="roundRect">
            <a:avLst>
              <a:gd name="adj" fmla="val 277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3810000" y="5029200"/>
            <a:ext cx="3743325" cy="1028700"/>
          </a:xfrm>
          <a:custGeom>
            <a:pathLst>
              <a:path w="393" h="108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7"/>
                </a:lnTo>
                <a:cubicBezTo>
                  <a:pt x="2" y="107"/>
                  <a:pt x="2" y="108"/>
                  <a:pt x="3" y="108"/>
                </a:cubicBezTo>
                <a:cubicBezTo>
                  <a:pt x="1" y="108"/>
                  <a:pt x="0" y="107"/>
                  <a:pt x="0" y="10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943350" y="5467350"/>
            <a:ext cx="161925" cy="161925"/>
          </a:xfrm>
          <a:prstGeom prst="rect">
            <a:avLst/>
          </a:prstGeom>
          <a:ln/>
        </p:spPr>
      </p:pic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219575" y="52863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381500" y="52863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219575" y="55626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上下文裁剪与摘要压缩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事实卡片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向量检索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7781925" y="1143000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7781925" y="1143000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915275" y="1847850"/>
            <a:ext cx="161925" cy="161925"/>
          </a:xfrm>
          <a:prstGeom prst="rect">
            <a:avLst/>
          </a:prstGeom>
          <a:ln/>
        </p:spPr>
      </p:pic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191500" y="16668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⑤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353425" y="16668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控制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191500" y="19431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四个终止条件：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Answer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7781925" y="2809875"/>
            <a:ext cx="3743325" cy="1581150"/>
          </a:xfrm>
          <a:prstGeom prst="roundRect">
            <a:avLst>
              <a:gd name="adj" fmla="val 1807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7781925" y="2809875"/>
            <a:ext cx="3743325" cy="1581150"/>
          </a:xfrm>
          <a:custGeom>
            <a:pathLst>
              <a:path w="393" h="166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5"/>
                </a:lnTo>
                <a:cubicBezTo>
                  <a:pt x="2" y="165"/>
                  <a:pt x="2" y="166"/>
                  <a:pt x="3" y="166"/>
                </a:cubicBezTo>
                <a:cubicBezTo>
                  <a:pt x="1" y="166"/>
                  <a:pt x="0" y="165"/>
                  <a:pt x="0" y="16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915275" y="3524250"/>
            <a:ext cx="161925" cy="161925"/>
          </a:xfrm>
          <a:prstGeom prst="rect">
            <a:avLst/>
          </a:prstGeom>
          <a:ln/>
        </p:spPr>
      </p:pic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191500" y="33432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⑥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353425" y="33432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191500" y="36195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输入审查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输出脱敏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高危操作二次确认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7781925" y="4486275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7781925" y="4486275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915275" y="5191125"/>
            <a:ext cx="161925" cy="161925"/>
          </a:xfrm>
          <a:prstGeom prst="rect">
            <a:avLst/>
          </a:prstGeom>
          <a:ln/>
        </p:spPr>
      </p:pic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191500" y="50101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353425" y="50101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运营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191500" y="5286375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全链路日志与耗时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成本统计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离线评测集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17 / 34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428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十条设计原则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前三条定生死，后七条定维护成本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TEN PRINCIPLES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76950" y="1152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违背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线上事故的常见来源</a:t>
            </a:r>
            <a:endParaRPr/>
          </a:p>
        </p:txBody>
      </p:sp>
      <p:graphicFrame>
        <p:nvGraphicFramePr>
          <p:cNvPr id="369" name=""/>
          <p:cNvGraphicFramePr/>
          <p:nvPr/>
        </p:nvGraphicFramePr>
        <p:xfrm rot="0" flipH="0" flipV="0">
          <a:off x="685800" y="1428750"/>
          <a:ext cx="6991350" cy="4629150"/>
        </p:xfrm>
        <a:graphic>
          <a:graphicData uri="http://schemas.openxmlformats.org/drawingml/2006/table">
            <a:tbl>
              <a:tblGrid>
                <a:gridCol w="273751">
                  <a:extLst>
                    <a:ext uri="{9D8B030D-6E8A-4147-A177-3AD203B41FA5}">
                      <a16:colId val="1"/>
                    </a:ext>
                  </a:extLst>
                </a:gridCol>
                <a:gridCol w="1984696">
                  <a:extLst>
                    <a:ext uri="{9D8B030D-6E8A-4147-A177-3AD203B41FA5}">
                      <a16:colId val="2"/>
                    </a:ext>
                  </a:extLst>
                </a:gridCol>
                <a:gridCol w="473290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能用固定流程就不上自主循环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步骤确定就写死 workflow；要「见机行事」才把自主权交给模型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控制流在代码，判断在模型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分支 / 循环 / 重试用代码写死，模型只决定「调哪个工具、传什么参数」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模型输出 = 不可信输入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解析前一律校验格式、类型、范围——幻觉出的参数不该直接进工具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工具小而专，描述大于实现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一个工具干一件事，description 当 API 文档写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确定性优先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temperature = 0，尽量走结构化输出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失败要回喂，不要吞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错误信息拼回上下文，让模型下一轮自救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高风险必过人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删除 / 支付 / 对外发消息，执行前必须人工确认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可观测先行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先加日志，再调 prompt——出了问题不能全靠猜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token 是钱，上下文是预算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及时摘要压缩，工具返回要精简——膨胀的大头是工具返回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从最简单的开始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单 Agent + 2 个工具 + 一个循环，按需再加复杂度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370" name=""/>
          <p:cNvSpPr/>
          <p:nvPr/>
        </p:nvSpPr>
        <p:spPr>
          <a:xfrm rot="0" flipH="0" flipV="0">
            <a:off x="7905750" y="1143000"/>
            <a:ext cx="3609975" cy="4914900"/>
          </a:xfrm>
          <a:custGeom>
            <a:pathLst>
              <a:path w="379" h="516">
                <a:moveTo>
                  <a:pt x="0" y="0"/>
                </a:moveTo>
                <a:lnTo>
                  <a:pt x="1" y="0"/>
                </a:lnTo>
                <a:lnTo>
                  <a:pt x="1" y="516"/>
                </a:lnTo>
                <a:lnTo>
                  <a:pt x="0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143875" y="1143000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TIERS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8143875" y="1466850"/>
            <a:ext cx="3362325" cy="1504950"/>
          </a:xfrm>
          <a:prstGeom prst="roundRect">
            <a:avLst>
              <a:gd name="adj" fmla="val 2532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15325" y="16383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639175" y="1638300"/>
            <a:ext cx="1038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架构级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315325" y="2209800"/>
            <a:ext cx="30194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1~3 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条决定项目</a:t>
            </a:r>
            <a:r>
              <a:rPr lang="zh-CN" sz="1125" b="1">
                <a:solidFill>
                  <a:srgbClr val="2AD4EE"/>
                </a:solidFill>
                <a:latin typeface="Source Han Sans SC"/>
                <a:ea typeface="Source Han Sans SC"/>
              </a:rPr>
              <a:t>成败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。选错了，后面写得多漂亮都是在给错误的路铺砖。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8143875" y="3105150"/>
            <a:ext cx="3362325" cy="1790700"/>
          </a:xfrm>
          <a:prstGeom prst="roundRect">
            <a:avLst>
              <a:gd name="adj" fmla="val 2128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315325" y="32766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639175" y="3276600"/>
            <a:ext cx="1419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工程习惯级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15325" y="3848100"/>
            <a:ext cx="30194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4~10 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条决定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维护成本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。单条不致命，累积起来就是「能跑的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」和「敢用的系统」的差距。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8172450" y="5419725"/>
            <a:ext cx="3362325" cy="638175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8143875" y="5419725"/>
            <a:ext cx="3390900" cy="638175"/>
          </a:xfrm>
          <a:custGeom>
            <a:pathLst>
              <a:path w="356" h="67">
                <a:moveTo>
                  <a:pt x="0" y="0"/>
                </a:moveTo>
                <a:lnTo>
                  <a:pt x="3" y="0"/>
                </a:lnTo>
                <a:lnTo>
                  <a:pt x="3" y="67"/>
                </a:lnTo>
                <a:lnTo>
                  <a:pt x="0" y="67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343900" y="5572125"/>
            <a:ext cx="29908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架构级靠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判断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，习惯级靠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复盘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18 / 34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400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避坑清单与上线自查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左边是写之前要记住的，右边是发之前要打勾的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CHECKLIST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两份清单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十四条勾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左边的七条几乎不花成本，但能省下大量排查时间；右边的七条是「敢给别人用」的最低门槛。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85800" y="4562475"/>
            <a:ext cx="227647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19716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全部打勾，才算从「能跑的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」变成「敢给别人用的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35623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36290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38671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开发避坑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35623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BUILD</a:t>
            </a:r>
            <a:endParaRPr/>
          </a:p>
        </p:txBody>
      </p:sp>
      <p:pic>
        <p:nvPicPr>
          <p:cNvPr id="4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1733550"/>
            <a:ext cx="152400" cy="152400"/>
          </a:xfrm>
          <a:prstGeom prst="rect">
            <a:avLst/>
          </a:prstGeom>
          <a:ln/>
        </p:spPr>
      </p:pic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3819525" y="170497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不要一开始就上框架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先手写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ReAct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，否则出问题完全不会排查</a:t>
            </a:r>
            <a:endParaRPr/>
          </a:p>
        </p:txBody>
      </p:sp>
      <p:pic>
        <p:nvPicPr>
          <p:cNvPr id="4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2552700"/>
            <a:ext cx="152400" cy="152400"/>
          </a:xfrm>
          <a:prstGeom prst="rect">
            <a:avLst/>
          </a:prstGeom>
          <a:ln/>
        </p:spPr>
      </p:pic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3819525" y="252412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工具描述写清楚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模型选错工具，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是因为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description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写得烂</a:t>
            </a:r>
            <a:endParaRPr/>
          </a:p>
        </p:txBody>
      </p:sp>
      <p:pic>
        <p:nvPicPr>
          <p:cNvPr id="4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3362325"/>
            <a:ext cx="152400" cy="152400"/>
          </a:xfrm>
          <a:prstGeom prst="rect">
            <a:avLst/>
          </a:prstGeom>
          <a:ln/>
        </p:spPr>
      </p:pic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3819525" y="33337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循环要有终止条件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最大轮数兜底，防止死循环烧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token</a:t>
            </a:r>
            <a:endParaRPr/>
          </a:p>
        </p:txBody>
      </p:sp>
      <p:pic>
        <p:nvPicPr>
          <p:cNvPr id="4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181475"/>
            <a:ext cx="152400" cy="152400"/>
          </a:xfrm>
          <a:prstGeom prst="rect">
            <a:avLst/>
          </a:prstGeom>
          <a:ln/>
        </p:spPr>
      </p:pic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819525" y="41529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设</a:t>
            </a: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0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工具调用与结构化输出都要确定性</a:t>
            </a:r>
            <a:endParaRPr/>
          </a:p>
        </p:txBody>
      </p:sp>
      <p:pic>
        <p:nvPicPr>
          <p:cNvPr id="4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724400"/>
            <a:ext cx="152400" cy="152400"/>
          </a:xfrm>
          <a:prstGeom prst="rect">
            <a:avLst/>
          </a:prstGeom>
          <a:ln/>
        </p:spPr>
      </p:pic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819525" y="46958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幻觉应对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强制模型基于工具返回的真实数据作答</a:t>
            </a:r>
            <a:endParaRPr/>
          </a:p>
        </p:txBody>
      </p:sp>
      <p:pic>
        <p:nvPicPr>
          <p:cNvPr id="4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276850"/>
            <a:ext cx="152400" cy="152400"/>
          </a:xfrm>
          <a:prstGeom prst="rect">
            <a:avLst/>
          </a:prstGeom>
          <a:ln/>
        </p:spPr>
      </p:pic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3819525" y="52482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上下文膨胀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多轮工具调用后及时摘要压缩</a:t>
            </a:r>
            <a:endParaRPr/>
          </a:p>
        </p:txBody>
      </p:sp>
      <p:pic>
        <p:nvPicPr>
          <p:cNvPr id="4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819775"/>
            <a:ext cx="152400" cy="152400"/>
          </a:xfrm>
          <a:prstGeom prst="rect">
            <a:avLst/>
          </a:prstGeom>
          <a:ln/>
        </p:spPr>
      </p:pic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819525" y="57912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危险操作加确认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执行前让用户点一下，或加白名单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76771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7438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9819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上线自查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6771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SHIP</a:t>
            </a:r>
            <a:endParaRPr/>
          </a:p>
        </p:txBody>
      </p:sp>
      <p:pic>
        <p:nvPicPr>
          <p:cNvPr id="4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1733550"/>
            <a:ext cx="152400" cy="152400"/>
          </a:xfrm>
          <a:prstGeom prst="rect">
            <a:avLst/>
          </a:prstGeom>
          <a:ln/>
        </p:spPr>
      </p:pic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7934325" y="17049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有兜底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上限，防死循环烧钱</a:t>
            </a:r>
            <a:endParaRPr/>
          </a:p>
        </p:txBody>
      </p:sp>
      <p:pic>
        <p:nvPicPr>
          <p:cNvPr id="4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324100"/>
            <a:ext cx="152400" cy="152400"/>
          </a:xfrm>
          <a:prstGeom prst="rect">
            <a:avLst/>
          </a:prstGeom>
          <a:ln/>
        </p:spPr>
      </p:pic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934325" y="22955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不崩程序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工具报错被回喂给模型，而不是抛出异常</a:t>
            </a:r>
            <a:endParaRPr/>
          </a:p>
        </p:txBody>
      </p:sp>
      <p:pic>
        <p:nvPicPr>
          <p:cNvPr id="4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914650"/>
            <a:ext cx="152400" cy="152400"/>
          </a:xfrm>
          <a:prstGeom prst="rect">
            <a:avLst/>
          </a:prstGeom>
          <a:ln/>
        </p:spPr>
      </p:pic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934325" y="28860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先校验再执行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模型输出的格式、类型、范围都验一遍</a:t>
            </a:r>
            <a:endParaRPr/>
          </a:p>
        </p:txBody>
      </p:sp>
      <p:pic>
        <p:nvPicPr>
          <p:cNvPr id="4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3514725"/>
            <a:ext cx="152400" cy="152400"/>
          </a:xfrm>
          <a:prstGeom prst="rect">
            <a:avLst/>
          </a:prstGeom>
          <a:ln/>
        </p:spPr>
      </p:pic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934325" y="348615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人工确认位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删除、支付、对外发消息必须过人</a:t>
            </a:r>
            <a:endParaRPr/>
          </a:p>
        </p:txBody>
      </p:sp>
      <p:pic>
        <p:nvPicPr>
          <p:cNvPr id="4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105275"/>
            <a:ext cx="152400" cy="152400"/>
          </a:xfrm>
          <a:prstGeom prst="rect">
            <a:avLst/>
          </a:prstGeom>
          <a:ln/>
        </p:spPr>
      </p:pic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934325" y="40767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日志可回放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每轮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落盘</a:t>
            </a:r>
            <a:endParaRPr/>
          </a:p>
        </p:txBody>
      </p:sp>
      <p:pic>
        <p:nvPicPr>
          <p:cNvPr id="4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695825"/>
            <a:ext cx="152400" cy="152400"/>
          </a:xfrm>
          <a:prstGeom prst="rect">
            <a:avLst/>
          </a:prstGeom>
          <a:ln/>
        </p:spPr>
      </p:pic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934325" y="46672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密钥与提示词归位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key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不在代码里，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不散落在业务代码</a:t>
            </a:r>
            <a:endParaRPr/>
          </a:p>
        </p:txBody>
      </p:sp>
      <p:pic>
        <p:nvPicPr>
          <p:cNvPr id="4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5553075"/>
            <a:ext cx="152400" cy="152400"/>
          </a:xfrm>
          <a:prstGeom prst="rect">
            <a:avLst/>
          </a:prstGeom>
          <a:ln/>
        </p:spPr>
      </p:pic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934325" y="552450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回归测试集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有固定问题集，改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 /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换模型后能回归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19 / 34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9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93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03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一个极简范式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自主智能体本质就是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把这条公式工程化到了极致。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「极简」具体体现在哪几个数字上？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四层架构为什么要严格单向依赖？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想改一处能力，该走哪条定制路线？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20 – 26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三个反常识设计与极简的数字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分层架构与一次调用的数据流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943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九个设计点与三层定制能力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 / 34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914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是什么：三个反常识设计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91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它把「不做什么」写成了设计原则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85800" y="1143000"/>
            <a:ext cx="6096000" cy="4914900"/>
          </a:xfrm>
          <a:custGeom>
            <a:pathLst>
              <a:path w="640" h="516">
                <a:moveTo>
                  <a:pt x="639" y="0"/>
                </a:moveTo>
                <a:lnTo>
                  <a:pt x="640" y="0"/>
                </a:lnTo>
                <a:lnTo>
                  <a:pt x="640" y="516"/>
                </a:lnTo>
                <a:lnTo>
                  <a:pt x="639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77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COUNTER-INTUITIVE BY DESIGN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685800" y="15811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95450"/>
            <a:ext cx="190500" cy="190500"/>
          </a:xfrm>
          <a:prstGeom prst="rect">
            <a:avLst/>
          </a:prstGeom>
          <a:ln/>
        </p:spPr>
      </p:pic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276350" y="158115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533525" y="158115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刻意「不内置」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276350" y="193357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不内置</a:t>
            </a:r>
            <a:r>
              <a:rPr lang="en-US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MCP</a:t>
            </a: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、子智能体、计划模式、任务清单、权限弹窗。核心只保留最必要的部分，多余能力全部外置成扩展——需要什么，自己装。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85800" y="2981325"/>
            <a:ext cx="5772150" cy="1543050"/>
          </a:xfrm>
          <a:custGeom>
            <a:pathLst>
              <a:path w="606" h="162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685800" y="312420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3238500"/>
            <a:ext cx="190500" cy="190500"/>
          </a:xfrm>
          <a:prstGeom prst="rect">
            <a:avLst/>
          </a:prstGeom>
          <a:ln/>
        </p:spPr>
      </p:pic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276350" y="312420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533525" y="31242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没有沙箱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276350" y="347662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以启动用户的完整权限运行。这既是它「真能干完活」的原因，也意味着生产环境必须自己做容器化隔离，或用扩展钩子自建拦截。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85800" y="4514850"/>
            <a:ext cx="5772150" cy="1552575"/>
          </a:xfrm>
          <a:custGeom>
            <a:pathLst>
              <a:path w="606" h="163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85800" y="4657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00100" y="4772025"/>
            <a:ext cx="190500" cy="190500"/>
          </a:xfrm>
          <a:prstGeom prst="rect">
            <a:avLst/>
          </a:prstGeom>
          <a:ln/>
        </p:spPr>
      </p:pic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276350" y="4657725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533525" y="465772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不给「计划模式」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276350" y="5010150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怎么拆步骤、先做哪一步，交给模型自己判断。框架不预设流程，也就不会用错误的流程绑住模型的手脚。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096125" y="1143000"/>
            <a:ext cx="4410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WHAT IT IS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7096125" y="1447800"/>
            <a:ext cx="4410075" cy="1581150"/>
          </a:xfrm>
          <a:prstGeom prst="roundRect">
            <a:avLst>
              <a:gd name="adj" fmla="val 241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267575" y="1619250"/>
            <a:ext cx="406717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minimal terminal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coding harness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267575" y="2247900"/>
            <a:ext cx="40671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不是聊天机器人，也不是</a:t>
            </a:r>
            <a:r>
              <a:rPr lang="en-US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IDE </a:t>
            </a: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插件，而是把模型、工具、上下文、会话与扩展串起来的终端执行框架。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7096125" y="31623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096125" y="32670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协议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858125" y="32194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MIT ·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完全开源，可商用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7096125" y="36195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096125" y="37242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运行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858125" y="36766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完全本地，模型调用走自己的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Key /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订阅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7096125" y="40767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096125" y="41814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默认工具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858125" y="41338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，只有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个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7096125" y="45339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096125" y="46386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模型接入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858125" y="45910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内置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30+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家，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/model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一键切换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7096125" y="5153025"/>
            <a:ext cx="441007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267575" y="530542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267575" y="5572125"/>
            <a:ext cx="406717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这不是功能少，而是把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指导权还给了模型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21 / 34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极简的代价与回报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三个数字，说明它凭什么又快又便宜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85800" y="1143000"/>
            <a:ext cx="10820400" cy="2733675"/>
          </a:xfrm>
          <a:custGeom>
            <a:pathLst>
              <a:path w="1136" h="287">
                <a:moveTo>
                  <a:pt x="0" y="286"/>
                </a:moveTo>
                <a:lnTo>
                  <a:pt x="1136" y="286"/>
                </a:lnTo>
                <a:lnTo>
                  <a:pt x="1136" y="287"/>
                </a:lnTo>
                <a:lnTo>
                  <a:pt x="0" y="287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85800" y="1143000"/>
            <a:ext cx="4333875" cy="2114550"/>
          </a:xfrm>
          <a:custGeom>
            <a:pathLst>
              <a:path w="455" h="222">
                <a:moveTo>
                  <a:pt x="454" y="0"/>
                </a:moveTo>
                <a:lnTo>
                  <a:pt x="455" y="0"/>
                </a:lnTo>
                <a:lnTo>
                  <a:pt x="455" y="222"/>
                </a:lnTo>
                <a:lnTo>
                  <a:pt x="454" y="22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19325" cy="1390650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9900" b="1">
                <a:solidFill>
                  <a:srgbClr val="2AD4EE"/>
                </a:solidFill>
                <a:latin typeface="JetBrains Mono"/>
                <a:ea typeface="JetBrains Mono"/>
              </a:rPr>
              <a:t>418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29813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行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3990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核心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循环的代码量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85800" y="2971800"/>
            <a:ext cx="399097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同类工具的核心实现通常是数千行</a:t>
            </a: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TypeScript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5010150" y="1143000"/>
            <a:ext cx="3257550" cy="2400300"/>
          </a:xfrm>
          <a:custGeom>
            <a:pathLst>
              <a:path w="342" h="252">
                <a:moveTo>
                  <a:pt x="341" y="0"/>
                </a:moveTo>
                <a:lnTo>
                  <a:pt x="342" y="0"/>
                </a:lnTo>
                <a:lnTo>
                  <a:pt x="342" y="252"/>
                </a:lnTo>
                <a:lnTo>
                  <a:pt x="341" y="25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5334000" y="1438275"/>
            <a:ext cx="581025" cy="109537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7800" b="1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59912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个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5334000" y="26670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默认工具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5334000" y="2971800"/>
            <a:ext cx="2590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，够完成绝大多数编码任务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582025" y="1647825"/>
            <a:ext cx="1409700" cy="88582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6300" b="1">
                <a:solidFill>
                  <a:srgbClr val="2AD4EE"/>
                </a:solidFill>
                <a:latin typeface="JetBrains Mono"/>
                <a:ea typeface="JetBrains Mono"/>
              </a:rPr>
              <a:t>1/3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0067925" y="2162175"/>
            <a:ext cx="142875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×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582025" y="2667000"/>
            <a:ext cx="2600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每轮发送的上下文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582025" y="2971800"/>
            <a:ext cx="2600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Databricks 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基准测试的实测结果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858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76300" y="4438650"/>
            <a:ext cx="1123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&lt;1000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2171700" y="4362450"/>
            <a:ext cx="361950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系统提示的</a:t>
            </a: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数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别家动辄数千。省掉的每一行，都会在每一轮里重复付费。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2103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400800" y="443865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800850" y="4362450"/>
            <a:ext cx="451485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内置的编排与审批机制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不塞进内核，能力全部外置成扩展——按需注入。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省下来的上下文，就是省下来的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钱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和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准确率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22 / 34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5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29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分层架构：严格单向的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monorepo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29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下层不知道上层，每一层都能单独拿出来用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ARCHITECTURE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单向依赖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内核里没有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CLI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、没有扩展、没有文件系统。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「组装」这件事，被完整地留在了最上面一层。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685800" y="37719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28675" y="370522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每层可独立发布，单独装也合法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85800" y="41148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28675" y="3962400"/>
            <a:ext cx="21336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可替换：换掉</a:t>
            </a:r>
            <a:r>
              <a:rPr lang="en-US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pi-tui</a:t>
            </a: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，内核一行不改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85800" y="4591050"/>
            <a:ext cx="2276475" cy="1466850"/>
          </a:xfrm>
          <a:prstGeom prst="roundRect">
            <a:avLst>
              <a:gd name="adj" fmla="val 259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38200" y="4743450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38200" y="5000625"/>
            <a:ext cx="197167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做编码类产品，直接用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coding-agent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；只要裸内核，用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>agent-core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3562350" y="1143000"/>
            <a:ext cx="3438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PACKAGE DEPENDENCY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箭头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=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依赖方向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9772650" y="1152525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上层可以依赖下层，反之不成立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3571875" y="1428750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8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3571875" y="1428750"/>
            <a:ext cx="7943850" cy="876300"/>
          </a:xfrm>
          <a:custGeom>
            <a:pathLst>
              <a:path w="834" h="92">
                <a:moveTo>
                  <a:pt x="3" y="0"/>
                </a:moveTo>
                <a:cubicBezTo>
                  <a:pt x="2" y="0"/>
                  <a:pt x="1" y="1"/>
                  <a:pt x="1" y="2"/>
                </a:cubicBezTo>
                <a:lnTo>
                  <a:pt x="1" y="90"/>
                </a:lnTo>
                <a:cubicBezTo>
                  <a:pt x="1" y="91"/>
                  <a:pt x="2" y="92"/>
                  <a:pt x="3" y="92"/>
                </a:cubicBezTo>
                <a:cubicBezTo>
                  <a:pt x="1" y="92"/>
                  <a:pt x="0" y="90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E8EEF9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3743325" y="177165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UI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4238625" y="1609725"/>
            <a:ext cx="67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pi-tui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5029200" y="1609725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终端差分渲染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UI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4238625" y="1895475"/>
            <a:ext cx="70961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独立包，不直接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内核；换成自己的前端同样成立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3943350" y="233362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3590925" y="2514600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3590925" y="2514600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3762375" y="285750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L3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4257675" y="268605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pi-coding-agent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48375" y="2686050"/>
            <a:ext cx="1933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产品运行时组装层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SDK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入口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257675" y="297180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组装内核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内置编码工具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会话持久化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扩展扫描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多运行模式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3943350" y="340995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3590925" y="3590925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3590925" y="3590925"/>
            <a:ext cx="7943850" cy="876300"/>
          </a:xfrm>
          <a:custGeom>
            <a:pathLst>
              <a:path w="834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3762375" y="393382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L2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4257675" y="3771900"/>
            <a:ext cx="1457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pi-agent-core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5829300" y="377190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纯内核层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4257675" y="405765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Agent Loop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工具抽象与调度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事件总线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终止与最大轮次控制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3943350" y="4495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3590925" y="4676775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3590925" y="4676775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3762375" y="501967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L1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4257675" y="4848225"/>
            <a:ext cx="561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pi-ai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4933950" y="484822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Unified LLM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统一模型接入层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4257675" y="5133975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Provider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适配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流式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chunk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归一化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schema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凭证管理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3590925" y="5638800"/>
            <a:ext cx="7943850" cy="4191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3562350" y="5638800"/>
            <a:ext cx="7972425" cy="419100"/>
          </a:xfrm>
          <a:custGeom>
            <a:pathLst>
              <a:path w="837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3743325" y="577215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OPTIONAL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4486275" y="5762625"/>
            <a:ext cx="5972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另有可选的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CBOR 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远程会话栈：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pi-protocol · pi-client · pi-server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，独立叠加，不影响核心四层。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23 / 34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724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一次调用的完整数据流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从一句话输入，到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agent_end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，中间到底发生了什么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REQUEST LIFECYCLE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事件回流贯穿全程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85800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800100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自然语言需求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20383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2228850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2343150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2343150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AgentSession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2343150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.prompt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入队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35909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3781425" y="1666875"/>
            <a:ext cx="1352550" cy="1247775"/>
          </a:xfrm>
          <a:prstGeom prst="roundRect">
            <a:avLst>
              <a:gd name="adj" fmla="val 2290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3781425" y="1666875"/>
            <a:ext cx="1352550" cy="1247775"/>
          </a:xfrm>
          <a:custGeom>
            <a:pathLst>
              <a:path w="142" h="131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3895725" y="18002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3895725" y="202882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双层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while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3895725" y="2343150"/>
            <a:ext cx="11239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内层工具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外层续跑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51339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5324475" y="1771650"/>
            <a:ext cx="1352550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5324475" y="1771650"/>
            <a:ext cx="1352550" cy="1038225"/>
          </a:xfrm>
          <a:custGeom>
            <a:pathLst>
              <a:path w="142" h="109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438775" y="190500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5438775" y="2133600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上下文转换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438775" y="2447925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transformContext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6770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6867525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981825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981825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流式请求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6981825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streamSimple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2200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8410575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524875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524875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事件回流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524875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事件总线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→ UI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97726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9963150" y="1762125"/>
            <a:ext cx="1543050" cy="1019175"/>
          </a:xfrm>
          <a:prstGeom prst="roundRect">
            <a:avLst>
              <a:gd name="adj" fmla="val 2804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10077450" y="1895475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07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10077450" y="2124075"/>
            <a:ext cx="13144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agent_end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10077450" y="243840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本轮结束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685800" y="3257550"/>
            <a:ext cx="10820400" cy="1428750"/>
          </a:xfrm>
          <a:prstGeom prst="roundRect">
            <a:avLst>
              <a:gd name="adj" fmla="val 2667"/>
            </a:avLst>
          </a:prstGeom>
          <a:solidFill>
            <a:srgbClr val="2AD4EE">
              <a:alpha val="5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57250" y="3390900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步骤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③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展开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工具管线的四个阶段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610600" y="3390900"/>
            <a:ext cx="272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所有「每次工具调用都要做的事」都被收进这一层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8858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8858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10191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Prepare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0191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参数校验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beforeToolCall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拦截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10191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工具还没跑，先验一遍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35337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35337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36671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Execute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36671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execute() + onUpdate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进度回调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36671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真正干活的一步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1817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1817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3150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Finalize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3150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afterToolCall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3150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结果进上下文前先过一道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88296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88296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9630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截断保护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89630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超长结果裁剪后回喂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89630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别让一条返回撑爆窗口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685800" y="4838700"/>
            <a:ext cx="6162675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76300" y="5010150"/>
            <a:ext cx="5781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WHY TWO LOOPS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876300" y="5276850"/>
            <a:ext cx="57816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在一轮里反复「模型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结果」，直到模型不再要工具；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外层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负责续跑——用户的插话与追问变成队列消息注入，而不是硬中断。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7038975" y="4838700"/>
            <a:ext cx="4467225" cy="1219200"/>
          </a:xfrm>
          <a:prstGeom prst="roundRect">
            <a:avLst>
              <a:gd name="adj" fmla="val 3125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7229475" y="5153025"/>
            <a:ext cx="4086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7229475" y="5419725"/>
            <a:ext cx="4086225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看懂了这条流，就懂了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一切扩展点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24 / 34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7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九个设计点：对应七层地图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的每一个设计点，都能落回前面那七层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685800" y="1143000"/>
            <a:ext cx="2533650" cy="4914900"/>
          </a:xfrm>
          <a:custGeom>
            <a:pathLst>
              <a:path w="266" h="516">
                <a:moveTo>
                  <a:pt x="265" y="0"/>
                </a:moveTo>
                <a:lnTo>
                  <a:pt x="266" y="0"/>
                </a:lnTo>
                <a:lnTo>
                  <a:pt x="266" y="516"/>
                </a:lnTo>
                <a:lnTo>
                  <a:pt x="26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DESIGN NOTES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一张映射表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学完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的九个设计点，回头看七层地图，会发现它们一一对得上。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685800" y="3648075"/>
            <a:ext cx="2276475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1323975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714500" y="38481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2076450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E8EEF9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33425" y="43434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9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个设计点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7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个功能层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顺序一致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85800" y="4962525"/>
            <a:ext cx="2276475" cy="1095375"/>
          </a:xfrm>
          <a:prstGeom prst="roundRect">
            <a:avLst>
              <a:gd name="adj" fmla="val 347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838200" y="5095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838200" y="5334000"/>
            <a:ext cx="1971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编号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1–7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就是层号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①–⑦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。这不是巧合，是刻意的教学设计。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3505200" y="1143000"/>
            <a:ext cx="8001000" cy="276225"/>
          </a:xfrm>
          <a:custGeom>
            <a:pathLst>
              <a:path w="840" h="29">
                <a:moveTo>
                  <a:pt x="0" y="28"/>
                </a:moveTo>
                <a:lnTo>
                  <a:pt x="840" y="28"/>
                </a:lnTo>
                <a:lnTo>
                  <a:pt x="84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3505200" y="1143000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设计点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解决什么问题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对应功能层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9525000" y="1152525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每一个设计点，都解决一类具体问题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3505200" y="14097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3505200" y="15811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3790950" y="15716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模型适配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5010150" y="15811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5172075" y="15430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一套统一类型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归一化流式事件：把厂商差异挡在循环之外，换模型不改业务代码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10763250" y="15525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0877550" y="15906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①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模型层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3505200" y="192405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3505200" y="21050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3790950" y="20859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5010150" y="20955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5172075" y="20669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常驻最小化：系统提示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&lt;1000 token + 4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个工具，其余按需注入，放不下就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compaction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10763250" y="20669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10877550" y="21050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②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提示层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3505200" y="244792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3505200" y="26193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3790950" y="26098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工具系统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5010150" y="26193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5172075" y="258127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四阶段流水线：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Prepare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Execute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执行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Finalize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脱敏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截断保护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10763250" y="25908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10877550" y="26289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③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工具层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3505200" y="296227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3505200" y="31337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3790950" y="31242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会话系统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5010150" y="31337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5172075" y="30956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会话原语与持久化：历史怎么存、怎么取、怎么续跑，都是可替换的存储后端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10763250" y="310515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10877550" y="31432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④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记忆层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3505200" y="3476625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3505200" y="36576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3790950" y="36385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5010150" y="36480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5172075" y="36195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418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行双层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while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：内层跑工具调用、外层跑续跑，终止与最大轮次都有兜底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10763250" y="36195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10877550" y="36576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⑤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控制层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3505200" y="40005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3505200" y="41719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6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3790950" y="41624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扩展系统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5010150" y="41719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5172075" y="41338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能力全部外置成扩展：加工具、加拦截、加校验，全都不动内核一行代码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10763250" y="41433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10877550" y="41814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⑥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护栏层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3505200" y="451485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3505200" y="46863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3790950" y="46767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事件系统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5010150" y="46863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5172075" y="46482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事件总线贯穿全程：文本与思考增量实时回流，是可观测性的地基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10763250" y="46577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10877550" y="46958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⑦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运营层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3505200" y="502920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3505200" y="52101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8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3790950" y="51911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安全与可观测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5010150" y="52006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5172075" y="5172075"/>
            <a:ext cx="57435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内核不做权限：权限、沙箱与审计交回给使用方，用扩展钩子自建拦截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10915650" y="5172075"/>
            <a:ext cx="5905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11029950" y="5210175"/>
            <a:ext cx="361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⑥ + ⑦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3505200" y="57245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3790950" y="57150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远程会话栈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5010150" y="57245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5172075" y="5686425"/>
            <a:ext cx="56102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CBOR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远程会话：协议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客户端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服务端三层，可选，不影响核心四层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10782300" y="5695950"/>
            <a:ext cx="7239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0896600" y="57340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独立叠加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25 / 34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752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三层定制能力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投入成本从小时级到周级，按需选路线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685800" y="1143000"/>
            <a:ext cx="6315075" cy="4914900"/>
          </a:xfrm>
          <a:custGeom>
            <a:pathLst>
              <a:path w="663" h="516">
                <a:moveTo>
                  <a:pt x="662" y="0"/>
                </a:moveTo>
                <a:lnTo>
                  <a:pt x="663" y="0"/>
                </a:lnTo>
                <a:lnTo>
                  <a:pt x="663" y="516"/>
                </a:lnTo>
                <a:lnTo>
                  <a:pt x="66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THREE ROUTES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5086350" y="115252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越往下，改动越深、成本越高</a:t>
            </a:r>
            <a:endParaRPr/>
          </a:p>
        </p:txBody>
      </p:sp>
      <p:sp>
        <p:nvSpPr>
          <p:cNvPr id="810" name=""/>
          <p:cNvSpPr/>
          <p:nvPr/>
        </p:nvSpPr>
        <p:spPr>
          <a:xfrm rot="0" flipH="0" flipV="0">
            <a:off x="714375" y="142875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1" name=""/>
          <p:cNvSpPr/>
          <p:nvPr/>
        </p:nvSpPr>
        <p:spPr>
          <a:xfrm rot="0" flipH="0" flipV="0">
            <a:off x="714375" y="142875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866775" y="2000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8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114550"/>
            <a:ext cx="180975" cy="180975"/>
          </a:xfrm>
          <a:prstGeom prst="rect">
            <a:avLst/>
          </a:prstGeom>
          <a:ln/>
        </p:spPr>
      </p:pic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1419225" y="16668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1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1914525" y="1666875"/>
            <a:ext cx="457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Skills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2466975" y="1666875"/>
            <a:ext cx="495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提示词层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1419225" y="1990725"/>
            <a:ext cx="44100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一个遵循开放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Agent Skills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标准的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文件夹，描述「遇到某类任务该怎么做」。模型按需自动加载，不占常驻上下文。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1419225" y="2590800"/>
            <a:ext cx="441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.pi/skills/release-checklist/SKILL.md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5981700" y="2085975"/>
            <a:ext cx="561975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6076950" y="21240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小时级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714375" y="297180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22" name=""/>
          <p:cNvSpPr/>
          <p:nvPr/>
        </p:nvSpPr>
        <p:spPr>
          <a:xfrm rot="0" flipH="0" flipV="0">
            <a:off x="714375" y="297180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866775" y="354330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8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657600"/>
            <a:ext cx="180975" cy="180975"/>
          </a:xfrm>
          <a:prstGeom prst="rect">
            <a:avLst/>
          </a:prstGeom>
          <a:ln/>
        </p:spPr>
      </p:pic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1419225" y="320992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2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1914525" y="32099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Extensions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2952750" y="3209925"/>
            <a:ext cx="495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运行时层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1419225" y="3533775"/>
            <a:ext cx="4533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用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TypeScript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写扩展：给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加自定义工具，或修改运行时行为——在工具调用前后插入自己的校验与拦截。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1419225" y="413385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.pi/extensions/*.ts</a:t>
            </a:r>
            <a:endParaRPr/>
          </a:p>
        </p:txBody>
      </p:sp>
      <p:sp>
        <p:nvSpPr>
          <p:cNvPr id="830" name=""/>
          <p:cNvSpPr/>
          <p:nvPr/>
        </p:nvSpPr>
        <p:spPr>
          <a:xfrm rot="0" flipH="0" flipV="0">
            <a:off x="6105525" y="3629025"/>
            <a:ext cx="4381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6200775" y="3667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天级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714375" y="451485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714375" y="451485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34" name=""/>
          <p:cNvSpPr/>
          <p:nvPr/>
        </p:nvSpPr>
        <p:spPr>
          <a:xfrm rot="0" flipH="0" flipV="0">
            <a:off x="866775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8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200650"/>
            <a:ext cx="180975" cy="180975"/>
          </a:xfrm>
          <a:prstGeom prst="rect">
            <a:avLst/>
          </a:prstGeom>
          <a:ln/>
        </p:spPr>
      </p:pic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1419225" y="47529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3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1914525" y="4752975"/>
            <a:ext cx="3714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SDK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2381250" y="4752975"/>
            <a:ext cx="619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进程内嵌层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1419225" y="5076825"/>
            <a:ext cx="4533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createAgentSession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在调用方进程内构建完整会话，可注入存储、配置、认证、模型注册表与工具。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1419225" y="567690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无桥接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无子进程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socket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6105525" y="5172075"/>
            <a:ext cx="4381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6200775" y="5210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周级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7296150" y="1143000"/>
            <a:ext cx="421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COST LADDER</a:t>
            </a:r>
            <a:endParaRPr/>
          </a:p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7296150" y="1466850"/>
            <a:ext cx="504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Skills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11106150" y="14668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小时级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7296150" y="1704975"/>
            <a:ext cx="142875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7296150" y="194310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Extensions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11239500" y="194310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天级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7296150" y="2181225"/>
            <a:ext cx="278130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7296150" y="2419350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SDK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11239500" y="241935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周级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7296150" y="2657475"/>
            <a:ext cx="421005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7296150" y="2971800"/>
            <a:ext cx="4210050" cy="1171575"/>
          </a:xfrm>
          <a:prstGeom prst="roundRect">
            <a:avLst>
              <a:gd name="adj" fmla="val 3252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7448550" y="3124200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ASK FIRST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7448550" y="3381375"/>
            <a:ext cx="3905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绝大多数团队需求，停在</a:t>
            </a:r>
            <a:r>
              <a:rPr lang="en-US" sz="1163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Skills </a:t>
            </a:r>
            <a:r>
              <a:rPr lang="zh-CN" sz="11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就够了——先把经验写成文档，再谈改代码。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7296150" y="4867275"/>
            <a:ext cx="4210050" cy="1190625"/>
          </a:xfrm>
          <a:prstGeom prst="roundRect">
            <a:avLst>
              <a:gd name="adj" fmla="val 32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7448550" y="5019675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7448550" y="5276850"/>
            <a:ext cx="3905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先问「我要改造哪一层」，再选路线——不要一上来就走最深的那条。</a:t>
            </a:r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26 / 34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6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864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04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落地实践：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智数问答</a:t>
            </a:r>
            <a:r>
              <a:rPr lang="en-US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把前面所有知识，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装进一个真实业务系统。</a:t>
            </a:r>
            <a:endParaRPr/>
          </a:p>
        </p:txBody>
      </p:sp>
      <p:sp>
        <p:nvSpPr>
          <p:cNvPr id="870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872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三级路由是怎么把准确率拉起来的？</a:t>
            </a:r>
            <a:endParaRPr/>
          </a:p>
        </p:txBody>
      </p:sp>
      <p:sp>
        <p:nvSpPr>
          <p:cNvPr id="874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加一个工具，为什么不用改主干代码？</a:t>
            </a:r>
            <a:endParaRPr/>
          </a:p>
        </p:txBody>
      </p:sp>
      <p:sp>
        <p:nvSpPr>
          <p:cNvPr id="876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真实项目里到底踩过哪些坑？</a:t>
            </a:r>
            <a:endParaRPr/>
          </a:p>
        </p:txBody>
      </p:sp>
      <p:sp>
        <p:nvSpPr>
          <p:cNvPr id="878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27 – 33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项目概览与三级路由</a:t>
            </a:r>
            <a:endParaRPr/>
          </a:p>
        </p:txBody>
      </p:sp>
      <p:sp>
        <p:nvSpPr>
          <p:cNvPr id="883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571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发现式注册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隔离安全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885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495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四个真实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Bug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与修法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27 / 34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8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项目概览：一句话与一套栈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自然语言进，结构化结果出，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在中间做编排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685800" y="1143000"/>
            <a:ext cx="5895975" cy="4914900"/>
          </a:xfrm>
          <a:custGeom>
            <a:pathLst>
              <a:path w="619" h="516">
                <a:moveTo>
                  <a:pt x="618" y="0"/>
                </a:moveTo>
                <a:lnTo>
                  <a:pt x="619" y="0"/>
                </a:lnTo>
                <a:lnTo>
                  <a:pt x="619" y="516"/>
                </a:lnTo>
                <a:lnTo>
                  <a:pt x="61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END-TO-END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4991100" y="1152525"/>
            <a:ext cx="1285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HTTP + SSE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全链路流式</a:t>
            </a:r>
            <a:endParaRPr/>
          </a:p>
        </p:txBody>
      </p:sp>
      <p:sp>
        <p:nvSpPr>
          <p:cNvPr id="896" name=""/>
          <p:cNvSpPr/>
          <p:nvPr/>
        </p:nvSpPr>
        <p:spPr>
          <a:xfrm rot="0" flipH="0" flipV="0">
            <a:off x="685800" y="142875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838200" y="17526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CLIENT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1562100" y="161925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1562100" y="186690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自然语言提问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前端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Vue3 + TS + Pinia</a:t>
            </a:r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933450" y="22288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901" name=""/>
          <p:cNvSpPr/>
          <p:nvPr/>
        </p:nvSpPr>
        <p:spPr>
          <a:xfrm rot="0" flipH="0" flipV="0">
            <a:off x="685800" y="239077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838200" y="27146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SERVER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1562100" y="258127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Node (Koa)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服务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1562100" y="282892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鉴权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数据范围注入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SSE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通道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933450" y="31908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685800" y="3352800"/>
            <a:ext cx="5591175" cy="781050"/>
          </a:xfrm>
          <a:prstGeom prst="roundRect">
            <a:avLst>
              <a:gd name="adj" fmla="val 365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838200" y="36766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1562100" y="35433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智能体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1562100" y="37909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@earendil-works/pi-coding-agent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，编排核心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933450" y="41433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685800" y="430530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838200" y="46291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1562100" y="44958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查询工具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1562100" y="47434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指标模板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受控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发射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933450" y="51054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916" name=""/>
          <p:cNvSpPr/>
          <p:nvPr/>
        </p:nvSpPr>
        <p:spPr>
          <a:xfrm rot="0" flipH="0" flipV="0">
            <a:off x="685800" y="526732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838200" y="55911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RENDER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1562100" y="545782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前端流式渲染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1562100" y="570547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文本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卡片，按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renderer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路由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6877050" y="1143000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TECH STACK</a:t>
            </a:r>
            <a:endParaRPr/>
          </a:p>
        </p:txBody>
      </p:sp>
      <p:sp>
        <p:nvSpPr>
          <p:cNvPr id="921" name=""/>
          <p:cNvSpPr/>
          <p:nvPr/>
        </p:nvSpPr>
        <p:spPr>
          <a:xfrm rot="0" flipH="0" flipV="0">
            <a:off x="6877050" y="14478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6877050" y="1581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前端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7524750" y="15335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Vue3 + TS + Pinia + Router</a:t>
            </a:r>
            <a:endParaRPr/>
          </a:p>
        </p:txBody>
      </p:sp>
      <p:sp>
        <p:nvSpPr>
          <p:cNvPr id="924" name=""/>
          <p:cNvSpPr/>
          <p:nvPr/>
        </p:nvSpPr>
        <p:spPr>
          <a:xfrm rot="0" flipH="0" flipV="0">
            <a:off x="6877050" y="18859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6877050" y="20193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服务端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7524750" y="19716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Node + TS + Koa</a:t>
            </a:r>
            <a:endParaRPr/>
          </a:p>
        </p:txBody>
      </p:sp>
      <p:sp>
        <p:nvSpPr>
          <p:cNvPr id="927" name=""/>
          <p:cNvSpPr/>
          <p:nvPr/>
        </p:nvSpPr>
        <p:spPr>
          <a:xfrm rot="0" flipH="0" flipV="0">
            <a:off x="6877050" y="23241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6877050" y="24574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智能体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7524750" y="24098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@earendil-works/pi-coding-agent</a:t>
            </a:r>
            <a:endParaRPr/>
          </a:p>
        </p:txBody>
      </p:sp>
      <p:sp>
        <p:nvSpPr>
          <p:cNvPr id="930" name=""/>
          <p:cNvSpPr/>
          <p:nvPr/>
        </p:nvSpPr>
        <p:spPr>
          <a:xfrm rot="0" flipH="0" flipV="0">
            <a:off x="6877050" y="27622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6877050" y="2895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数据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7524750" y="28479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内存</a:t>
            </a: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JSON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种子数据，无需外部数据库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6877050" y="32004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6877050" y="33337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注册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7524750" y="32861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.pi/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目录发现式注册，代码零硬编码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6877050" y="3829050"/>
            <a:ext cx="4629150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7029450" y="3962400"/>
            <a:ext cx="432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要解决的三件事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7029450" y="42195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7277100" y="42100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用户角色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部门的数据范围隔离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7029450" y="44672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7277100" y="445770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多租户隔离（共享库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tenant_id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7029450" y="47148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7277100" y="47053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指标的准确性与可追溯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6877050" y="5238750"/>
            <a:ext cx="4629150" cy="819150"/>
          </a:xfrm>
          <a:prstGeom prst="roundRect">
            <a:avLst>
              <a:gd name="adj" fmla="val 465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7029450" y="5372100"/>
            <a:ext cx="432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7029450" y="5610225"/>
            <a:ext cx="43243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</a:t>
            </a:r>
            <a:r>
              <a:rPr lang="zh-CN" sz="1200">
                <a:solidFill>
                  <a:srgbClr val="2AD4EE"/>
                </a:solidFill>
                <a:latin typeface="Source Han Sans SC"/>
                <a:ea typeface="Source Han Sans SC"/>
              </a:rPr>
              <a:t>编排核心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，不是外挂组件。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28 / 34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9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5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三级路由：准确性的核心</a:t>
            </a:r>
            <a:endParaRPr/>
          </a:p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按顺序判断，不得跳级；缺参数就不调工具</a:t>
            </a:r>
            <a:endParaRPr/>
          </a:p>
        </p:txBody>
      </p:sp>
      <p:sp>
        <p:nvSpPr>
          <p:cNvPr id="954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886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ROUTING BY PRIORITY</a:t>
            </a:r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685800" y="1409700"/>
            <a:ext cx="28860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200" b="1">
                <a:solidFill>
                  <a:srgbClr val="2AD4EE"/>
                </a:solidFill>
                <a:latin typeface="JetBrains Mono"/>
                <a:ea typeface="JetBrains Mono"/>
              </a:rPr>
              <a:t>三级</a:t>
            </a:r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2886075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强约束优先，</a:t>
            </a:r>
            <a:endParaRPr/>
          </a:p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自由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兜底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685800" y="3543300"/>
            <a:ext cx="28860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越往上，模型能编造的空间越小。自由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永远放在最后，而且一定会被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AST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校验和范围注入重写一遍。</a:t>
            </a:r>
            <a:endParaRPr/>
          </a:p>
        </p:txBody>
      </p:sp>
      <p:sp>
        <p:nvSpPr>
          <p:cNvPr id="959" name=""/>
          <p:cNvSpPr/>
          <p:nvPr/>
        </p:nvSpPr>
        <p:spPr>
          <a:xfrm rot="0" flipH="0" flipV="0">
            <a:off x="685800" y="4819650"/>
            <a:ext cx="2886075" cy="1238250"/>
          </a:xfrm>
          <a:prstGeom prst="roundRect">
            <a:avLst>
              <a:gd name="adj" fmla="val 307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857250" y="4972050"/>
            <a:ext cx="2543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857250" y="5238750"/>
            <a:ext cx="25431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把「选哪条路」从模型手里收回来，才是准不准的关键。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4210050" y="11430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DECISION ORDER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自上而下，命中即停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10515600" y="11525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跳级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准确率失控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4248150" y="1428750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2AD4EE">
              <a:alpha val="13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65" name=""/>
          <p:cNvSpPr/>
          <p:nvPr/>
        </p:nvSpPr>
        <p:spPr>
          <a:xfrm rot="0" flipH="0" flipV="0">
            <a:off x="4248150" y="1428750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4419600" y="18192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4895850" y="1714500"/>
            <a:ext cx="733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业务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</a:t>
            </a:r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5743575" y="1714500"/>
            <a:ext cx="1333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4895850" y="2019300"/>
            <a:ext cx="57340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先看问题是否命中租户的业务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清单；字典类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可直接按名调用。参数齐全才执行。</a:t>
            </a:r>
            <a:endParaRPr/>
          </a:p>
        </p:txBody>
      </p:sp>
      <p:sp>
        <p:nvSpPr>
          <p:cNvPr id="970" name=""/>
          <p:cNvSpPr/>
          <p:nvPr/>
        </p:nvSpPr>
        <p:spPr>
          <a:xfrm rot="0" flipH="0" flipV="0">
            <a:off x="10782300" y="1876425"/>
            <a:ext cx="5524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10877550" y="191452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强约束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4533900" y="26003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973" name=""/>
          <p:cNvSpPr/>
          <p:nvPr/>
        </p:nvSpPr>
        <p:spPr>
          <a:xfrm rot="0" flipH="0" flipV="0">
            <a:off x="4248150" y="2809875"/>
            <a:ext cx="7296150" cy="1104900"/>
          </a:xfrm>
          <a:prstGeom prst="roundRect">
            <a:avLst>
              <a:gd name="adj" fmla="val 2586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4248150" y="2809875"/>
            <a:ext cx="7296150" cy="1104900"/>
          </a:xfrm>
          <a:custGeom>
            <a:pathLst>
              <a:path w="766" h="116">
                <a:moveTo>
                  <a:pt x="4" y="116"/>
                </a:moveTo>
                <a:cubicBezTo>
                  <a:pt x="3" y="116"/>
                  <a:pt x="2" y="116"/>
                  <a:pt x="1" y="115"/>
                </a:cubicBezTo>
                <a:cubicBezTo>
                  <a:pt x="0" y="114"/>
                  <a:pt x="0" y="114"/>
                  <a:pt x="0" y="11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4419600" y="31908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4895850" y="3095625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指标模板</a:t>
            </a:r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5810250" y="30956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4895850" y="34004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未命中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，再看是否命中预定义指标字典；检查维度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时间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过滤参数是否齐全。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10668000" y="32575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10763250" y="32956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中等约束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4533900" y="39719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982" name=""/>
          <p:cNvSpPr/>
          <p:nvPr/>
        </p:nvSpPr>
        <p:spPr>
          <a:xfrm rot="0" flipH="0" flipV="0">
            <a:off x="4248150" y="4181475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83" name=""/>
          <p:cNvSpPr/>
          <p:nvPr/>
        </p:nvSpPr>
        <p:spPr>
          <a:xfrm rot="0" flipH="0" flipV="0">
            <a:off x="4248150" y="4181475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4419600" y="4572000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4895850" y="4467225"/>
            <a:ext cx="809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受控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5819775" y="44672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4895850" y="47720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前两级都没命中才走自由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强制注入租户与数据范围后执行。</a:t>
            </a:r>
            <a:endParaRPr/>
          </a:p>
        </p:txBody>
      </p:sp>
      <p:sp>
        <p:nvSpPr>
          <p:cNvPr id="988" name=""/>
          <p:cNvSpPr/>
          <p:nvPr/>
        </p:nvSpPr>
        <p:spPr>
          <a:xfrm rot="0" flipH="0" flipV="0">
            <a:off x="10668000" y="46291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10763250" y="46672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受控兜底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4238625" y="5410200"/>
            <a:ext cx="7296150" cy="6477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91" name=""/>
          <p:cNvSpPr/>
          <p:nvPr/>
        </p:nvSpPr>
        <p:spPr>
          <a:xfrm rot="0" flipH="0" flipV="0">
            <a:off x="4210050" y="5410200"/>
            <a:ext cx="7324725" cy="647700"/>
          </a:xfrm>
          <a:custGeom>
            <a:pathLst>
              <a:path w="769" h="68">
                <a:moveTo>
                  <a:pt x="0" y="0"/>
                </a:moveTo>
                <a:lnTo>
                  <a:pt x="3" y="0"/>
                </a:lnTo>
                <a:lnTo>
                  <a:pt x="3" y="68"/>
                </a:lnTo>
                <a:lnTo>
                  <a:pt x="0" y="68"/>
                </a:lnTo>
                <a:close/>
              </a:path>
            </a:pathLst>
          </a:cu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4410075" y="5657850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两条铁律</a:t>
            </a:r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5172075" y="5600700"/>
            <a:ext cx="61626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不得跳级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：只能按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①→②→③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顺序判断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｜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缺参不调工具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：先向用户索要，补齐后重新判断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29 / 34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0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2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48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发现式注册：加工具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丢一个文件</a:t>
            </a:r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48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代码里零硬编码工具数组，能力全在磁盘上</a:t>
            </a:r>
            <a:endParaRPr/>
          </a:p>
        </p:txBody>
      </p:sp>
      <p:sp>
        <p:nvSpPr>
          <p:cNvPr id="1030" name=""/>
          <p:cNvSpPr/>
          <p:nvPr/>
        </p:nvSpPr>
        <p:spPr>
          <a:xfrm rot="0" flipH="0" flipV="0">
            <a:off x="685800" y="1143000"/>
            <a:ext cx="2609850" cy="4914900"/>
          </a:xfrm>
          <a:custGeom>
            <a:pathLst>
              <a:path w="274" h="516">
                <a:moveTo>
                  <a:pt x="273" y="0"/>
                </a:moveTo>
                <a:lnTo>
                  <a:pt x="274" y="0"/>
                </a:lnTo>
                <a:lnTo>
                  <a:pt x="274" y="516"/>
                </a:lnTo>
                <a:lnTo>
                  <a:pt x="273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DISCOVERY</a:t>
            </a:r>
            <a:endParaRPr/>
          </a:p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3336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加一个工具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等于丢一个文件</a:t>
            </a:r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33362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启动时，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DefaultResourceLoader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扫描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.pi/extensions/*.ts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，每个文件自己注册自己的工具。</a:t>
            </a:r>
            <a:endParaRPr/>
          </a:p>
        </p:txBody>
      </p:sp>
      <p:sp>
        <p:nvSpPr>
          <p:cNvPr id="1034" name=""/>
          <p:cNvSpPr/>
          <p:nvPr/>
        </p:nvSpPr>
        <p:spPr>
          <a:xfrm rot="0" flipH="0" flipV="0">
            <a:off x="685800" y="37528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828675" y="368617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新增工具不动主干代码</a:t>
            </a:r>
            <a:endParaRPr/>
          </a:p>
        </p:txBody>
      </p:sp>
      <p:sp>
        <p:nvSpPr>
          <p:cNvPr id="1036" name=""/>
          <p:cNvSpPr/>
          <p:nvPr/>
        </p:nvSpPr>
        <p:spPr>
          <a:xfrm rot="0" flipH="0" flipV="0">
            <a:off x="685800" y="40957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828675" y="4029075"/>
            <a:ext cx="21907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AGENTS.md / APPEND_SYSTEM.md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自动合并进系统提示</a:t>
            </a:r>
            <a:endParaRPr/>
          </a:p>
        </p:txBody>
      </p:sp>
      <p:sp>
        <p:nvSpPr>
          <p:cNvPr id="1038" name=""/>
          <p:cNvSpPr/>
          <p:nvPr/>
        </p:nvSpPr>
        <p:spPr>
          <a:xfrm rot="0" flipH="0" flipV="0">
            <a:off x="685800" y="46863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828675" y="461962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删除能力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删掉那个文件</a:t>
            </a:r>
            <a:endParaRPr/>
          </a:p>
        </p:txBody>
      </p:sp>
      <p:sp>
        <p:nvSpPr>
          <p:cNvPr id="1040" name=""/>
          <p:cNvSpPr/>
          <p:nvPr/>
        </p:nvSpPr>
        <p:spPr>
          <a:xfrm rot="0" flipH="0" flipV="0">
            <a:off x="685800" y="4886325"/>
            <a:ext cx="2333625" cy="1171575"/>
          </a:xfrm>
          <a:prstGeom prst="roundRect">
            <a:avLst>
              <a:gd name="adj" fmla="val 32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838200" y="503872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20288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新增能力不改主干代码，这就是低耦合的落地方式。</a:t>
            </a:r>
            <a:endParaRPr/>
          </a:p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3600450" y="1143000"/>
            <a:ext cx="276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server/.pi/</a:t>
            </a:r>
            <a:endParaRPr/>
          </a:p>
        </p:txBody>
      </p:sp>
      <p:sp>
        <p:nvSpPr>
          <p:cNvPr id="1044" name=""/>
          <p:cNvSpPr/>
          <p:nvPr/>
        </p:nvSpPr>
        <p:spPr>
          <a:xfrm rot="0" flipH="0" flipV="0">
            <a:off x="3600450" y="1428750"/>
            <a:ext cx="2762250" cy="4629150"/>
          </a:xfrm>
          <a:prstGeom prst="roundRect">
            <a:avLst>
              <a:gd name="adj" fmla="val 137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3733800" y="16573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extensions/</a:t>
            </a:r>
            <a:endParaRPr/>
          </a:p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3733800" y="20002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query-metric.ts</a:t>
            </a:r>
            <a:endParaRPr/>
          </a:p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3733800" y="21812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3733800" y="25050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call-api.ts</a:t>
            </a:r>
            <a:endParaRPr/>
          </a:p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3733800" y="26860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1050" name="" descr="{&quot;isTemplate&quot;:true,&quot;type&quot;:&quot;text&quot;}"/>
          <p:cNvSpPr txBox="1"/>
          <p:nvPr/>
        </p:nvSpPr>
        <p:spPr>
          <a:xfrm rot="0" flipH="0" flipV="0">
            <a:off x="3733800" y="30003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safe-sql.ts</a:t>
            </a:r>
            <a:endParaRPr/>
          </a:p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3733800" y="31813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3733800" y="350520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emit-table.ts</a:t>
            </a:r>
            <a:endParaRPr/>
          </a:p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3733800" y="368617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emit_table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3733800" y="401002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emit-chart.ts</a:t>
            </a:r>
            <a:endParaRPr/>
          </a:p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3733800" y="419100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emit_chart</a:t>
            </a:r>
            <a:endParaRPr/>
          </a:p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3733800" y="45148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└─ emit-kpi.ts</a:t>
            </a:r>
            <a:endParaRPr/>
          </a:p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3733800" y="46958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emit_kpi</a:t>
            </a:r>
            <a:endParaRPr/>
          </a:p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3733800" y="50101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AGENTS.md</a:t>
            </a:r>
            <a:endParaRPr/>
          </a:p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3733800" y="51911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自动合并进系统提示</a:t>
            </a:r>
            <a:endParaRPr/>
          </a:p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3733800" y="55149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└─ APPEND_SYSTEM.md</a:t>
            </a:r>
            <a:endParaRPr/>
          </a:p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3733800" y="56959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自动追加</a:t>
            </a:r>
            <a:endParaRPr/>
          </a:p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6553200" y="11430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extensions/emit-table.ts</a:t>
            </a:r>
            <a:endParaRPr/>
          </a:p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30 / 34</a:t>
            </a:r>
            <a:endParaRPr/>
          </a:p>
        </p:txBody>
      </p:sp>
      <p:sp>
        <p:nvSpPr>
          <p:cNvPr id="1065" name=""/>
          <p:cNvSpPr/>
          <p:nvPr/>
        </p:nvSpPr>
        <p:spPr>
          <a:xfrm rot="0" flipH="0" flipV="0">
            <a:off x="6553200" y="1428750"/>
            <a:ext cx="4953000" cy="4267200"/>
          </a:xfrm>
          <a:prstGeom prst="roundRect">
            <a:avLst>
              <a:gd name="adj" fmla="val 1786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6" name=""/>
          <p:cNvSpPr txBox="1"/>
          <p:nvPr/>
        </p:nvSpPr>
        <p:spPr>
          <a:xfrm rot="0" flipH="0" flipV="0">
            <a:off x="6705600" y="1562100"/>
            <a:ext cx="4781550" cy="4000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defineTool,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ExtensionAPI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"@earendil-works/pi-coding-agent"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Type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"@sinclair/typebox"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79B8FF"/>
                </a:solidFill>
                <a:latin typeface="Menlo"/>
                <a:ea typeface="Menlo"/>
              </a:rPr>
              <a:t>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defineTool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"emit_table"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"向用户输出明细表格。"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parameters: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Object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title: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Optional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rows: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Array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Record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Unknown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source: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async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execute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_id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details: { renderer: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 data: p, source: p.source } };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});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default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function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pi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ExtensionAPI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registerTool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(tool);  </a:t>
            </a:r>
            <a:r>
              <a:rPr sz="938">
                <a:solidFill>
                  <a:srgbClr val="6A737D"/>
                </a:solidFill>
                <a:latin typeface="Menlo"/>
                <a:ea typeface="Menlo"/>
              </a:rPr>
              <a:t>// 文件即工具，无需集中注册表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6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476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隔离与安全：租户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范围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SQL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守卫</a:t>
            </a:r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476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三道防线都建在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之外，所以它绕不过去</a:t>
            </a:r>
            <a:endParaRPr/>
          </a:p>
        </p:txBody>
      </p:sp>
      <p:sp>
        <p:nvSpPr>
          <p:cNvPr id="1072" name=""/>
          <p:cNvSpPr/>
          <p:nvPr/>
        </p:nvSpPr>
        <p:spPr>
          <a:xfrm rot="0" flipH="0" flipV="0">
            <a:off x="685800" y="1143000"/>
            <a:ext cx="5791200" cy="4914900"/>
          </a:xfrm>
          <a:custGeom>
            <a:pathLst>
              <a:path w="608" h="516">
                <a:moveTo>
                  <a:pt x="607" y="0"/>
                </a:moveTo>
                <a:lnTo>
                  <a:pt x="608" y="0"/>
                </a:lnTo>
                <a:lnTo>
                  <a:pt x="608" y="516"/>
                </a:lnTo>
                <a:lnTo>
                  <a:pt x="60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THREE DEFENSE LINES</a:t>
            </a:r>
            <a:endParaRPr/>
          </a:p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5057775" y="11525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自外向内，逐层收紧</a:t>
            </a:r>
            <a:endParaRPr/>
          </a:p>
        </p:txBody>
      </p:sp>
      <p:sp>
        <p:nvSpPr>
          <p:cNvPr id="1075" name=""/>
          <p:cNvSpPr/>
          <p:nvPr/>
        </p:nvSpPr>
        <p:spPr>
          <a:xfrm rot="0" flipH="0" flipV="0">
            <a:off x="714375" y="1428750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6" name=""/>
          <p:cNvSpPr/>
          <p:nvPr/>
        </p:nvSpPr>
        <p:spPr>
          <a:xfrm rot="0" flipH="0" flipV="0">
            <a:off x="714375" y="1428750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7" name=""/>
          <p:cNvSpPr/>
          <p:nvPr/>
        </p:nvSpPr>
        <p:spPr>
          <a:xfrm rot="0" flipH="0" flipV="0">
            <a:off x="866775" y="20383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0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152650"/>
            <a:ext cx="190500" cy="190500"/>
          </a:xfrm>
          <a:prstGeom prst="rect">
            <a:avLst/>
          </a:prstGeom>
          <a:ln/>
        </p:spPr>
      </p:pic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1438275" y="1695450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1685925" y="1695450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身份与数据范围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1438275" y="2019300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带出用户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租户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部门；中间件把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dataScope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显式放进会话上下文，不依赖全局隐式状态；数据访问层由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scoper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统一强制注入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与部门过滤。</a:t>
            </a:r>
            <a:endParaRPr/>
          </a:p>
        </p:txBody>
      </p:sp>
      <p:sp>
        <p:nvSpPr>
          <p:cNvPr id="1082" name=""/>
          <p:cNvSpPr/>
          <p:nvPr/>
        </p:nvSpPr>
        <p:spPr>
          <a:xfrm rot="0" flipH="0" flipV="0">
            <a:off x="714375" y="3057525"/>
            <a:ext cx="5486400" cy="1371600"/>
          </a:xfrm>
          <a:prstGeom prst="roundRect">
            <a:avLst>
              <a:gd name="adj" fmla="val 2083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83" name=""/>
          <p:cNvSpPr/>
          <p:nvPr/>
        </p:nvSpPr>
        <p:spPr>
          <a:xfrm rot="0" flipH="0" flipV="0">
            <a:off x="714375" y="3057525"/>
            <a:ext cx="5486400" cy="1371600"/>
          </a:xfrm>
          <a:custGeom>
            <a:pathLst>
              <a:path w="576" h="144">
                <a:moveTo>
                  <a:pt x="3" y="144"/>
                </a:moveTo>
                <a:cubicBezTo>
                  <a:pt x="1" y="144"/>
                  <a:pt x="0" y="143"/>
                  <a:pt x="0" y="1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44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84" name=""/>
          <p:cNvSpPr/>
          <p:nvPr/>
        </p:nvSpPr>
        <p:spPr>
          <a:xfrm rot="0" flipH="0" flipV="0">
            <a:off x="866775" y="353377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0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648075"/>
            <a:ext cx="190500" cy="190500"/>
          </a:xfrm>
          <a:prstGeom prst="rect">
            <a:avLst/>
          </a:prstGeom>
          <a:ln/>
        </p:spPr>
      </p:pic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1438275" y="33242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1685925" y="33242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会话归属校验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1438275" y="3648075"/>
            <a:ext cx="4581525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创建与恢复会话时都校验归属：一个会话只属于当前用户与租户。想越权读取别人的历史，在入口就被拒绝，根本进不到模型层。</a:t>
            </a:r>
            <a:endParaRPr/>
          </a:p>
        </p:txBody>
      </p:sp>
      <p:sp>
        <p:nvSpPr>
          <p:cNvPr id="1089" name=""/>
          <p:cNvSpPr/>
          <p:nvPr/>
        </p:nvSpPr>
        <p:spPr>
          <a:xfrm rot="0" flipH="0" flipV="0">
            <a:off x="714375" y="4429125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90" name=""/>
          <p:cNvSpPr/>
          <p:nvPr/>
        </p:nvSpPr>
        <p:spPr>
          <a:xfrm rot="0" flipH="0" flipV="0">
            <a:off x="714375" y="4429125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91" name=""/>
          <p:cNvSpPr/>
          <p:nvPr/>
        </p:nvSpPr>
        <p:spPr>
          <a:xfrm rot="0" flipH="0" flipV="0">
            <a:off x="866775" y="5038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0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153025"/>
            <a:ext cx="190500" cy="190500"/>
          </a:xfrm>
          <a:prstGeom prst="rect">
            <a:avLst/>
          </a:prstGeom>
          <a:ln/>
        </p:spPr>
      </p:pic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1438275" y="46958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1685925" y="4695825"/>
            <a:ext cx="1790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守卫（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级）</a:t>
            </a:r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1438275" y="5019675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仅允许单条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SELECT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，拒绝写操作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CTE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子查询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INTO OUTFILE / FOR UPDATE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；表白名单；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级强制注入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is_deleted = 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与数据范围；强制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LIMIT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上限（默认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1000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行）。</a:t>
            </a:r>
            <a:endParaRPr/>
          </a:p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6772275" y="1143000"/>
            <a:ext cx="4733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INVARIANTS</a:t>
            </a:r>
            <a:endParaRPr/>
          </a:p>
        </p:txBody>
      </p:sp>
      <p:sp>
        <p:nvSpPr>
          <p:cNvPr id="1097" name=""/>
          <p:cNvSpPr/>
          <p:nvPr/>
        </p:nvSpPr>
        <p:spPr>
          <a:xfrm rot="0" flipH="0" flipV="0">
            <a:off x="6772275" y="146685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6924675" y="160020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注入值不来自模型</a:t>
            </a:r>
            <a:endParaRPr/>
          </a:p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6924675" y="186690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里被注入的租户与范围值，全部来自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会话上下文——模型写的字符串只是「建议」，不改写它的语义。</a:t>
            </a:r>
            <a:endParaRPr/>
          </a:p>
        </p:txBody>
      </p:sp>
      <p:sp>
        <p:nvSpPr>
          <p:cNvPr id="1100" name=""/>
          <p:cNvSpPr/>
          <p:nvPr/>
        </p:nvSpPr>
        <p:spPr>
          <a:xfrm rot="0" flipH="0" flipV="0">
            <a:off x="6772275" y="266700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6924675" y="280035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执行权永远在代码里</a:t>
            </a:r>
            <a:endParaRPr/>
          </a:p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6924675" y="306705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模型只能说要查什么；怎么改、改完能不能跑、跑多少行，全部由服务端决定。</a:t>
            </a:r>
            <a:endParaRPr/>
          </a:p>
        </p:txBody>
      </p:sp>
      <p:sp>
        <p:nvSpPr>
          <p:cNvPr id="1103" name=""/>
          <p:cNvSpPr/>
          <p:nvPr/>
        </p:nvSpPr>
        <p:spPr>
          <a:xfrm rot="0" flipH="0" flipV="0">
            <a:off x="6772275" y="5153025"/>
            <a:ext cx="473392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6943725" y="5305425"/>
            <a:ext cx="439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6943725" y="5572125"/>
            <a:ext cx="439102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层对这些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无感知、也绕不过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——安全才成立。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31 / 34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1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流式链路与前端渲染扩展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后端只说「这是什么」，前端决定「长什么样」</a:t>
            </a:r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SSE PIPELINE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一条事件从会话到像素</a:t>
            </a:r>
            <a:endParaRPr/>
          </a:p>
        </p:txBody>
      </p:sp>
      <p:sp>
        <p:nvSpPr>
          <p:cNvPr id="1114" name=""/>
          <p:cNvSpPr/>
          <p:nvPr/>
        </p:nvSpPr>
        <p:spPr>
          <a:xfrm rot="0" flipH="0" flipV="0">
            <a:off x="68580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81915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81915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>session.subscribe</a:t>
            </a:r>
            <a:endParaRPr/>
          </a:p>
        </p:txBody>
      </p:sp>
      <p:sp>
        <p:nvSpPr>
          <p:cNvPr id="1117" name="" descr="{&quot;isTemplate&quot;:true,&quot;type&quot;:&quot;text&quot;}"/>
          <p:cNvSpPr txBox="1"/>
          <p:nvPr/>
        </p:nvSpPr>
        <p:spPr>
          <a:xfrm rot="0" flipH="0" flipV="0">
            <a:off x="81915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订阅会话事件流</a:t>
            </a:r>
            <a:endParaRPr/>
          </a:p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263842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119" name=""/>
          <p:cNvSpPr/>
          <p:nvPr/>
        </p:nvSpPr>
        <p:spPr>
          <a:xfrm rot="0" flipH="0" flipV="0">
            <a:off x="2847975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2981325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2981325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relay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事件映射</a:t>
            </a:r>
            <a:endParaRPr/>
          </a:p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2981325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事件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→ SseEvent</a:t>
            </a:r>
            <a:endParaRPr/>
          </a:p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48006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124" name=""/>
          <p:cNvSpPr/>
          <p:nvPr/>
        </p:nvSpPr>
        <p:spPr>
          <a:xfrm rot="0" flipH="0" flipV="0">
            <a:off x="5010150" y="1619250"/>
            <a:ext cx="1962150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5143500" y="1619250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5143500" y="1838325"/>
            <a:ext cx="169545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SSE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写出</a:t>
            </a:r>
            <a:endParaRPr/>
          </a:p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5143500" y="2152650"/>
            <a:ext cx="1695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HTTP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分块推送</a:t>
            </a:r>
            <a:endParaRPr/>
          </a:p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69723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129" name=""/>
          <p:cNvSpPr/>
          <p:nvPr/>
        </p:nvSpPr>
        <p:spPr>
          <a:xfrm rot="0" flipH="0" flipV="0">
            <a:off x="718185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731520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731520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前端分发</a:t>
            </a:r>
            <a:endParaRPr/>
          </a:p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731520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按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type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追加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插块</a:t>
            </a:r>
            <a:endParaRPr/>
          </a:p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913447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134" name=""/>
          <p:cNvSpPr/>
          <p:nvPr/>
        </p:nvSpPr>
        <p:spPr>
          <a:xfrm rot="0" flipH="0" flipV="0">
            <a:off x="9344025" y="1619250"/>
            <a:ext cx="2162175" cy="742950"/>
          </a:xfrm>
          <a:prstGeom prst="roundRect">
            <a:avLst>
              <a:gd name="adj" fmla="val 3846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9477375" y="1619250"/>
            <a:ext cx="1895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9477375" y="1838325"/>
            <a:ext cx="189547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renderer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注册表</a:t>
            </a:r>
            <a:endParaRPr/>
          </a:p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9477375" y="2152650"/>
            <a:ext cx="1895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text · table · chart · kpi</a:t>
            </a:r>
            <a:endParaRPr/>
          </a:p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SSE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事件契约（前后端共享）</a:t>
            </a:r>
            <a:endParaRPr/>
          </a:p>
        </p:txBody>
      </p:sp>
      <p:sp>
        <p:nvSpPr>
          <p:cNvPr id="1139" name=""/>
          <p:cNvSpPr/>
          <p:nvPr/>
        </p:nvSpPr>
        <p:spPr>
          <a:xfrm rot="0" flipH="0" flipV="0">
            <a:off x="6743700" y="2705100"/>
            <a:ext cx="4772025" cy="3352800"/>
          </a:xfrm>
          <a:custGeom>
            <a:pathLst>
              <a:path w="501" h="352">
                <a:moveTo>
                  <a:pt x="0" y="0"/>
                </a:moveTo>
                <a:lnTo>
                  <a:pt x="1" y="0"/>
                </a:lnTo>
                <a:lnTo>
                  <a:pt x="1" y="352"/>
                </a:lnTo>
                <a:lnTo>
                  <a:pt x="0" y="3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6981825" y="2705100"/>
            <a:ext cx="452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RENDERER ROUTING</a:t>
            </a:r>
            <a:endParaRPr/>
          </a:p>
        </p:txBody>
      </p:sp>
      <p:sp>
        <p:nvSpPr>
          <p:cNvPr id="1141" name="" descr="{&quot;isTemplate&quot;:true,&quot;type&quot;:&quot;text&quot;}"/>
          <p:cNvSpPr txBox="1"/>
          <p:nvPr/>
        </p:nvSpPr>
        <p:spPr>
          <a:xfrm rot="0" flipH="0" flipV="0">
            <a:off x="6981825" y="29908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text</a:t>
            </a:r>
            <a:endParaRPr/>
          </a:p>
        </p:txBody>
      </p:sp>
      <p:sp>
        <p:nvSpPr>
          <p:cNvPr id="1142" name=""/>
          <p:cNvSpPr/>
          <p:nvPr/>
        </p:nvSpPr>
        <p:spPr>
          <a:xfrm rot="0" flipH="0" flipV="0">
            <a:off x="8010525" y="30003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8134350" y="29908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流式追加的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正文</a:t>
            </a:r>
            <a:endParaRPr/>
          </a:p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6981825" y="32385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table</a:t>
            </a:r>
            <a:endParaRPr/>
          </a:p>
        </p:txBody>
      </p:sp>
      <p:sp>
        <p:nvSpPr>
          <p:cNvPr id="1145" name=""/>
          <p:cNvSpPr/>
          <p:nvPr/>
        </p:nvSpPr>
        <p:spPr>
          <a:xfrm rot="0" flipH="0" flipV="0">
            <a:off x="8010525" y="32480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8134350" y="32385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明细表格</a:t>
            </a:r>
            <a:endParaRPr/>
          </a:p>
        </p:txBody>
      </p:sp>
      <p:sp>
        <p:nvSpPr>
          <p:cNvPr id="1147" name="" descr="{&quot;isTemplate&quot;:true,&quot;type&quot;:&quot;text&quot;}"/>
          <p:cNvSpPr txBox="1"/>
          <p:nvPr/>
        </p:nvSpPr>
        <p:spPr>
          <a:xfrm rot="0" flipH="0" flipV="0">
            <a:off x="6981825" y="34861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chart</a:t>
            </a:r>
            <a:endParaRPr/>
          </a:p>
        </p:txBody>
      </p:sp>
      <p:sp>
        <p:nvSpPr>
          <p:cNvPr id="1148" name=""/>
          <p:cNvSpPr/>
          <p:nvPr/>
        </p:nvSpPr>
        <p:spPr>
          <a:xfrm rot="0" flipH="0" flipV="0">
            <a:off x="8010525" y="34956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49" name="" descr="{&quot;isTemplate&quot;:true,&quot;type&quot;:&quot;text&quot;}"/>
          <p:cNvSpPr txBox="1"/>
          <p:nvPr/>
        </p:nvSpPr>
        <p:spPr>
          <a:xfrm rot="0" flipH="0" flipV="0">
            <a:off x="8134350" y="34861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柱图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折线图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饼图</a:t>
            </a:r>
            <a:endParaRPr/>
          </a:p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6981825" y="37338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kpi</a:t>
            </a:r>
            <a:endParaRPr/>
          </a:p>
        </p:txBody>
      </p:sp>
      <p:sp>
        <p:nvSpPr>
          <p:cNvPr id="1151" name=""/>
          <p:cNvSpPr/>
          <p:nvPr/>
        </p:nvSpPr>
        <p:spPr>
          <a:xfrm rot="0" flipH="0" flipV="0">
            <a:off x="8010525" y="37433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8134350" y="37338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单指标卡片（含同比环比）</a:t>
            </a:r>
            <a:endParaRPr/>
          </a:p>
        </p:txBody>
      </p:sp>
      <p:sp>
        <p:nvSpPr>
          <p:cNvPr id="1153" name="" descr="{&quot;isTemplate&quot;:true,&quot;type&quot;:&quot;text&quot;}"/>
          <p:cNvSpPr txBox="1"/>
          <p:nvPr/>
        </p:nvSpPr>
        <p:spPr>
          <a:xfrm rot="0" flipH="0" flipV="0">
            <a:off x="6981825" y="39814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metric_card</a:t>
            </a:r>
            <a:endParaRPr/>
          </a:p>
        </p:txBody>
      </p:sp>
      <p:sp>
        <p:nvSpPr>
          <p:cNvPr id="1154" name=""/>
          <p:cNvSpPr/>
          <p:nvPr/>
        </p:nvSpPr>
        <p:spPr>
          <a:xfrm rot="0" flipH="0" flipV="0">
            <a:off x="8010525" y="39909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8134350" y="39814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指标口径说明卡</a:t>
            </a:r>
            <a:endParaRPr/>
          </a:p>
        </p:txBody>
      </p:sp>
      <p:sp>
        <p:nvSpPr>
          <p:cNvPr id="1156" name=""/>
          <p:cNvSpPr/>
          <p:nvPr/>
        </p:nvSpPr>
        <p:spPr>
          <a:xfrm rot="0" flipH="0" flipV="0">
            <a:off x="6981825" y="4943475"/>
            <a:ext cx="4524375" cy="1114425"/>
          </a:xfrm>
          <a:prstGeom prst="roundRect">
            <a:avLst>
              <a:gd name="adj" fmla="val 3419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7" name="" descr="{&quot;isTemplate&quot;:true,&quot;type&quot;:&quot;text&quot;}"/>
          <p:cNvSpPr txBox="1"/>
          <p:nvPr/>
        </p:nvSpPr>
        <p:spPr>
          <a:xfrm rot="0" flipH="0" flipV="0">
            <a:off x="7134225" y="5076825"/>
            <a:ext cx="421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7134225" y="5314950"/>
            <a:ext cx="42195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后端只管发</a:t>
            </a:r>
            <a:r>
              <a:rPr lang="zh-CN" sz="1163">
                <a:solidFill>
                  <a:srgbClr val="2AD4EE"/>
                </a:solidFill>
                <a:latin typeface="Source Han Sans SC"/>
                <a:ea typeface="Source Han Sans SC"/>
              </a:rPr>
              <a:t>结构化事件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，前端注册表决定它长什么样。加一种展示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注册一个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renderer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32 / 34</a:t>
            </a:r>
            <a:endParaRPr/>
          </a:p>
        </p:txBody>
      </p:sp>
      <p:sp>
        <p:nvSpPr>
          <p:cNvPr id="1161" name=""/>
          <p:cNvSpPr/>
          <p:nvPr/>
        </p:nvSpPr>
        <p:spPr>
          <a:xfrm rot="0" flipH="0" flipV="0">
            <a:off x="685800" y="2971800"/>
            <a:ext cx="5829300" cy="2562225"/>
          </a:xfrm>
          <a:prstGeom prst="roundRect">
            <a:avLst>
              <a:gd name="adj" fmla="val 2974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2" name=""/>
          <p:cNvSpPr txBox="1"/>
          <p:nvPr/>
        </p:nvSpPr>
        <p:spPr>
          <a:xfrm rot="0" flipH="0" flipV="0">
            <a:off x="838200" y="3105150"/>
            <a:ext cx="5524500" cy="2295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SseEvent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"connected"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sessionId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"text_delta"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"thinking_delta"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"turn_reset"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"tool_start"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"tool_end"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"render"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renderer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RendererType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data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unknown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source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"error"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message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"done"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};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6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52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踩坑实录：四个真实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Bug</a:t>
            </a:r>
            <a:endParaRPr/>
          </a:p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52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现象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根因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修法，一个不少地记下来</a:t>
            </a:r>
            <a:endParaRPr/>
          </a:p>
        </p:txBody>
      </p:sp>
      <p:sp>
        <p:nvSpPr>
          <p:cNvPr id="1168" name=""/>
          <p:cNvSpPr/>
          <p:nvPr/>
        </p:nvSpPr>
        <p:spPr>
          <a:xfrm rot="0" flipH="0" flipV="0">
            <a:off x="685800" y="1143000"/>
            <a:ext cx="2495550" cy="4914900"/>
          </a:xfrm>
          <a:custGeom>
            <a:pathLst>
              <a:path w="262" h="516">
                <a:moveTo>
                  <a:pt x="261" y="0"/>
                </a:moveTo>
                <a:lnTo>
                  <a:pt x="262" y="0"/>
                </a:lnTo>
                <a:lnTo>
                  <a:pt x="262" y="516"/>
                </a:lnTo>
                <a:lnTo>
                  <a:pt x="26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POSTMORTEM</a:t>
            </a:r>
            <a:endParaRPr/>
          </a:p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383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四个</a:t>
            </a:r>
            <a:r>
              <a:rPr lang="en-US" sz="19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Bug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四条边界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3837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这四个坑没有一个是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模型不行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。全部出在加载方式、订阅生命周期、错误传播与空结果的边界上。</a:t>
            </a:r>
            <a:endParaRPr/>
          </a:p>
        </p:txBody>
      </p:sp>
      <p:sp>
        <p:nvSpPr>
          <p:cNvPr id="1172" name=""/>
          <p:cNvSpPr/>
          <p:nvPr/>
        </p:nvSpPr>
        <p:spPr>
          <a:xfrm rot="0" flipH="0" flipV="0">
            <a:off x="685800" y="4886325"/>
            <a:ext cx="2238375" cy="1171575"/>
          </a:xfrm>
          <a:prstGeom prst="roundRect">
            <a:avLst>
              <a:gd name="adj" fmla="val 32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3" name="" descr="{&quot;isTemplate&quot;:true,&quot;type&quot;:&quot;text&quot;}"/>
          <p:cNvSpPr txBox="1"/>
          <p:nvPr/>
        </p:nvSpPr>
        <p:spPr>
          <a:xfrm rot="0" flipH="0" flipV="0">
            <a:off x="838200" y="5038725"/>
            <a:ext cx="1933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19335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的坑大多不在模型，在</a:t>
            </a:r>
            <a:r>
              <a:rPr lang="zh-CN" sz="1163">
                <a:solidFill>
                  <a:srgbClr val="2AD4EE"/>
                </a:solidFill>
                <a:latin typeface="Source Han Sans SC"/>
                <a:ea typeface="Source Han Sans SC"/>
              </a:rPr>
              <a:t>边界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75" name=""/>
          <p:cNvSpPr/>
          <p:nvPr/>
        </p:nvSpPr>
        <p:spPr>
          <a:xfrm rot="0" flipH="0" flipV="0">
            <a:off x="3467100" y="117157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76" name=""/>
          <p:cNvSpPr/>
          <p:nvPr/>
        </p:nvSpPr>
        <p:spPr>
          <a:xfrm rot="0" flipH="0" flipV="0">
            <a:off x="3467100" y="117157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pic>
        <p:nvPicPr>
          <p:cNvPr id="11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29075" y="1390650"/>
            <a:ext cx="142875" cy="142875"/>
          </a:xfrm>
          <a:prstGeom prst="rect">
            <a:avLst/>
          </a:prstGeom>
          <a:ln/>
        </p:spPr>
      </p:pic>
      <p:sp>
        <p:nvSpPr>
          <p:cNvPr id="1179" name="" descr="{&quot;isTemplate&quot;:true,&quot;type&quot;:&quot;text&quot;}"/>
          <p:cNvSpPr txBox="1"/>
          <p:nvPr/>
        </p:nvSpPr>
        <p:spPr>
          <a:xfrm rot="0" flipH="0" flipV="0">
            <a:off x="4286250" y="13335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上下文在工具里读不到</a:t>
            </a:r>
            <a:endParaRPr/>
          </a:p>
        </p:txBody>
      </p:sp>
      <p:sp>
        <p:nvSpPr>
          <p:cNvPr id="1180" name="" descr="{&quot;isTemplate&quot;:true,&quot;type&quot;:&quot;text&quot;}"/>
          <p:cNvSpPr txBox="1"/>
          <p:nvPr/>
        </p:nvSpPr>
        <p:spPr>
          <a:xfrm rot="0" flipH="0" flipV="0">
            <a:off x="3619500" y="2324100"/>
            <a:ext cx="360045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.pi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扩展由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jiti(CJS)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加载，对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context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是独立编译副本，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AsyncLocalStorage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实例被隔离，工具内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getCtx()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永远失败。</a:t>
            </a:r>
            <a:endParaRPr/>
          </a:p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3619500" y="3143250"/>
            <a:ext cx="36004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不打补丁——删掉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ALS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，会话上下文沿调用链显式传参。</a:t>
            </a:r>
            <a:endParaRPr/>
          </a:p>
        </p:txBody>
      </p:sp>
      <p:sp>
        <p:nvSpPr>
          <p:cNvPr id="1182" name=""/>
          <p:cNvSpPr/>
          <p:nvPr/>
        </p:nvSpPr>
        <p:spPr>
          <a:xfrm rot="0" flipH="0" flipV="0">
            <a:off x="7600950" y="117157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83" name=""/>
          <p:cNvSpPr/>
          <p:nvPr/>
        </p:nvSpPr>
        <p:spPr>
          <a:xfrm rot="0" flipH="0" flipV="0">
            <a:off x="7600950" y="117157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84" name="" descr="{&quot;isTemplate&quot;:true,&quot;type&quot;:&quot;text&quot;}"/>
          <p:cNvSpPr txBox="1"/>
          <p:nvPr/>
        </p:nvSpPr>
        <p:spPr>
          <a:xfrm rot="0" flipH="0" flipV="0">
            <a:off x="7753350" y="13049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pic>
        <p:nvPicPr>
          <p:cNvPr id="11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62925" y="1390650"/>
            <a:ext cx="142875" cy="142875"/>
          </a:xfrm>
          <a:prstGeom prst="rect">
            <a:avLst/>
          </a:prstGeom>
          <a:ln/>
        </p:spPr>
      </p:pic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8420100" y="13335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每个字都重复两遍</a:t>
            </a:r>
            <a:endParaRPr/>
          </a:p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7753350" y="232410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EventBus.attach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二次调用时，旧订阅的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unsubscribe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引用被覆盖却从未调用，新旧回调并存，每个事件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emit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两遍。</a:t>
            </a:r>
            <a:endParaRPr/>
          </a:p>
        </p:txBody>
      </p:sp>
      <p:sp>
        <p:nvSpPr>
          <p:cNvPr id="1188" name="" descr="{&quot;isTemplate&quot;:true,&quot;type&quot;:&quot;text&quot;}"/>
          <p:cNvSpPr txBox="1"/>
          <p:nvPr/>
        </p:nvSpPr>
        <p:spPr>
          <a:xfrm rot="0" flipH="0" flipV="0">
            <a:off x="7753350" y="289560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attach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开头先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detach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旧回调，保证任一时刻只有一个订阅者。</a:t>
            </a:r>
            <a:endParaRPr/>
          </a:p>
        </p:txBody>
      </p:sp>
      <p:sp>
        <p:nvSpPr>
          <p:cNvPr id="1189" name=""/>
          <p:cNvSpPr/>
          <p:nvPr/>
        </p:nvSpPr>
        <p:spPr>
          <a:xfrm rot="0" flipH="0" flipV="0">
            <a:off x="3467100" y="370522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90" name=""/>
          <p:cNvSpPr/>
          <p:nvPr/>
        </p:nvSpPr>
        <p:spPr>
          <a:xfrm rot="0" flipH="0" flipV="0">
            <a:off x="3467100" y="370522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3619500" y="383857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pic>
        <p:nvPicPr>
          <p:cNvPr id="11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029075" y="3924300"/>
            <a:ext cx="142875" cy="142875"/>
          </a:xfrm>
          <a:prstGeom prst="rect">
            <a:avLst/>
          </a:prstGeom>
          <a:ln/>
        </p:spPr>
      </p:pic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4286250" y="38671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页面空白，模型</a:t>
            </a:r>
            <a:r>
              <a:rPr lang="en-US" sz="1238" b="1">
                <a:solidFill>
                  <a:srgbClr val="E8EEF9"/>
                </a:solidFill>
                <a:latin typeface="Source Han Sans SC"/>
                <a:ea typeface="Source Han Sans SC"/>
              </a:rPr>
              <a:t>"</a:t>
            </a: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没有输出</a:t>
            </a:r>
            <a:r>
              <a:rPr lang="en-US" sz="1238" b="1">
                <a:solidFill>
                  <a:srgbClr val="E8EEF9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3619500" y="48577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模型层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429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（余额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限流）被内部重试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次后放弃，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prompt()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不抛异常，错误全程静默。</a:t>
            </a:r>
            <a:endParaRPr/>
          </a:p>
        </p:txBody>
      </p:sp>
      <p:sp>
        <p:nvSpPr>
          <p:cNvPr id="1195" name="" descr="{&quot;isTemplate&quot;:true,&quot;type&quot;:&quot;text&quot;}"/>
          <p:cNvSpPr txBox="1"/>
          <p:nvPr/>
        </p:nvSpPr>
        <p:spPr>
          <a:xfrm rot="0" flipH="0" flipV="0">
            <a:off x="3619500" y="54292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message_end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分支兜底：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stopReason = error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时补推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SSE error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，页面直接显示失败原因。</a:t>
            </a:r>
            <a:endParaRPr/>
          </a:p>
        </p:txBody>
      </p:sp>
      <p:sp>
        <p:nvSpPr>
          <p:cNvPr id="1196" name=""/>
          <p:cNvSpPr/>
          <p:nvPr/>
        </p:nvSpPr>
        <p:spPr>
          <a:xfrm rot="0" flipH="0" flipV="0">
            <a:off x="7600950" y="370522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97" name=""/>
          <p:cNvSpPr/>
          <p:nvPr/>
        </p:nvSpPr>
        <p:spPr>
          <a:xfrm rot="0" flipH="0" flipV="0">
            <a:off x="7600950" y="370522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98" name="" descr="{&quot;isTemplate&quot;:true,&quot;type&quot;:&quot;text&quot;}"/>
          <p:cNvSpPr txBox="1"/>
          <p:nvPr/>
        </p:nvSpPr>
        <p:spPr>
          <a:xfrm rot="0" flipH="0" flipV="0">
            <a:off x="7753350" y="383857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pic>
        <p:nvPicPr>
          <p:cNvPr id="1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162925" y="3924300"/>
            <a:ext cx="142875" cy="142875"/>
          </a:xfrm>
          <a:prstGeom prst="rect">
            <a:avLst/>
          </a:prstGeom>
          <a:ln/>
        </p:spPr>
      </p:pic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8420100" y="38671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无数据时反复换参重试</a:t>
            </a:r>
            <a:endParaRPr/>
          </a:p>
        </p:txBody>
      </p:sp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7753350" y="48577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模型很难接受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空结果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，会降级改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或换参数重来，既浪费轮次，也可能编造数据。</a:t>
            </a:r>
            <a:endParaRPr/>
          </a:p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7753350" y="54292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双层熔断：软引导下发终止指令，硬熔断由服务端直接拒绝二次调用。</a:t>
            </a:r>
            <a:endParaRPr/>
          </a:p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0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33 / 34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207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93000"/>
                </a:srgbClr>
              </a:gs>
              <a:gs pos="26000">
                <a:srgbClr val="0B1220">
                  <a:alpha val="74000"/>
                </a:srgbClr>
              </a:gs>
              <a:gs pos="52000">
                <a:srgbClr val="0B1220">
                  <a:alpha val="52000"/>
                </a:srgbClr>
              </a:gs>
              <a:gs pos="100000">
                <a:srgbClr val="0B1220">
                  <a:alpha val="94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80000"/>
                </a:srgbClr>
              </a:gs>
              <a:gs pos="50000">
                <a:srgbClr val="0B1220">
                  <a:alpha val="10000"/>
                </a:srgbClr>
              </a:gs>
              <a:gs pos="100000">
                <a:srgbClr val="0B1220">
                  <a:alpha val="8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10" name="" descr="{&quot;isTemplate&quot;:true,&quot;type&quot;:&quot;text&quot;}"/>
          <p:cNvSpPr txBox="1"/>
          <p:nvPr/>
        </p:nvSpPr>
        <p:spPr>
          <a:xfrm rot="0" flipH="0" flipV="0">
            <a:off x="5600700" y="990600"/>
            <a:ext cx="100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0">
                <a:solidFill>
                  <a:srgbClr val="2AD4EE"/>
                </a:solidFill>
                <a:latin typeface="JetBrains Mono"/>
                <a:ea typeface="JetBrains Mono"/>
              </a:rPr>
              <a:t>ENDING</a:t>
            </a:r>
            <a:endParaRPr/>
          </a:p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2200275" y="1409700"/>
            <a:ext cx="7800975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模型是原料，</a:t>
            </a:r>
            <a:r>
              <a:rPr lang="zh-CN" sz="4650" b="1" spc="75">
                <a:solidFill>
                  <a:srgbClr val="2AD4EE"/>
                </a:solidFill>
                <a:latin typeface="Source Han Sans SC"/>
                <a:ea typeface="Source Han Sans SC"/>
              </a:rPr>
              <a:t>工程才是产品</a:t>
            </a: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212" name=""/>
          <p:cNvSpPr/>
          <p:nvPr/>
        </p:nvSpPr>
        <p:spPr>
          <a:xfrm rot="0" flipH="0" flipV="0">
            <a:off x="5648325" y="2505075"/>
            <a:ext cx="9144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3" name=""/>
          <p:cNvSpPr/>
          <p:nvPr/>
        </p:nvSpPr>
        <p:spPr>
          <a:xfrm rot="0" flipH="0" flipV="0">
            <a:off x="1143000" y="3343275"/>
            <a:ext cx="3314700" cy="1181100"/>
          </a:xfrm>
          <a:custGeom>
            <a:pathLst>
              <a:path w="348" h="124">
                <a:moveTo>
                  <a:pt x="347" y="0"/>
                </a:moveTo>
                <a:lnTo>
                  <a:pt x="348" y="0"/>
                </a:lnTo>
                <a:lnTo>
                  <a:pt x="348" y="124"/>
                </a:lnTo>
                <a:lnTo>
                  <a:pt x="347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2552700" y="334327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MODEL</a:t>
            </a:r>
            <a:endParaRPr/>
          </a:p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258127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1216" name="" descr="{&quot;isTemplate&quot;:true,&quot;type&quot;:&quot;text&quot;}"/>
          <p:cNvSpPr txBox="1"/>
          <p:nvPr/>
        </p:nvSpPr>
        <p:spPr>
          <a:xfrm rot="0" flipH="0" flipV="0">
            <a:off x="1371600" y="3952875"/>
            <a:ext cx="2838450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无状态、有窗口。它决定「下一步干什么」，但什么都不记得。</a:t>
            </a:r>
            <a:endParaRPr/>
          </a:p>
        </p:txBody>
      </p:sp>
      <p:sp>
        <p:nvSpPr>
          <p:cNvPr id="1217" name=""/>
          <p:cNvSpPr/>
          <p:nvPr/>
        </p:nvSpPr>
        <p:spPr>
          <a:xfrm rot="0" flipH="0" flipV="0">
            <a:off x="4448175" y="3343275"/>
            <a:ext cx="3305175" cy="1181100"/>
          </a:xfrm>
          <a:custGeom>
            <a:pathLst>
              <a:path w="347" h="124">
                <a:moveTo>
                  <a:pt x="346" y="0"/>
                </a:moveTo>
                <a:lnTo>
                  <a:pt x="347" y="0"/>
                </a:lnTo>
                <a:lnTo>
                  <a:pt x="347" y="124"/>
                </a:lnTo>
                <a:lnTo>
                  <a:pt x="346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18" name="" descr="{&quot;isTemplate&quot;:true,&quot;type&quot;:&quot;text&quot;}"/>
          <p:cNvSpPr txBox="1"/>
          <p:nvPr/>
        </p:nvSpPr>
        <p:spPr>
          <a:xfrm rot="0" flipH="0" flipV="0">
            <a:off x="5562600" y="334327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ENGINEERING</a:t>
            </a:r>
            <a:endParaRPr/>
          </a:p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5886450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工程</a:t>
            </a:r>
            <a:endParaRPr/>
          </a:p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4676775" y="3952875"/>
            <a:ext cx="282892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七层功能地图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十条设计原则。边界，比能力更重要。</a:t>
            </a:r>
            <a:endParaRPr/>
          </a:p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9010650" y="3343275"/>
            <a:ext cx="771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DELIVERY</a:t>
            </a:r>
            <a:endParaRPr/>
          </a:p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919162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落地</a:t>
            </a:r>
            <a:endParaRPr/>
          </a:p>
        </p:txBody>
      </p:sp>
      <p:sp>
        <p:nvSpPr>
          <p:cNvPr id="1223" name="" descr="{&quot;isTemplate&quot;:true,&quot;type&quot;:&quot;text&quot;}"/>
          <p:cNvSpPr txBox="1"/>
          <p:nvPr/>
        </p:nvSpPr>
        <p:spPr>
          <a:xfrm rot="0" flipH="0" flipV="0">
            <a:off x="7972425" y="3952875"/>
            <a:ext cx="284797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三级路由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发现式注册，把知识装进一个真实业务系统。</a:t>
            </a:r>
            <a:endParaRPr/>
          </a:p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5229225" y="531495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谢谢</a:t>
            </a:r>
            <a:r>
              <a:rPr lang="en-US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欢迎提问</a:t>
            </a:r>
            <a:endParaRPr/>
          </a:p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4562475" y="570547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从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LLM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Agent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再到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Pi Agent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34 / 34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2026-10-19T09:21:51Z</dcterms:created>
  <dcterms:modified xsi:type="dcterms:W3CDTF">2026-10-19T09:21:51Z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{"AIGC":{"Label":"1","ContentProducer":"00119111010856365494821B355","ProduceID":"01a151b847c578e39e24fe06d770bbbd","ReservedCode1":"","ContentPropagator":"00119111010856365494821B355","PropagateID":"01a151b847c578e39e24fe06d770bbbd","ReservedCode2":""}}</vt:lpwstr>
  </property>
</Properties>
</file>