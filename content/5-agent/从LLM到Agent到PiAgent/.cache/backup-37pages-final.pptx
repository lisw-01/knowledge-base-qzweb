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5" Type="http://schemas.openxmlformats.org/officeDocument/2006/relationships/slide" Target="slides/slide25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37" Type="http://schemas.openxmlformats.org/officeDocument/2006/relationships/slide" Target="slides/slide37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39" Type="http://schemas.openxmlformats.org/officeDocument/2006/relationships/presProps" Target="presProps.xml" /><Relationship Id="rId16" Type="http://schemas.openxmlformats.org/officeDocument/2006/relationships/slide" Target="slides/slide16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6" Type="http://schemas.openxmlformats.org/officeDocument/2006/relationships/slide" Target="slides/slide6.xml" /><Relationship Id="rId18" Type="http://schemas.openxmlformats.org/officeDocument/2006/relationships/slide" Target="slides/slide18.xml" /><Relationship Id="rId7" Type="http://schemas.openxmlformats.org/officeDocument/2006/relationships/slide" Target="slides/slide7.xml" /><Relationship Id="rId19" Type="http://schemas.openxmlformats.org/officeDocument/2006/relationships/slide" Target="slides/slide19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8" Type="http://schemas.openxmlformats.org/officeDocument/2006/relationships/slide" Target="slides/slide28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40" Type="http://schemas.openxmlformats.org/officeDocument/2006/relationships/tableStyles" Target="tableStyles.xml" /><Relationship Id="rId29" Type="http://schemas.openxmlformats.org/officeDocument/2006/relationships/slide" Target="slides/slide29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4" Type="http://schemas.openxmlformats.org/officeDocument/2006/relationships/slide" Target="slides/slide34.xml" /><Relationship Id="rId33" Type="http://schemas.openxmlformats.org/officeDocument/2006/relationships/slide" Target="slides/slide33.xml" /><Relationship Id="rId5" Type="http://schemas.openxmlformats.org/officeDocument/2006/relationships/slide" Target="slides/slide5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8" Type="http://schemas.openxmlformats.org/officeDocument/2006/relationships/notesMaster" Target="notesMasters/notesMaster1.xml" /><Relationship Id="rId41" Type="http://schemas.openxmlformats.org/officeDocument/2006/relationships/viewProps" Target="viewProps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3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9.svg" /><Relationship Id="rId1" Type="http://schemas.openxmlformats.org/officeDocument/2006/relationships/image" Target="media/image16.svg" /><Relationship Id="rId3" Type="http://schemas.openxmlformats.org/officeDocument/2006/relationships/image" Target="media/image30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3.svg" /><Relationship Id="rId1" Type="http://schemas.openxmlformats.org/officeDocument/2006/relationships/image" Target="media/image32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7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3" Type="http://schemas.openxmlformats.org/officeDocument/2006/relationships/image" Target="media/image3.svg" /><Relationship Id="rId5" Type="http://schemas.openxmlformats.org/officeDocument/2006/relationships/image" Target="media/image7.svg" /><Relationship Id="rId4" Type="http://schemas.openxmlformats.org/officeDocument/2006/relationships/image" Target="media/image4.svg" /><Relationship Id="rId6" Type="http://schemas.openxmlformats.org/officeDocument/2006/relationships/image" Target="media/image8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1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21.xml.rels><?xml version="1.0" encoding="UTF-8" standalone="yes"?><Relationships xmlns="http://schemas.openxmlformats.org/package/2006/relationships"><Relationship Id="rId3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4.svg" /><Relationship Id="rId1" Type="http://schemas.openxmlformats.org/officeDocument/2006/relationships/image" Target="media/image13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8.svg" /><Relationship Id="rId1" Type="http://schemas.openxmlformats.org/officeDocument/2006/relationships/image" Target="media/image16.svg" /><Relationship Id="rId2" Type="http://schemas.openxmlformats.org/officeDocument/2006/relationships/image" Target="media/image17.svg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pn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5.svg" /><Relationship Id="rId1" Type="http://schemas.openxmlformats.org/officeDocument/2006/relationships/image" Target="media/image24.svg" /><Relationship Id="rId3" Type="http://schemas.openxmlformats.org/officeDocument/2006/relationships/image" Target="media/image26.svg" /><Relationship Id="rId4" Type="http://schemas.openxmlformats.org/officeDocument/2006/relationships/image" Target="media/image27.svg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8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overflow: 'hidden', background: '#0B1220', fontFamily: '&quot;Source Han Sans SC&quot;, &quot;Noto Sans SC&quot;, &quot;Microsoft YaHei&quot;, sans-serif' }}&gt;&#13;&#10;    {/* L1 全幅底图：显示宽度大于画布，裁掉右下角，保证画面干净 */}&#13;&#10;    &lt;Image src=&quot;assets/cover_hero.png&quot; style={{ position: 'absolute', left: 0, top: 0, width: 1536, height: 1024 }} /&gt;&#13;&#10;&#13;&#10;    {/* 左侧压暗，保证文字可读 */}&#13;&#10;    &lt;Box style={{ position: 'absolute', left: 0, top: 0, width: 940, height: 720, background: 'linear-gradient(90deg, rgba(11,18,32,0.97) 0%, rgba(11,18,32,0.86) 52%, rgba(11,18,32,0) 100%)' }} /&gt;&#13;&#10;    {/* 底部压暗 */}&#13;&#10;    &lt;Box style={{ position: 'absolute', left: 0, top: 500, width: 1280, height: 220, background: 'linear-gradient(0deg, rgba(11,18,32,0.94) 0%, rgba(11,18,32,0) 100%)' }} /&gt;&#13;&#10;&#13;&#10;    {/* 顶部极细节线 */}&#13;&#10;    &lt;Box style={{ position: 'absolute', left: 88, top: 56, width: 1104, height: 1, background: 'rgba(232,238,249,0.12)' }} /&gt;&#13;&#10;&#13;&#10;    {/* 骑线文字区 */}&#13;&#10;    &lt;Box style={{ position: 'absolute', left: 88, top: 116, width: 760, flexDirection: 'column' }}&gt;&#13;&#10;        &lt;Box style={{ flexDirection: 'row', alignItems: 'center', gap: 14 }}&gt;&#13;&#10;            &lt;Box style={{ width: 46, height: 3, background: '#2AD4EE' }} /&gt;&#13;&#10;            &lt;Text style={{ fontSize: 17, color: '#2AD4EE', letterSpacing: 4 }}&gt;内部技术分享&lt;/Text&gt;&#13;&#10;            &lt;Text style={{ fontSize: 17, color: 'rgba(232,238,249,0.42)', fontFamily: '&quot;JetBrains Mono&quot;, &quot;Cascadia Mono&quot;, Consolas, monospace', letterSpacing: 1 }}&gt;2026.10&lt;/Text&gt;&#13;&#10;        &lt;/Box&gt;&#13;&#10;&#13;&#10;        &lt;Text style={{ marginTop: 34, fontSize: 84, fontWeight: 'bold', color: '#E8EEF9', lineHeight: 1.14, letterSpacing: 1 }}&gt;&#13;&#10;            从 LLM 到 Agent&#13;&#10;            &lt;br /&gt;&#13;&#10;            &lt;span style={{ color: '#2AD4EE' }}&gt;再到 Pi Agent&lt;/span&gt;&#13;&#10;        &lt;/Text&gt;&#13;&#10;&#13;&#10;        &lt;Box style={{ marginTop: 30, width: 3, height: 60, background: 'linear-gradient(180deg, #2AD4EE 0%, rgba(42,212,238,0) 100%)' }} /&gt;&#13;&#10;&#13;&#10;        &lt;Text style={{ marginTop: 18, fontSize: 21, color: 'rgba(232,238,249,0.70)', lineHeight: 1.7 }}&gt;&#13;&#10;            模型是原料，工程才是产品。&#13;&#10;            &lt;br /&gt;&#13;&#10;            一条从「会聊天」到「能干活的系统」的完整链路：认知 → 工程 → 框架 → 落地。&#13;&#10;        &lt;/Text&gt;&#13;&#10;    &lt;/Box&gt;&#13;&#10;&#13;&#10;    {/* 右上：四章刻度（置于暗区，保证可读） */}&#13;&#10;    &lt;Box style={{ position: 'absolute', right: 88, top: 148, width: 210, paddingTop: 8, paddingBottom: 8, paddingLeft: 20, paddingRight: 20, flexDirection: 'column', gap: 18, alignItems: 'flex-end', background: 'rgba(11,18,32,0.72)', border: '1px solid rgba(42,212,238,0.22)', borderRadius: 4 }}&gt;&#13;&#10;        {[&#13;&#10;            { n: '01', t: 'LLM' },&#13;&#10;            { n: '02', t: 'AGENT' },&#13;&#10;            { n: '03', t: 'PI AGENT' },&#13;&#10;            { n: '04', t: 'PRACTICE' },&#13;&#10;        ].map((c, i) =&gt; (&#13;&#10;            &lt;Box key={i} style={{ flexDirection: 'row', alignItems: 'center', gap: 12 }}&gt;&#13;&#10;                &lt;Text style={{ fontSize: 14, color: '#2AD4EE', fontFamily: '&quot;JetBrains Mono&quot;, &quot;Cascadia Mono&quot;, Consolas, monospace', letterSpacing: 1 }}&gt;{c.n}&lt;/Text&gt;&#13;&#10;                &lt;Text style={{ fontSize: 15, color: 'rgba(232,238,249,0.86)', letterSpacing: 3 }}&gt;{c.t}&lt;/Text&gt;&#13;&#10;            &lt;/Box&gt;&#13;&#10;        ))}&#13;&#10;    &lt;/Box&gt;&#13;&#10;&#13;&#10;    {/* 左下角标 */}&#13;&#10;    &lt;Text style={{ position: 'absolute', left: 88, top: 648, fontSize: 14, color: 'rgba(232,238,249,0.42)' }}&gt;从 LLM 到 Agent 再到 Pi Agent&lt;/Text&gt;&#13;&#10;    &lt;Text style={{ position: 'absolute', right: 88, top: 648, fontSize: 14, color: 'rgba(232,238,249,0.42)', fontFamily: '&quot;JetBrains Mono&quot;, &quot;Cascadia Mono&quot;, Consolas, monospace' }}&gt;01 / 37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37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目录&lt;/Text&gt;&#13;&#10;            &lt;Text style={{ marginTop: 8, fontSize: 17, color: 'rgba(232,238,249,0.52)' }}&gt;四章 · 37 页 · 一条从模型到业务系统的完整链路&lt;/Text&gt;&#13;&#10;        &lt;/Box&gt;&#13;&#10;    &lt;/Box&gt;&#13;&#10;&#13;&#10;    {/* B 区 · 左窄标题栏 + 右内容 */}&#13;&#10;    &lt;Box style={{ height: 516, flexDirection: 'row', gap: 40 }}&gt;&#13;&#10;        {/* 左：巨型数字 */}&#13;&#10;        &lt;Box style={{ width: 268, flexDirection: 'column', justifyContent: 'center', paddingRight: 24, borderRight: '1px solid rgba(232,238,249,0.12)' }}&gt;&#13;&#10;            &lt;Text style={{ fontSize: 96, fontWeight: 'bold', color: '#2AD4EE', fontFamily: '&quot;JetBrains Mono&quot;, &quot;Cascadia Mono&quot;, Consolas, monospace', lineHeight: 1 }}&gt;04&lt;/Text&gt;&#13;&#10;            &lt;Text style={{ marginTop: 14, fontSize: 15, color: 'rgba(232,238,249,0.52)', letterSpacing: 2, fontFamily: '&quot;JetBrains Mono&quot;, &quot;Cascadia Mono&quot;, Consolas, monospace' }}&gt;CHAPTERS&lt;/Text&gt;&#13;&#10;            &lt;Box style={{ marginTop: 22, width: 40, height: 2, background: '#2AD4EE' }} /&gt;&#13;&#10;            &lt;Text style={{ marginTop: 22, fontSize: 17, color: 'rgba(232,238,249,0.70)', lineHeight: 1.75 }}&gt;&#13;&#10;                先补认知，再建工程观；&#13;&#10;                &lt;br /&gt;&#13;&#10;                然后看一个范本，&#13;&#10;                &lt;br /&gt;&#13;&#10;                最后落进一个真实系统。&#13;&#10;            &lt;/Text&gt;&#13;&#10;        &lt;/Box&gt;&#13;&#10;&#13;&#10;        {/* 右：四章条目 */}&#13;&#10;        &lt;Box style={{ flexDirection: 'column', flex: 1 }}&gt;&#13;&#10;            {[&#13;&#10;                { n: '01', t: 'LLM：一切的地基', d: '看懂 LLM 的无状态本质，理解 Agent 为什么必须做上下文工程。', p: '03–10', k: ['Token', '上下文窗口', 'Function Calling'] },&#13;&#10;                { n: '02', t: 'Agent：从“能聊”到“能干”', d: '掌握 ReAct 与七层功能地图，说清 Agent 的能力边界到底在哪。', p: '11–19', k: ['ReAct', '七层地图', '十条原则'] },&#13;&#10;                { n: '03', t: 'Pi Agent：一个极简范式', d: '理解极简哲学与严格单向的分层架构，看懂它的每一个设计取舍。', p: '20–29', k: ['418 行内核', '四层架构', '三层定制'] },&#13;&#10;                { n: '04', t: '落地实践：智数问答 agent-DQ', d: '完整拆解一个真实业务系统，带走可直接复用的踩坑经验。', p: '30–36', k: ['三级路由', '发现式注册', '流式渲染'] },&#13;&#10;            ].map((c, i) =&gt; (&#13;&#10;                &lt;Box key={i} style={{ flex: 1, flexDirection: 'column', justifyContent: 'center', borderBottom: i === 3 ? 'none' : '1px solid rgba(232,238,249,0.12)' }}&gt;&#13;&#10;                    &lt;Box style={{ flexDirection: 'row', alignItems: 'flex-start', gap: 22 }}&gt;&#13;&#10;                        &lt;Text style={{ fontSize: 22, color: '#2AD4EE', fontFamily: '&quot;JetBrains Mono&quot;, &quot;Cascadia Mono&quot;, Consolas, monospace', width: 44, marginTop: 4 }}&gt;{c.n}&lt;/Text&gt;&#13;&#10;                        &lt;Box style={{ flexDirection: 'column', flex: 1 }}&gt;&#13;&#10;                            &lt;Text style={{ fontSize: 24, fontWeight: '600', color: '#E8EEF9' }}&gt;{c.t}&lt;/Text&gt;&#13;&#10;                            &lt;Text style={{ marginTop: 6, fontSize: 17, color: 'rgba(232,238,249,0.62)', lineHeight: 1.5 }}&gt;{c.d}&lt;/Text&gt;&#13;&#10;                        &lt;/Box&gt;&#13;&#10;                        &lt;Text style={{ fontSize: 15, color: 'rgba(232,238,249,0.42)', fontFamily: '&quot;JetBrains Mono&quot;, &quot;Cascadia Mono&quot;, Consolas, monospace', marginTop: 6 }}&gt;{c.p}&lt;/Text&gt;&#13;&#10;                    &lt;/Box&gt;&#13;&#10;                    &lt;Box style={{ flexDirection: 'row', gap: 8, marginTop: 12, marginLeft: 66 }}&gt;&#13;&#10;                        {c.k.map((k, j) =&gt; (&#13;&#10;                            &lt;Box key={j} style={{ paddingTop: 4, paddingBottom: 4, paddingLeft: 10, paddingRight: 10, background: 'rgba(42,212,238,0.10)', borderRadius: 3 }}&gt;&#13;&#10;                                &lt;Text style={{ fontSize: 14, color: '#2AD4EE' }}&gt;{k}&lt;/Text&gt;&#13;&#10;                            &lt;/Box&gt;&#13;&#10;                        ))}&#13;&#10;                    &lt;/Box&gt;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2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37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03–10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11–19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20–29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30–36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37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57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sec_llm.png&quot; style={{ position: 'absolute', left: 0, top: 0, width: 1536, height: 1024 }} /&gt;&#13;&#10;&#13;&#10;    &lt;Box style={{ position: 'absolute', left: 0, top: 0, width: 1040, height: 720, background: 'linear-gradient(90deg, rgba(11,18,32,0.97) 0%, rgba(11,18,32,0.84) 50%, rgba(11,18,32,0) 100%)' }} /&gt;&#13;&#10;    &lt;Box style={{ position: 'absolute', left: 0, top: 0, width: 6, height: 720, background: 'linear-gradient(180deg, #2AD4EE 0%, rgba(42,212,238,0) 100%)' }} /&gt;&#13;&#10;&#13;&#10;    {/* 左：整列分布 */}&#13;&#10;    &lt;Box style={{ position: 'absolute', left: 88, top: 152, width: 700, height: 508, flexDirection: 'column', justifyContent: 'space-between' }}&gt;&#13;&#10;        &lt;Box style={{ flexDirection: 'column' }}&gt;&#13;&#10;            &lt;Text style={{ fontSize: 18, color: '#2AD4EE', letterSpacing: 7, fontFamily: '&quot;JetBrains Mono&quot;, &quot;Cascadia Mono&quot;, Consolas, monospace' }}&gt;CHAPTER 01&lt;/Text&gt;&#13;&#10;            &lt;Text style={{ marginTop: 22, fontSize: 64, fontWeight: 'bold', color: '#E8EEF9', letterSpacing: 1, lineHeight: 1.2 }}&gt;&#13;&#10;                LLM：&#13;&#10;                &lt;br /&gt;&#13;&#10;                &lt;span style={{ color: '#2AD4EE' }}&gt;一切的地基&lt;/span&gt;&#13;&#10;            &lt;/Text&gt;&#13;&#10;        &lt;/Box&gt;&#13;&#10;&#13;&#10;        &lt;Box style={{ flexDirection: 'column' }}&gt;&#13;&#10;            &lt;Box style={{ width: 76, height: 4, background: '#2AD4EE' }} /&gt;&#13;&#10;            &lt;Text style={{ marginTop: 24, fontSize: 21, color: 'rgba(232,238,249,0.72)', lineHeight: 1.75 }}&gt;&#13;&#10;                不认识 LLM 的「无状态」，&#13;&#10;                &lt;br /&gt;&#13;&#10;                就理解不了 Agent 的上下文工程。&#13;&#10;            &lt;/Text&gt;&#13;&#10;        &lt;/Box&gt;&#13;&#10;&#13;&#10;        &lt;Box style={{ flexDirection: 'column' }}&gt;&#13;&#10;            &lt;Box style={{ width: 420, height: 1, background: 'rgba(232,238,249,0.18)' }} /&gt;&#13;&#10;            &lt;Text style={{ marginTop: 16, fontSize: 13, color: 'rgba(232,238,249,0.42)', letterSpacing: 3, fontFamily: '&quot;JetBrains Mono&quot;, &quot;Cascadia Mono&quot;, Consolas, monospace' }}&gt;本章要回答&lt;/Text&gt;&#13;&#10;            &lt;Box style={{ marginTop: 12, flexDirection: 'column', gap: 8 }}&gt;&#13;&#10;                {['LLM 每次请求到底记住了什么？', '为什么必须用工具调用？', '手写 Prompt 与原生 FC 差在哪？'].map((t, i) =&gt; (&#13;&#10;                    &lt;Box key={i} style={{ flexDirection: 'row', alignItems: 'center', gap: 12 }}&gt;&#13;&#10;                        &lt;Box style={{ width: 5, height: 5, background: '#2AD4EE' }} /&gt;&#13;&#10;                        &lt;Text style={{ fontSize: 17, color: 'rgba(232,238,249,0.78)' }}&gt;{t}&lt;/Text&gt;&#13;&#10;                    &lt;/Box&gt;&#13;&#10;                ))}&#13;&#10;            &lt;/Box&gt;&#13;&#10;        &lt;/Box&gt;&#13;&#10;    &lt;/Box&gt;&#13;&#10;&#13;&#10;    {/* 右：章节号 + 目录 */}&#13;&#10;    &lt;Box style={{ position: 'absolute', right: 88, top: 336, width: 392, flexDirection: 'column', paddingTop: 22, paddingBottom: 22, paddingLeft: 24, paddingRight: 24, background: 'rgba(11,18,32,0.82)', border: '1px solid rgba(42,212,238,0.22)', borderRadius: 4 }}&gt;&#13;&#10;        &lt;Box style={{ flexDirection: 'row', alignItems: 'flex-end', justifyContent: 'space-between' }}&gt;&#13;&#10;            &lt;Text style={{ fontSize: 76, fontWeight: 'bold', color: 'rgba(42,212,238,0.55)', fontFamily: '&quot;JetBrains Mono&quot;, &quot;Cascadia Mono&quot;, Consolas, monospace', lineHeight: 1 }}&gt;01&lt;/Text&gt;&#13;&#10;            &lt;Text style={{ fontSize: 13, color: 'rgba(232,238,249,0.42)', letterSpacing: 3, fontFamily: '&quot;JetBrains Mono&quot;, &quot;Cascadia Mono&quot;, Consolas, monospace', paddingBottom: 8 }}&gt;PAGES 03 – 10&lt;/Text&gt;&#13;&#10;        &lt;/Box&gt;&#13;&#10;        &lt;Box style={{ marginTop: 16, flexDirection: 'column', gap: 10 }}&gt;&#13;&#10;            {['messages 里的四种 role', '无状态与上下文窗口', '四个必记的核心概念', '两种调用方式与 Function Calling'].map((t, i) =&gt; (&#13;&#10;                &lt;Box key={i} style={{ flexDirection: 'row', alignItems: 'center', gap: 12 }}&gt;&#13;&#10;                    &lt;Box style={{ width: 18, height: 1, background: 'rgba(42,212,238,0.6)' }} /&gt;&#13;&#10;                    &lt;Text style={{ fontSize: 16, color: 'rgba(232,238,249,0.82)' }}&gt;{t}&lt;/Text&gt;&#13;&#10;                &lt;/Box&gt;&#13;&#10;            ))}&#13;&#10;        &lt;/Box&gt;&#13;&#10;    &lt;/Box&gt;&#13;&#10;&#13;&#10;    &lt;Text style={{ position: 'absolute', left: 88, top: 674, fontSize: 14, color: 'rgba(232,238,249,0.42)', fontFamily: '&quot;JetBrains Mono&quot;, &quot;Cascadia Mono&quot;, Consolas, monospace' }}&gt;03 / 37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95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960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61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7620000" y="3200400"/>
            <a:ext cx="3733800" cy="2495550"/>
          </a:xfrm>
          <a:prstGeom prst="roundRect">
            <a:avLst>
              <a:gd name="adj" fmla="val 1527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10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7848600" y="45339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8134350" y="44386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里的四种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7848600" y="48196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8134350" y="47244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7848600" y="51054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134350" y="50101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7848600" y="53911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8134350" y="529590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37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2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messages 里的 role：谁在说话&lt;/Text&gt;&#13;&#10;            &lt;Text style={{ marginTop: 8, fontSize: 17, color: 'rgba(232,238,249,0.52)' }}&gt;同一句话换个 role，模型对它的理解就完全不一样&lt;/Text&gt;&#13;&#10;        &lt;/Box&gt;&#13;&#10;    &lt;/Box&gt;&#13;&#10;&#13;&#10;    {/* B 区 · 四种 role */}&#13;&#10;    &lt;Box style={{ height: 516, flexDirection: 'column' }}&gt;&#13;&#10;        &lt;Box style={{ flexDirection: 'row', gap: 16 }}&gt;&#13;&#10;            {[&#13;&#10;                { r: 'system', cn: '系统提示 · 定规则', d: '身份、能力边界、输出格式。通常放在第一条，优先级最高——用户说什么都盖不过它。', tag: '永远放最前' },&#13;&#10;                { r: 'user', cn: '用户输入 · 提需求', d: '这一轮用户说的话。方案 A 里，工具执行结果也用 user 身份拼成 Observation 回喂。', tag: '每轮必有' },&#13;&#10;                { r: 'assistant', cn: '模型输出 · 留痕', d: '模型上一轮的回答，包括它要求调用的 tool_calls。必须原样回填，它才知道自己做过什么。', tag: '必须回填' },&#13;&#10;                { r: 'tool', cn: '工具结果 · 外部事实', d: '工具执行完的返回值，用 tool_call_id 绑定到具体那次调用，模型才知道结果属于哪一次请求。', tag: '原生 FC 专用' },&#13;&#10;            ].map((c, i) =&gt; (&#13;&#10;                &lt;Box key={i} style={{ width: 272, height: 236, flexDirection: 'column', paddingTop: 18, paddingBottom: 18, paddingLeft: 18, paddingRight: 18, background: 'rgba(22,35,61,0.72)', border: '1px solid rgba(42,212,238,0.20)', borderRadius: 4 }}&gt;&#13;&#10;                    &lt;Text style={{ fontSize: 22, color: '#2AD4EE', fontFamily: '&quot;JetBrains Mono&quot;, &quot;Cascadia Mono&quot;, Consolas, monospace' }}&gt;{c.r}&lt;/Text&gt;&#13;&#10;                    &lt;Text style={{ marginTop: 6, fontSize: 14, color: 'rgba(232,238,249,0.55)' }}&gt;{c.cn}&lt;/Text&gt;&#13;&#10;                    &lt;Box style={{ marginTop: 12, height: 1, background: 'rgba(232,238,249,0.12)' }} /&gt;&#13;&#10;                    &lt;Text style={{ marginTop: 12, fontSize: 14.5, color: 'rgba(232,238,249,0.74)', lineHeight: 1.68 }}&gt;{c.d}&lt;/Text&gt;&#13;&#10;                    &lt;Box style={{ marginTop: 'auto' }}&gt;&#13;&#10;                        &lt;Text style={{ fontSize: 12.5, color: 'rgba(42,212,238,0.82)', letterSpacing: 1, fontFamily: '&quot;JetBrains Mono&quot;, &quot;Cascadia Mono&quot;, Consolas, monospace' }}&gt;{c.tag}&lt;/Text&gt;&#13;&#10;                    &lt;/Box&gt;&#13;&#10;                &lt;/Box&gt;&#13;&#10;            ))}&#13;&#10;        &lt;/Box&gt;&#13;&#10;&#13;&#10;        &lt;Box style={{ marginTop: 14, flexDirection: 'row', alignItems: 'center', gap: 10 }}&gt;&#13;&#10;            &lt;Text style={{ fontSize: 13, color: 'rgba(232,238,249,0.52)', letterSpacing: 2, fontFamily: '&quot;JetBrains Mono&quot;, &quot;Cascadia Mono&quot;, Consolas, monospace' }}&gt;MESSAGES · 一次完整工具调用后，数组长这样&lt;/Text&gt;&#13;&#10;            &lt;Box style={{ flex: 1, height: 1, background: 'rgba(232,238,249,0.12)' }} /&gt;&#13;&#10;        &lt;/Box&gt;&#13;&#10;&#13;&#10;        &lt;CodeBlock&#13;&#10;            code={`messages = [&#13;&#10;    {&quot;role&quot;: &quot;system&quot;,    &quot;content&quot;: &quot;你是智数问答助手，只回答指标类问题&quot;},&#13;&#10;    {&quot;role&quot;: &quot;user&quot;,      &quot;content&quot;: &quot;华东区上月销售额多少？&quot;},&#13;&#10;    {&quot;role&quot;: &quot;assistant&quot;, &quot;content&quot;: &quot;&quot;, &quot;tool_calls&quot;: [{&quot;id&quot;: &quot;call_01&quot;, ...}]},&#13;&#10;    {&quot;role&quot;: &quot;tool&quot;,      &quot;tool_call_id&quot;: &quot;call_01&quot;, &quot;content&quot;: &quot;1.28 亿&quot;},&#13;&#10;]`}&#13;&#10;            language='python'&#13;&#10;            width={1136}&#13;&#10;            fontSize={15}&#13;&#10;            theme='github-dark'&#13;&#10;        /&gt;&#13;&#10;&#13;&#10;        &lt;Box style={{ marginTop: 'auto', flexDirection: 'row', alignItems: 'center', gap: 14, paddingTop: 14, paddingBottom: 14, paddingLeft: 18, paddingRight: 18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记住&lt;/Text&gt;&#13;&#10;            &lt;Text style={{ fontSize: 17, color: '#E8EEF9', lineHeight: 1.55, flex: 1 }}&gt;&#13;&#10;                role 不是日志标签，是对话的&lt;span style={{ color: '#2AD4EE' }}&gt;语法&lt;/span&gt;——它决定这段话被当成指令、提问、我自己的话，还是外部事实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4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2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里的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：谁在说话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同一句话换个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，模型对它的理解就完全不一样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6858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system</a:t>
            </a:r>
            <a:endParaRPr/>
          </a:p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定规则</a:t>
            </a:r>
            <a:endParaRPr/>
          </a:p>
        </p:txBody>
      </p:sp>
      <p:sp>
        <p:nvSpPr>
          <p:cNvPr id="1330" name=""/>
          <p:cNvSpPr/>
          <p:nvPr/>
        </p:nvSpPr>
        <p:spPr>
          <a:xfrm rot="0" flipH="0" flipV="0">
            <a:off x="8572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8572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身份、能力边界、输出格式。通常放在第一条，优先级最高——用户说什么都盖不过它。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8572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永远放最前</a:t>
            </a:r>
            <a:endParaRPr/>
          </a:p>
        </p:txBody>
      </p:sp>
      <p:sp>
        <p:nvSpPr>
          <p:cNvPr id="1333" name=""/>
          <p:cNvSpPr/>
          <p:nvPr/>
        </p:nvSpPr>
        <p:spPr>
          <a:xfrm rot="0" flipH="0" flipV="0">
            <a:off x="34290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36004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user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36004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用户输入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提需求</a:t>
            </a:r>
            <a:endParaRPr/>
          </a:p>
        </p:txBody>
      </p:sp>
      <p:sp>
        <p:nvSpPr>
          <p:cNvPr id="1336" name=""/>
          <p:cNvSpPr/>
          <p:nvPr/>
        </p:nvSpPr>
        <p:spPr>
          <a:xfrm rot="0" flipH="0" flipV="0">
            <a:off x="36004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36004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这一轮用户说的话。方案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里，工具执行结果也用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user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身份拼成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回喂。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36004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每轮必有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61722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63436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assistant</a:t>
            </a:r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63436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留痕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63436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63436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模型上一轮的回答，包括它要求调用的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。必须原样回填，它才知道自己做过什么。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63436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必须回填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89154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90868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tool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90868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外部事实</a:t>
            </a:r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90868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90868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工具执行完的返回值，用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tool_call_id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绑定到具体那次调用，模型才知道结果属于哪一次请求。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90868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原生</a:t>
            </a: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 FC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专用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MESSAGES · </a:t>
            </a:r>
            <a:r>
              <a:rPr lang="zh-CN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一次完整工具调用后，数组长这样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3933825" y="3600450"/>
            <a:ext cx="757237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53" name=""/>
          <p:cNvSpPr/>
          <p:nvPr/>
        </p:nvSpPr>
        <p:spPr>
          <a:xfrm rot="0" flipH="0" flipV="0">
            <a:off x="685800" y="54864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857250" y="5667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记住</a:t>
            </a:r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1333500" y="5619750"/>
            <a:ext cx="10001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role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不是日志标签，是对话的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语法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——它决定这段话被当成指令、提问、我自己的话，还是外部事实。</a:t>
            </a:r>
            <a:endParaRPr/>
          </a:p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37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685800" y="3676650"/>
            <a:ext cx="10820400" cy="171450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359" name=""/>
          <p:cNvSpPr txBox="1"/>
          <p:nvPr/>
        </p:nvSpPr>
        <p:spPr>
          <a:xfrm rot="0" flipH="0" flipV="0">
            <a:off x="838200" y="3810000"/>
            <a:ext cx="105156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messages </a:t>
            </a:r>
            <a:r>
              <a:rPr sz="11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[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"你是智数问答助手，只回答指标类问题"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"华东区上月销售额多少？"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"tool_calls"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: [{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79B8FF"/>
                </a:solidFill>
                <a:latin typeface="Menlo"/>
                <a:ea typeface="Menlo"/>
              </a:rPr>
              <a:t>...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}]},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"tool_call_id"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"1.28 亿"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]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60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LLM 是「无状态的文本预测器」&lt;/Text&gt;&#13;&#10;            &lt;Text style={{ marginTop: 8, fontSize: 17, color: 'rgba(232,238,249,0.52)' }}&gt;理解这一点，才理解为什么 Agent 的上下文要自己算&lt;/Text&gt;&#13;&#10;        &lt;/Box&gt;&#13;&#10;    &lt;/Box&gt;&#13;&#10;&#13;&#10;    {/* B 区 · 左标题栏 + 右内容区 */}&#13;&#10;    &lt;Box style={{ height: 516, flexDirection: 'row', gap: 36 }}&gt;&#13;&#10;        {/* 左：定义栏 */}&#13;&#10;        &lt;Box style={{ width: 360, flexDirection: 'column', paddingRight: 30, borderRight: '1px solid rgba(232,238,249,0.12)' }}&gt;&#13;&#10;            &lt;Text style={{ fontSize: 15, color: '#2AD4EE', letterSpacing: 3, fontFamily: '&quot;JetBrains Mono&quot;, &quot;Cascadia Mono&quot;, Consolas, monospace' }}&gt;DEFINITION&lt;/Text&gt;&#13;&#10;            &lt;Text style={{ marginTop: 14, fontSize: 24, fontWeight: 'bold', color: '#E8EEF9', lineHeight: 1.45 }}&gt;&#13;&#10;                模型本身&#13;&#10;                &lt;br /&gt;&#13;&#10;                没有内存&#13;&#10;            &lt;/Text&gt;&#13;&#10;            &lt;Text style={{ marginTop: 14, fontSize: 16, color: 'rgba(232,238,249,0.70)', lineHeight: 1.7 }}&gt;&#13;&#10;                它不会记住上一次对话。不把历史完整塞回 &lt;span style={{ color: '#2AD4EE', fontFamily: '&quot;JetBrains Mono&quot;, &quot;Cascadia Mono&quot;, Consolas, monospace' }}&gt;messages&lt;/span&gt;，它就不知道之前聊过什么——所谓「记忆」，每次请求都要你重建。&#13;&#10;            &lt;/Text&gt;&#13;&#10;            &lt;Box style={{ flexDirection: 'row', gap: 8, marginTop: 16, flexWrap: 'wrap' }}&gt;&#13;&#10;                {['无状态', '每次重发', 'messages 数组'].map((k, i) =&gt; (&#13;&#10;                    &lt;Box key={i} style={{ paddingTop: 4, paddingBottom: 4, paddingLeft: 10, paddingRight: 10, background: 'rgba(42,212,238,0.10)', borderRadius: 3 }}&gt;&#13;&#10;                        &lt;Text style={{ fontSize: 14, color: '#2AD4EE' }}&gt;{k}&lt;/Text&gt;&#13;&#10;                    &lt;/Box&gt;&#13;&#10;                ))}&#13;&#10;            &lt;/Box&gt;&#13;&#10;            &lt;Box style={{ marginTop: 18, height: 1, background: 'rgba(232,238,249,0.12)' }} /&gt;&#13;&#10;            &lt;Text style={{ marginTop: 14, fontSize: 15, color: 'rgba(232,238,249,0.52)', letterSpacing: 2, fontFamily: '&quot;JetBrains Mono&quot;, &quot;Cascadia Mono&quot;, Consolas, monospace' }}&gt;ACTIONS · 两个必做动作&lt;/Text&gt;&#13;&#10;            &lt;Text style={{ marginTop: 10, fontSize: 15.5, color: 'rgba(232,238,249,0.70)', lineHeight: 1.7 }}&gt;&#13;&#10;                超窗之前：摘要压缩（compaction）&#13;&#10;                &lt;br /&gt;&#13;&#10;                进上下文前：工具返回精简 + 脱敏&#13;&#10;            &lt;/Text&gt;&#13;&#10;            &lt;Box style={{ marginTop: 'auto', paddingTop: 12, paddingBottom: 12, paddingLeft: 16, paddingRight: 16, borderLeft: '3px solid #2AD4EE', background: 'rgba(42,212,238,0.06)' }}&gt;&#13;&#10;                &lt;Text style={{ fontSize: 16, color: '#E8EEF9', lineHeight: 1.6 }}&gt;&#13;&#10;                    上下文窗口 = 一次能读完的&#13;&#10;                    &lt;span style={{ color: '#2AD4EE' }}&gt;总量上限&lt;/span&gt;&#13;&#10;                    （输入 + 输出）。&#13;&#10;                &lt;/Text&gt;&#13;&#10;            &lt;/Box&gt;&#13;&#10;        &lt;/Box&gt;&#13;&#10;&#13;&#10;        {/* 右：图示区 */}&#13;&#10;        &lt;Box style={{ flex: 1, flexDirection: 'column' }}&gt;&#13;&#10;            &lt;Text style={{ fontSize: 15, color: 'rgba(232,238,249,0.52)', letterSpacing: 2, fontFamily: '&quot;JetBrains Mono&quot;, &quot;Cascadia Mono&quot;, Consolas, monospace' }}&gt;CONTEXT WINDOW · 以 128k token 为例&lt;/Text&gt;&#13;&#10;&#13;&#10;            &lt;Box style={{ flexDirection: 'row', height: 78, marginTop: 16, borderRadius: 4, overflow: 'hidden', border: '1px solid rgba(42,212,238,0.22)' }}&gt;&#13;&#10;                &lt;Box style={{ flex: 34, flexDirection: 'column', justifyContent: 'center', paddingLeft: 14, paddingRight: 10, background: 'rgba(42,212,238,0.16)', borderRight: '1px solid rgba(42,212,238,0.22)' }}&gt;&#13;&#10;                    &lt;Text style={{ fontSize: 16, color: '#E8EEF9', fontWeight: '600' }}&gt;历史对话&lt;/Text&gt;&#13;&#10;                    &lt;Text style={{ fontSize: 13, color: 'rgba(232,238,249,0.62)', marginTop: 4 }}&gt;system + 多轮 messages + 工具返回&lt;/Text&gt;&#13;&#10;                &lt;/Box&gt;&#13;&#10;                &lt;Box style={{ flex: 14, flexDirection: 'column', justifyContent: 'center', paddingLeft: 12, paddingRight: 8, background: 'rgba(42,212,238,0.30)', borderRight: '1px solid rgba(42,212,238,0.22)' }}&gt;&#13;&#10;                    &lt;Text style={{ fontSize: 16, color: '#0B1220', fontWeight: '600' }}&gt;本轮输入&lt;/Text&gt;&#13;&#10;                    &lt;Text style={{ fontSize: 13, color: 'rgba(11,18,32,0.72)', marginTop: 4 }}&gt;用户问题&lt;/Text&gt;&#13;&#10;                &lt;/Box&gt;&#13;&#10;                &lt;Box style={{ flex: 12, flexDirection: 'column', justifyContent: 'center', paddingLeft: 12, paddingRight: 8, background: 'rgba(42,212,238,0.06)' }}&gt;&#13;&#10;                    &lt;Text style={{ fontSize: 16, color: 'rgba(232,238,249,0.78)', fontWeight: '600' }}&gt;预留输出&lt;/Text&gt;&#13;&#10;                    &lt;Text style={{ fontSize: 13, color: 'rgba(232,238,249,0.52)', marginTop: 4 }}&gt;maxTokens&lt;/Text&gt;&#13;&#10;                &lt;/Box&gt;&#13;&#10;            &lt;/Box&gt;&#13;&#10;&#13;&#10;            &lt;Box style={{ flexDirection: 'row', justifyContent: 'space-between', marginTop: 8 }}&gt;&#13;&#10;                &lt;Text style={{ fontSize: 13, color: 'rgba(232,238,249,0.42)', fontFamily: '&quot;JetBrains Mono&quot;, &quot;Cascadia Mono&quot;, Consolas, monospace' }}&gt;0&lt;/Text&gt;&#13;&#10;                &lt;Text style={{ fontSize: 13, color: 'rgba(232,238,249,0.42)' }}&gt;超过上限 → 最前面的信息被丢弃&lt;/Text&gt;&#13;&#10;                &lt;Text style={{ fontSize: 13, color: 'rgba(232,238,249,0.42)', fontFamily: '&quot;JetBrains Mono&quot;, &quot;Cascadia Mono&quot;, Consolas, monospace' }}&gt;128k&lt;/Text&gt;&#13;&#10;            &lt;/Box&gt;&#13;&#10;&#13;&#10;            &lt;Text style={{ marginTop: 30, fontSize: 15, color: 'rgba(232,238,249,0.52)', letterSpacing: 2, fontFamily: '&quot;JetBrains Mono&quot;, &quot;Cascadia Mono&quot;, Consolas, monospace' }}&gt;TOKEN · 计费与窗口的最小单位&lt;/Text&gt;&#13;&#10;            &lt;Text style={{ marginTop: 14, fontSize: 20, color: '#E8EEF9' }}&gt;「企业 2025 年营收 3.2 亿元」&lt;/Text&gt;&#13;&#10;            &lt;Box style={{ flexDirection: 'row', gap: 8, marginTop: 14, alignItems: 'center' }}&gt;&#13;&#10;                {['企业', '2025', '年', '营', '收', '3.2', '亿'].map((t, i) =&gt; (&#13;&#10;                    &lt;Box key={i} style={{ paddingTop: 5, paddingBottom: 5, paddingLeft: 11, paddingRight: 11, background: 'rgba(22,35,61,0.9)', border: '1px solid rgba(42,212,238,0.22)', borderRadius: 3 }}&gt;&#13;&#10;                        &lt;Text style={{ fontSize: 15, color: '#2AD4EE', fontFamily: '&quot;JetBrains Mono&quot;, &quot;Cascadia Mono&quot;, Consolas, monospace' }}&gt;{t}&lt;/Text&gt;&#13;&#10;                    &lt;/Box&gt;&#13;&#10;                ))}&#13;&#10;                &lt;Text style={{ fontSize: 15, color: 'rgba(232,238,249,0.62)', marginLeft: 6 }}&gt;→ 约 9 token（中文 1 汉字 ≈ 2 token）&lt;/Text&gt;&#13;&#10;            &lt;/Box&gt;&#13;&#10;&#13;&#10;            &lt;Box style={{ marginTop: 'auto', flexDirection: 'row', alignItems: 'center', gap: 14, paddingTop: 16, paddingBottom: 16, paddingLeft: 18, paddingRight: 18, background: 'rgba(42,212,238,0.08)', border: '1px solid rgba(42,212,238,0.22)', borderRadius: 4 }}&gt;&#13;&#10;                &lt;Text style={{ fontSize: 20, color: '#2AD4EE', fontWeight: 'bold', fontFamily: '&quot;JetBrains Mono&quot;, &quot;Cascadia Mono&quot;, Consolas, monospace' }}&gt;所以&lt;/Text&gt;&#13;&#10;                &lt;Text style={{ fontSize: 18, color: '#E8EEF9', lineHeight: 1.6, flex: 1 }}&gt;&#13;&#10;                    Agent 多轮工具调用后上下文膨胀是&lt;span style={{ color: '#2AD4EE' }}&gt;必然&lt;/span&gt;，不是意外——预算要自己管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5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6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365" name=""/>
          <p:cNvSpPr/>
          <p:nvPr/>
        </p:nvSpPr>
        <p:spPr>
          <a:xfrm rot="0" flipH="0" flipV="0">
            <a:off x="685800" y="1143000"/>
            <a:ext cx="3429000" cy="4914900"/>
          </a:xfrm>
          <a:custGeom>
            <a:pathLst>
              <a:path w="360" h="516">
                <a:moveTo>
                  <a:pt x="359" y="0"/>
                </a:moveTo>
                <a:lnTo>
                  <a:pt x="360" y="0"/>
                </a:lnTo>
                <a:lnTo>
                  <a:pt x="360" y="516"/>
                </a:lnTo>
                <a:lnTo>
                  <a:pt x="35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31337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3133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它不会记住上一次对话。不把历史完整塞回</a:t>
            </a:r>
            <a:r>
              <a:rPr lang="en-US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，它就不知道之前聊过什么——所谓「记忆」，每次请求都要你重建。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685800" y="3467100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1352550" y="34671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1447800" y="3505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373" name=""/>
          <p:cNvSpPr/>
          <p:nvPr/>
        </p:nvSpPr>
        <p:spPr>
          <a:xfrm rot="0" flipH="0" flipV="0">
            <a:off x="2152650" y="3467100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2247900" y="35052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375" name=""/>
          <p:cNvSpPr/>
          <p:nvPr/>
        </p:nvSpPr>
        <p:spPr>
          <a:xfrm rot="0" flipH="0" flipV="0">
            <a:off x="685800" y="3876675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685800" y="40195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3133725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378" name=""/>
          <p:cNvSpPr/>
          <p:nvPr/>
        </p:nvSpPr>
        <p:spPr>
          <a:xfrm rot="0" flipH="0" flipV="0">
            <a:off x="714375" y="5238750"/>
            <a:ext cx="3133725" cy="8191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1379" name=""/>
          <p:cNvSpPr/>
          <p:nvPr/>
        </p:nvSpPr>
        <p:spPr>
          <a:xfrm rot="0" flipH="0" flipV="0">
            <a:off x="685800" y="5238750"/>
            <a:ext cx="3162300" cy="819150"/>
          </a:xfrm>
          <a:custGeom>
            <a:pathLst>
              <a:path w="332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866775" y="53530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3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/>
        </p:txBody>
      </p:sp>
      <p:sp>
        <p:nvSpPr>
          <p:cNvPr id="1384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1387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388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1391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1399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1401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1403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1405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1409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1411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1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37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19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四个必须先记住的概念&lt;/Text&gt;&#13;&#10;            &lt;Text style={{ marginTop: 8, fontSize: 17, color: 'rgba(232,238,249,0.52)' }}&gt;它们分别管着 Agent 说什么、怎么说、会不会编、记不记得住&lt;/Text&gt;&#13;&#10;        &lt;/Box&gt;&#13;&#10;    &lt;/Box&gt;&#13;&#10;&#13;&#10;    {/* B 区 · 非对称双栏 62:38 */}&#13;&#10;    &lt;Box style={{ height: 516, flexDirection: 'row', gap: 36 }}&gt;&#13;&#10;        {/* 左：四个概念 */}&#13;&#10;        &lt;Box style={{ flex: 62, flexDirection: 'column', justifyContent: 'space-between', paddingRight: 34, borderRight: '1px solid rgba(232,238,249,0.12)' }}&gt;&#13;&#10;            {[&#13;&#10;                { ic: 'file-text', t: 'Prompt · 提示词', d: '定角色、定任务、定边界、定输出格式。Agent 的 System Prompt 就是它的岗位说明书。' },&#13;&#10;                { ic: 'cog', t: 'Temperature · 温度', d: '控制随机性。0 最确定，适合工具调用与结构化输出；0.7 有创造力；&gt;1 容易胡编。' },&#13;&#10;                { ic: 'exclamation-circle', t: '幻觉 · Hallucination', d: '模型会编造不存在的事实、参数、表名。压制的可靠办法只有一个：让它基于工具返回的真实数据作答。' },&#13;&#10;                { ic: 'share', t: 'Embedding · 嵌入向量', d: '把文本转成向量，用相似度衡量语义远近（1 相似 / 0 无关 / -1 相反），是长期记忆的地基。' },&#13;&#10;            ].map((c, i) =&gt; (&#13;&#10;                &lt;Box key={i} style={{ flexDirection: 'row', gap: 16, alignItems: 'flex-start', paddingTop: 10, paddingBottom: 10, borderBottom: i === 3 ? 'none' : '1px solid rgba(232,238,249,0.08)' }}&gt;&#13;&#10;                    &lt;Box style={{ width: 42, height: 42, borderRadius: 4, background: 'rgba(42,212,238,0.10)', border: '1px solid rgba(42,212,238,0.22)', justifyContent: 'center', alignItems: 'center' }}&gt;&#13;&#10;                        &lt;FAIcon name={c.ic} style={{ fill: '#2AD4EE', width: 21, height: 21 }} /&gt;&#13;&#10;                    &lt;/Box&gt;&#13;&#10;                    &lt;Box style={{ flexDirection: 'column', flex: 1 }}&gt;&#13;&#10;                        &lt;Text style={{ fontSize: 20, fontWeight: '600', color: '#E8EEF9' }}&gt;{c.t}&lt;/Text&gt;&#13;&#10;                        &lt;Text style={{ marginTop: 6, fontSize: 16, color: 'rgba(232,238,249,0.66)', lineHeight: 1.6 }}&gt;{c.d}&lt;/Text&gt;&#13;&#10;                    &lt;/Box&gt;&#13;&#10;                &lt;/Box&gt;&#13;&#10;            ))}&#13;&#10;        &lt;/Box&gt;&#13;&#10;&#13;&#10;        {/* 右：串起来看 */}&#13;&#10;        &lt;Box style={{ flex: 38, flexDirection: 'column' }}&gt;&#13;&#10;            &lt;Text style={{ fontSize: 15, color: '#2AD4EE', letterSpacing: 3, fontFamily: '&quot;JetBrains Mono&quot;, &quot;Cascadia Mono&quot;, Consolas, monospace' }}&gt;PUT TOGETHER&lt;/Text&gt;&#13;&#10;            &lt;Text style={{ marginTop: 18, fontSize: 22, fontWeight: '600', color: '#E8EEF9', lineHeight: 1.5 }}&gt;&#13;&#10;                四个概念，&#13;&#10;                &lt;br /&gt;&#13;&#10;                四道稳定性的闸门&#13;&#10;            &lt;/Text&gt;&#13;&#10;            &lt;Box style={{ marginTop: 24, flexDirection: 'column', gap: 12 }}&gt;&#13;&#10;                {[&#13;&#10;                    { t: '说什么', v: 'Prompt', w: 100 },&#13;&#10;                    { t: '怎么答', v: 'Temperature = 0', w: 78 },&#13;&#10;                    { t: '会不会编', v: '工具真实数据', w: 62 },&#13;&#10;                    { t: '记得住吗', v: 'Embedding + 向量库', w: 46 },&#13;&#10;                ].map((r, i) =&gt; (&#13;&#10;                    &lt;Box key={i} style={{ flexDirection: 'column', gap: 6 }}&gt;&#13;&#10;                        &lt;Box style={{ flexDirection: 'row', justifyContent: 'space-between' }}&gt;&#13;&#10;                            &lt;Text style={{ fontSize: 16, color: 'rgba(232,238,249,0.70)' }}&gt;{r.t}&lt;/Text&gt;&#13;&#10;                            &lt;Text style={{ fontSize: 14, color: '#2AD4EE', fontFamily: '&quot;JetBrains Mono&quot;, &quot;Cascadia Mono&quot;, Consolas, monospace' }}&gt;{r.v}&lt;/Text&gt;&#13;&#10;                        &lt;/Box&gt;&#13;&#10;                        &lt;Box style={{ height: 3, width: r.w + '%', background: 'linear-gradient(90deg, #2AD4EE 0%, #16233D 100%)' }} /&gt;&#13;&#10;                    &lt;/Box&gt;&#13;&#10;                ))}&#13;&#10;            &lt;/Box&gt;&#13;&#10;            &lt;Box style={{ marginTop: 'auto', paddingTop: 16, paddingBottom: 16, paddingLeft: 18, paddingRight: 18, background: 'rgba(42,212,238,0.08)', border: '1px solid rgba(42,212,238,0.22)', borderRadius: 4 }}&gt;&#13;&#10;                &lt;Text style={{ fontSize: 18, color: '#E8EEF9', lineHeight: 1.65 }}&gt;&#13;&#10;                    这四点决定了 Agent 的&lt;span style={{ color: '#2AD4EE' }}&gt;稳定性上限&lt;/span&gt;——它们出问题，模型再强也救不回来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6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42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425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426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1430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431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1433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1435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436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1439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1440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1448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1454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55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1457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58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37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两种调用方式：对话 vs 工具调用&lt;/Text&gt;&#13;&#10;            &lt;Text style={{ marginTop: 8, fontSize: 17, color: 'rgba(232,238,249,0.52)' }}&gt;从「只会说」到「能动手」，差别就在出口是文本还是结构化参数&lt;/Text&gt;&#13;&#10;        &lt;/Box&gt;&#13;&#10;    &lt;/Box&gt;&#13;&#10;&#13;&#10;    {/* B 区 */}&#13;&#10;    &lt;Box style={{ height: 516, flexDirection: 'column' }}&gt;&#13;&#10;        &lt;Box style={{ flex: 1, flexDirection: 'row', gap: 36 }}&gt;&#13;&#10;            {/* 左：要点栏 */}&#13;&#10;            &lt;Box style={{ width: 340, flexDirection: 'column', paddingRight: 28, borderRight: '1px solid rgba(232,238,249,0.12)' }}&gt;&#13;&#10;                &lt;Text style={{ fontSize: 15, color: '#2AD4EE', letterSpacing: 3, fontFamily: '&quot;JetBrains Mono&quot;, &quot;Cascadia Mono&quot;, Consolas, monospace' }}&gt;THE DIVIDE&lt;/Text&gt;&#13;&#10;                &lt;Text style={{ marginTop: 16, fontSize: 30, fontWeight: 'bold', color: '#E8EEF9', lineHeight: 1.45 }}&gt;&#13;&#10;                    模型只说，&#13;&#10;                    &lt;br /&gt;&#13;&#10;                    不做&#13;&#10;                &lt;/Text&gt;&#13;&#10;                &lt;Text style={{ marginTop: 18, fontSize: 17, color: 'rgba(232,238,249,0.70)', lineHeight: 1.75 }}&gt;&#13;&#10;                    两种方式里，模型都只负责「说要调什么」；真正执行函数的永远是我们的代码。这就是 Agent 安全的关键——&lt;span style={{ color: '#2AD4EE' }}&gt;模型没有权限，只有建议权&lt;/span&gt;。&#13;&#10;                &lt;/Text&gt;&#13;&#10;                &lt;Box style={{ flexDirection: 'row', gap: 8, marginTop: 20, flexWrap: 'wrap' }}&gt;&#13;&#10;                    {['建议权在模型', '执行权在代码', '结构化参数'].map((k, i) =&gt; (&#13;&#10;                        &lt;Box key={i} style={{ paddingTop: 4, paddingBottom: 4, paddingLeft: 10, paddingRight: 10, background: 'rgba(42,212,238,0.10)', borderRadius: 3 }}&gt;&#13;&#10;                            &lt;Text style={{ fontSize: 14, color: '#2AD4EE' }}&gt;{k}&lt;/Text&gt;&#13;&#10;                        &lt;/Box&gt;&#13;&#10;                    ))}&#13;&#10;                &lt;/Box&gt;&#13;&#10;            &lt;/Box&gt;&#13;&#10;&#13;&#10;            {/* 右：两条链路 */}&#13;&#10;            &lt;Box style={{ flex: 1, flexDirection: 'column', justifyContent: 'space-between' }}&gt;&#13;&#10;                {/* 链路 A */}&#13;&#10;                &lt;Box style={{ flexDirection: 'column' }}&gt;&#13;&#10;                    &lt;Box style={{ flexDirection: 'row', alignItems: 'center', gap: 10 }}&gt;&#13;&#10;                        &lt;FAIcon name='comment' style={{ fill: 'rgba(232,238,249,0.42)', width: 16, height: 16 }} /&gt;&#13;&#10;                        &lt;Text style={{ fontSize: 17, color: 'rgba(232,238,249,0.70)', fontWeight: '600' }}&gt;① 普通对话 · Chat Completions&lt;/Text&gt;&#13;&#10;                    &lt;/Box&gt;&#13;&#10;                    &lt;Box style={{ flexDirection: 'row', alignItems: 'center', marginTop: 14 }}&gt;&#13;&#10;                        &lt;Box style={{ width: 150, height: 80, justifyContent: 'center', alignItems: 'center', background: 'rgba(22,35,61,0.9)', border: '1px solid rgba(232,238,249,0.18)', borderRadius: 4 }}&gt;&#13;&#10;                            &lt;Text style={{ fontSize: 16, color: '#E8EEF9' }}&gt;用户输入&lt;/Text&gt;&#13;&#10;                            &lt;Text style={{ fontSize: 13, color: 'rgba(232,238,249,0.52)', marginTop: 4 }}&gt;messages 数组&lt;/Text&gt;&#13;&#10;                        &lt;/Box&gt;&#13;&#10;                        &lt;Text style={{ fontSize: 20, color: 'rgba(232,238,249,0.42)', width: 46, textAlign: 'center' }}&gt;→&lt;/Text&gt;&#13;&#10;                        &lt;Box style={{ width: 150, height: 80, justifyContent: 'center', alignItems: 'center', background: 'rgba(22,35,61,0.9)', border: '1px solid rgba(232,238,249,0.18)', borderRadius: 4 }}&gt;&#13;&#10;                            &lt;Text style={{ fontSize: 16, color: '#E8EEF9' }}&gt;LLM&lt;/Text&gt;&#13;&#10;                            &lt;Text style={{ fontSize: 13, color: 'rgba(232,238,249,0.52)', marginTop: 4 }}&gt;生成&lt;/Text&gt;&#13;&#10;                        &lt;/Box&gt;&#13;&#10;                        &lt;Text style={{ fontSize: 20, color: 'rgba(232,238,249,0.42)', width: 46, textAlign: 'center' }}&gt;→&lt;/Text&gt;&#13;&#10;                        &lt;Box style={{ width: 232, height: 80, justifyContent: 'center', alignItems: 'center', background: 'rgba(22,35,61,0.9)', border: '1px solid rgba(232,238,249,0.18)', borderRadius: 4 }}&gt;&#13;&#10;                            &lt;Text style={{ fontSize: 16, color: 'rgba(232,238,249,0.62)' }}&gt;纯文本输出&lt;/Text&gt;&#13;&#10;                            &lt;Text style={{ fontSize: 13, color: 'rgba(232,238,249,0.42)', marginTop: 4 }}&gt;程序只拿到一个字符串，到此为止&lt;/Text&gt;&#13;&#10;                        &lt;/Box&gt;&#13;&#10;                    &lt;/Box&gt;&#13;&#10;                &lt;/Box&gt;&#13;&#10;&#13;&#10;                {/* 链路 B */}&#13;&#10;                &lt;Box style={{ flexDirection: 'column' }}&gt;&#13;&#10;                    &lt;Box style={{ flexDirection: 'row', alignItems: 'center', gap: 10 }}&gt;&#13;&#10;                        &lt;FAIcon name='bolt' style={{ fill: '#2AD4EE', width: 16, height: 16 }} /&gt;&#13;&#10;                        &lt;Text style={{ fontSize: 17, color: '#E8EEF9', fontWeight: '600' }}&gt;② 工具调用 · Function Calling&lt;/Text&gt;&#13;&#10;                    &lt;/Box&gt;&#13;&#10;                    &lt;Box style={{ flexDirection: 'row', alignItems: 'center', marginTop: 14 }}&gt;&#13;&#10;                        &lt;Box style={{ width: 138, height: 96, justifyContent: 'center', alignItems: 'center', background: 'rgba(22,35,61,0.9)', border: '1px solid rgba(42,212,238,0.22)', borderRadius: 4 }}&gt;&#13;&#10;                            &lt;Text style={{ fontSize: 16, color: '#E8EEF9' }}&gt;用户输入&lt;/Text&gt;&#13;&#10;                            &lt;Text style={{ fontSize: 13, color: 'rgba(232,238,249,0.52)', marginTop: 4 }}&gt;「128×456 等于几」&lt;/Text&gt;&#13;&#10;                        &lt;/Box&gt;&#13;&#10;                        &lt;Text style={{ fontSize: 20, color: '#2AD4EE', width: 36, textAlign: 'center' }}&gt;→&lt;/Text&gt;&#13;&#10;                        &lt;Box style={{ width: 178, height: 96, justifyContent: 'center', alignItems: 'center', background: 'rgba(42,212,238,0.14)', border: '1px solid rgba(42,212,238,0.35)', borderRadius: 4 }}&gt;&#13;&#10;                            &lt;Text style={{ fontSize: 16, color: '#E8EEF9' }}&gt;LLM 输出 tool_calls&lt;/Text&gt;&#13;&#10;                            &lt;Text style={{ fontSize: 13, color: 'rgba(232,238,249,0.62)', marginTop: 4, fontFamily: '&quot;JetBrains Mono&quot;, &quot;Cascadia Mono&quot;, Consolas, monospace' }}&gt;JSON 参数&lt;/Text&gt;&#13;&#10;                        &lt;/Box&gt;&#13;&#10;                        &lt;Text style={{ fontSize: 20, color: '#2AD4EE', width: 40, textAlign: 'center' }}&gt;⇄&lt;/Text&gt;&#13;&#10;                        &lt;Box style={{ width: 178, height: 96, justifyContent: 'center', alignItems: 'center', background: 'rgba(42,212,238,0.14)', border: '1px solid rgba(42,212,238,0.35)', borderRadius: 4 }}&gt;&#13;&#10;                            &lt;Text style={{ fontSize: 16, color: '#E8EEF9' }}&gt;你的代码真正执行&lt;/Text&gt;&#13;&#10;                            &lt;Text style={{ fontSize: 13, color: 'rgba(232,238,249,0.62)', marginTop: 4 }}&gt;role=tool 结果回填&lt;/Text&gt;&#13;&#10;                        &lt;/Box&gt;&#13;&#10;                        &lt;Text style={{ fontSize: 20, color: '#2AD4EE', width: 36, textAlign: 'center' }}&gt;→&lt;/Text&gt;&#13;&#10;                        &lt;Box style={{ width: 138, height: 96, justifyContent: 'center', alignItems: 'center', background: 'rgba(42,212,238,0.22)', border: '1px solid rgba(42,212,238,0.35)', borderRadius: 4 }}&gt;&#13;&#10;                            &lt;Text style={{ fontSize: 16, color: '#0B1220', fontWeight: '600' }}&gt;最终回答&lt;/Text&gt;&#13;&#10;                            &lt;Text style={{ fontSize: 13, color: 'rgba(11,18,32,0.72)', marginTop: 4, fontFamily: '&quot;JetBrains Mono&quot;, &quot;Cascadia Mono&quot;, Consolas, monospace' }}&gt;58368&lt;/Text&gt;&#13;&#10;                        &lt;/Box&gt;&#13;&#10;                    &lt;/Box&gt;&#13;&#10;                &lt;/Box&gt;&#13;&#10;            &lt;/Box&gt;&#13;&#10;        &lt;/Box&gt;&#13;&#10;&#13;&#10;        {/* 底部通栏 */}&#13;&#10;        &lt;Box style={{ height: 72, marginTop: 14, flexDirection: 'row', alignItems: 'center', gap: 16, paddingLeft: 20, paddingRight: 20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共同点&lt;/Text&gt;&#13;&#10;            &lt;Box style={{ width: 1, height: 30, background: 'rgba(42,212,238,0.35)' }} /&gt;&#13;&#10;            &lt;Text style={{ fontSize: 18, color: '#E8EEF9', flex: 1, lineHeight: 1.6 }}&gt;&#13;&#10;                模型不碰真实世界，它只输出「调哪个工具、传什么参数」；执行永远发生在你的进程里——这就是工具调用成为「聊天机器人」与「Agent」分水岭的原因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7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4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1467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71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1473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1475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14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1479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481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83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485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87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8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1489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14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1492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96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1500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1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04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1507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1509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37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51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方案 A：手写 Prompt 的 ReAct 循环&lt;/Text&gt;&#13;&#10;            &lt;Text style={{ marginTop: 8, fontSize: 17, color: 'rgba(232,238,249,0.52)' }}&gt;自己发明格式、自己解析、自己执行——理解原理最直观的一条路&lt;/Text&gt;&#13;&#10;        &lt;/Box&gt;&#13;&#10;    &lt;/Box&gt;&#13;&#10;&#13;&#10;    {/* B 区 · 上大图 + 下方清单 */}&#13;&#10;    &lt;Box style={{ height: 516, flexDirection: 'column' }}&gt;&#13;&#10;        {/* 上：代码 */}&#13;&#10;        &lt;Box style={{ height: 340, flexDirection: 'column' }}&gt;&#13;&#10;            &lt;Box style={{ flexDirection: 'row', alignItems: 'center', gap: 12, marginBottom: 8 }}&gt;&#13;&#10;                &lt;Text style={{ fontSize: 15, color: '#2AD4EE', letterSpacing: 2, fontFamily: '&quot;JetBrains Mono&quot;, &quot;Cascadia Mono&quot;, Consolas, monospace' }}&gt;fc_demo_a.py&lt;/Text&gt;&#13;&#10;                &lt;Box style={{ width: 1, height: 14, background: 'rgba(232,238,249,0.22)' }} /&gt;&#13;&#10;                &lt;Text style={{ fontSize: 15, color: 'rgba(232,238,249,0.62)' }}&gt;PROMPT 约定：Thought → Action: tool[参数] → Answer，并明令禁止编造 Observation&lt;/Text&gt;&#13;&#10;            &lt;/Box&gt;&#13;&#10;            &lt;CodeBlock&#13;&#10;                code={`def run(q):&#13;&#10;    messages = [{&quot;role&quot;:&quot;system&quot;,&quot;content&quot;:PROMPT}, {&quot;role&quot;:&quot;user&quot;,&quot;content&quot;:q}]&#13;&#10;    for _ in range(5):                                   # 最大轮数兜底&#13;&#10;        out = llm(messages, stop=[&quot;Observation:&quot;])       # 生成阶段强制截断&#13;&#10;        hit = re.search(r&quot;Action:\\s*(\\w+)\\[(.+?)\\]&quot;, out)&#13;&#10;        if not hit:                                      # 没有 Action = 答完了&#13;&#10;            return re.search(r&quot;Answer:\\s*(.+)&quot;, out).group(1)&#13;&#10;        result = globals()[hit.group(1)](hit.group(2))   # 真正执行工具&#13;&#10;        messages.append({&quot;role&quot;:&quot;assistant&quot;,&#13;&#10;                         &quot;content&quot;: out.split(&quot;Observation:&quot;)[0]})   # 截干净再拼回&#13;&#10;        messages.append({&quot;role&quot;:&quot;user&quot;, &quot;content&quot;: f&quot;Observation: {result}&quot;})&#13;&#10;    return &quot;达到最大轮数，未能得到答案&quot;                    # 兜底返回`}&#13;&#10;                language='python'&#13;&#10;                width={1136}&#13;&#10;                fontSize={14}&#13;&#10;                theme='github-dark'&#13;&#10;            /&gt;&#13;&#10;        &lt;/Box&gt;&#13;&#10;&#13;&#10;        {/* 下：三条踩坑 */}&#13;&#10;        &lt;Box style={{ flex: 1, flexDirection: 'row', marginTop: 14 }}&gt;&#13;&#10;            {[&#13;&#10;                { n: '坑 01', t: '模型自演 Observation', d: 'Prompt 太弱时，模型会把 Thought / Action / Observation / Answer 一口气全「演」出来，甚至编造 Observation: 58848（真实值是 58368）。' },&#13;&#10;                { n: '坑 02', t: '编造结果被原样拼回', d: '把模型输出整段 append 进历史，编造的 Observation 与真实结果打架，模型每轮重复同样的幻觉，5 轮全部耗尽。' },&#13;&#10;                { n: '坑 03', t: '循环耗尽返回 None', d: 'run() 没有兜底 return，最终打印 None；报错信息只有一个空值，排查全靠猜。' },&#13;&#10;            ].map((c, i) =&gt; (&#13;&#10;                &lt;Box key={i} style={{ flex: 1, flexDirection: 'column', paddingLeft: i === 0 ? 0 : 26, paddingRight: i === 2 ? 0 : 26, borderRight: i === 2 ? 'none' : '1px solid rgba(232,238,249,0.12)' }}&gt;&#13;&#10;                    &lt;Text style={{ fontSize: 14, color: '#2AD4EE', letterSpacing: 2, fontFamily: '&quot;JetBrains Mono&quot;, &quot;Cascadia Mono&quot;, Consolas, monospace' }}&gt;{c.n}&lt;/Text&gt;&#13;&#10;                    &lt;Text style={{ marginTop: 8, fontSize: 19, fontWeight: '600', color: '#E8EEF9' }}&gt;{c.t}&lt;/Text&gt;&#13;&#10;                    &lt;Text style={{ marginTop: 8, fontSize: 15, color: 'rgba(232,238,249,0.66)', lineHeight: 1.6 }}&gt;{c.d}&lt;/Text&gt;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8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51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1519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/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521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525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37</a:t>
            </a:r>
            <a:endParaRPr/>
          </a:p>
        </p:txBody>
      </p:sp>
      <p:sp>
        <p:nvSpPr>
          <p:cNvPr id="1534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535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53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方案 B：原生 Function Calling（推荐）&lt;/Text&gt;&#13;&#10;            &lt;Text style={{ marginTop: 8, fontSize: 17, color: 'rgba(232,238,249,0.52)' }}&gt;工具用 JSON Schema 声明，模型直接返回结构化参数——不用正则&lt;/Text&gt;&#13;&#10;        &lt;/Box&gt;&#13;&#10;    &lt;/Box&gt;&#13;&#10;&#13;&#10;    {/* B 区 */}&#13;&#10;    &lt;Box style={{ height: 516, flexDirection: 'column' }}&gt;&#13;&#10;        &lt;Box style={{ flex: 1, flexDirection: 'row', gap: 36 }}&gt;&#13;&#10;            {/* 左：要点栏 */}&#13;&#10;            &lt;Box style={{ width: 336, flexDirection: 'column', paddingRight: 28, borderRight: '1px solid rgba(232,238,249,0.12)' }}&gt;&#13;&#10;                &lt;Text style={{ fontSize: 15, color: '#2AD4EE', letterSpacing: 3, fontFamily: '&quot;JetBrains Mono&quot;, &quot;Cascadia Mono&quot;, Consolas, monospace' }}&gt;WHY BETTER&lt;/Text&gt;&#13;&#10;                &lt;Text style={{ marginTop: 16, fontSize: 26, fontWeight: 'bold', color: '#E8EEF9', lineHeight: 1.5 }}&gt;&#13;&#10;                    格式是官方标准，&#13;&#10;                    &lt;br /&gt;&#13;&#10;                    不用自己发明&#13;&#10;                &lt;/Text&gt;&#13;&#10;                &lt;Text style={{ marginTop: 18, fontSize: 17, color: 'rgba(232,238,249,0.70)', lineHeight: 1.75 }}&gt;&#13;&#10;                    工具用 JSON Schema 正式声明并随请求传入；模型开启特训过的「工具模式」，返回值直接是结构化 JSON，稳定性和兼容性都由模型侧保证。&#13;&#10;                &lt;/Text&gt;&#13;&#10;                &lt;Box style={{ flexDirection: 'row', gap: 8, marginTop: 18, flexWrap: 'wrap' }}&gt;&#13;&#10;                    {['JSON Schema', 'tool_calls', '无需正则'].map((k, i) =&gt; (&#13;&#10;                        &lt;Box key={i} style={{ paddingTop: 4, paddingBottom: 4, paddingLeft: 10, paddingRight: 10, background: 'rgba(42,212,238,0.10)', borderRadius: 3 }}&gt;&#13;&#10;                            &lt;Text style={{ fontSize: 14, color: '#2AD4EE' }}&gt;{k}&lt;/Text&gt;&#13;&#10;                        &lt;/Box&gt;&#13;&#10;                    ))}&#13;&#10;                &lt;/Box&gt;&#13;&#10;                &lt;Box style={{ marginTop: 'auto', paddingTop: 14, paddingBottom: 14, paddingLeft: 16, paddingRight: 16, background: 'rgba(22,35,61,0.95)', border: '1px solid rgba(42,212,238,0.35)', borderLeft: '3px solid #2AD4EE', borderRadius: 4 }}&gt;&#13;&#10;                    &lt;Text style={{ fontSize: 16, color: '#E8EEF9', lineHeight: 1.65 }}&gt;&#13;&#10;                        description 就是写给模型看的 API 文档——模型选错工具，90% 是这里写得烂。&#13;&#10;                    &lt;/Text&gt;&#13;&#10;                &lt;/Box&gt;&#13;&#10;            &lt;/Box&gt;&#13;&#10;&#13;&#10;            {/* 右：代码 */}&#13;&#10;            &lt;Box style={{ flex: 1, flexDirection: 'column' }}&gt;&#13;&#10;                &lt;Box style={{ flexDirection: 'row', alignItems: 'center', gap: 12, marginBottom: 8 }}&gt;&#13;&#10;                    &lt;Text style={{ fontSize: 15, color: '#2AD4EE', letterSpacing: 2, fontFamily: '&quot;JetBrains Mono&quot;, &quot;Cascadia Mono&quot;, Consolas, monospace' }}&gt;fc_demo_b.js&lt;/Text&gt;&#13;&#10;                    &lt;Box style={{ width: 1, height: 14, background: 'rgba(232,238,249,0.22)' }} /&gt;&#13;&#10;                    &lt;Text style={{ fontSize: 15, color: 'rgba(232,238,249,0.62)' }}&gt;声明 → 调用 → 回填，三步走完&lt;/Text&gt;&#13;&#10;                &lt;/Box&gt;&#13;&#10;                &lt;CodeBlock&#13;&#10;                    code={`// ① 用 JSON Schema 声明工具（name / description / parameters）&#13;&#10;const tools = [{ type: &quot;function&quot;, function: {&#13;&#10;  name: &quot;calculate&quot;,&#13;&#10;  description: &quot;计算数学表达式的值，如加减乘除&quot;,&#13;&#10;  parameters: { type: &quot;object&quot;, required: [&quot;expression&quot;],&#13;&#10;    properties: { expression: { type: &quot;string&quot;,&#13;&#10;      description: &quot;数学表达式，如 128*456&quot; } } },&#13;&#10;}}];&#13;&#10;// ② tools 随请求传入；模型返回结构化 tool_calls&#13;&#10;const msg = await llm(messages, tools);&#13;&#10;for (const tc of msg.tool_calls) {&#13;&#10;  const args = JSON.parse(tc.function.arguments);      // 参数直接是 JSON&#13;&#10;  const r = TOOLS[tc.function.name](...Object.values(args));&#13;&#10;  messages.push({ role: &quot;tool&quot;, tool_call_id: tc.id, content: String(r) });&#13;&#10;}`}&#13;&#10;                    language='javascript'&#13;&#10;                    width={764}&#13;&#10;                    fontSize={12}&#13;&#10;                    theme='github-dark'&#13;&#10;                /&gt;&#13;&#10;            &lt;/Box&gt;&#13;&#10;        &lt;/Box&gt;&#13;&#10;&#13;&#10;        {/* 底部通栏 */}&#13;&#10;        &lt;Box style={{ height: 46, marginTop: 10, flexDirection: &quot;row&quot;, alignItems: &quot;center&quot;, gap: 16, paddingLeft: 20, paddingRight: 20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结论&lt;/Text&gt;&#13;&#10;            &lt;Box style={{ width: 1, height: 28, background: 'rgba(42,212,238,0.35)' }} /&gt;&#13;&#10;            &lt;Text style={{ fontSize: 17, color: '#E8EEF9', flex: 1, lineHeight: 1.6 }}&gt;&#13;&#10;                实际项目一律用原生 Function Calling；手写 Prompt 只用来理解原理——模型自动把「128 乘以 456」翻译成了表达式，靠的就是 description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9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53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1541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1545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546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1547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1549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1551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1552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1554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1555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/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1557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1559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6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37</a:t>
            </a:r>
            <a:endParaRPr/>
          </a:p>
        </p:txBody>
      </p:sp>
      <p:sp>
        <p:nvSpPr>
          <p:cNvPr id="1563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564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A/B 对比与一条安全红线&lt;/Text&gt;&#13;&#10;            &lt;Text style={{ marginTop: 8, fontSize: 17, color: 'rgba(232,238,249,0.52)' }}&gt;五个维度看差别，一条原则定生死&lt;/Text&gt;&#13;&#10;        &lt;/Box&gt;&#13;&#10;    &lt;/Box&gt;&#13;&#10;&#13;&#10;    {/* B 区 · 表格 + 洞察 */}&#13;&#10;    &lt;Box style={{ height: 516, flexDirection: 'column' }}&gt;&#13;&#10;        &lt;Box style={{ height: 340, flexDirection: 'column' }}&gt;&#13;&#10;            &lt;Table&#13;&#10;                style={{ width: '100%', height: '100%' }}&#13;&#10;                defaultTextStyle={{ fontSize: 17, textAlign: 'left', color: '#E8EEF9' }}&#13;&#10;                defaultCellStyle={{&#13;&#10;                    border: {&#13;&#10;                        bottom: { width: 1, color: 'rgba(232,238,249,0.12)' },&#13;&#10;                    },&#13;&#10;                }}&#13;&#10;                cells={[&#13;&#10;                    [&#13;&#10;                        { text: '维度', textStyle: { bold: true, color: '#2AD4EE', fontSize: 17 }, cellStyle: { background: { color: '#16233D' } } },&#13;&#10;                        { text: '方案 A · 手写 Prompt', textStyle: { bold: true, color: 'rgba(232,238,249,0.70)', fontSize: 17 }, cellStyle: { background: { color: '#16233D' } } },&#13;&#10;                        { text: '方案 B · 原生 Function Calling', textStyle: { bold: true, color: '#2AD4EE', fontSize: 17 }, cellStyle: { background: { color: '#16233D' } } },&#13;&#10;                    ],&#13;&#10;                    ['格式约定', '自己发明（Action:工具名[参数]）', '官方标准（JSON Schema）'],&#13;&#10;                    ['模型输出', '普通文本，要正则抠参数', '结构化 tool_calls JSON，直接解析'],&#13;&#10;                    ['稳定性', '模型可能不守格式，需各种兜底', '模型专门训练过，非常稳'],&#13;&#10;                    ['兼容性', '任何模型都能用（哪怕不支持 FC）', '需要模型支持（GLM-4 / GPT 等）'],&#13;&#10;                    [&#13;&#10;                        '使用建议',&#13;&#10;                        '理解原理用',&#13;&#10;                        { text: '实际项目一律用这个', textStyle: { bold: true, color: '#2AD4EE' } },&#13;&#10;                    ],&#13;&#10;                ]}&#13;&#10;            /&gt;&#13;&#10;        &lt;/Box&gt;&#13;&#10;&#13;&#10;        {/* 洞察 */}&#13;&#10;        &lt;Box style={{ height: 162, marginTop: 14, flexDirection: 'row', gap: 20 }}&gt;&#13;&#10;            &lt;Box style={{ flex: 1, flexDirection: 'column', paddingTop: 16, paddingBottom: 16, paddingLeft: 20, paddingRight: 20, background: 'rgba(22,35,61,0.95)', border: '1px solid rgba(42,212,238,0.35)', borderRadius: 4 }}&gt;&#13;&#10;                &lt;Text style={{ fontSize: 15, color: '#2AD4EE', letterSpacing: 2, fontFamily: '&quot;JetBrains Mono&quot;, &quot;Cascadia Mono&quot;, Consolas, monospace' }}&gt;选型结论&lt;/Text&gt;&#13;&#10;                &lt;Text style={{ marginTop: 12, fontSize: 17, color: '#E8EEF9', lineHeight: 1.65 }}&gt;&#13;&#10;                    能用原生 Function Calling 就不用自己发明格式。手写 Prompt 的价值在于让你看清循环内部长什么样——理解原理，而不是交付方案。&#13;&#10;                &lt;/Text&gt;&#13;&#10;            &lt;/Box&gt;&#13;&#10;            &lt;Box style={{ flex: 1, flexDirection: 'column', paddingTop: 16, paddingBottom: 16, paddingLeft: 20, paddingRight: 20, background: 'rgba(42,212,238,0.10)', border: '1px solid rgba(42,212,238,0.35)', borderRadius: 4 }}&gt;&#13;&#10;                &lt;Text style={{ fontSize: 15, color: '#2AD4EE', letterSpacing: 2, fontFamily: '&quot;JetBrains Mono&quot;, &quot;Cascadia Mono&quot;, Consolas, monospace' }}&gt;安全红线&lt;/Text&gt;&#13;&#10;                &lt;Text style={{ marginTop: 12, fontSize: 17, color: '#E8EEF9', lineHeight: 1.65 }}&gt;&#13;&#10;                    两种方案里，模型都只负责「说要调什么」，真正执行函数的永远是我们的代码——&lt;span style={{ color: '#2AD4EE' }}&gt;模型没有权限，只有建议权&lt;/span&gt;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0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29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0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37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sec_agent.png&quot; style={{ position: 'absolute', left: 0, top: 0, width: 1536, height: 1024 }} /&gt;&#13;&#10;&#13;&#10;    &lt;Box style={{ position: 'absolute', left: 0, top: 0, width: 1040, height: 720, background: 'linear-gradient(90deg, rgba(11,18,32,0.97) 0%, rgba(11,18,32,0.84) 50%, rgba(11,18,32,0) 100%)' }} /&gt;&#13;&#10;    &lt;Box style={{ position: 'absolute', left: 0, top: 0, width: 6, height: 720, background: 'linear-gradient(180deg, #2AD4EE 0%, rgba(42,212,238,0) 100%)' }} /&gt;&#13;&#10;&#13;&#10;    {/* 左：整列分布 */}&#13;&#10;    &lt;Box style={{ position: 'absolute', left: 88, top: 152, width: 700, height: 508, flexDirection: 'column', justifyContent: 'space-between' }}&gt;&#13;&#10;        &lt;Box style={{ flexDirection: 'column' }}&gt;&#13;&#10;            &lt;Text style={{ fontSize: 18, color: '#2AD4EE', letterSpacing: 7, fontFamily: '&quot;JetBrains Mono&quot;, &quot;Cascadia Mono&quot;, Consolas, monospace' }}&gt;CHAPTER 02&lt;/Text&gt;&#13;&#10;            &lt;Text style={{ marginTop: 22, fontSize: 64, fontWeight: 'bold', color: '#E8EEF9', letterSpacing: 1, lineHeight: 1.2 }}&gt;&#13;&#10;                Agent：&#13;&#10;                &lt;br /&gt;&#13;&#10;                &lt;span style={{ color: '#2AD4EE' }}&gt;从“能聊”到“能干”&lt;/span&gt;&#13;&#10;            &lt;/Text&gt;&#13;&#10;        &lt;/Box&gt;&#13;&#10;&#13;&#10;        &lt;Box style={{ flexDirection: 'column' }}&gt;&#13;&#10;            &lt;Box style={{ width: 76, height: 4, background: '#2AD4EE' }} /&gt;&#13;&#10;            &lt;Text style={{ marginTop: 24, fontSize: 21, color: 'rgba(232,238,249,0.72)', lineHeight: 1.75 }}&gt;&#13;&#10;                Agent 的核心代码就一个 while 循环；&#13;&#10;                &lt;br /&gt;&#13;&#10;                真正的开发量，全在循环之外。&#13;&#10;            &lt;/Text&gt;&#13;&#10;        &lt;/Box&gt;&#13;&#10;&#13;&#10;        &lt;Box style={{ flexDirection: 'column' }}&gt;&#13;&#10;            &lt;Box style={{ width: 420, height: 1, background: 'rgba(232,238,249,0.18)' }} /&gt;&#13;&#10;            &lt;Text style={{ marginTop: 16, fontSize: 13, color: 'rgba(232,238,249,0.42)', letterSpacing: 3, fontFamily: '&quot;JetBrains Mono&quot;, &quot;Cascadia Mono&quot;, Consolas, monospace' }}&gt;本章要回答&lt;/Text&gt;&#13;&#10;            &lt;Box style={{ marginTop: 12, flexDirection: 'column', gap: 8 }}&gt;&#13;&#10;                {['Agent 的能力边界到底在哪？', '一个 Agent 系统要处理哪些功能点？', '怎么写才不翻车？'].map((t, i) =&gt; (&#13;&#10;                    &lt;Box key={i} style={{ flexDirection: 'row', alignItems: 'center', gap: 12 }}&gt;&#13;&#10;                        &lt;Box style={{ width: 5, height: 5, background: '#2AD4EE' }} /&gt;&#13;&#10;                        &lt;Text style={{ fontSize: 17, color: 'rgba(232,238,249,0.78)' }}&gt;{t}&lt;/Text&gt;&#13;&#10;                    &lt;/Box&gt;&#13;&#10;                ))}&#13;&#10;            &lt;/Box&gt;&#13;&#10;        &lt;/Box&gt;&#13;&#10;    &lt;/Box&gt;&#13;&#10;&#13;&#10;    {/* 右：章节号 + 目录 */}&#13;&#10;    &lt;Box style={{ position: 'absolute', right: 88, top: 336, width: 392, flexDirection: 'column', paddingTop: 22, paddingBottom: 22, paddingLeft: 24, paddingRight: 24, background: 'rgba(11,18,32,0.82)', border: '1px solid rgba(42,212,238,0.22)', borderRadius: 4 }}&gt;&#13;&#10;        &lt;Box style={{ flexDirection: 'row', alignItems: 'flex-end', justifyContent: 'space-between' }}&gt;&#13;&#10;            &lt;Text style={{ fontSize: 76, fontWeight: 'bold', color: 'rgba(42,212,238,0.55)', fontFamily: '&quot;JetBrains Mono&quot;, &quot;Cascadia Mono&quot;, Consolas, monospace', lineHeight: 1 }}&gt;02&lt;/Text&gt;&#13;&#10;            &lt;Text style={{ fontSize: 13, color: 'rgba(232,238,249,0.42)', letterSpacing: 3, fontFamily: '&quot;JetBrains Mono&quot;, &quot;Cascadia Mono&quot;, Consolas, monospace', paddingBottom: 8 }}&gt;PAGES 11 – 19&lt;/Text&gt;&#13;&#10;        &lt;/Box&gt;&#13;&#10;        &lt;Box style={{ marginTop: 18, flexDirection: 'column', gap: 12 }}&gt;&#13;&#10;            {['ReAct 循环与终止条件', '工具、记忆与控制层', '七层功能地图与十条原则'].map((t, i) =&gt; (&#13;&#10;                &lt;Box key={i} style={{ flexDirection: 'row', alignItems: 'center', gap: 12 }}&gt;&#13;&#10;                    &lt;Box style={{ width: 18, height: 1, background: 'rgba(42,212,238,0.6)' }} /&gt;&#13;&#10;                    &lt;Text style={{ fontSize: 17, color: 'rgba(232,238,249,0.82)' }}&gt;{t}&lt;/Text&gt;&#13;&#10;                &lt;/Box&gt;&#13;&#10;            ))}&#13;&#10;        &lt;/Box&gt;&#13;&#10;    &lt;/Box&gt;&#13;&#10;&#13;&#10;    &lt;Text style={{ position: 'absolute', left: 88, top: 674, fontSize: 14, color: 'rgba(232,238,249,0.42)', fontFamily: '&quot;JetBrains Mono&quot;, &quot;Cascadia Mono&quot;, Consolas, monospace' }}&gt;11 / 37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11 – 19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Agent = LLM + 工具 + 记忆 + 规划&lt;/Text&gt;&#13;&#10;            &lt;Text style={{ marginTop: 8, fontSize: 17, color: 'rgba(232,238,249,0.52)' }}&gt;让模型从「只会聊天」变成「能干活、会决策、可循环」的程序&lt;/Text&gt;&#13;&#10;        &lt;/Box&gt;&#13;&#10;    &lt;/Box&gt;&#13;&#10;&#13;&#10;    {/* B 区 */}&#13;&#10;    &lt;Box style={{ height: 516, flexDirection: 'column' }}&gt;&#13;&#10;        {/* 巨型公式 */}&#13;&#10;        &lt;Box style={{ flexDirection: 'row', alignItems: 'center', justifyContent: 'center', gap: 16, paddingTop: 8, paddingBottom: 24, borderBottom: '1px solid rgba(232,238,249,0.12)' }}&gt;&#13;&#10;            &lt;Text style={{ fontSize: 72, fontWeight: 'bold', color: '#2AD4EE', fontFamily: '&quot;JetBrains Mono&quot;, &quot;Cascadia Mono&quot;, Consolas, monospace', lineHeight: 1 }}&gt;Agent&lt;/Text&gt;&#13;&#10;            &lt;Text style={{ fontSize: 44, color: 'rgba(232,238,249,0.42)', marginLeft: 8, marginRight: 8 }}&gt;=&lt;/Text&gt;&#13;&#10;            {['LLM', '工具', '记忆', '规划'].map((t, i) =&gt; (&#13;&#10;                &lt;Box key={i} style={{ flexDirection: 'row', alignItems: 'center', gap: 16 }}&gt;&#13;&#10;                    {i &gt; 0 &amp;&amp; &lt;Text style={{ fontSize: 44, color: 'rgba(232,238,249,0.42)' }}&gt;+&lt;/Text&gt;}&#13;&#10;                    &lt;Text style={{ fontSize: 56, fontWeight: 'bold', color: '#E8EEF9', lineHeight: 1 }}&gt;{t}&lt;/Text&gt;&#13;&#10;                &lt;/Box&gt;&#13;&#10;            ))}&#13;&#10;        &lt;/Box&gt;&#13;&#10;&#13;&#10;        {/* 四要素说明 */}&#13;&#10;        &lt;Box style={{ flex: 1, flexDirection: 'row', marginTop: 22 }}&gt;&#13;&#10;            {[&#13;&#10;                { t: '大脑', d: '无状态的推理引擎。它决定「下一步该干什么」，但自己不记得任何事。' },&#13;&#10;                { t: '手脚', d: '你写的普通函数。模型只能「说要调用哪个」，执行权始终在你手里。' },&#13;&#10;                { t: '上下文', d: '短期靠 messages，长期靠向量库。近期带原文，远期压摘要。' },&#13;&#10;                { t: '循环', d: '简单任务单循环就够，复杂任务先拆步骤。别一上来就过度设计。' },&#13;&#10;            ].map((c, i) =&gt; (&#13;&#10;                &lt;Box key={i} style={{ flex: 1, flexDirection: 'column', paddingLeft: i === 0 ? 0 : 24, paddingRight: i === 3 ? 0 : 24, borderRight: i === 3 ? 'none' : '1px solid rgba(232,238,249,0.10)' }}&gt;&#13;&#10;                    &lt;Text style={{ fontSize: 14, color: '#2AD4EE', letterSpacing: 2, fontFamily: '&quot;JetBrains Mono&quot;, &quot;Cascadia Mono&quot;, Consolas, monospace' }}&gt;0{i + 1} {c.t}&lt;/Text&gt;&#13;&#10;                    &lt;Text style={{ marginTop: 12, fontSize: 22, fontWeight: '600', color: '#E8EEF9' }}&gt;{['LLM', '工具', '记忆', '规划'][i]}&lt;/Text&gt;&#13;&#10;                    &lt;Text style={{ marginTop: 10, fontSize: 16, color: 'rgba(232,238,249,0.66)', lineHeight: 1.65 }}&gt;{c.d}&lt;/Text&gt;&#13;&#10;                &lt;/Box&gt;&#13;&#10;            ))}&#13;&#10;        &lt;/Box&gt;&#13;&#10;&#13;&#10;        {/* 判断 */}&#13;&#10;        &lt;Box style={{ height: 62, marginTop: 16, flexDirection: 'row', alignItems: 'center', gap: 16, paddingLeft: 20, paddingRight: 20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所以&lt;/Text&gt;&#13;&#10;            &lt;Box style={{ width: 1, height: 28, background: 'rgba(42,212,238,0.35)' }} /&gt;&#13;&#10;            &lt;Text style={{ fontSize: 18, color: '#E8EEF9', flex: 1, lineHeight: 1.6 }}&gt;&#13;&#10;                四要素缺任何一项，它都只是一个&lt;span style={{ color: '#2AD4EE' }}&gt;会聊天的模型&lt;/span&gt;——而不是一个能自己把活干完的程序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2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37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ReAct：思考 → 行动 → 观察&lt;/Text&gt;&#13;&#10;            &lt;Text style={{ marginTop: 8, fontSize: 17, color: 'rgba(232,238,249,0.52)' }}&gt;Reasoning + Acting：让模型交替输出「思考」与「行动」，直到能回答&lt;/Text&gt;&#13;&#10;        &lt;/Box&gt;&#13;&#10;    &lt;/Box&gt;&#13;&#10;&#13;&#10;    {/* B 区 */}&#13;&#10;    &lt;Box style={{ height: 516, flexDirection: 'row', gap: 36 }}&gt;&#13;&#10;        {/* 左：要点栏 */}&#13;&#10;        &lt;Box style={{ width: 336, flexDirection: 'column', paddingRight: 28, borderRight: '1px solid rgba(232,238,249,0.12)' }}&gt;&#13;&#10;            &lt;Text style={{ fontSize: 15, color: '#2AD4EE', letterSpacing: 3, fontFamily: '&quot;JetBrains Mono&quot;, &quot;Cascadia Mono&quot;, Consolas, monospace' }}&gt;REASONING + ACTING&lt;/Text&gt;&#13;&#10;            &lt;Text style={{ marginTop: 16, fontSize: 28, fontWeight: 'bold', color: '#E8EEF9', lineHeight: 1.45 }}&gt;&#13;&#10;                一段话，&#13;&#10;                &lt;br /&gt;&#13;&#10;                拆成思考与行动&#13;&#10;            &lt;/Text&gt;&#13;&#10;            &lt;Text style={{ marginTop: 18, fontSize: 17, color: 'rgba(232,238,249,0.70)', lineHeight: 1.75 }}&gt;&#13;&#10;                模型不再一次性给答案，而是交替输出「我要做什么」和「我调用什么工具」；系统执行后把结果作为 Observation 喂回去，模型再决定下一步。&#13;&#10;            &lt;/Text&gt;&#13;&#10;            &lt;Box style={{ flexDirection: 'row', gap: 8, marginTop: 18, flexWrap: 'wrap' }}&gt;&#13;&#10;                {['Thought', 'Action', 'Observation'].map((k, i) =&gt; (&#13;&#10;                    &lt;Box key={i} style={{ paddingTop: 4, paddingBottom: 4, paddingLeft: 10, paddingRight: 10, background: 'rgba(42,212,238,0.10)', borderRadius: 3 }}&gt;&#13;&#10;                        &lt;Text style={{ fontSize: 13, color: '#2AD4EE', fontFamily: '&quot;JetBrains Mono&quot;, &quot;Cascadia Mono&quot;, Consolas, monospace' }}&gt;{k}&lt;/Text&gt;&#13;&#10;                    &lt;/Box&gt;&#13;&#10;                ))}&#13;&#10;            &lt;/Box&gt;&#13;&#10;            &lt;Box style={{ marginTop: 'auto', paddingTop: 14, paddingBottom: 14, paddingLeft: 16, paddingRight: 16, background: 'rgba(22,35,61,0.95)', border: '1px solid rgba(42,212,238,0.35)', borderRadius: 4 }}&gt;&#13;&#10;                &lt;Text style={{ fontSize: 16, color: '#E8EEF9', lineHeight: 1.65 }}&gt;&#13;&#10;                    没有最大轮数兜底的 Agent，一次死循环就能烧掉一个月的 token 预算。&#13;&#10;                &lt;/Text&gt;&#13;&#10;            &lt;/Box&gt;&#13;&#10;        &lt;/Box&gt;&#13;&#10;&#13;&#10;        {/* 右：循环回路 */}&#13;&#10;        &lt;Box style={{ flex: 1, flexDirection: 'column', justifyContent: 'space-between' }}&gt;&#13;&#10;            &lt;Text style={{ fontSize: 15, color: 'rgba(232,238,249,0.52)', letterSpacing: 2, fontFamily: '&quot;JetBrains Mono&quot;, &quot;Cascadia Mono&quot;, Consolas, monospace' }}&gt;THE LOOP&lt;/Text&gt;&#13;&#10;&#13;&#10;            &lt;Box style={{ flexDirection: 'row', alignItems: 'center', marginTop: 12 }}&gt;&#13;&#10;                {[&#13;&#10;                    { t: '思考', e: 'Thought', d: '我要先查北京天气' },&#13;&#10;                    { t: '行动', e: 'Action', d: 'get_weather[北京]' },&#13;&#10;                    { t: '观察', e: 'Observation', d: '晴，28 度' },&#13;&#10;                ].map((b, i) =&gt; (&#13;&#10;                    &lt;Box key={i} style={{ flexDirection: 'row', alignItems: 'center', flex: 1 }}&gt;&#13;&#10;                        &lt;Box style={{ flex: 1, height: 116, flexDirection: 'column', justifyContent: 'center', paddingLeft: 18, paddingRight: 12, background: 'rgba(42,212,238,0.12)', border: '1px solid rgba(42,212,238,0.35)', borderRadius: 4 }}&gt;&#13;&#10;                            &lt;Text style={{ fontSize: 22, fontWeight: '600', color: '#E8EEF9' }}&gt;{b.t}&lt;/Text&gt;&#13;&#10;                            &lt;Text style={{ marginTop: 4, fontSize: 13, color: '#2AD4EE', fontFamily: '&quot;JetBrains Mono&quot;, &quot;Cascadia Mono&quot;, Consolas, monospace' }}&gt;{b.e}&lt;/Text&gt;&#13;&#10;                            &lt;Text style={{ marginTop: 10, fontSize: 15, color: 'rgba(232,238,249,0.66)', lineHeight: 1.5 }}&gt;{b.d}&lt;/Text&gt;&#13;&#10;                        &lt;/Box&gt;&#13;&#10;                        {i &lt; 2 &amp;&amp; &lt;Text style={{ fontSize: 22, color: '#2AD4EE', width: 44, textAlign: 'center' }}&gt;→&lt;/Text&gt;}&#13;&#10;                    &lt;/Box&gt;&#13;&#10;                ))}&#13;&#10;            &lt;/Box&gt;&#13;&#10;&#13;&#10;            &lt;Box style={{ height: 52, marginTop: 16, flexDirection: 'row', alignItems: 'center', gap: 14, paddingLeft: 18, paddingRight: 18, background: 'rgba(22,35,61,0.9)', border: '1px dashed rgba(42,212,238,0.45)', borderRadius: 4 }}&gt;&#13;&#10;                &lt;Text style={{ fontSize: 20, color: '#2AD4EE' }}&gt;↺&lt;/Text&gt;&#13;&#10;                &lt;Text style={{ fontSize: 16, color: 'rgba(232,238,249,0.78)' }}&gt;还没拿到答案 → 带着 Observation 回到「思考」，进入下一轮&lt;/Text&gt;&#13;&#10;            &lt;/Box&gt;&#13;&#10;&#13;&#10;            &lt;Box style={{ flexDirection: 'row', alignItems: 'center', marginTop: 16 }}&gt;&#13;&#10;                &lt;Box style={{ width: 220, height: 84, flexDirection: 'column', justifyContent: 'center', alignItems: 'center', background: 'rgba(42,212,238,0.22)', border: '1px solid rgba(42,212,238,0.45)', borderRadius: 4 }}&gt;&#13;&#10;                    &lt;Text style={{ fontSize: 22, fontWeight: 'bold', color: '#0B1220' }}&gt;回答&lt;/Text&gt;&#13;&#10;                    &lt;Text style={{ marginTop: 4, fontSize: 13, color: 'rgba(11,18,32,0.72)', fontFamily: '&quot;JetBrains Mono&quot;, &quot;Cascadia Mono&quot;, Consolas, monospace' }}&gt;Answer&lt;/Text&gt;&#13;&#10;                &lt;/Box&gt;&#13;&#10;                &lt;Text style={{ marginLeft: 18, fontSize: 16, color: 'rgba(232,238,249,0.62)', flex: 1 }}&gt;证据足够 → 输出最终答案，退出循环&lt;/Text&gt;&#13;&#10;            &lt;/Box&gt;&#13;&#10;&#13;&#10;            &lt;Box style={{ flexDirection: 'column', marginTop: 18 }}&gt;&#13;&#10;                &lt;Text style={{ fontSize: 13, color: 'rgba(232,238,249,0.42)', letterSpacing: 3, fontFamily: '&quot;JetBrains Mono&quot;, &quot;Cascadia Mono&quot;, Consolas, monospace' }}&gt;终止条件 · 四个都要有&lt;/Text&gt;&#13;&#10;                &lt;Box style={{ flexDirection: 'row', gap: 10, marginTop: 12 }}&gt;&#13;&#10;                    {['模型输出 Answer', '最大轮数', '超时', 'token 预算'].map((k, i) =&gt; (&#13;&#10;                        &lt;Box key={i} style={{ flex: 1, height: 48, justifyContent: 'center', alignItems: 'center', background: 'rgba(22,35,61,0.9)', border: '1px solid rgba(42,212,238,0.22)', borderRadius: 4 }}&gt;&#13;&#10;                            &lt;Text style={{ fontSize: 15, color: '#E8EEF9' }}&gt;{k}&lt;/Text&gt;&#13;&#10;                        &lt;/Box&gt;&#13;&#10;                    ))}&#13;&#10;                &lt;/Box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3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37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工具与记忆：手脚和上下文&lt;/Text&gt;&#13;&#10;            &lt;Text style={{ marginTop: 8, fontSize: 17, color: 'rgba(232,238,249,0.52)' }}&gt;真正干活的地方，和真正决定成本的地方&lt;/Text&gt;&#13;&#10;        &lt;/Box&gt;&#13;&#10;    &lt;/Box&gt;&#13;&#10;&#13;&#10;    {/* B 区 · 非对称双栏 58:42 */}&#13;&#10;    &lt;Box style={{ height: 516, flexDirection: 'row', gap: 36 }}&gt;&#13;&#10;        {/* 左：工具 */}&#13;&#10;        &lt;Box style={{ flex: 58, flexDirection: 'column', paddingRight: 32, borderRight: '1px solid rgba(232,238,249,0.12)' }}&gt;&#13;&#10;            &lt;Box style={{ flexDirection: 'row', alignItems: 'center', gap: 10 }}&gt;&#13;&#10;                &lt;FAIcon name='wrench' style={{ fill: '#2AD4EE', width: 18, height: 18 }} /&gt;&#13;&#10;                &lt;Text style={{ fontSize: 22, fontWeight: 'bold', color: '#E8EEF9' }}&gt;工具：手脚&lt;/Text&gt;&#13;&#10;                &lt;Text style={{ fontSize: 14, color: 'rgba(232,238,249,0.42)', fontFamily: '&quot;JetBrains Mono&quot;, &quot;Cascadia Mono&quot;, Consolas, monospace' }}&gt;TOOLS&lt;/Text&gt;&#13;&#10;            &lt;/Box&gt;&#13;&#10;            &lt;Box style={{ flexDirection: 'column', justifyContent: 'space-between', flex: 1, marginTop: 10 }}&gt;&#13;&#10;                {[&#13;&#10;                    { t: '小而专', d: 'search_order + refund_order 优于 handle_anything。一个工具干一件事，模型才用得准。' },&#13;&#10;                    { t: '描述大于实现', d: 'description 就是给模型看的 API 文档。模型选错工具，90% 的原因是这里写得烂。' },&#13;&#10;                    { t: '参数先校验再执行', d: '模型真的会瞎传参数，类型与范围都要验；「合法」也不等于「安全」。' },&#13;&#10;                    { t: '失败要回喂，不要吞', d: '工具抛错别让程序崩，把报错拼回上下文，让模型下一轮自己调整。' },&#13;&#10;                ].map((c, i) =&gt; (&#13;&#10;                    &lt;Box key={i} style={{ flexDirection: 'row', gap: 16, alignItems: 'flex-start', paddingTop: 10, paddingBottom: 10, borderBottom: i === 3 ? 'none' : '1px solid rgba(232,238,249,0.08)' }}&gt;&#13;&#10;                        &lt;Text style={{ fontSize: 18, color: '#2AD4EE', fontFamily: '&quot;JetBrains Mono&quot;, &quot;Cascadia Mono&quot;, Consolas, monospace', width: 34 }}&gt;0{i + 1}&lt;/Text&gt;&#13;&#10;                        &lt;Box style={{ flexDirection: 'column', flex: 1 }}&gt;&#13;&#10;                            &lt;Text style={{ fontSize: 19, fontWeight: '600', color: '#E8EEF9' }}&gt;{c.t}&lt;/Text&gt;&#13;&#10;                            &lt;Text style={{ marginTop: 5, fontSize: 15, color: 'rgba(232,238,249,0.64)', lineHeight: 1.6 }}&gt;{c.d}&lt;/Text&gt;&#13;&#10;                        &lt;/Box&gt;&#13;&#10;                    &lt;/Box&gt;&#13;&#10;                ))}&#13;&#10;            &lt;/Box&gt;&#13;&#10;        &lt;/Box&gt;&#13;&#10;&#13;&#10;        {/* 右：记忆 */}&#13;&#10;        &lt;Box style={{ flex: 42, flexDirection: 'column' }}&gt;&#13;&#10;            &lt;Box style={{ flexDirection: 'row', alignItems: 'center', gap: 10 }}&gt;&#13;&#10;                &lt;FAIcon name='layer-group' style={{ fill: '#2AD4EE', width: 18, height: 18 }} /&gt;&#13;&#10;                &lt;Text style={{ fontSize: 22, fontWeight: 'bold', color: '#E8EEF9' }}&gt;记忆：上下文&lt;/Text&gt;&#13;&#10;                &lt;Text style={{ fontSize: 14, color: 'rgba(232,238,249,0.42)', fontFamily: '&quot;JetBrains Mono&quot;, &quot;Cascadia Mono&quot;, Consolas, monospace' }}&gt;MEMORY&lt;/Text&gt;&#13;&#10;            &lt;/Box&gt;&#13;&#10;&#13;&#10;            &lt;Box style={{ marginTop: 20, flexDirection: 'column', gap: 14 }}&gt;&#13;&#10;                {[&#13;&#10;                    { k: '近期', v: '原文', w: '100%', d: 'system + 历史 + 本轮 messages' },&#13;&#10;                    { k: '远期', v: '摘要', w: '76%', d: '超窗裁剪 / compaction 压缩' },&#13;&#10;                    { k: '事实', v: '卡片', w: '54%', d: '结构化字段，稳定可查' },&#13;&#10;                    { k: '知识', v: '向量库', w: '34%', d: 'Embedding 检索 topK' },&#13;&#10;                ].map((r, i) =&gt; (&#13;&#10;                    &lt;Box key={i} style={{ flexDirection: 'column', gap: 7 }}&gt;&#13;&#10;                        &lt;Box style={{ flexDirection: 'row', alignItems: 'baseline', gap: 10 }}&gt;&#13;&#10;                            &lt;Text style={{ fontSize: 17, fontWeight: '600', color: '#E8EEF9' }}&gt;{r.k} → {r.v}&lt;/Text&gt;&#13;&#10;                            &lt;Text style={{ fontSize: 14, color: 'rgba(232,238,249,0.52)' }}&gt;{r.d}&lt;/Text&gt;&#13;&#10;                        &lt;/Box&gt;&#13;&#10;                        &lt;Box style={{ height: 8, width: r.w, background: 'linear-gradient(90deg, #2AD4EE 0%, rgba(42,212,238,0.15) 100%)', borderRadius: 2 }} /&gt;&#13;&#10;                    &lt;/Box&gt;&#13;&#10;                ))}&#13;&#10;            &lt;/Box&gt;&#13;&#10;&#13;&#10;            &lt;Box style={{ marginTop: 'auto', paddingTop: 16, paddingBottom: 16, paddingLeft: 18, paddingRight: 18, background: 'rgba(22,35,61,0.95)', border: '1px solid rgba(42,212,238,0.35)', borderRadius: 4 }}&gt;&#13;&#10;                &lt;Text style={{ fontSize: 15, color: '#2AD4EE', letterSpacing: 2, fontFamily: '&quot;JetBrains Mono&quot;, &quot;Cascadia Mono&quot;, Consolas, monospace' }}&gt;口诀&lt;/Text&gt;&#13;&#10;                &lt;Text style={{ marginTop: 10, fontSize: 17, color: '#E8EEF9', lineHeight: 1.65 }}&gt;&#13;&#10;                    近期带原文，远期压摘要；&#13;&#10;                    &lt;br /&gt;&#13;&#10;                    事实存卡片，知识进向量库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4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37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学习路径：五个阶段&lt;/Text&gt;&#13;&#10;            &lt;Text style={{ marginTop: 8, fontSize: 17, color: 'rgba(232,238,249,0.52)' }}&gt;从「手写一遍」到「工程化」，每个阶段解决一类新问题&lt;/Text&gt;&#13;&#10;        &lt;/Box&gt;&#13;&#10;    &lt;/Box&gt;&#13;&#10;&#13;&#10;    {/* B 区 */}&#13;&#10;    &lt;Box style={{ height: 516, flexDirection: 'column' }}&gt;&#13;&#10;        {/* 上半 · 五阶段时间轴 */}&#13;&#10;        &lt;Box style={{ height: 300, flexDirection: 'column' }}&gt;&#13;&#10;            &lt;Box style={{ flexDirection: 'row', alignItems: 'center', justifyContent: 'space-between' }}&gt;&#13;&#10;                &lt;Text style={{ fontSize: 15, color: '#2AD4EE', letterSpacing: 3, fontFamily: '&quot;JetBrains Mono&quot;, &quot;Cascadia Mono&quot;, Consolas, monospace' }}&gt;LEARNING PATH · 5 STAGES&lt;/Text&gt;&#13;&#10;                &lt;Text style={{ fontSize: 15, color: 'rgba(232,238,249,0.42)' }}&gt;难度与工程量 : 依次递增 →&lt;/Text&gt;&#13;&#10;            &lt;/Box&gt;&#13;&#10;&#13;&#10;            &lt;Box style={{ position: 'relative', marginTop: 24, flex: 1 }}&gt;&#13;&#10;                &lt;Box style={{ position: 'absolute', left: 12, right: 12, top: 13, height: 2, background: 'linear-gradient(90deg, rgba(42,212,238,0.85) 0%, rgba(42,212,238,0.18) 100%)' }} /&gt;&#13;&#10;                &lt;Box style={{ flexDirection: 'row', gap: 14 }}&gt;&#13;&#10;                    {[&#13;&#10;                        { n: '01', t: '手写 ReAct', d: '自己拼 Prompt、自己正则解析输出，把循环每个环节摸一遍。', o: '一个能跑的 while 循环' },&#13;&#10;                        { n: '02', t: '原生 FC', d: '改用 JSON Schema 声明工具，模型直接返回结构化 tool_calls。', o: '稳定的工具契约' },&#13;&#10;                        { n: '03', t: '记忆与 RAG', d: '上下文裁剪、摘要压缩、向量检索，让 Agent 记得住事。', o: '可控的上下文预算' },&#13;&#10;                        { n: '04', t: '多工具实战', d: '工具变多、结果变脏、失败变常态，开始处理真实的边界。', o: '敢给业务用的 Agent' },&#13;&#10;                        { n: '05', t: '框架与工程', d: '上框架、做观测、加护栏、建评测，从 demo 走到系统。', o: '可维护的 Agent 系统' },&#13;&#10;                    ].map((s, i) =&gt; (&#13;&#10;                        &lt;Box key={i} style={{ flex: 1, flexDirection: 'column' }}&gt;&#13;&#10;                            &lt;Box style={{ width: 28, height: 28, borderRadius: 14, background: '#0B1220', border: '2px solid #2AD4EE', alignItems: 'center', justifyContent: 'center' }}&gt;&#13;&#10;                                &lt;Text style={{ fontSize: 12, color: '#2AD4EE', fontFamily: '&quot;JetBrains Mono&quot;, &quot;Cascadia Mono&quot;, Consolas, monospace' }}&gt;{s.n}&lt;/Text&gt;&#13;&#10;                            &lt;/Box&gt;&#13;&#10;                            &lt;Text style={{ marginTop: 18, fontSize: 21, fontWeight: 'bold', color: '#E8EEF9' }}&gt;{s.t}&lt;/Text&gt;&#13;&#10;                            &lt;Text style={{ marginTop: 10, fontSize: 15, color: 'rgba(232,238,249,0.66)', lineHeight: 1.7 }}&gt;{s.d}&lt;/Text&gt;&#13;&#10;                            &lt;Box style={{ marginTop: 'auto', paddingTop: 8, paddingBottom: 8, paddingLeft: 10, paddingRight: 10, background: 'rgba(22,35,61,0.92)', borderLeft: '2px solid rgba(42,212,238,0.55)' }}&gt;&#13;&#10;                                &lt;Text style={{ fontSize: 13, color: '#2AD4EE', lineHeight: 1.45 }}&gt;产出 · {s.o}&lt;/Text&gt;&#13;&#10;                            &lt;/Box&gt;&#13;&#10;                        &lt;/Box&gt;&#13;&#10;                    ))}&#13;&#10;                &lt;/Box&gt;&#13;&#10;            &lt;/Box&gt;&#13;&#10;        &lt;/Box&gt;&#13;&#10;&#13;&#10;        {/* 下半 · 左说明 + 右判断 */}&#13;&#10;        &lt;Box style={{ height: 200, marginTop: 16, flexDirection: 'row', gap: 24 }}&gt;&#13;&#10;            &lt;Box style={{ flex: 60, flexDirection: 'column', paddingRight: 24, borderRight: '1px solid rgba(232,238,249,0.12)' }}&gt;&#13;&#10;                &lt;Text style={{ fontSize: 20, fontWeight: 'bold', color: '#E8EEF9' }}&gt;为什么顺序不能颠倒&lt;/Text&gt;&#13;&#10;                &lt;Box style={{ marginTop: 12, flexDirection: 'column', gap: 9 }}&gt;&#13;&#10;                    {[&#13;&#10;                        ['阶段 1–2 是「看穿黑盒」', '：不亲手拼一次 Prompt，你永远不知道模型为什么不听话。'],&#13;&#10;                        ['阶段 3 是「成本与记忆」', '：上下文是所有 Agent 问题的共同源头。'],&#13;&#10;                        ['阶段 4 是「边界」', '：真实世界的错误，几乎都发生在工具与数据的接缝处。'],&#13;&#10;                        ['阶段 5 才轮到工程化', '：没有前四步的直觉，框架只会让你更糊涂。'],&#13;&#10;                    ].map((p, i) =&gt; (&#13;&#10;                        &lt;Box key={i} style={{ flexDirection: 'row', alignItems: 'flex-start', gap: 10 }}&gt;&#13;&#10;                            &lt;Box style={{ width: 5, height: 5, background: '#2AD4EE', marginTop: 8 }} /&gt;&#13;&#10;                            &lt;Text style={{ fontSize: 16, color: 'rgba(232,238,249,0.72)', lineHeight: 1.6, flex: 1 }}&gt;&#13;&#10;                                &lt;span style={{ color: '#E8EEF9', fontWeight: '600' }}&gt;{p[0]}&lt;/span&gt;{p[1]}&#13;&#10;                            &lt;/Text&gt;&#13;&#10;                        &lt;/Box&gt;&#13;&#10;                    ))}&#13;&#10;                &lt;/Box&gt;&#13;&#10;            &lt;/Box&gt;&#13;&#10;&#13;&#10;            &lt;Box style={{ flex: 40, flexDirection: 'column', justifyContent: 'center', paddingTop: 20, paddingBottom: 20, paddingLeft: 22, paddingRight: 22, background: 'rgba(42,212,238,0.08)', border: '1px solid rgba(42,212,238,0.22)', borderRadius: 4 }}&gt;&#13;&#10;                &lt;Text style={{ fontSize: 16, color: '#2AD4EE', letterSpacing: 3, fontFamily: '&quot;JetBrains Mono&quot;, &quot;Cascadia Mono&quot;, Consolas, monospace' }}&gt;所以&lt;/Text&gt;&#13;&#10;                &lt;Text style={{ marginTop: 14, fontSize: 19, color: '#E8EEF9', lineHeight: 1.7 }}&gt;&#13;&#10;                    先手写，再上框架。&#13;&#10;                    &lt;br /&gt;&#13;&#10;                    跳过手写阶段，出问题时你连&#13;&#10;                    &lt;span style={{ color: '#2AD4EE' }}&gt;日志该看哪一行&lt;/span&gt;&#13;&#10;                    都不知道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5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15 / 37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七层功能地图&lt;/Text&gt;&#13;&#10;            &lt;Text style={{ marginTop: 8, fontSize: 17, color: 'rgba(232,238,249,0.52)' }}&gt;Agent 的能力边界不来自模型，来自这七层的工程量&lt;/Text&gt;&#13;&#10;        &lt;/Box&gt;&#13;&#10;    &lt;/Box&gt;&#13;&#10;&#13;&#10;    {/* B 区 */}&#13;&#10;    &lt;Box style={{ height: 516, flexDirection: 'row', gap: 36 }}&gt;&#13;&#10;        {/* 左：巨型数字 + 洞察 */}&#13;&#10;        &lt;Box style={{ width: 372, flexDirection: 'column', paddingRight: 34, borderRight: '1px solid rgba(232,238,249,0.12)' }}&gt;&#13;&#10;            &lt;Text style={{ fontSize: 15, color: '#2AD4EE', letterSpacing: 3, fontFamily: '&quot;JetBrains Mono&quot;, &quot;Cascadia Mono&quot;, Consolas, monospace' }}&gt;FUNCTION MAP&lt;/Text&gt;&#13;&#10;            &lt;Text style={{ marginTop: 8, fontSize: 128, fontWeight: 'bold', color: '#2AD4EE', fontFamily: '&quot;JetBrains Mono&quot;, &quot;Cascadia Mono&quot;, Consolas, monospace', lineHeight: 1 }}&gt;⑦&lt;/Text&gt;&#13;&#10;            &lt;Text style={{ marginTop: 18, fontSize: 24, fontWeight: 'bold', color: '#E8EEF9', lineHeight: 1.45 }}&gt;&#13;&#10;                七层里&#13;&#10;                &lt;br /&gt;&#13;&#10;                前五层只是「搭起来」&#13;&#10;            &lt;/Text&gt;&#13;&#10;            &lt;Text style={{ marginTop: 18, fontSize: 16, color: 'rgba(232,238,249,0.72)', lineHeight: 1.75 }}&gt;&#13;&#10;                ①~⑤ 决定它&lt;span style={{ color: '#E8EEF9', fontWeight: '600' }}&gt;能不能跑&lt;/span&gt;；&#13;&#10;                ⑥~⑦ 决定它&lt;span style={{ color: '#2AD4EE', fontWeight: '600' }}&gt;敢不敢给别人用、出事查不查得清&lt;/span&gt;。&#13;&#10;            &lt;/Text&gt;&#13;&#10;            &lt;Box style={{ marginTop: 'auto', paddingTop: 18, paddingBottom: 18, paddingLeft: 18, paddingRight: 18, background: 'rgba(42,212,238,0.08)', border: '1px solid rgba(42,212,238,0.22)', borderRadius: 4 }}&gt;&#13;&#10;                &lt;Text style={{ fontSize: 16, color: '#2AD4EE', letterSpacing: 3, fontFamily: '&quot;JetBrains Mono&quot;, &quot;Cascadia Mono&quot;, Consolas, monospace' }}&gt;所以&lt;/Text&gt;&#13;&#10;                &lt;Text style={{ marginTop: 12, fontSize: 17, color: '#E8EEF9', lineHeight: 1.7 }}&gt;&#13;&#10;                    换模型只动 &lt;span style={{ color: '#2AD4EE', fontFamily: '&quot;JetBrains Mono&quot;, &quot;Cascadia Mono&quot;, Consolas, monospace' }}&gt;①&lt;/span&gt;，加工具只动 &lt;span style={{ color: '#2AD4EE', fontFamily: '&quot;JetBrains Mono&quot;, &quot;Cascadia Mono&quot;, Consolas, monospace' }}&gt;③&lt;/span&gt;——分层，是为了让改动可预测。&#13;&#10;                &lt;/Text&gt;&#13;&#10;            &lt;/Box&gt;&#13;&#10;        &lt;/Box&gt;&#13;&#10;&#13;&#10;        {/* 右：七层塔 */}&#13;&#10;        &lt;Box style={{ flex: 1, flexDirection: 'column' }}&gt;&#13;&#10;            &lt;Box style={{ flexDirection: 'row', alignItems: 'center', justifyContent: 'space-between' }}&gt;&#13;&#10;                &lt;Text style={{ fontSize: 15, color: 'rgba(232,238,249,0.52)', letterSpacing: 2, fontFamily: '&quot;JetBrains Mono&quot;, &quot;Cascadia Mono&quot;, Consolas, monospace' }}&gt;LAYER STACK · 自下而上读&lt;/Text&gt;&#13;&#10;                &lt;Box style={{ flexDirection: 'row', alignItems: 'center', gap: 8 }}&gt;&#13;&#10;                    &lt;Box style={{ width: 8, height: 8, background: 'rgba(42,212,238,0.85)' }} /&gt;&#13;&#10;                    &lt;Text style={{ fontSize: 13, color: 'rgba(232,238,249,0.52)' }}&gt;越往上，越接近「生产可用」&lt;/Text&gt;&#13;&#10;                &lt;/Box&gt;&#13;&#10;            &lt;/Box&gt;&#13;&#10;&#13;&#10;            &lt;Box style={{ flex: 1, marginTop: 12, flexDirection: 'column', alignItems: 'center', justifyContent: 'space-between' }}&gt;&#13;&#10;                {[&#13;&#10;                    { n: '⑦', t: '运营', d: '观测 · 评测 · 成本', hot: true, w: 520 },&#13;&#10;                    { n: '⑥', t: '护栏', d: '输入审查 · 输出脱敏', hot: true, w: 560 },&#13;&#10;                    { n: '⑤', t: '控制', d: '循环 · 终止条件', hot: false, w: 600 },&#13;&#10;                    { n: '④', t: '记忆', d: '上下文工程', hot: false, w: 632 },&#13;&#10;                    { n: '③', t: '工具', d: '手脚与契约', hot: false, w: 664 },&#13;&#10;                    { n: '②', t: '提示', d: '角色 · 目标 · 格式', hot: false, w: 692 },&#13;&#10;                    { n: '①', t: '模型', d: '选型与接入', hot: false, w: 720 },&#13;&#10;                ].map((r, i) =&gt; (&#13;&#10;                    &lt;Box key={i} style={{ width: r.w, height: 52, flexDirection: 'row', alignItems: 'center', gap: 14, paddingLeft: 16, paddingRight: 16, background: r.hot ? 'rgba(42,212,238,0.14)' : 'rgba(22,35,61,0.92)', border: r.hot ? '1px solid rgba(42,212,238,0.42)' : '1px solid rgba(232,238,249,0.10)', borderRadius: 3 }}&gt;&#13;&#10;                        &lt;Text style={{ width: 26, fontSize: 22, color: '#2AD4EE', fontFamily: '&quot;JetBrains Mono&quot;, &quot;Cascadia Mono&quot;, Consolas, monospace' }}&gt;{r.n}&lt;/Text&gt;&#13;&#10;                        &lt;Text style={{ width: 58, fontSize: 21, fontWeight: 'bold', color: '#E8EEF9' }}&gt;{r.t}&lt;/Text&gt;&#13;&#10;                        &lt;Box style={{ width: 1, height: 20, background: 'rgba(232,238,249,0.16)' }} /&gt;&#13;&#10;                        &lt;Text style={{ fontSize: 15, color: r.hot ? '#2AD4EE' : 'rgba(232,238,249,0.62)' }}&gt;{r.d}&lt;/Text&gt;&#13;&#10;                    &lt;/Box&gt;&#13;&#10;                ))}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6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七层功能地图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686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的能力边界不来自模型，来自这七层的工程量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1143000"/>
            <a:ext cx="3543300" cy="4914900"/>
          </a:xfrm>
          <a:custGeom>
            <a:pathLst>
              <a:path w="372" h="516">
                <a:moveTo>
                  <a:pt x="371" y="0"/>
                </a:moveTo>
                <a:lnTo>
                  <a:pt x="372" y="0"/>
                </a:lnTo>
                <a:lnTo>
                  <a:pt x="372" y="516"/>
                </a:lnTo>
                <a:lnTo>
                  <a:pt x="37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FUNCTION MAP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209925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600" b="1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2099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七层里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前五层只是「搭起来」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32099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能不能跑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⑥~⑦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2AD4EE"/>
                </a:solidFill>
                <a:latin typeface="Source Han Sans SC"/>
                <a:ea typeface="Source Han Sans SC"/>
              </a:rPr>
              <a:t>敢不敢给别人用、出事查不查得清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4743450"/>
            <a:ext cx="3209925" cy="1314450"/>
          </a:xfrm>
          <a:prstGeom prst="roundRect">
            <a:avLst>
              <a:gd name="adj" fmla="val 289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286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57250" y="5219700"/>
            <a:ext cx="2867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换模型只动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①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，加工具只动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③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——分层，是为了让改动可预测。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0" y="11430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LAYER STACK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自下而上读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744075" y="1190625"/>
            <a:ext cx="76200" cy="76200"/>
          </a:xfrm>
          <a:prstGeom prst="rect">
            <a:avLst/>
          </a:prstGeom>
          <a:solidFill>
            <a:srgbClr val="2AD4EE">
              <a:alpha val="85000"/>
            </a:srgbClr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896475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越往上，越接近「生产可用」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562600" y="1428750"/>
            <a:ext cx="4953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15811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24675" y="15906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观测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评测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成本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372100" y="2114550"/>
            <a:ext cx="5334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0" y="2238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05500" y="22383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591300" y="22669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734175" y="22764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输出脱敏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181600" y="2809875"/>
            <a:ext cx="5715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0" y="29337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400800" y="29622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43675" y="297180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终止条件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029200" y="3495675"/>
            <a:ext cx="60198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248400" y="36480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91275" y="3657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876800" y="4181475"/>
            <a:ext cx="63246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029200" y="4305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410200" y="43053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0" y="43338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手脚与契约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743450" y="4876800"/>
            <a:ext cx="65913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95850" y="50006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276850" y="50006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962650" y="50292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105525" y="503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610100" y="5562600"/>
            <a:ext cx="6858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62500" y="56864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43500" y="56864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57150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972175" y="5724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选型与接入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37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逐层拆解：每层到底要写什么&lt;/Text&gt;&#13;&#10;            &lt;Text style={{ marginTop: 8, fontSize: 17, color: 'rgba(232,238,249,0.52)' }}&gt;少写一层，问题就会以最难查的方式冒出来&lt;/Text&gt;&#13;&#10;        &lt;/Box&gt;&#13;&#10;    &lt;/Box&gt;&#13;&#10;&#13;&#10;    {/* B 区 · 左标题 + 右内容 */}&#13;&#10;    &lt;Box style={{ height: 516, flexDirection: 'row', gap: 34 }}&gt;&#13;&#10;        {/* 左：标题栏 */}&#13;&#10;        &lt;Box style={{ width: 292, flexDirection: 'column', paddingRight: 30, borderRight: '1px solid rgba(232,238,249,0.12)' }}&gt;&#13;&#10;            &lt;Text style={{ fontSize: 15, color: '#2AD4EE', letterSpacing: 3, fontFamily: '&quot;JetBrains Mono&quot;, &quot;Cascadia Mono&quot;, Consolas, monospace' }}&gt;LAYER BY LAYER&lt;/Text&gt;&#13;&#10;            &lt;Text style={{ marginTop: 18, fontSize: 26, fontWeight: 'bold', color: '#E8EEF9', lineHeight: 1.45 }}&gt;&#13;&#10;                把七层&#13;&#10;                &lt;br /&gt;&#13;&#10;                摊成一张清单&#13;&#10;            &lt;/Text&gt;&#13;&#10;            &lt;Text style={{ marginTop: 18, fontSize: 16, color: 'rgba(232,238,249,0.72)', lineHeight: 1.75 }}&gt;&#13;&#10;                每一层都有必须落地的动作项。它们不写进代码，就会在某个凌晨的线上事故里，以最难查的方式出现。&#13;&#10;            &lt;/Text&gt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6, color: '#E8EEF9', lineHeight: 1.7 }}&gt;&#13;&#10;                    ①~⑤ 写不好，系统跑不起来；&#13;&#10;                    &lt;br /&gt;&#13;&#10;                    ⑥~⑦ 不写，系统跑起来之后你不敢让人用。&#13;&#10;                &lt;/Text&gt;&#13;&#10;            &lt;/Box&gt;&#13;&#10;        &lt;/Box&gt;&#13;&#10;&#13;&#10;        {/* 右：7 层动作项 */}&#13;&#10;        &lt;Box style={{ flex: 1, flexDirection: 'row', gap: 24 }}&gt;&#13;&#10;            {[&#13;&#10;                [&#13;&#10;                    { n: '①', t: '模型', i: 'microchip', d: '密钥与多模型切换 · 超时重试与降级 · 流式输出' },&#13;&#10;                    { n: '②', t: '提示', i: 'comment-dots', d: '角色 / 目标 / 边界 / 输出格式 · 少样本示例 · 系统提示版本化' },&#13;&#10;                    { n: '③', t: '工具', i: 'wrench', d: 'JSON Schema 描述 · 参数类型与范围校验 · 错误信息回喂' },&#13;&#10;                    { n: '④', t: '记忆', i: 'layer-group', d: '上下文裁剪与摘要压缩 · 事实卡片 · 向量检索 topK' },&#13;&#10;                ],&#13;&#10;                [&#13;&#10;                    { n: '⑤', t: '控制', i: 'arrows-rotate', d: '四个终止条件：Answer / 最大轮数 / 超时 / token 预算' },&#13;&#10;                    { n: '⑥', t: '护栏', i: 'shield-halved', d: '输入审查 · 输出脱敏 · 高危操作二次确认' },&#13;&#10;                    { n: '⑦', t: '运营', i: 'chart-line', d: '全链路日志与耗时 · token 成本统计 · 离线评测集' },&#13;&#10;                ],&#13;&#10;            ].map((col, ci) =&gt; (&#13;&#10;                &lt;Box key={ci} style={{ flex: 1, flexDirection: 'column', gap: 10 }}&gt;&#13;&#10;                    {col.map((r, i) =&gt; (&#13;&#10;                        &lt;Box key={i} style={{ flex: 1, flexDirection: 'row', gap: 12, alignItems: 'center', paddingTop: 12, paddingBottom: 12, paddingLeft: 14, paddingRight: 14, background: 'rgba(22,35,61,0.85)', borderLeft: '2px solid rgba(42,212,238,0.55)', borderRadius: 3 }}&gt;&#13;&#10;                            &lt;FAIcon name={r.i} style={{ fill: '#2AD4EE', width: 17, height: 17 }} /&gt;&#13;&#10;                            &lt;Box style={{ flexDirection: 'column', flex: 1 }}&gt;&#13;&#10;                                &lt;Box style={{ flexDirection: 'row', alignItems: 'baseline', gap: 8 }}&gt;&#13;&#10;                                    &lt;Text style={{ fontSize: 15, color: '#2AD4EE', fontFamily: '&quot;JetBrains Mono&quot;, &quot;Cascadia Mono&quot;, Consolas, monospace' }}&gt;{r.n}&lt;/Text&gt;&#13;&#10;                                    &lt;Text style={{ fontSize: 19, fontWeight: 'bold', color: '#E8EEF9' }}&gt;{r.t}&lt;/Text&gt;&#13;&#10;                                &lt;/Box&gt;&#13;&#10;                                &lt;Text style={{ marginTop: 6, fontSize: 13.5, color: 'rgba(232,238,249,0.62)', lineHeight: 1.6 }}&gt;{r.d}&lt;/Text&gt;&#13;&#10;                            &lt;/Box&gt;&#13;&#10;                        &lt;/Box&gt;&#13;&#10;                    ))}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7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37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6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十条设计原则&lt;/Text&gt;&#13;&#10;            &lt;Text style={{ marginTop: 8, fontSize: 17, color: 'rgba(232,238,249,0.52)' }}&gt;前三条定生死，后七条定维护成本&lt;/Text&gt;&#13;&#10;        &lt;/Box&gt;&#13;&#10;    &lt;/Box&gt;&#13;&#10;&#13;&#10;    {/* B 区 · 非对称双栏 66:34 */}&#13;&#10;    &lt;Box style={{ height: 516, flexDirection: 'row', gap: 24 }}&gt;&#13;&#10;        {/* 宽侧：十条原则表 */}&#13;&#10;        &lt;Box style={{ flex: 66, flexDirection: 'column' }}&gt;&#13;&#10;            &lt;Box style={{ flexDirection: 'row', alignItems: 'center', justifyContent: 'space-between' }}&gt;&#13;&#10;                &lt;Text style={{ fontSize: 15, color: '#2AD4EE', letterSpacing: 3, fontFamily: '&quot;JetBrains Mono&quot;, &quot;Cascadia Mono&quot;, Consolas, monospace' }}&gt;TEN PRINCIPLES&lt;/Text&gt;&#13;&#10;                &lt;Text style={{ fontSize: 14, color: 'rgba(232,238,249,0.42)' }}&gt;违背 = 线上事故的常见来源&lt;/Text&gt;&#13;&#10;            &lt;/Box&gt;&#13;&#10;            &lt;Box style={{ height: 486, marginTop: 12 }}&gt;&#13;&#10;                &lt;Table&#13;&#10;                    style={{ width: '100%', height: '100%' }}&#13;&#10;                    defaultTextStyle={{ fontSize: 13.5, textAlign: 'left', color: '#E8EEF9' }}&#13;&#10;                    defaultCellStyle={{&#13;&#10;                        border: {&#13;&#10;                            bottom: { width: 1, color: 'rgba(232,238,249,0.12)' },&#13;&#10;                        },&#13;&#10;                    }}&#13;&#10;                    cells={[&#13;&#10;                        [&#13;&#10;                            { text: '1', textStyle: { color: '#2AD4EE', fontFamily: '&quot;JetBrains Mono&quot;, &quot;Cascadia Mono&quot;, Consolas, monospace' } },&#13;&#10;                            { text: '能用固定流程就不上自主循环', textStyle: { bold: true, color: '#E8EEF9' } },&#13;&#10;                            '步骤确定就写死 workflow；要「见机行事」才把自主权交给模型',&#13;&#10;                        ],&#13;&#10;                        [&#13;&#10;                            { text: '2', textStyle: { color: '#2AD4EE', fontFamily: '&quot;JetBrains Mono&quot;, &quot;Cascadia Mono&quot;, Consolas, monospace' } },&#13;&#10;                            { text: '控制流在代码，判断在模型', textStyle: { bold: true, color: '#E8EEF9' } },&#13;&#10;                            '分支 / 循环 / 重试用代码写死，模型只决定「调哪个工具、传什么参数」',&#13;&#10;                        ],&#13;&#10;                        [&#13;&#10;                            { text: '3', textStyle: { color: '#2AD4EE', fontFamily: '&quot;JetBrains Mono&quot;, &quot;Cascadia Mono&quot;, Consolas, monospace' } },&#13;&#10;                            { text: '模型输出 = 不可信输入', textStyle: { bold: true, color: '#2AD4EE' } },&#13;&#10;                            '解析前一律校验格式、类型、范围——幻觉出的参数不该直接进工具',&#13;&#10;                        ],&#13;&#10;                        [&#13;&#10;                            { text: '4', textStyle: { color: '#2AD4EE', fontFamily: '&quot;JetBrains Mono&quot;, &quot;Cascadia Mono&quot;, Consolas, monospace' } },&#13;&#10;                            { text: '工具小而专，描述大于实现', textStyle: { bold: true, color: '#E8EEF9' } },&#13;&#10;                            '一个工具干一件事，description 当 API 文档写',&#13;&#10;                        ],&#13;&#10;                        [&#13;&#10;                            { text: '5', textStyle: { color: '#2AD4EE', fontFamily: '&quot;JetBrains Mono&quot;, &quot;Cascadia Mono&quot;, Consolas, monospace' } },&#13;&#10;                            { text: '确定性优先', textStyle: { bold: true, color: '#E8EEF9' } },&#13;&#10;                            'temperature = 0，尽量走结构化输出',&#13;&#10;                        ],&#13;&#10;                        [&#13;&#10;                            { text: '6', textStyle: { color: '#2AD4EE', fontFamily: '&quot;JetBrains Mono&quot;, &quot;Cascadia Mono&quot;, Consolas, monospace' } },&#13;&#10;                            { text: '失败要回喂，不要吞', textStyle: { bold: true, color: '#E8EEF9' } },&#13;&#10;                            '错误信息拼回上下文，让模型下一轮自救',&#13;&#10;                        ],&#13;&#10;                        [&#13;&#10;                            { text: '7', textStyle: { color: '#2AD4EE', fontFamily: '&quot;JetBrains Mono&quot;, &quot;Cascadia Mono&quot;, Consolas, monospace' } },&#13;&#10;                            { text: '高风险必过人', textStyle: { bold: true, color: '#E8EEF9' } },&#13;&#10;                            '删除 / 支付 / 对外发消息，执行前必须人工确认',&#13;&#10;                        ],&#13;&#10;                        [&#13;&#10;                            { text: '8', textStyle: { color: '#2AD4EE', fontFamily: '&quot;JetBrains Mono&quot;, &quot;Cascadia Mono&quot;, Consolas, monospace' } },&#13;&#10;                            { text: '可观测先行', textStyle: { bold: true, color: '#E8EEF9' } },&#13;&#10;                            '先加日志，再调 prompt——出了问题不能全靠猜',&#13;&#10;                        ],&#13;&#10;                        [&#13;&#10;                            { text: '9', textStyle: { color: '#2AD4EE', fontFamily: '&quot;JetBrains Mono&quot;, &quot;Cascadia Mono&quot;, Consolas, monospace' } },&#13;&#10;                            { text: 'token 是钱，上下文是预算', textStyle: { bold: true, color: '#E8EEF9' } },&#13;&#10;                            '及时摘要压缩，工具返回要精简——膨胀的大头是工具返回',&#13;&#10;                        ],&#13;&#10;                        [&#13;&#10;                            { text: '10', textStyle: { color: '#2AD4EE', fontFamily: '&quot;JetBrains Mono&quot;, &quot;Cascadia Mono&quot;, Consolas, monospace' } },&#13;&#10;                            { text: '从最简单的开始', textStyle: { bold: true, color: '#E8EEF9' } },&#13;&#10;                            '单 Agent + 2 个工具 + 一个循环，按需再加复杂度',&#13;&#10;                        ],&#13;&#10;                    ]}&#13;&#10;                /&gt;&#13;&#10;            &lt;/Box&gt;&#13;&#10;        &lt;/Box&gt;&#13;&#10;&#13;&#10;        {/* 窄侧：两档总纲 */}&#13;&#10;        &lt;Box style={{ flex: 34, flexDirection: 'column', paddingLeft: 24, borderLeft: '1px solid rgba(232,238,249,0.12)' }}&gt;&#13;&#10;            &lt;Text style={{ fontSize: 15, color: 'rgba(232,238,249,0.52)', letterSpacing: 2, fontFamily: '&quot;JetBrains Mono&quot;, &quot;Cascadia Mono&quot;, Consolas, monospace' }}&gt;TWO TIERS&lt;/Text&gt;&#13;&#10;&#13;&#10;            &lt;Box style={{ marginTop: 16, paddingTop: 18, paddingBottom: 18, paddingLeft: 18, paddingRight: 18, background: 'rgba(42,212,238,0.12)', border: '1px solid rgba(42,212,238,0.42)', borderRadius: 4 }}&gt;&#13;&#10;                &lt;Box style={{ flexDirection: 'row', alignItems: 'baseline', gap: 10 }}&gt;&#13;&#10;                    &lt;Text style={{ fontSize: 40, fontWeight: 'bold', color: '#2AD4EE', fontFamily: '&quot;JetBrains Mono&quot;, &quot;Cascadia Mono&quot;, Consolas, monospace', lineHeight: 1 }}&gt;3&lt;/Text&gt;&#13;&#10;                    &lt;Text style={{ fontSize: 20, fontWeight: 'bold', color: '#E8EEF9' }}&gt;条 · 架构级&lt;/Text&gt;&#13;&#10;                &lt;/Box&gt;&#13;&#10;                &lt;Text style={{ marginTop: 12, fontSize: 15, color: 'rgba(232,238,249,0.78)', lineHeight: 1.7 }}&gt;&#13;&#10;                    第 1~3 条决定项目&lt;span style={{ color: '#2AD4EE', fontWeight: '600' }}&gt;成败&lt;/span&gt;。选错了，后面写得多漂亮都是在给错误的路铺砖。&#13;&#10;                &lt;/Text&gt;&#13;&#10;            &lt;/Box&gt;&#13;&#10;&#13;&#10;            &lt;Box style={{ marginTop: 14, paddingTop: 18, paddingBottom: 18, paddingLeft: 18, paddingRight: 18, background: 'rgba(22,35,61,0.92)', border: '1px solid rgba(232,238,249,0.12)', borderRadius: 4 }}&gt;&#13;&#10;                &lt;Box style={{ flexDirection: 'row', alignItems: 'baseline', gap: 10 }}&gt;&#13;&#10;                    &lt;Text style={{ fontSize: 40, fontWeight: 'bold', color: 'rgba(232,238,249,0.55)', fontFamily: '&quot;JetBrains Mono&quot;, &quot;Cascadia Mono&quot;, Consolas, monospace', lineHeight: 1 }}&gt;7&lt;/Text&gt;&#13;&#10;                    &lt;Text style={{ fontSize: 20, fontWeight: 'bold', color: '#E8EEF9' }}&gt;条 · 工程习惯级&lt;/Text&gt;&#13;&#10;                &lt;/Box&gt;&#13;&#10;                &lt;Text style={{ marginTop: 12, fontSize: 15, color: 'rgba(232,238,249,0.72)', lineHeight: 1.7 }}&gt;&#13;&#10;                    第 4~10 条决定&lt;span style={{ color: '#E8EEF9', fontWeight: '600' }}&gt;维护成本&lt;/span&gt;。单条不致命，累积起来就是「能跑的 demo」和「敢用的系统」的差距。&#13;&#10;                &lt;/Text&gt;&#13;&#10;            &lt;/Box&gt;&#13;&#10;&#13;&#10;            &lt;Box style={{ marginTop: 'auto', paddingTop: 16, paddingBottom: 16, paddingLeft: 18, paddingRight: 18, background: 'rgba(42,212,238,0.06)', borderLeft: '3px solid #2AD4EE' }}&gt;&#13;&#10;                &lt;Text style={{ fontSize: 17, color: '#E8EEF9', lineHeight: 1.7 }}&gt;&#13;&#10;                    架构级靠&lt;span style={{ color: '#2AD4EE' }}&gt;判断&lt;/span&gt;，习惯级靠&lt;span style={{ color: '#2AD4EE' }}&gt;复盘&lt;/span&gt;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8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70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37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8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避坑清单与上线自查&lt;/Text&gt;&#13;&#10;            &lt;Text style={{ marginTop: 8, fontSize: 17, color: 'rgba(232,238,249,0.52)' }}&gt;左边是写之前要记住的，右边是发之前要打勾的&lt;/Text&gt;&#13;&#10;        &lt;/Box&gt;&#13;&#10;    &lt;/Box&gt;&#13;&#10;&#13;&#10;    {/* B 区 · 左标题 + 右双列清单 */}&#13;&#10;    &lt;Box style={{ height: 516, flexDirection: 'row', gap: 34 }}&gt;&#13;&#10;        {/* 左：标题栏 */}&#13;&#10;        &lt;Box style={{ width: 268, flexDirection: 'column', paddingRight: 28, borderRight: '1px solid rgba(232,238,249,0.12)' }}&gt;&#13;&#10;            &lt;Text style={{ fontSize: 15, color: '#2AD4EE', letterSpacing: 3, fontFamily: '&quot;JetBrains Mono&quot;, &quot;Cascadia Mono&quot;, Consolas, monospace' }}&gt;CHECKLIST&lt;/Text&gt;&#13;&#10;            &lt;Text style={{ marginTop: 18, fontSize: 26, fontWeight: 'bold', color: '#E8EEF9', lineHeight: 1.45 }}&gt;&#13;&#10;                两份清单&#13;&#10;                &lt;br /&gt;&#13;&#10;                十四条勾&#13;&#10;            &lt;/Text&gt;&#13;&#10;            &lt;Text style={{ marginTop: 18, fontSize: 16, color: 'rgba(232,238,249,0.72)', lineHeight: 1.75 }}&gt;&#13;&#10;                左边的七条几乎不花成本，但能省下大量排查时间；右边的七条是「敢给别人用」的最低门槛。&#13;&#10;            &lt;/Text&gt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6, color: '#E8EEF9', lineHeight: 1.7 }}&gt;&#13;&#10;                    全部打勾，才算从「能跑的 demo」变成「敢给别人用的 Agent」。&#13;&#10;                &lt;/Text&gt;&#13;&#10;            &lt;/Box&gt;&#13;&#10;        &lt;/Box&gt;&#13;&#10;&#13;&#10;        {/* 右：双列清单 */}&#13;&#10;        &lt;Box style={{ flex: 1, flexDirection: 'row', gap: 30 }}&gt;&#13;&#10;            {[&#13;&#10;                {&#13;&#10;                    tag: 'BEFORE YOU BUILD',&#13;&#10;                    title: '开发避坑 · 七条',&#13;&#10;                    items: [&#13;&#10;                        ['不要一开始就上框架', '先手写 ReAct，否则出问题完全不会排查'],&#13;&#10;                        ['工具描述写清楚', '模型选错工具，90% 是因为 description 写得烂'],&#13;&#10;                        ['循环要有终止条件', '最大轮数兜底，防止死循环烧 token'],&#13;&#10;                        ['temperature 设 0', '工具调用与结构化输出都要确定性'],&#13;&#10;                        ['幻觉应对', '强制模型基于工具返回的真实数据作答'],&#13;&#10;                        ['上下文膨胀', '多轮工具调用后及时摘要压缩'],&#13;&#10;                        ['危险操作加确认', '执行前让用户点一下，或加白名单'],&#13;&#10;                    ],&#13;&#10;                },&#13;&#10;                {&#13;&#10;                    tag: 'BEFORE YOU SHIP',&#13;&#10;                    title: '上线自查 · 七条',&#13;&#10;                    items: [&#13;&#10;                        ['有兜底', '最大轮数 / token 上限，防死循环烧钱'],&#13;&#10;                        ['不崩程序', '工具报错被回喂给模型，而不是抛出异常'],&#13;&#10;                        ['先校验再执行', '模型输出的格式、类型、范围都验一遍'],&#13;&#10;                        ['人工确认位', '删除、支付、对外发消息必须过人'],&#13;&#10;                        ['日志可回放', '每轮 Thought / Action / Observation 落盘'],&#13;&#10;                        ['密钥与提示词归位', 'key 不在代码里，prompt 不散落在业务代码'],&#13;&#10;                        ['回归测试集', '有固定问题集，改 prompt / 换模型后能回归'],&#13;&#10;                    ],&#13;&#10;                },&#13;&#10;            ].map((g, gi) =&gt; (&#13;&#10;                &lt;Box key={gi} style={{ flex: 1, flexDirection: 'column' }}&gt;&#13;&#10;                    &lt;Box style={{ flexDirection: 'row', alignItems: 'center', gap: 10 }}&gt;&#13;&#10;                        &lt;Box style={{ width: 22, height: 22, borderRadius: 11, background: gi === 0 ? 'rgba(42,212,238,0.14)' : 'rgba(42,212,238,0.28)', alignItems: 'center', justifyContent: 'center' }}&gt;&#13;&#10;                            &lt;Text style={{ fontSize: 12, color: '#2AD4EE', fontFamily: '&quot;JetBrains Mono&quot;, &quot;Cascadia Mono&quot;, Consolas, monospace' }}&gt;{gi + 1}&lt;/Text&gt;&#13;&#10;                        &lt;/Box&gt;&#13;&#10;                        &lt;Text style={{ fontSize: 19, fontWeight: 'bold', color: '#E8EEF9' }}&gt;{g.title}&lt;/Text&gt;&#13;&#10;                    &lt;/Box&gt;&#13;&#10;                    &lt;Text style={{ marginTop: 8, fontSize: 13, color: 'rgba(232,238,249,0.38)', letterSpacing: 2, fontFamily: '&quot;JetBrains Mono&quot;, &quot;Cascadia Mono&quot;, Consolas, monospace' }}&gt;{g.tag}&lt;/Text&gt;&#13;&#10;&#13;&#10;                    &lt;Box style={{ flex: 1, marginTop: 12, flexDirection: 'column', justifyContent: 'space-between' }}&gt;&#13;&#10;                        {g.items.map((it, i) =&gt; (&#13;&#10;                            &lt;Box key={i} style={{ flexDirection: 'row', gap: 11, alignItems: 'flex-start' }}&gt;&#13;&#10;                                &lt;FAIcon name='circle-check' style={{ fill: gi === 0 ? 'rgba(42,212,238,0.7)' : '#2AD4EE', width: 16, height: 16, marginTop: 3 }} /&gt;&#13;&#10;                                &lt;Text style={{ flex: 1, fontSize: 15, color: 'rgba(232,238,249,0.66)', lineHeight: 1.55 }}&gt;&#13;&#10;                                    &lt;span style={{ color: '#E8EEF9', fontWeight: '600' }}&gt;{it[0]}&lt;/span&gt;&#13;&#10;                                    &lt;span style={{ color: 'rgba(232,238,249,0.45)' }}&gt; · &lt;/span&gt;&#13;&#10;                                    {it[1]}&#13;&#10;                                &lt;/Text&gt;&#13;&#10;                            &lt;/Box&gt;&#13;&#10;                        ))}&#13;&#10;                    &lt;/Box&gt;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19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4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4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37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0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sec_pi.png&quot; style={{ position: 'absolute', left: 0, top: 0, width: 1536, height: 1024 }} /&gt;&#13;&#10;&#13;&#10;    &lt;Box style={{ position: 'absolute', left: 0, top: 0, width: 1040, height: 720, background: 'linear-gradient(90deg, rgba(11,18,32,0.97) 0%, rgba(11,18,32,0.84) 50%, rgba(11,18,32,0) 100%)' }} /&gt;&#13;&#10;    &lt;Box style={{ position: 'absolute', left: 0, top: 0, width: 6, height: 720, background: 'linear-gradient(180deg, #2AD4EE 0%, rgba(42,212,238,0) 100%)' }} /&gt;&#13;&#10;&#13;&#10;    {/* 左：整列分布 */}&#13;&#10;    &lt;Box style={{ position: 'absolute', left: 88, top: 152, width: 700, height: 508, flexDirection: 'column', justifyContent: 'space-between' }}&gt;&#13;&#10;        &lt;Box style={{ flexDirection: 'column' }}&gt;&#13;&#10;            &lt;Text style={{ fontSize: 18, color: '#2AD4EE', letterSpacing: 7, fontFamily: '&quot;JetBrains Mono&quot;, &quot;Cascadia Mono&quot;, Consolas, monospace' }}&gt;CHAPTER 03&lt;/Text&gt;&#13;&#10;            &lt;Text style={{ marginTop: 22, fontSize: 64, fontWeight: 'bold', color: '#E8EEF9', letterSpacing: 1, lineHeight: 1.2 }}&gt;&#13;&#10;                Pi Agent：&#13;&#10;                &lt;br /&gt;&#13;&#10;                &lt;span style={{ color: '#2AD4EE' }}&gt;一个极简范式&lt;/span&gt;&#13;&#10;            &lt;/Text&gt;&#13;&#10;        &lt;/Box&gt;&#13;&#10;&#13;&#10;        &lt;Box style={{ flexDirection: 'column' }}&gt;&#13;&#10;            &lt;Box style={{ width: 76, height: 4, background: '#2AD4EE' }} /&gt;&#13;&#10;            &lt;Text style={{ marginTop: 24, fontSize: 21, color: 'rgba(232,238,249,0.72)', lineHeight: 1.75 }}&gt;&#13;&#10;                自主智能体本质就是 LLM + 工具 + 循环；&#13;&#10;                &lt;br /&gt;&#13;&#10;                Pi 把这条公式工程化到了极致。&#13;&#10;            &lt;/Text&gt;&#13;&#10;        &lt;/Box&gt;&#13;&#10;&#13;&#10;        &lt;Box style={{ flexDirection: 'column' }}&gt;&#13;&#10;            &lt;Box style={{ width: 420, height: 1, background: 'rgba(232,238,249,0.18)' }} /&gt;&#13;&#10;            &lt;Text style={{ marginTop: 16, fontSize: 13, color: 'rgba(232,238,249,0.42)', letterSpacing: 3, fontFamily: '&quot;JetBrains Mono&quot;, &quot;Cascadia Mono&quot;, Consolas, monospace' }}&gt;本章要回答&lt;/Text&gt;&#13;&#10;            &lt;Box style={{ marginTop: 12, flexDirection: 'column', gap: 8 }}&gt;&#13;&#10;                {['「极简」具体体现在哪几个数字上？', '四层架构为什么要严格单向依赖？', '想改一处能力，该走哪条定制路线？'].map((t, i) =&gt; (&#13;&#10;                    &lt;Box key={i} style={{ flexDirection: 'row', alignItems: 'center', gap: 12 }}&gt;&#13;&#10;                        &lt;Box style={{ width: 5, height: 5, background: '#2AD4EE' }} /&gt;&#13;&#10;                        &lt;Text style={{ fontSize: 17, color: 'rgba(232,238,249,0.78)' }}&gt;{t}&lt;/Text&gt;&#13;&#10;                    &lt;/Box&gt;&#13;&#10;                ))}&#13;&#10;            &lt;/Box&gt;&#13;&#10;        &lt;/Box&gt;&#13;&#10;    &lt;/Box&gt;&#13;&#10;&#13;&#10;    {/* 右：章节号 + 目录 */}&#13;&#10;    &lt;Box style={{ position: 'absolute', right: 88, top: 336, width: 392, flexDirection: 'column', paddingTop: 22, paddingBottom: 22, paddingLeft: 24, paddingRight: 24, background: 'rgba(11,18,32,0.82)', border: '1px solid rgba(42,212,238,0.22)', borderRadius: 4 }}&gt;&#13;&#10;        &lt;Box style={{ flexDirection: 'row', alignItems: 'flex-end', justifyContent: 'space-between' }}&gt;&#13;&#10;            &lt;Text style={{ fontSize: 76, fontWeight: 'bold', color: 'rgba(42,212,238,0.55)', fontFamily: '&quot;JetBrains Mono&quot;, &quot;Cascadia Mono&quot;, Consolas, monospace', lineHeight: 1 }}&gt;03&lt;/Text&gt;&#13;&#10;            &lt;Text style={{ fontSize: 13, color: 'rgba(232,238,249,0.42)', letterSpacing: 3, fontFamily: '&quot;JetBrains Mono&quot;, &quot;Cascadia Mono&quot;, Consolas, monospace', paddingBottom: 8 }}&gt;PAGES 20 – 29&lt;/Text&gt;&#13;&#10;        &lt;/Box&gt;&#13;&#10;        &lt;Box style={{ marginTop: 18, flexDirection: 'column', gap: 12 }}&gt;&#13;&#10;            {['三个反常识设计与极简的数字', '分层架构与一次调用的数据流', '九个设计点与三层定制能力'].map((t, i) =&gt; (&#13;&#10;                &lt;Box key={i} style={{ flexDirection: 'row', alignItems: 'center', gap: 12 }}&gt;&#13;&#10;                    &lt;Box style={{ width: 18, height: 1, background: 'rgba(42,212,238,0.6)' }} /&gt;&#13;&#10;                    &lt;Text style={{ fontSize: 17, color: 'rgba(232,238,249,0.82)' }}&gt;{t}&lt;/Text&gt;&#13;&#10;                &lt;/Box&gt;&#13;&#10;            ))}&#13;&#10;        &lt;/Box&gt;&#13;&#10;    &lt;/Box&gt;&#13;&#10;&#13;&#10;    &lt;Text style={{ position: 'absolute', left: 88, top: 674, fontSize: 14, color: 'rgba(232,238,249,0.42)', fontFamily: '&quot;JetBrains Mono&quot;, &quot;Cascadia Mono&quot;, Consolas, monospace' }}&gt;20 / 37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49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9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20 – 29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37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Pi 是什么：三个反常识设计&lt;/Text&gt;&#13;&#10;            &lt;Text style={{ marginTop: 8, fontSize: 17, color: 'rgba(232,238,249,0.52)' }}&gt;它把「不做什么」写成了设计原则&lt;/Text&gt;&#13;&#10;        &lt;/Box&gt;&#13;&#10;    &lt;/Box&gt;&#13;&#10;&#13;&#10;    {/* B 区 · 非对称双栏 58:42 */}&#13;&#10;    &lt;Box style={{ height: 516, flexDirection: 'row', gap: 34 }}&gt;&#13;&#10;        {/* 左：三个反常识 */}&#13;&#10;        &lt;Box style={{ flex: 58, flexDirection: 'column', paddingRight: 32, borderRight: '1px solid rgba(232,238,249,0.12)' }}&gt;&#13;&#10;            &lt;Text style={{ fontSize: 15, color: '#2AD4EE', letterSpacing: 3, fontFamily: '&quot;JetBrains Mono&quot;, &quot;Cascadia Mono&quot;, Consolas, monospace' }}&gt;COUNTER-INTUITIVE BY DESIGN&lt;/Text&gt;&#13;&#10;&#13;&#10;            &lt;Box style={{ flex: 1, marginTop: 14, flexDirection: 'column', justifyContent: 'space-between' }}&gt;&#13;&#10;                {[&#13;&#10;                    { i: 'box', n: '01', t: '刻意「不内置」', d: '不内置 MCP、子智能体、计划模式、任务清单、权限弹窗。核心只保留最必要的部分，多余能力全部外置成扩展——需要什么，自己装。' },&#13;&#10;                    { i: 'unlock', n: '02', t: '没有沙箱', d: '以启动用户的完整权限运行。这既是它「真能干完活」的原因，也意味着生产环境必须自己做容器化隔离，或用扩展钩子自建拦截。' },&#13;&#10;                    { i: 'compass', n: '03', t: '不给「计划模式」', d: '怎么拆步骤、先做哪一步，交给模型自己判断。框架不预设流程，也就不会用错误的流程绑住模型的手脚。' },&#13;&#10;                ].map((c, i) =&gt; (&#13;&#10;                    &lt;Box key={i} style={{ flex: 1, flexDirection: 'row', gap: 18, paddingTop: 14, paddingBottom: 14, borderTop: i === 0 ? 'none' : '1px solid rgba(232,238,249,0.08)' }}&gt;&#13;&#10;                        &lt;Box style={{ width: 44, height: 44, borderRadius: 4, background: 'rgba(42,212,238,0.12)', border: '1px solid rgba(42,212,238,0.35)', alignItems: 'center', justifyContent: 'center' }}&gt;&#13;&#10;                            &lt;FAIcon name={c.i} style={{ fill: '#2AD4EE', width: 20, height: 20 }} /&gt;&#13;&#10;                        &lt;/Box&gt;&#13;&#10;                        &lt;Box style={{ flexDirection: 'column', flex: 1 }}&gt;&#13;&#10;                            &lt;Box style={{ flexDirection: 'row', alignItems: 'baseline', gap: 10 }}&gt;&#13;&#10;                                &lt;Text style={{ fontSize: 14, color: '#2AD4EE', fontFamily: '&quot;JetBrains Mono&quot;, &quot;Cascadia Mono&quot;, Consolas, monospace' }}&gt;{c.n}&lt;/Text&gt;&#13;&#10;                                &lt;Text style={{ fontSize: 22, fontWeight: 'bold', color: '#E8EEF9' }}&gt;{c.t}&lt;/Text&gt;&#13;&#10;                            &lt;/Box&gt;&#13;&#10;                            &lt;Text style={{ marginTop: 10, fontSize: 16, color: 'rgba(232,238,249,0.68)', lineHeight: 1.7 }}&gt;{c.d}&lt;/Text&gt;&#13;&#10;                        &lt;/Box&gt;&#13;&#10;                    &lt;/Box&gt;&#13;&#10;                ))}&#13;&#10;            &lt;/Box&gt;&#13;&#10;        &lt;/Box&gt;&#13;&#10;&#13;&#10;        {/* 右：定位 + 判断 */}&#13;&#10;        &lt;Box style={{ flex: 42, flexDirection: 'column' }}&gt;&#13;&#10;            &lt;Text style={{ fontSize: 15, color: 'rgba(232,238,249,0.52)', letterSpacing: 2, fontFamily: '&quot;JetBrains Mono&quot;, &quot;Cascadia Mono&quot;, Consolas, monospace' }}&gt;WHAT IT IS&lt;/Text&gt;&#13;&#10;&#13;&#10;            &lt;Box style={{ marginTop: 14, paddingTop: 18, paddingBottom: 18, paddingLeft: 18, paddingRight: 18, background: 'rgba(22,35,61,0.92)', border: '1px solid rgba(42,212,238,0.28)', borderRadius: 4 }}&gt;&#13;&#10;                &lt;Text style={{ fontSize: 15, color: '#2AD4EE', fontFamily: '&quot;JetBrains Mono&quot;, &quot;Cascadia Mono&quot;, Consolas, monospace', lineHeight: 1.5 }}&gt;minimal terminal{&quot;\n&quot;}coding harness&lt;/Text&gt;&#13;&#10;                &lt;Text style={{ marginTop: 12, fontSize: 15.5, color: 'rgba(232,238,249,0.72)', lineHeight: 1.7 }}&gt;&#13;&#10;                    不是聊天机器人，也不是 IDE 插件，而是把模型、工具、上下文、会话与扩展串起来的终端执行框架。&#13;&#10;                &lt;/Text&gt;&#13;&#10;            &lt;/Box&gt;&#13;&#10;&#13;&#10;            &lt;Box style={{ marginTop: 14, flexDirection: 'column', gap: 8 }}&gt;&#13;&#10;                {[&#13;&#10;                    ['协议', 'MIT · 完全开源，可商用'],&#13;&#10;                    ['运行', '完全本地，模型调用走自己的 Key / 订阅'],&#13;&#10;                    ['默认工具', 'read · write · edit · bash，只有 4 个'],&#13;&#10;                    ['模型接入', '内置 30+ 家，/model 一键切换'],&#13;&#10;                ].map((r, i) =&gt; (&#13;&#10;                    &lt;Box key={i} style={{ flexDirection: 'row', alignItems: 'center', gap: 12, paddingTop: 6, paddingBottom: 6, borderBottom: '1px solid rgba(232,238,249,0.08)' }}&gt;&#13;&#10;                        &lt;Text style={{ width: 68, fontSize: 14, color: 'rgba(232,238,249,0.45)', fontFamily: '&quot;JetBrains Mono&quot;, &quot;Cascadia Mono&quot;, Consolas, monospace' }}&gt;{r[0]}&lt;/Text&gt;&#13;&#10;                        &lt;Text style={{ flex: 1, fontSize: 15, color: '#E8EEF9', lineHeight: 1.5 }}&gt;{r[1]}&lt;/Text&gt;&#13;&#10;                    &lt;/Box&gt;&#13;&#10;                ))}&#13;&#10;            &lt;/Box&gt;&#13;&#10;&#13;&#10;            &lt;Box style={{ marginTop: 'auto', paddingTop: 16, paddingBottom: 16, paddingLeft: 18, paddingRight: 18, background: 'rgba(42,212,238,0.08)', border: '1px solid rgba(42,212,238,0.22)', borderRadius: 4 }}&gt;&#13;&#10;                &lt;Text style={{ fontSize: 15, color: '#2AD4EE', letterSpacing: 3, fontFamily: '&quot;JetBrains Mono&quot;, &quot;Cascadia Mono&quot;, Consolas, monospace' }}&gt;所以&lt;/Text&gt;&#13;&#10;                &lt;Text style={{ marginTop: 10, fontSize: 17, color: '#E8EEF9', lineHeight: 1.7 }}&gt;&#13;&#10;                    这不是功能少，而是把&lt;span style={{ color: '#2AD4EE' }}&gt;指导权还给了模型&lt;/span&gt;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1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37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极简的代价与回报&lt;/Text&gt;&#13;&#10;            &lt;Text style={{ marginTop: 8, fontSize: 17, color: 'rgba(232,238,249,0.52)' }}&gt;三个数字，说明它凭什么又快又便宜&lt;/Text&gt;&#13;&#10;        &lt;/Box&gt;&#13;&#10;    &lt;/Box&gt;&#13;&#10;&#13;&#10;    {/* B 区 */}&#13;&#10;    &lt;Box style={{ height: 516, flexDirection: 'column' }}&gt;&#13;&#10;        {/* 三个数字 */}&#13;&#10;        &lt;Box style={{ flex: 1, flexDirection: 'row', alignItems: 'flex-start', paddingBottom: 26, borderBottom: '1px solid rgba(232,238,249,0.12)' }}&gt;&#13;&#10;            {[&#13;&#10;                { num: '418', unit: '行', size: 132, label: '核心 Agent 循环的代码量', note: '同类工具的核心实现通常是数千行 TypeScript' },&#13;&#10;                { num: '4', unit: '个', size: 104, label: '默认工具', note: 'read · write · edit · bash，够完成绝大多数编码任务' },&#13;&#10;                { num: '1/3', unit: '×', size: 84, label: '每轮发送的上下文', note: 'Databricks 基准测试的实测结果' },&#13;&#10;            ].map((c, i) =&gt; (&#13;&#10;                &lt;Box key={i} style={{ flex: i === 0 ? 40 : 30, flexDirection: 'column', paddingLeft: i === 0 ? 0 : 34, paddingRight: 34, borderRight: i === 2 ? 'none' : '1px solid rgba(232,238,249,0.10)' }}&gt;&#13;&#10;                    &lt;Box style={{ height: 146, flexDirection: 'row', alignItems: 'flex-end', gap: 8 }}&gt;&#13;&#10;                        &lt;Text style={{ fontSize: c.size, fontWeight: 'bold', color: '#2AD4EE', fontFamily: '&quot;JetBrains Mono&quot;, &quot;Cascadia Mono&quot;, Consolas, monospace', lineHeight: 0.92 }}&gt;{c.num}&lt;/Text&gt;&#13;&#10;                        &lt;Text style={{ fontSize: 24, color: 'rgba(42,212,238,0.62)', fontFamily: '&quot;JetBrains Mono&quot;, &quot;Cascadia Mono&quot;, Consolas, monospace', paddingBottom: 10 }}&gt;{c.unit}&lt;/Text&gt;&#13;&#10;                    &lt;/Box&gt;&#13;&#10;                    &lt;Text style={{ marginTop: 14, fontSize: 20, fontWeight: '600', color: '#E8EEF9' }}&gt;{c.label}&lt;/Text&gt;&#13;&#10;                    &lt;Text style={{ marginTop: 8, fontSize: 15, color: 'rgba(232,238,249,0.58)', lineHeight: 1.65 }}&gt;{c.note}&lt;/Text&gt;&#13;&#10;                &lt;/Box&gt;&#13;&#10;            ))}&#13;&#10;        &lt;/Box&gt;&#13;&#10;&#13;&#10;        {/* 补充说明 */}&#13;&#10;        &lt;Box style={{ height: 132, marginTop: 18, flexDirection: 'row', gap: 24 }}&gt;&#13;&#10;            &lt;Box style={{ flex: 1, flexDirection: 'row', alignItems: 'center', gap: 18, paddingLeft: 20, paddingRight: 20, background: 'rgba(22,35,61,0.92)', border: '1px solid rgba(232,238,249,0.10)', borderRadius: 4 }}&gt;&#13;&#10;                &lt;Text style={{ fontSize: 40, fontWeight: 'bold', color: 'rgba(232,238,249,0.82)', fontFamily: '&quot;JetBrains Mono&quot;, &quot;Cascadia Mono&quot;, Consolas, monospace', lineHeight: 1 }}&gt;&amp;lt;1000&lt;/Text&gt;&#13;&#10;                &lt;Text style={{ flex: 1, fontSize: 15.5, color: 'rgba(232,238,249,0.68)', lineHeight: 1.7 }}&gt;&#13;&#10;                    &lt;span style={{ color: '#E8EEF9', fontWeight: '600' }}&gt;系统提示的 token 数&lt;/span&gt;&#13;&#10;                    &lt;br /&gt;&#13;&#10;                    别家动辄数千。省掉的每一行，都会在每一轮里重复付费。&#13;&#10;                &lt;/Text&gt;&#13;&#10;            &lt;/Box&gt;&#13;&#10;            &lt;Box style={{ flex: 1, flexDirection: 'row', alignItems: 'center', gap: 18, paddingLeft: 20, paddingRight: 20, background: 'rgba(22,35,61,0.92)', border: '1px solid rgba(232,238,249,0.10)', borderRadius: 4 }}&gt;&#13;&#10;                &lt;Text style={{ fontSize: 40, fontWeight: 'bold', color: 'rgba(232,238,249,0.82)', fontFamily: '&quot;JetBrains Mono&quot;, &quot;Cascadia Mono&quot;, Consolas, monospace', lineHeight: 1 }}&gt;0&lt;/Text&gt;&#13;&#10;                &lt;Text style={{ flex: 1, fontSize: 15.5, color: 'rgba(232,238,249,0.68)', lineHeight: 1.7 }}&gt;&#13;&#10;                    &lt;span style={{ color: '#E8EEF9', fontWeight: '600' }}&gt;内置的编排与审批机制&lt;/span&gt;&#13;&#10;                    &lt;br /&gt;&#13;&#10;                    不塞进内核，能力全部外置成扩展——按需注入。&#13;&#10;                &lt;/Text&gt;&#13;&#10;            &lt;/Box&gt;&#13;&#10;        &lt;/Box&gt;&#13;&#10;&#13;&#10;        {/* 判断 */}&#13;&#10;        &lt;Box style={{ height: 62, marginTop: 18, flexDirection: 'row', alignItems: 'center', gap: 16, paddingLeft: 20, paddingRight: 20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所以&lt;/Text&gt;&#13;&#10;            &lt;Box style={{ width: 1, height: 28, background: 'rgba(42,212,238,0.35)' }} /&gt;&#13;&#10;            &lt;Text style={{ fontSize: 18, color: '#E8EEF9', flex: 1, lineHeight: 1.6 }}&gt;&#13;&#10;                省下来的上下文，就是省下来的&lt;span style={{ color: '#2AD4EE' }}&gt;钱&lt;/span&gt;和&lt;span style={{ color: '#2AD4EE' }}&gt;准确率&lt;/span&gt;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2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37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9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分层架构：严格单向的 monorepo&lt;/Text&gt;&#13;&#10;            &lt;Text style={{ marginTop: 8, fontSize: 17, color: 'rgba(232,238,249,0.52)' }}&gt;下层不知道上层，每一层都能单独拿出来用&lt;/Text&gt;&#13;&#10;        &lt;/Box&gt;&#13;&#10;    &lt;/Box&gt;&#13;&#10;&#13;&#10;    {/* B 区 · 左标题 + 右依赖图 */}&#13;&#10;    &lt;Box style={{ height: 516, flexDirection: 'row', gap: 34 }}&gt;&#13;&#10;        {/* 左：标题栏 */}&#13;&#10;        &lt;Box style={{ width: 268, flexDirection: 'column', paddingRight: 28, borderRight: '1px solid rgba(232,238,249,0.12)' }}&gt;&#13;&#10;            &lt;Text style={{ fontSize: 15, color: '#2AD4EE', letterSpacing: 3, fontFamily: '&quot;JetBrains Mono&quot;, &quot;Cascadia Mono&quot;, Consolas, monospace' }}&gt;ARCHITECTURE&lt;/Text&gt;&#13;&#10;            &lt;Text style={{ marginTop: 18, fontSize: 26, fontWeight: 'bold', color: '#E8EEF9', lineHeight: 1.45 }}&gt;&#13;&#10;                四层&#13;&#10;                &lt;br /&gt;&#13;&#10;                单向依赖&#13;&#10;            &lt;/Text&gt;&#13;&#10;            &lt;Text style={{ marginTop: 18, fontSize: 16, color: 'rgba(232,238,249,0.72)', lineHeight: 1.8 }}&gt;&#13;&#10;                内核里没有 CLI、没有扩展、没有文件系统。&lt;span style={{ color: '#E8EEF9', fontWeight: '600' }}&gt;「组装」这件事，被完整地留在了最上面一层。&lt;/span&gt;&#13;&#10;            &lt;/Text&gt;&#13;&#10;&#13;&#10;            &lt;Box style={{ marginTop: 20, flexDirection: 'column', gap: 9 }}&gt;&#13;&#10;                {[&#13;&#10;                    '每层可独立发布，单独装也合法',&#13;&#10;                    '可替换：换掉 pi-tui，内核一行不改',&#13;&#10;                ].map((t, i) =&gt; (&#13;&#10;                    &lt;Box key={i} style={{ flexDirection: 'row', gap: 10, alignItems: 'center' }}&gt;&#13;&#10;                        &lt;Box style={{ width: 5, height: 5, background: '#2AD4EE' }} /&gt;&#13;&#10;                        &lt;Text style={{ flex: 1, fontSize: 15, color: 'rgba(232,238,249,0.68)' }}&gt;{t}&lt;/Text&gt;&#13;&#10;                    &lt;/Box&gt;&#13;&#10;                ))}&#13;&#10;            &lt;/Box&gt;&#13;&#10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5.5, color: '#E8EEF9', lineHeight: 1.7 }}&gt;&#13;&#10;                    做编码类产品，直接用&#13;&#10;                    &lt;span style={{ color: '#2AD4EE', fontFamily: '&quot;JetBrains Mono&quot;, &quot;Cascadia Mono&quot;, Consolas, monospace' }}&gt; coding-agent&lt;/span&gt;&#13;&#10;                    ；只要裸内核，用&#13;&#10;                    &lt;span style={{ color: '#2AD4EE', fontFamily: '&quot;JetBrains Mono&quot;, &quot;Cascadia Mono&quot;, Consolas, monospace' }}&gt;agent-core&lt;/span&gt;&#13;&#10;                    。&#13;&#10;                &lt;/Text&gt;&#13;&#10;            &lt;/Box&gt;&#13;&#10;        &lt;/Box&gt;&#13;&#10;&#13;&#10;        {/* 右：四层依赖图 */}&#13;&#10;        &lt;Box style={{ flex: 1, flexDirection: 'column' }}&gt;&#13;&#10;            &lt;Box style={{ flexDirection: 'row', alignItems: 'center', justifyContent: 'space-between' }}&gt;&#13;&#10;                &lt;Text style={{ fontSize: 15, color: 'rgba(232,238,249,0.52)', letterSpacing: 2, fontFamily: '&quot;JetBrains Mono&quot;, &quot;Cascadia Mono&quot;, Consolas, monospace' }}&gt;PACKAGE DEPENDENCY · 箭头 = 依赖方向&lt;/Text&gt;&#13;&#10;                &lt;Text style={{ fontSize: 13, color: 'rgba(232,238,249,0.42)' }}&gt;上层可以依赖下层，反之不成立&lt;/Text&gt;&#13;&#10;            &lt;/Box&gt;&#13;&#10;&#13;&#10;            &lt;Box style={{ flex: 1, marginTop: 12, flexDirection: 'column', justifyContent: 'space-between' }}&gt;&#13;&#10;                {[&#13;&#10;                    { tag: 'UI', name: 'pi-tui', role: '终端差分渲染 UI', d: '独立包，不直接 import 内核；换成自己的前端同样成立', top: true },&#13;&#10;                    { tag: 'L3', name: 'pi-coding-agent', role: '产品运行时组装层 · SDK 入口', d: '组装内核 + 内置编码工具 + 会话持久化 + 扩展扫描 + 多运行模式', top: false },&#13;&#10;                    { tag: 'L2', name: 'pi-agent-core', role: 'Agent 纯内核层', d: 'Agent Loop · 工具抽象与调度 · 事件总线 · 终止与最大轮次控制', top: false },&#13;&#10;                    { tag: 'L1', name: 'pi-ai', role: 'Unified LLM 统一模型接入层', d: '多 Provider 适配 · 流式 chunk 归一化 · 工具 schema · 凭证管理', top: false },&#13;&#10;                ].map((l, i) =&gt; (&#13;&#10;                    &lt;Box key={i} style={{ flexDirection: 'column', flex: 1 }}&gt;&#13;&#10;                        &lt;Box style={{ flex: 1, flexDirection: 'row', alignItems: 'center', gap: 18, paddingLeft: 18, paddingRight: 18, background: l.top ? 'rgba(22,35,61,0.82)' : 'rgba(22,35,61,0.95)', border: l.top ? '1px dashed rgba(232,238,249,0.20)' : '1px solid rgba(42,212,238,0.30)', borderLeft: l.top ? '1px dashed rgba(232,238,249,0.20)' : '3px solid #2AD4EE', borderRadius: 3 }}&gt;&#13;&#10;                            &lt;Text style={{ width: 34, fontSize: 16, color: 'rgba(42,212,238,0.85)', fontFamily: '&quot;JetBrains Mono&quot;, &quot;Cascadia Mono&quot;, Consolas, monospace' }}&gt;{l.tag}&lt;/Text&gt;&#13;&#10;                            &lt;Box style={{ flexDirection: 'column', flex: 1 }}&gt;&#13;&#10;                                &lt;Box style={{ flexDirection: 'row', alignItems: 'baseline', gap: 12 }}&gt;&#13;&#10;                                    &lt;Text style={{ fontSize: 20, fontWeight: 'bold', color: '#E8EEF9', fontFamily: '&quot;JetBrains Mono&quot;, &quot;Cascadia Mono&quot;, Consolas, monospace' }}&gt;{l.name}&lt;/Text&gt;&#13;&#10;                                    &lt;Text style={{ fontSize: 15, color: 'rgba(232,238,249,0.62)' }}&gt;{l.role}&lt;/Text&gt;&#13;&#10;                                &lt;/Box&gt;&#13;&#10;                                &lt;Text style={{ marginTop: 6, fontSize: 13.5, color: 'rgba(232,238,249,0.50)', lineHeight: 1.5 }}&gt;{l.d}&lt;/Text&gt;&#13;&#10;                            &lt;/Box&gt;&#13;&#10;                        &lt;/Box&gt;&#13;&#10;                        {i &lt; 3 &amp;&amp; (&#13;&#10;                            &lt;Box style={{ height: 22, flexDirection: 'row', alignItems: 'center', paddingLeft: 40, gap: 10 }}&gt;&#13;&#10;                                &lt;Text style={{ fontSize: 14, color: '#2AD4EE', fontFamily: '&quot;JetBrains Mono&quot;, &quot;Cascadia Mono&quot;, Consolas, monospace' }}&gt;↓ depends on&lt;/Text&gt;&#13;&#10;                            &lt;/Box&gt;&#13;&#10;                        )}&#13;&#10;                    &lt;/Box&gt;&#13;&#10;                ))}&#13;&#10;            &lt;/Box&gt;&#13;&#10;&#13;&#10;            &lt;Box style={{ height: 44, marginTop: 10, flexDirection: 'row', alignItems: 'center', gap: 12, paddingLeft: 16, paddingRight: 16, background: 'rgba(42,212,238,0.06)', borderLeft: '3px solid rgba(42,212,238,0.55)' }}&gt;&#13;&#10;                &lt;Text style={{ fontSize: 14, color: '#2AD4EE', fontFamily: '&quot;JetBrains Mono&quot;, &quot;Cascadia Mono&quot;, Consolas, monospace' }}&gt;OPTIONAL&lt;/Text&gt;&#13;&#10;                &lt;Text style={{ fontSize: 14.5, color: 'rgba(232,238,249,0.70)' }}&gt;&#13;&#10;                    另有可选的 CBOR 远程会话栈：pi-protocol · pi-client · pi-server，独立叠加，不影响核心四层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3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37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一次调用的完整数据流&lt;/Text&gt;&#13;&#10;            &lt;Text style={{ marginTop: 8, fontSize: 17, color: 'rgba(232,238,249,0.52)' }}&gt;从一句话输入，到 agent_end，中间到底发生了什么&lt;/Text&gt;&#13;&#10;        &lt;/Box&gt;&#13;&#10;    &lt;/Box&gt;&#13;&#10;&#13;&#10;    {/* B 区 */}&#13;&#10;    &lt;Box style={{ height: 516, flexDirection: 'column' }}&gt;&#13;&#10;        &lt;Text style={{ fontSize: 15, color: '#2AD4EE', letterSpacing: 3, fontFamily: '&quot;JetBrains Mono&quot;, &quot;Cascadia Mono&quot;, Consolas, monospace' }}&gt;REQUEST LIFECYCLE · 事件回流贯穿全程&lt;/Text&gt;&#13;&#10;&#13;&#10;        {/* 主链路 */}&#13;&#10;        &lt;Box style={{ flex: 1, marginTop: 14, flexDirection: 'row', alignItems: 'center', gap: 0 }}&gt;&#13;&#10;            {[&#13;&#10;                { n: '01', t: '用户输入', d: '自然语言需求' },&#13;&#10;                { n: '02', t: 'AgentSession', d: '.prompt 入队' },&#13;&#10;                { n: '03', t: '双层 while', d: '内层工具 / 外层续跑' },&#13;&#10;                { n: '04', t: '上下文转换', d: 'transformContext' },&#13;&#10;                { n: '05', t: '流式请求', d: 'streamSimple' },&#13;&#10;                { n: '06', t: '事件回流', d: '事件总线 → UI' },&#13;&#10;                { n: '07', t: 'agent_end', d: '本轮结束' },&#13;&#10;            ].map((s, i) =&gt; (&#13;&#10;                &lt;Box key={i} style={{ flex: 1, flexDirection: 'row', alignItems: 'center' }}&gt;&#13;&#10;                    &lt;Box style={{ flex: 1, flexDirection: 'column', paddingTop: 14, paddingBottom: 14, paddingLeft: 12, paddingRight: 12, background: i === 6 ? 'rgba(42,212,238,0.14)' : 'rgba(22,35,61,0.95)', border: i === 6 ? '1px solid rgba(42,212,238,0.45)' : '1px solid rgba(232,238,249,0.12)', borderTop: i === 2 || i === 3 ? '2px solid #2AD4EE' : undefined, borderRadius: 3 }}&gt;&#13;&#10;                        &lt;Text style={{ fontSize: 13, color: '#2AD4EE', fontFamily: '&quot;JetBrains Mono&quot;, &quot;Cascadia Mono&quot;, Consolas, monospace' }}&gt;{s.n}&lt;/Text&gt;&#13;&#10;                        &lt;Text style={{ marginTop: 8, fontSize: 17, fontWeight: 'bold', color: '#E8EEF9', lineHeight: 1.3 }}&gt;{s.t}&lt;/Text&gt;&#13;&#10;                        &lt;Text style={{ marginTop: 6, fontSize: 12.5, color: 'rgba(232,238,249,0.55)', lineHeight: 1.45, fontFamily: '&quot;JetBrains Mono&quot;, &quot;Cascadia Mono&quot;, Consolas, monospace' }}&gt;{s.d}&lt;/Text&gt;&#13;&#10;                    &lt;/Box&gt;&#13;&#10;                    {i &lt; 6 &amp;&amp; &lt;Text style={{ width: 20, textAlign: 'center', fontSize: 15, color: 'rgba(42,212,238,0.75)' }}&gt;›&lt;/Text&gt;}&#13;&#10;                &lt;/Box&gt;&#13;&#10;            ))}&#13;&#10;        &lt;/Box&gt;&#13;&#10;&#13;&#10;        {/* 工具管线四阶段 */}&#13;&#10;        &lt;Box style={{ height: 150, marginTop: 18, flexDirection: 'column', paddingTop: 14, paddingBottom: 14, paddingLeft: 18, paddingRight: 18, background: 'rgba(42,212,238,0.05)', border: '1px solid rgba(42,212,238,0.22)', borderRadius: 4 }}&gt;&#13;&#10;            &lt;Box style={{ flexDirection: 'row', alignItems: 'baseline', justifyContent: 'space-between' }}&gt;&#13;&#10;                &lt;Text style={{ fontSize: 16, fontWeight: 'bold', color: '#E8EEF9' }}&gt;步骤 ③ 展开 · 工具管线的四个阶段&lt;/Text&gt;&#13;&#10;                &lt;Text style={{ fontSize: 13, color: 'rgba(232,238,249,0.45)' }}&gt;所有「每次工具调用都要做的事」都被收进这一层&lt;/Text&gt;&#13;&#10;            &lt;/Box&gt;&#13;&#10;            &lt;Box style={{ flex: 1, marginTop: 12, flexDirection: 'row', alignItems: 'stretch', gap: 12 }}&gt;&#13;&#10;                {[&#13;&#10;                    { t: 'Prepare', d: '参数校验 + beforeToolCall 拦截', s: '工具还没跑，先验一遍' },&#13;&#10;                    { t: 'Execute', d: 'execute() + onUpdate 进度回调', s: '真正干活的一步' },&#13;&#10;                    { t: 'Finalize', d: 'afterToolCall 改写 / 脱敏', s: '结果进上下文前先过一道' },&#13;&#10;                    { t: '截断保护', d: '超长结果裁剪后回喂', s: '别让一条返回撑爆窗口' },&#13;&#10;                ].map((p, i) =&gt; (&#13;&#10;                    &lt;Box key={i} style={{ flex: 1, flexDirection: 'column', justifyContent: 'center', paddingLeft: 14, paddingRight: 14, background: 'rgba(22,35,61,0.95)', borderLeft: '3px solid rgba(42,212,238,0.75)', borderRadius: 3 }}&gt;&#13;&#10;                        &lt;Text style={{ fontSize: 18, fontWeight: 'bold', color: '#2AD4EE', fontFamily: '&quot;JetBrains Mono&quot;, &quot;Cascadia Mono&quot;, Consolas, monospace' }}&gt;{p.t}&lt;/Text&gt;&#13;&#10;                        &lt;Text style={{ marginTop: 8, fontSize: 13.5, color: 'rgba(232,238,249,0.72)', lineHeight: 1.5 }}&gt;{p.d}&lt;/Text&gt;&#13;&#10;                        &lt;Text style={{ marginTop: 6, fontSize: 12.5, color: 'rgba(232,238,249,0.45)' }}&gt;{p.s}&lt;/Text&gt;&#13;&#10;                    &lt;/Box&gt;&#13;&#10;                ))}&#13;&#10;            &lt;/Box&gt;&#13;&#10;        &lt;/Box&gt;&#13;&#10;&#13;&#10;        {/* 下方两卡 */}&#13;&#10;        &lt;Box style={{ height: 128, marginTop: 16, flexDirection: 'row', gap: 20 }}&gt;&#13;&#10;            &lt;Box style={{ flex: 58, flexDirection: 'column', justifyContent: 'center', paddingLeft: 20, paddingRight: 20, background: 'rgba(22,35,61,0.92)', border: '1px solid rgba(232,238,249,0.12)', borderRadius: 4 }}&gt;&#13;&#10;                &lt;Text style={{ fontSize: 15, color: 'rgba(232,238,249,0.45)', letterSpacing: 2, fontFamily: '&quot;JetBrains Mono&quot;, &quot;Cascadia Mono&quot;, Consolas, monospace' }}&gt;WHY TWO LOOPS&lt;/Text&gt;&#13;&#10;                &lt;Text style={{ marginTop: 10, fontSize: 15.5, color: 'rgba(232,238,249,0.74)', lineHeight: 1.7 }}&gt;&#13;&#10;                    &lt;span style={{ color: '#E8EEF9', fontWeight: '600' }}&gt;内层&lt;/span&gt;在一轮里反复「模型 → 工具 → 结果」，直到模型不再要工具；&#13;&#10;                    &lt;span style={{ color: '#E8EEF9', fontWeight: '600' }}&gt;外层&lt;/span&gt;负责续跑——用户的插话与追问变成队列消息注入，而不是硬中断。&#13;&#10;                &lt;/Text&gt;&#13;&#10;            &lt;/Box&gt;&#13;&#10;            &lt;Box style={{ flex: 42, flexDirection: 'column', justifyContent: 'center', paddingLeft: 20, paddingRight: 20, background: 'rgba(42,212,238,0.08)', border: '1px solid rgba(42,212,238,0.28)', borderRadius: 4 }}&gt;&#13;&#10;                &lt;Text style={{ fontSize: 15, color: '#2AD4EE', letterSpacing: 3, fontFamily: '&quot;JetBrains Mono&quot;, &quot;Cascadia Mono&quot;, Consolas, monospace' }}&gt;所以&lt;/Text&gt;&#13;&#10;                &lt;Text style={{ marginTop: 10, fontSize: 17, color: '#E8EEF9', lineHeight: 1.65 }}&gt;&#13;&#10;                    看懂了这条流，就懂了 Pi 的&lt;span style={{ color: '#2AD4EE' }}&gt;一切扩展点&lt;/span&gt;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4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91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37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18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九个设计点：对应七层地图&lt;/Text&gt;&#13;&#10;            &lt;Text style={{ marginTop: 8, fontSize: 17, color: 'rgba(232,238,249,0.52)' }}&gt;九个设计点都能落回那七层——接下来三页，逐个拆开看&lt;/Text&gt;&#13;&#10;        &lt;/Box&gt;&#13;&#10;    &lt;/Box&gt;&#13;&#10;&#13;&#10;    {/* B 区 · 左标题 + 右映射表 */}&#13;&#10;    &lt;Box style={{ height: 516, flexDirection: 'row', gap: 30 }}&gt;&#13;&#10;        {/* 左：标题栏 */}&#13;&#10;        &lt;Box style={{ width: 266, flexDirection: 'column', paddingRight: 26, borderRight: '1px solid rgba(232,238,249,0.12)' }}&gt;&#13;&#10;            &lt;Text style={{ fontSize: 15, color: '#2AD4EE', letterSpacing: 3, fontFamily: '&quot;JetBrains Mono&quot;, &quot;Cascadia Mono&quot;, Consolas, monospace' }}&gt;DESIGN NOTES&lt;/Text&gt;&#13;&#10;            &lt;Text style={{ marginTop: 16, fontSize: 26, fontWeight: 'bold', color: '#E8EEF9', lineHeight: 1.45 }}&gt;&#13;&#10;                九个设计点&#13;&#10;                &lt;br /&gt;&#13;&#10;                一张映射表&#13;&#10;            &lt;/Text&gt;&#13;&#10;            &lt;Text style={{ marginTop: 16, fontSize: 16, color: 'rgba(232,238,249,0.72)', lineHeight: 1.8 }}&gt;&#13;&#10;                学完 Pi 的九个设计点，回头看七层地图，会发现它们一一对得上。&#13;&#10;            &lt;/Text&gt;&#13;&#10;&#13;&#10;            &lt;Box style={{ marginTop: 18, height: 96, flexDirection: 'column', alignItems: 'center', justifyContent: 'center', background: 'rgba(22,35,61,0.92)', border: '1px solid rgba(42,212,238,0.28)', borderRadius: 4 }}&gt;&#13;&#10;                &lt;Box style={{ flexDirection: 'row', alignItems: 'center', gap: 14 }}&gt;&#13;&#10;                    &lt;Text style={{ fontSize: 46, fontWeight: 'bold', color: '#2AD4EE', fontFamily: '&quot;JetBrains Mono&quot;, &quot;Cascadia Mono&quot;, Consolas, monospace', lineHeight: 1 }}&gt;9&lt;/Text&gt;&#13;&#10;                    &lt;Text style={{ fontSize: 24, color: 'rgba(232,238,249,0.40)' }}&gt;→&lt;/Text&gt;&#13;&#10;                    &lt;Text style={{ fontSize: 46, fontWeight: 'bold', color: '#E8EEF9', fontFamily: '&quot;JetBrains Mono&quot;, &quot;Cascadia Mono&quot;, Consolas, monospace', lineHeight: 1 }}&gt;7&lt;/Text&gt;&#13;&#10;                &lt;/Box&gt;&#13;&#10;                &lt;Text style={{ marginTop: 10, fontSize: 14, color: 'rgba(232,238,249,0.58)' }}&gt;9 个设计点 · 7 个功能层 · 顺序一致&lt;/Text&gt;&#13;&#10;            &lt;/Box&gt;&#13;&#10;&#13;&#10;            &lt;Box style={{ marginTop: 'auto', paddingTop: 14, paddingBottom: 14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8, fontSize: 15, color: '#E8EEF9', lineHeight: 1.7 }}&gt;&#13;&#10;                    编号 1–7 就是层号 ①–⑦。这不是巧合，是刻意的教学设计。&#13;&#10;                &lt;/Text&gt;&#13;&#10;            &lt;/Box&gt;&#13;&#10;        &lt;/Box&gt;&#13;&#10;&#13;&#10;        {/* 右：映射表 */}&#13;&#10;        &lt;Box style={{ flex: 1, flexDirection: 'column' }}&gt;&#13;&#10;            &lt;Box style={{ flexDirection: 'row', alignItems: 'center', justifyContent: 'space-between', paddingBottom: 10, borderBottom: '1px solid rgba(232,238,249,0.12)' }}&gt;&#13;&#10;                &lt;Text style={{ fontSize: 14, color: 'rgba(232,238,249,0.42)', letterSpacing: 2, fontFamily: '&quot;JetBrains Mono&quot;, &quot;Cascadia Mono&quot;, Consolas, monospace' }}&gt;设计点 / 解决什么问题 / 对应功能层&lt;/Text&gt;&#13;&#10;                &lt;Text style={{ fontSize: 13, color: 'rgba(232,238,249,0.42)' }}&gt;每一个设计点，都解决一类具体问题&lt;/Text&gt;&#13;&#10;            &lt;/Box&gt;&#13;&#10;&#13;&#10;            &lt;Box style={{ flex: 1, flexDirection: 'column', justifyContent: 'space-between' }}&gt;&#13;&#10;                {[&#13;&#10;                    ['1', '模型适配', '一套统一类型 + 归一化流式事件：把厂商差异挡在循环之外，换模型不改业务代码', '① 模型层'],&#13;&#10;                    ['2', '上下文工程', '常驻最小化：系统提示 &lt;1000 token + 4 个工具，其余按需注入，放不下就 compaction', '② 提示层'],&#13;&#10;                    ['3', '工具系统', '四阶段流水线：Prepare 校验 → Execute 执行 → Finalize 改写 / 脱敏 → 截断保护', '③ 工具层'],&#13;&#10;                    ['4', '会话系统', '会话原语与持久化：历史怎么存、怎么取、怎么续跑，都是可替换的存储后端', '④ 记忆层'],&#13;&#10;                    ['5', 'Agent 循环', '约 418 行双层 while：内层跑工具调用、外层跑续跑，终止与最大轮次都有兜底', '⑤ 控制层'],&#13;&#10;                    ['6', '扩展系统', '能力全部外置成扩展：加工具、加拦截、加校验，全都不动内核一行代码', '⑥ 护栏层'],&#13;&#10;                    ['7', '事件系统', '事件总线贯穿全程：文本与思考增量实时回流，是可观测性的地基', '⑦ 运营层'],&#13;&#10;                    ['8', '安全与可观测', '内核不做权限：权限、沙箱与审计交回给使用方，用扩展钩子自建拦截', '⑥ + ⑦'],&#13;&#10;                    ['9', '远程会话栈', 'CBOR 远程会话：协议 / 客户端 / 服务端三层，可选，不影响核心四层', '独立叠加'],&#13;&#10;                ].map((r, i) =&gt; (&#13;&#10;                    &lt;Box key={i} style={{ flex: 1, flexDirection: 'row', alignItems: 'center', borderBottom: i === 8 ? 'none' : '1px solid rgba(232,238,249,0.10)' }}&gt;&#13;&#10;                        &lt;Text style={{ width: 30, fontSize: 14, color: '#2AD4EE', fontFamily: '&quot;JetBrains Mono&quot;, &quot;Cascadia Mono&quot;, Consolas, monospace' }}&gt;{r[0]}&lt;/Text&gt;&#13;&#10;                        &lt;Text style={{ width: 128, fontSize: 16, fontWeight: 'bold', color: '#E8EEF9' }}&gt;{r[1]}&lt;/Text&gt;&#13;&#10;                        &lt;Box style={{ width: 1, height: 18, background: 'rgba(232,238,249,0.16)', marginRight: 16 }} /&gt;&#13;&#10;                        &lt;Text style={{ flex: 1, fontSize: 13.5, color: 'rgba(232,238,249,0.68)', lineHeight: 1.5 }}&gt;{r[2]}&lt;/Text&gt;&#13;&#10;                        &lt;Box style={{ paddingTop: 4, paddingBottom: 4, paddingLeft: 12, paddingRight: 12, background: 'rgba(42,212,238,0.10)', border: '1px solid rgba(42,212,238,0.30)', borderRadius: 3 }}&gt;&#13;&#10;                            &lt;Text style={{ fontSize: 13, color: '#2AD4EE', fontFamily: '&quot;JetBrains Mono&quot;, &quot;Cascadia Mono&quot;, Consolas, monospace' }}&gt;{r[3]}&lt;/Text&gt;&#13;&#10;                        &lt;/Box&gt;&#13;&#10;                    &lt;/Box&gt;&#13;&#10;                ))}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5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00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九个设计点都能落回那七层——接下来三页，逐个拆开看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610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10782300" y="5695950"/>
            <a:ext cx="7239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08966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37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0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设计点 ①–③：模型 · 上下文 · 工具&lt;/Text&gt;&#10;            &lt;Text style={{ marginTop: 8, fontSize: 17, color: 'rgba(232,238,249,0.52)' }}&gt;先解决「怎么和模型打交道」——统一接口、最小上下文、可控工具&lt;/Text&gt;&#10;        &lt;/Box&gt;&#10;    &lt;/Box&gt;&#10;&#10;    {/* B 区 · 三条 */}&#10;    &lt;Box style={{ height: 516, flexDirection: 'column' }}&gt;&#10;        {[&#10;            {&#10;                n: '01', name: '模型适配', layer: '① 模型层',&#10;                q: '40 家厂商、10 种 wire 格式，连「OpenAI 兼容」都各有残缺',&#10;                m: '一套统一类型 + 归一化事件流：每个 delta 都自带最新 partial 快照，消费者不用自己拼状态；残缺能力用 8 项 compat 开关逐项关掉；任何失败都不抛异常，编码成流上的 error 事件。',&#10;                t: '适配层变厚，换来上层循环不认识任何一家厂商',&#10;            },&#10;            {&#10;                n: '02', name: '上下文工程', layer: '② 提示层',&#10;                q: '每轮到底塞什么？塞多了贵、慢，还淹没重点',&#10;                m: '常驻的只有 &lt;1000 token 系统提示 + 4 个工具；AGENTS.md、Skills、模板按需注入，Skills 只常驻 name 与 description；放不下就 compaction——threshold 提前压、overflow 事后压，切点绝不在工具结果上。',&#10;                t: '省 token，但要接受模型多探索几轮',&#10;            },&#10;            {&#10;                n: '03', name: '工具系统', layer: '③ 工具层',&#10;                q: '参数能不能信、拦截挂哪儿、换个执行环境怎么办',&#10;                m: 'AgentTool 一个工具三种视角：schema 给模型、label 给人、details 给 UI。执行是四阶段流水线——校验与前置钩子 → execute → 收尾钩子改写脱敏 → 截断保护；执行环境由 Operations 抽走。',&#10;                t: '多一层包装，换来横切逻辑只写一次',&#10;            },&#10;        ].map((r, i) =&gt; (&#10;            &lt;Box key={i} style={{ flex: 1, flexDirection: 'row', alignItems: 'center', paddingTop: 14, paddingBottom: 14, borderBottom: i === 2 ? 'none' : '1px solid rgba(232,238,249,0.10)' }}&gt;&#10;                &lt;Box style={{ width: 196, flexDirection: 'column' }}&gt;&#10;                    &lt;Text style={{ fontSize: 34, fontWeight: 'bold', color: 'rgba(42,212,238,0.55)', fontFamily: '&quot;JetBrains Mono&quot;, &quot;Cascadia Mono&quot;, Consolas, monospace', lineHeight: 1 }}&gt;{r.n}&lt;/Text&gt;&#10;                    &lt;Text style={{ marginTop: 8, fontSize: 20, fontWeight: 'bold', color: '#E8EEF9' }}&gt;{r.name}&lt;/Text&gt;&#10;                    &lt;Text style={{ marginTop: 6, fontSize: 12.5, color: 'rgba(42,212,238,0.82)', letterSpacing: 1, fontFamily: '&quot;JetBrains Mono&quot;, &quot;Cascadia Mono&quot;, Consolas, monospace' }}&gt;{r.layer}&lt;/Text&gt;&#10;                &lt;/Box&gt;&#10;&#10;                &lt;Box style={{ flex: 1, flexDirection: 'column', paddingRight: 24 }}&gt;&#10;                    &lt;Text style={{ fontSize: 14, color: 'rgba(232,238,249,0.50)' }}&gt;问题 · {r.q}&lt;/Text&gt;&#10;                    &lt;Text style={{ marginTop: 9, fontSize: 14.5, color: 'rgba(232,238,249,0.80)', lineHeight: 1.66 }}&gt;{r.m}&lt;/Text&gt;&#10;                &lt;/Box&gt;&#10;&#10;                &lt;Box style={{ width: 238, flexDirection: 'column', paddingLeft: 18, borderLeft: '1px solid rgba(42,212,238,0.24)' }}&gt;&#10;                    &lt;Text style={{ fontSize: 11.5, color: '#2AD4EE', letterSpacing: 3, fontFamily: '&quot;JetBrains Mono&quot;, &quot;Cascadia Mono&quot;, Consolas, monospace' }}&gt;取舍&lt;/Text&gt;&#10;                    &lt;Text style={{ marginTop: 8, fontSize: 13.5, color: 'rgba(232,238,249,0.76)', lineHeight: 1.6 }}&gt;{r.t}&lt;/Text&gt;&#10;                &lt;/Box&gt;&#10;            &lt;/Box&gt;&#10;        ))}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6 / 3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391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设计点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①–③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：模型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上下文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39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先解决「怎么和模型打交道」——统一接口、最小上下文、可控工具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685800" y="1143000"/>
            <a:ext cx="10820400" cy="1647825"/>
          </a:xfrm>
          <a:custGeom>
            <a:pathLst>
              <a:path w="1136" h="173">
                <a:moveTo>
                  <a:pt x="0" y="172"/>
                </a:moveTo>
                <a:lnTo>
                  <a:pt x="1136" y="172"/>
                </a:lnTo>
                <a:lnTo>
                  <a:pt x="1136" y="173"/>
                </a:lnTo>
                <a:lnTo>
                  <a:pt x="0" y="173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1866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186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85800" y="22669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2552700" y="1562100"/>
            <a:ext cx="645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40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家厂商、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10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种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wire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格式，连「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兼容」都各有残缺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2552700" y="1809750"/>
            <a:ext cx="6457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归一化事件流：每个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都自带最新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partial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快照，消费者不用自己拼状态；残缺能力用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8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项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compat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开关逐项关掉；任何失败都不抛异常，编码成流上的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error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事件。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9239250" y="1609725"/>
            <a:ext cx="2266950" cy="704850"/>
          </a:xfrm>
          <a:custGeom>
            <a:pathLst>
              <a:path w="238" h="74">
                <a:moveTo>
                  <a:pt x="0" y="0"/>
                </a:moveTo>
                <a:lnTo>
                  <a:pt x="1" y="0"/>
                </a:lnTo>
                <a:lnTo>
                  <a:pt x="1" y="74"/>
                </a:lnTo>
                <a:lnTo>
                  <a:pt x="0" y="74"/>
                </a:lnTo>
                <a:close/>
              </a:path>
            </a:pathLst>
          </a:custGeom>
          <a:solidFill>
            <a:srgbClr val="2AD4EE">
              <a:alpha val="24000"/>
            </a:srgbClr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9420225" y="1609725"/>
            <a:ext cx="2085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5">
                <a:solidFill>
                  <a:srgbClr val="2AD4EE"/>
                </a:solidFill>
                <a:latin typeface="JetBrains Mono"/>
                <a:ea typeface="JetBrains Mono"/>
              </a:rPr>
              <a:t>取舍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9420225" y="1819275"/>
            <a:ext cx="208597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适配层变厚，换来上层循环不认识任何一家厂商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85800" y="2781300"/>
            <a:ext cx="10820400" cy="1657350"/>
          </a:xfrm>
          <a:custGeom>
            <a:pathLst>
              <a:path w="1136" h="174">
                <a:moveTo>
                  <a:pt x="0" y="173"/>
                </a:moveTo>
                <a:lnTo>
                  <a:pt x="1136" y="173"/>
                </a:lnTo>
                <a:lnTo>
                  <a:pt x="1136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85800" y="3152775"/>
            <a:ext cx="1866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85800" y="3619500"/>
            <a:ext cx="186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85800" y="39052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2552700" y="3200400"/>
            <a:ext cx="645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每轮到底塞什么？塞多了贵、慢，还淹没重点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2552700" y="3448050"/>
            <a:ext cx="6457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常驻的只有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&lt;1000 token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+ 4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个工具；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AGENTS.md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Skills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、模板按需注入，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Skills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只常驻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name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；放不下就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compaction——threshold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提前压、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overflow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事后压，切点绝不在工具结果上。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9239250" y="3371850"/>
            <a:ext cx="2266950" cy="457200"/>
          </a:xfrm>
          <a:custGeom>
            <a:pathLst>
              <a:path w="238" h="48">
                <a:moveTo>
                  <a:pt x="0" y="0"/>
                </a:moveTo>
                <a:lnTo>
                  <a:pt x="1" y="0"/>
                </a:lnTo>
                <a:lnTo>
                  <a:pt x="1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AD4EE">
              <a:alpha val="24000"/>
            </a:srgbClr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9420225" y="3371850"/>
            <a:ext cx="2085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5">
                <a:solidFill>
                  <a:srgbClr val="2AD4EE"/>
                </a:solidFill>
                <a:latin typeface="JetBrains Mono"/>
                <a:ea typeface="JetBrains Mono"/>
              </a:rPr>
              <a:t>取舍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9420225" y="3581400"/>
            <a:ext cx="208597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省</a:t>
            </a:r>
            <a:r>
              <a:rPr lang="en-US" sz="101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r>
              <a:rPr lang="zh-CN" sz="101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，但要接受模型多探索几轮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85800" y="4800600"/>
            <a:ext cx="1866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685800" y="5267325"/>
            <a:ext cx="186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685800" y="55530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2552700" y="4848225"/>
            <a:ext cx="645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参数能不能信、拦截挂哪儿、换个执行环境怎么办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2552700" y="5095875"/>
            <a:ext cx="6457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AgentTool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一个工具三种视角：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schema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给模型、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label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给人、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details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给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。执行是四阶段流水线——校验与前置钩子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→ execute →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收尾钩子改写脱敏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截断保护；执行环境由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Operations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抽走。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9239250" y="5019675"/>
            <a:ext cx="2266950" cy="457200"/>
          </a:xfrm>
          <a:custGeom>
            <a:pathLst>
              <a:path w="238" h="48">
                <a:moveTo>
                  <a:pt x="0" y="0"/>
                </a:moveTo>
                <a:lnTo>
                  <a:pt x="1" y="0"/>
                </a:lnTo>
                <a:lnTo>
                  <a:pt x="1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AD4EE">
              <a:alpha val="24000"/>
            </a:srgbClr>
          </a:solidFill>
          <a:ln/>
        </p:spPr>
        <p:txBody>
          <a:bodyPr/>
          <a:p/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9420225" y="5019675"/>
            <a:ext cx="2085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5">
                <a:solidFill>
                  <a:srgbClr val="2AD4EE"/>
                </a:solidFill>
                <a:latin typeface="JetBrains Mono"/>
                <a:ea typeface="JetBrains Mono"/>
              </a:rPr>
              <a:t>取舍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420225" y="5229225"/>
            <a:ext cx="208597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多一层包装，换来横切逻辑只写一次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37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3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设计点 ④–⑥：会话 · 循环 · 扩展&lt;/Text&gt;&#10;            &lt;Text style={{ marginTop: 8, fontSize: 17, color: 'rgba(232,238,249,0.52)' }}&gt;再解决「怎么把事做完、还能改」——存得住、转得动、改得动&lt;/Text&gt;&#10;        &lt;/Box&gt;&#10;    &lt;/Box&gt;&#10;&#10;    {/* B 区 · 三张卡 */}&#10;    &lt;Box style={{ height: 516, flexDirection: 'column', gap: 12 }}&gt;&#10;        {[&#10;            {&#10;                n: '04', name: '会话系统', layer: '④ 记忆层',&#10;                q: '怎么存、怎么回放、怎么回到出错前重来',&#10;                m: 'JSONL 一条 entry 一行、只追加：压缩不删日志，只追加一条 compaction，随时可回溯。树形结构让任意历史消息都能分叉，像 git branch——回到岔路口零成本重试。',&#10;                t: '日志会越滚越大，换来无损可回溯',&#10;            },&#10;            {&#10;                n: '05', name: 'Agent 循环', layer: '⑤ 控制层',&#10;                q: '任务做完没、中途插话怎么办、怎么停干净',&#10;                m: '约 418 行双层 while：内层跑一个任务的工具循环，外层跑「答完接着聊」。插话不打断——进队列，在 turn 边界注入；停止拆成 stopReason、宿主钩子、abort 三类原语。',&#10;                t: '内核零业务策略，终止条件全外置',&#10;            },&#10;            {&#10;                n: '06', name: '扩展系统', layer: '⑥ 护栏层',&#10;                q: '不改内核加工具、加拦截，还要能分发出去',&#10;                m: '一个导出 default 函数的 TS 文件 + 事件钩子 + registerTool / registerCommand。virtual modules 让扩展拿到宿主正在运行的那份模块实例——共享的是同一个对象，不是同一个版本号。',&#10;                t: '内核不含 MCP、子代理、弹窗，想要就装',&#10;            },&#10;        ].map((r, i) =&gt; (&#10;            &lt;Box key={i} style={{ flex: 1, flexDirection: 'row', alignItems: 'center', paddingTop: 16, paddingBottom: 16, paddingLeft: 22, paddingRight: 22, background: 'rgba(22,35,61,0.62)', border: '1px solid rgba(42,212,238,0.18)', borderRadius: 4 }}&gt;&#10;                &lt;Box style={{ width: 186, flexDirection: 'column' }}&gt;&#10;                    &lt;Box style={{ flexDirection: 'row', alignItems: 'baseline', gap: 10 }}&gt;&#10;                        &lt;Text style={{ fontSize: 30, fontWeight: 'bold', color: '#2AD4EE', fontFamily: '&quot;JetBrains Mono&quot;, &quot;Cascadia Mono&quot;, Consolas, monospace', lineHeight: 1 }}&gt;{r.n}&lt;/Text&gt;&#10;                        &lt;Text style={{ fontSize: 20, fontWeight: 'bold', color: '#E8EEF9' }}&gt;{r.name}&lt;/Text&gt;&#10;                    &lt;/Box&gt;&#10;                    &lt;Text style={{ marginTop: 10, fontSize: 12.5, color: 'rgba(232,238,249,0.45)', letterSpacing: 1, fontFamily: '&quot;JetBrains Mono&quot;, &quot;Cascadia Mono&quot;, Consolas, monospace' }}&gt;{r.layer}&lt;/Text&gt;&#10;                &lt;/Box&gt;&#10;&#10;                &lt;Box style={{ flex: 1, flexDirection: 'column', paddingLeft: 20, borderLeft: '1px solid rgba(232,238,249,0.12)' }}&gt;&#10;                    &lt;Text style={{ fontSize: 14, color: 'rgba(232,238,249,0.50)' }}&gt;问题 · {r.q}&lt;/Text&gt;&#10;                    &lt;Text style={{ marginTop: 8, fontSize: 14.5, color: 'rgba(232,238,249,0.80)', lineHeight: 1.66 }}&gt;{r.m}&lt;/Text&gt;&#10;                    &lt;Text style={{ marginTop: 8, fontSize: 13, color: 'rgba(42,212,238,0.86)' }}&gt;取舍 · {r.t}&lt;/Text&gt;&#10;                &lt;/Box&gt;&#10;            &lt;/Box&gt;&#10;        ))}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7 / 3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设计点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④–⑥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：会话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再解决「怎么把事做完、还能改」——存得住、转得动、改得动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685800" y="1143000"/>
            <a:ext cx="10820400" cy="1562100"/>
          </a:xfrm>
          <a:prstGeom prst="roundRect">
            <a:avLst>
              <a:gd name="adj" fmla="val 2439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895350" y="1638300"/>
            <a:ext cx="342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333500" y="1638300"/>
            <a:ext cx="76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895350" y="2076450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2667000" y="1419225"/>
            <a:ext cx="8639175" cy="1019175"/>
          </a:xfrm>
          <a:custGeom>
            <a:pathLst>
              <a:path w="907" h="107">
                <a:moveTo>
                  <a:pt x="0" y="0"/>
                </a:moveTo>
                <a:lnTo>
                  <a:pt x="1" y="0"/>
                </a:lnTo>
                <a:lnTo>
                  <a:pt x="1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867025" y="1419225"/>
            <a:ext cx="842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怎么存、怎么回放、怎么回到出错前重来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2867025" y="1657350"/>
            <a:ext cx="8429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JSONL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一条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entry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一行、只追加：压缩不删日志，只追加一条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，随时可回溯。树形结构让任意历史消息都能分叉，像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git branch——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回到岔路口零成本重试。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2867025" y="2286000"/>
            <a:ext cx="842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日志会越滚越大，换来无损可回溯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685800" y="2819400"/>
            <a:ext cx="10820400" cy="1562100"/>
          </a:xfrm>
          <a:prstGeom prst="roundRect">
            <a:avLst>
              <a:gd name="adj" fmla="val 2439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895350" y="3314700"/>
            <a:ext cx="342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1333500" y="3314700"/>
            <a:ext cx="914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95350" y="3752850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2667000" y="3095625"/>
            <a:ext cx="8639175" cy="1019175"/>
          </a:xfrm>
          <a:custGeom>
            <a:pathLst>
              <a:path w="907" h="107">
                <a:moveTo>
                  <a:pt x="0" y="0"/>
                </a:moveTo>
                <a:lnTo>
                  <a:pt x="1" y="0"/>
                </a:lnTo>
                <a:lnTo>
                  <a:pt x="1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2867025" y="3095625"/>
            <a:ext cx="842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任务做完没、中途插话怎么办、怎么停干净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2867025" y="3333750"/>
            <a:ext cx="8429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：内层跑一个任务的工具循环，外层跑「答完接着聊」。插话不打断——进队列，在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边界注入；停止拆成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stopReason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、宿主钩子、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abort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三类原语。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2867025" y="3962400"/>
            <a:ext cx="842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内核零业务策略，终止条件全外置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685800" y="4495800"/>
            <a:ext cx="10820400" cy="1562100"/>
          </a:xfrm>
          <a:prstGeom prst="roundRect">
            <a:avLst>
              <a:gd name="adj" fmla="val 2439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895350" y="4991100"/>
            <a:ext cx="342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1333500" y="4991100"/>
            <a:ext cx="76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95350" y="5429250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2667000" y="4772025"/>
            <a:ext cx="8639175" cy="1019175"/>
          </a:xfrm>
          <a:custGeom>
            <a:pathLst>
              <a:path w="907" h="107">
                <a:moveTo>
                  <a:pt x="0" y="0"/>
                </a:moveTo>
                <a:lnTo>
                  <a:pt x="1" y="0"/>
                </a:lnTo>
                <a:lnTo>
                  <a:pt x="1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2867025" y="4772025"/>
            <a:ext cx="842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不改内核加工具、加拦截，还要能分发出去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2867025" y="5010150"/>
            <a:ext cx="8429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一个导出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default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函数的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TS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文件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事件钩子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registerTool / registerCommand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。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virtual modules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让扩展拿到宿主正在运行的那份模块实例——共享的是同一个对象，不是同一个版本号。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2867025" y="5638800"/>
            <a:ext cx="842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内核不含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、子代理、弹窗，想要就装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37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86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设计点 ⑦–⑨：事件 · 安全 · 远程&lt;/Text&gt;&#10;            &lt;Text style={{ marginTop: 8, fontSize: 17, color: 'rgba(232,238,249,0.52)' }}&gt;最后解决「怎么看清、怎么管住、怎么服务出去」&lt;/Text&gt;&#10;        &lt;/Box&gt;&#10;    &lt;/Box&gt;&#10;&#10;    {/* B 区 · 上二下一 */}&#10;    &lt;Box style={{ height: 516, flexDirection: 'column' }}&gt;&#10;        &lt;Box style={{ flexDirection: 'row', gap: 14, height: 244 }}&gt;&#10;            {[&#10;                {&#10;                    n: '07', name: '事件系统', layer: '⑦ 运营层',&#10;                    q: 'TUI、RPC、扩展、落盘、记账都要数据，内核不能挨个去调',&#10;                    m: '两套事件：内核 10 种，覆盖 run / turn / message / 工具执行四档粒度；产品层再叠 queue_update、compaction、auto_retry。message_update 把模型层 delta 原样套壳转发，usage 直接挂在消息上。',&#10;                    t: '事件面变大，换来所有消费者零耦合',&#10;                },&#10;                {&#10;                    n: '08', name: '安全与可观测', layer: '⑥ + ⑦',&#10;                    q: '内核不做权限、不给弹窗，那安全靠谁兜',&#10;                    m: '无沙箱哲学 + 三道防线：容器隔离（最硬）→ tool_call 钩子拦截（最灵活）→ 工具白名单（最简单）。可观测靠 usage 记账、telemetry 抽象与 evals 回归。',&#10;                    t: '默认裸奔有真实风险，内核才保住 418 行',&#10;                },&#10;            ].map((r, i) =&gt; (&#10;                &lt;Box key={i} style={{ flex: 1, flexDirection: 'column', paddingTop: 18, paddingBottom: 16, paddingLeft: 20, paddingRight: 20, background: 'rgba(22,35,61,0.62)', border: '1px solid rgba(42,212,238,0.18)', borderRadius: 4 }}&gt;&#10;                    &lt;Box style={{ flexDirection: 'row', alignItems: 'baseline', gap: 10 }}&gt;&#10;                        &lt;Text style={{ fontSize: 28, fontWeight: 'bold', color: '#2AD4EE', fontFamily: '&quot;JetBrains Mono&quot;, &quot;Cascadia Mono&quot;, Consolas, monospace', lineHeight: 1 }}&gt;{r.n}&lt;/Text&gt;&#10;                        &lt;Text style={{ fontSize: 19, fontWeight: 'bold', color: '#E8EEF9' }}&gt;{r.name}&lt;/Text&gt;&#10;                        &lt;Text style={{ marginLeft: 'auto', fontSize: 12, color: 'rgba(232,238,249,0.42)', letterSpacing: 1, fontFamily: '&quot;JetBrains Mono&quot;, &quot;Cascadia Mono&quot;, Consolas, monospace' }}&gt;{r.layer}&lt;/Text&gt;&#10;                    &lt;/Box&gt;&#10;                    &lt;Text style={{ marginTop: 12, fontSize: 13.5, color: 'rgba(232,238,249,0.50)' }}&gt;问题 · {r.q}&lt;/Text&gt;&#10;                    &lt;Text style={{ marginTop: 8, fontSize: 14, color: 'rgba(232,238,249,0.80)', lineHeight: 1.66 }}&gt;{r.m}&lt;/Text&gt;&#10;                    &lt;Text style={{ marginTop: 'auto', paddingTop: 8, fontSize: 13, color: 'rgba(42,212,238,0.86)' }}&gt;取舍 · {r.t}&lt;/Text&gt;&#10;                &lt;/Box&gt;&#10;            ))}&#10;        &lt;/Box&gt;&#10;&#10;        &lt;Box style={{ marginTop: 14, height: 152, flexDirection: 'row', alignItems: 'center', paddingLeft: 22, paddingRight: 22, background: 'rgba(42,212,238,0.06)', border: '1px solid rgba(42,212,238,0.24)', borderRadius: 4 }}&gt;&#10;            &lt;Box style={{ width: 186, flexDirection: 'column' }}&gt;&#10;                &lt;Box style={{ flexDirection: 'row', alignItems: 'baseline', gap: 10 }}&gt;&#10;                    &lt;Text style={{ fontSize: 28, fontWeight: 'bold', color: '#2AD4EE', fontFamily: '&quot;JetBrains Mono&quot;, &quot;Cascadia Mono&quot;, Consolas, monospace', lineHeight: 1 }}&gt;09&lt;/Text&gt;&#10;                    &lt;Text style={{ fontSize: 19, fontWeight: 'bold', color: '#E8EEF9' }}&gt;远程会话栈&lt;/Text&gt;&#10;                &lt;/Box&gt;&#10;                &lt;Text style={{ marginTop: 10, fontSize: 12.5, color: 'rgba(232,238,249,0.45)', letterSpacing: 1, fontFamily: '&quot;JetBrains Mono&quot;, &quot;Cascadia Mono&quot;, Consolas, monospace' }}&gt;七层之外 · 可选&lt;/Text&gt;&#10;            &lt;/Box&gt;&#10;            &lt;Box style={{ flex: 1, flexDirection: 'column', paddingLeft: 20, borderLeft: '1px solid rgba(232,238,249,0.12)' }}&gt;&#10;                &lt;Text style={{ fontSize: 14, color: 'rgba(232,238,249,0.50)' }}&gt;问题 · Web UI 与多端同时看一个会话，传输还各不相同&lt;/Text&gt;&#10;                &lt;Text style={{ marginTop: 8, fontSize: 14.5, color: 'rgba(232,238,249,0.80)', lineHeight: 1.66 }}&gt;CBOR 帧（4 字节长度头 + payload）+ ByteTransport 传输无关 + TranscriptItem 归一化 + 快照/增量同步 + 会话租约。server 不重写循环，内部复用的还是那个 AgentSession。&lt;/Text&gt;&#10;                &lt;Text style={{ marginTop: 8, fontSize: 13, color: 'rgba(42,212,238,0.86)' }}&gt;取舍 · 二进制更省更稳，但接 HTTP/SSE 得自己加网关&lt;/Text&gt;&#10;            &lt;/Box&gt;&#10;        &lt;/Box&gt;&#10;&#10;        &lt;Box style={{ marginTop: 'auto', flexDirection: 'row', alignItems: 'center', gap: 14, paddingTop: 12, paddingBottom: 12, paddingLeft: 18, paddingRight: 18, borderLeft: '3px solid #2AD4EE' }}&gt;&#10;            &lt;Text style={{ fontSize: 14, color: '#2AD4EE', letterSpacing: 3, fontFamily: '&quot;JetBrains Mono&quot;, &quot;Cascadia Mono&quot;, Consolas, monospace' }}&gt;所以&lt;/Text&gt;&#10;            &lt;Text style={{ fontSize: 16.5, color: '#E8EEF9', lineHeight: 1.55, flex: 1 }}&gt;&#10;                九点连起来是一套骨架：适配 → 上下文 → 工具 → 会话 → 循环 → 扩展 → 事件 → 护栏 → 远程。照着填，就是一个能上生产的 Agent。&#10;            &lt;/Text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8 / 3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6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设计点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⑦–⑨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：事件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安全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远程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最后解决「怎么看清、怎么管住、怎么服务出去」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685800" y="1143000"/>
            <a:ext cx="5343525" cy="2324100"/>
          </a:xfrm>
          <a:prstGeom prst="roundRect">
            <a:avLst>
              <a:gd name="adj" fmla="val 1639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876300" y="1314450"/>
            <a:ext cx="314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285875" y="1314450"/>
            <a:ext cx="723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5314950" y="1314450"/>
            <a:ext cx="523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00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76300" y="1752600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TUI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RPC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、扩展、落盘、记账都要数据，内核不能挨个去调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76300" y="1990725"/>
            <a:ext cx="49625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两套事件：内核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10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种，覆盖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run / turn / message /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工具执行四档粒度；产品层再叠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queue_update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auto_retry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。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message_update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把模型层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原样套壳转发，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usage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直接挂在消息上。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76300" y="3086100"/>
            <a:ext cx="4962525" cy="228600"/>
          </a:xfrm>
          <a:prstGeom prst="rect"/>
        </p:spPr>
        <p:txBody>
          <a:bodyPr wrap="none" lIns="0" tIns="5715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事件面变大，换来所有消费者零耦合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6162675" y="1143000"/>
            <a:ext cx="5343525" cy="2324100"/>
          </a:xfrm>
          <a:prstGeom prst="roundRect">
            <a:avLst>
              <a:gd name="adj" fmla="val 1639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353175" y="1314450"/>
            <a:ext cx="314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AD4EE"/>
                </a:solidFill>
                <a:latin typeface="JetBrains Mono"/>
                <a:ea typeface="JetBrains Mono"/>
              </a:rPr>
              <a:t>08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6762750" y="1314450"/>
            <a:ext cx="1085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10934700" y="131445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6353175" y="1752600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内核不做权限、不给弹窗，那安全靠谁兜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6353175" y="1990725"/>
            <a:ext cx="4962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无沙箱哲学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三道防线：容器隔离（最硬）→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tool_call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钩子拦截（最灵活）→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工具白名单（最简单）。可观测靠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usage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记账、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telemetry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抽象与</a:t>
            </a:r>
            <a:r>
              <a:rPr lang="en-US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evals </a:t>
            </a:r>
            <a:r>
              <a:rPr lang="zh-CN" sz="105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回归。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6353175" y="3086100"/>
            <a:ext cx="4962525" cy="228600"/>
          </a:xfrm>
          <a:prstGeom prst="rect"/>
        </p:spPr>
        <p:txBody>
          <a:bodyPr wrap="none" lIns="0" tIns="5715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默认裸奔有真实风险，内核才保住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行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85800" y="3600450"/>
            <a:ext cx="10820400" cy="1447800"/>
          </a:xfrm>
          <a:prstGeom prst="roundRect">
            <a:avLst>
              <a:gd name="adj" fmla="val 2632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95350" y="4048125"/>
            <a:ext cx="314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AD4EE"/>
                </a:solidFill>
                <a:latin typeface="JetBrains Mono"/>
                <a:ea typeface="JetBrains Mono"/>
              </a:rPr>
              <a:t>09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1304925" y="4048125"/>
            <a:ext cx="904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七层之外</a:t>
            </a:r>
            <a:r>
              <a:rPr lang="en-US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 spc="75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可选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2667000" y="3819525"/>
            <a:ext cx="8639175" cy="1019175"/>
          </a:xfrm>
          <a:custGeom>
            <a:pathLst>
              <a:path w="907" h="107">
                <a:moveTo>
                  <a:pt x="0" y="0"/>
                </a:moveTo>
                <a:lnTo>
                  <a:pt x="1" y="0"/>
                </a:lnTo>
                <a:lnTo>
                  <a:pt x="1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2867025" y="3819525"/>
            <a:ext cx="842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问题</a:t>
            </a:r>
            <a:r>
              <a:rPr lang="en-US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Web UI </a:t>
            </a:r>
            <a:r>
              <a:rPr lang="zh-CN" sz="105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与多端同时看一个会话，传输还各不相同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2867025" y="4057650"/>
            <a:ext cx="8429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帧（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4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字节长度头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payload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）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+ ByteTransport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传输无关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TranscriptItem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快照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/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增量同步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会话租约。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server 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不重写循环，内部复用的还是那个</a:t>
            </a:r>
            <a:r>
              <a:rPr lang="en-US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AgentSession</a:t>
            </a:r>
            <a:r>
              <a:rPr lang="zh-CN" sz="1088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2867025" y="4686300"/>
            <a:ext cx="842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取舍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二进制更省更稳，但接</a:t>
            </a:r>
            <a:r>
              <a:rPr lang="en-US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 xml:space="preserve"> HTTP/SSE </a:t>
            </a:r>
            <a:r>
              <a:rPr lang="zh-CN" sz="975">
                <a:solidFill>
                  <a:srgbClr val="2AD4EE">
                    <a:alpha val="86000"/>
                  </a:srgbClr>
                </a:solidFill>
                <a:latin typeface="Source Han Sans SC"/>
                <a:ea typeface="Source Han Sans SC"/>
              </a:rPr>
              <a:t>得自己加网关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5800" y="5534025"/>
            <a:ext cx="10848975" cy="523875"/>
          </a:xfrm>
          <a:custGeom>
            <a:pathLst>
              <a:path w="1139" h="55">
                <a:moveTo>
                  <a:pt x="0" y="0"/>
                </a:moveTo>
                <a:lnTo>
                  <a:pt x="3" y="0"/>
                </a:lnTo>
                <a:lnTo>
                  <a:pt x="3" y="55"/>
                </a:lnTo>
                <a:lnTo>
                  <a:pt x="0" y="55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85825" y="5715000"/>
            <a:ext cx="32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1343025" y="5648325"/>
            <a:ext cx="9991725" cy="2952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九点连起来是一套骨架：适配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上下文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会话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扩展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事件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远程。照着填，就是一个能上生产的</a:t>
            </a:r>
            <a:r>
              <a:rPr lang="en-US" sz="12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38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37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98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三层定制能力&lt;/Text&gt;&#13;&#10;            &lt;Text style={{ marginTop: 8, fontSize: 17, color: 'rgba(232,238,249,0.52)' }}&gt;投入成本从小时级到周级，按需选路线&lt;/Text&gt;&#13;&#10;        &lt;/Box&gt;&#13;&#10;    &lt;/Box&gt;&#13;&#10;&#13;&#10;    {/* B 区 · 非对称双栏 60:40 */}&#13;&#10;    &lt;Box style={{ height: 516, flexDirection: 'row', gap: 32 }}&gt;&#13;&#10;        {/* 左：三条路线 */}&#13;&#10;        &lt;Box style={{ flex: 60, flexDirection: 'column', paddingRight: 30, borderRight: '1px solid rgba(232,238,249,0.12)' }}&gt;&#13;&#10;            &lt;Box style={{ flexDirection: 'row', alignItems: 'center', justifyContent: 'space-between' }}&gt;&#13;&#10;                &lt;Text style={{ fontSize: 15, color: '#2AD4EE', letterSpacing: 3, fontFamily: '&quot;JetBrains Mono&quot;, &quot;Cascadia Mono&quot;, Consolas, monospace' }}&gt;THREE ROUTES&lt;/Text&gt;&#13;&#10;                &lt;Text style={{ fontSize: 13, color: 'rgba(232,238,249,0.42)' }}&gt;越往下，改动越深、成本越高&lt;/Text&gt;&#13;&#10;            &lt;/Box&gt;&#13;&#10;&#13;&#10;            &lt;Box style={{ flex: 1, marginTop: 12, flexDirection: 'column', justifyContent: 'space-between' }}&gt;&#13;&#10;                {[&#13;&#10;                    { n: '路线 1', t: 'Skills', layer: '提示词层', cost: '小时级', i: 'file-lines', d: '一个遵循开放 Agent Skills 标准的 Markdown 文件夹，描述「遇到某类任务该怎么做」。模型按需自动加载，不占常驻上下文。', hint: '.pi/skills/release-checklist/SKILL.md' },&#13;&#10;                    { n: '路线 2', t: 'Extensions', layer: '运行时层', cost: '天级', i: 'puzzle-piece', d: '用 TypeScript 写扩展：给 Agent 加自定义工具，或修改运行时行为——在工具调用前后插入自己的校验与拦截。', hint: '.pi/extensions/*.ts' },&#13;&#10;                    { n: '路线 3', t: 'SDK', layer: '进程内嵌层', cost: '周级', i: 'code', d: 'createAgentSession 在调用方进程内构建完整会话，可注入存储、配置、认证、模型注册表与工具。', hint: '无桥接 · 无子进程 · 无 socket' },&#13;&#10;                ].map((c, i) =&gt; (&#13;&#10;                    &lt;Box key={i} style={{ flex: 1, flexDirection: 'row', gap: 16, alignItems: 'center', paddingTop: 12, paddingBottom: 12, paddingLeft: 16, paddingRight: 16, background: 'rgba(22,35,61,0.88)', borderLeft: '3px solid rgba(42,212,238,0.7)', borderRadius: 3 }}&gt;&#13;&#10;                        &lt;Box style={{ width: 42, height: 42, borderRadius: 4, background: 'rgba(42,212,238,0.12)', alignItems: 'center', justifyContent: 'center' }}&gt;&#13;&#10;                            &lt;FAIcon name={c.i} style={{ fill: '#2AD4EE', width: 19, height: 19 }} /&gt;&#13;&#10;                        &lt;/Box&gt;&#13;&#10;                        &lt;Box style={{ flex: 1, flexDirection: 'column' }}&gt;&#13;&#10;                            &lt;Box style={{ flexDirection: 'row', alignItems: 'baseline', gap: 10 }}&gt;&#13;&#10;                                &lt;Text style={{ fontSize: 13, color: 'rgba(42,212,238,0.75)', fontFamily: '&quot;JetBrains Mono&quot;, &quot;Cascadia Mono&quot;, Consolas, monospace' }}&gt;{c.n}&lt;/Text&gt;&#13;&#10;                                &lt;Text style={{ fontSize: 21, fontWeight: 'bold', color: '#E8EEF9' }}&gt;{c.t}&lt;/Text&gt;&#13;&#10;                                &lt;Text style={{ fontSize: 13, color: 'rgba(232,238,249,0.5)' }}&gt;{c.layer}&lt;/Text&gt;&#13;&#10;                            &lt;/Box&gt;&#13;&#10;                            &lt;Text style={{ marginTop: 8, fontSize: 14.5, color: 'rgba(232,238,249,0.68)', lineHeight: 1.6 }}&gt;{c.d}&lt;/Text&gt;&#13;&#10;                            &lt;Text style={{ marginTop: 7, fontSize: 12.5, color: 'rgba(42,212,238,0.72)', fontFamily: '&quot;JetBrains Mono&quot;, &quot;Cascadia Mono&quot;, Consolas, monospace' }}&gt;{c.hint}&lt;/Text&gt;&#13;&#10;                        &lt;/Box&gt;&#13;&#10;                        &lt;Box style={{ paddingTop: 4, paddingBottom: 4, paddingLeft: 10, paddingRight: 10, background: 'rgba(42,212,238,0.10)', border: '1px solid rgba(42,212,238,0.30)', borderRadius: 3 }}&gt;&#13;&#10;                            &lt;Text style={{ fontSize: 13, color: '#2AD4EE' }}&gt;{c.cost}&lt;/Text&gt;&#13;&#10;                        &lt;/Box&gt;&#13;&#10;                    &lt;/Box&gt;&#13;&#10;                ))}&#13;&#10;            &lt;/Box&gt;&#13;&#10;        &lt;/Box&gt;&#13;&#10;&#13;&#10;        {/* 右：成本梯度 + 判断 */}&#13;&#10;        &lt;Box style={{ flex: 40, flexDirection: 'column' }}&gt;&#13;&#10;            &lt;Text style={{ fontSize: 15, color: 'rgba(232,238,249,0.52)', letterSpacing: 2, fontFamily: '&quot;JetBrains Mono&quot;, &quot;Cascadia Mono&quot;, Consolas, monospace' }}&gt;COST LADDER&lt;/Text&gt;&#13;&#10;&#13;&#10;            &lt;Box style={{ marginTop: 16, flexDirection: 'column', gap: 16 }}&gt;&#13;&#10;                {[&#13;&#10;                    { l: 'Skills', c: '小时级', w: '34%' },&#13;&#10;                    { l: 'Extensions', c: '天级', w: '66%' },&#13;&#10;                    { l: 'SDK', c: '周级', w: '100%' },&#13;&#10;                ].map((r, i) =&gt; (&#13;&#10;                    &lt;Box key={i} style={{ flexDirection: 'column', gap: 7 }}&gt;&#13;&#10;                        &lt;Box style={{ flexDirection: 'row', alignItems: 'baseline', justifyContent: 'space-between' }}&gt;&#13;&#10;                            &lt;Text style={{ fontSize: 15, fontWeight: '600', color: '#E8EEF9', fontFamily: '&quot;JetBrains Mono&quot;, &quot;Cascadia Mono&quot;, Consolas, monospace' }}&gt;{r.l}&lt;/Text&gt;&#13;&#10;                            &lt;Text style={{ fontSize: 14, color: '#2AD4EE' }}&gt;{r.c}&lt;/Text&gt;&#13;&#10;                        &lt;/Box&gt;&#13;&#10;                        &lt;Box style={{ height: 9, width: r.w, background: 'linear-gradient(90deg, #2AD4EE 0%, rgba(42,212,238,0.18) 100%)', borderRadius: 2 }} /&gt;&#13;&#10;                    &lt;/Box&gt;&#13;&#10;                ))}&#13;&#10;            &lt;/Box&gt;&#13;&#10;&#13;&#10;            &lt;Box style={{ marginTop: 24, paddingTop: 16, paddingBottom: 16, paddingLeft: 16, paddingRight: 16, background: 'rgba(22,35,61,0.92)', border: '1px solid rgba(232,238,249,0.12)', borderRadius: 4 }}&gt;&#13;&#10;                &lt;Text style={{ fontSize: 14, color: 'rgba(232,238,249,0.45)', letterSpacing: 2, fontFamily: '&quot;JetBrains Mono&quot;, &quot;Cascadia Mono&quot;, Consolas, monospace' }}&gt;ASK FIRST&lt;/Text&gt;&#13;&#10;                &lt;Text style={{ marginTop: 10, fontSize: 15.5, color: 'rgba(232,238,249,0.76)', lineHeight: 1.7 }}&gt;&#13;&#10;                    绝大多数团队需求，停在&#13;&#10;                    &lt;span style={{ color: '#2AD4EE', fontWeight: '600' }}&gt; Skills &lt;/span&gt;&#13;&#10;                    就够了——先把经验写成文档，再谈改代码。&#13;&#10;                &lt;/Text&gt;&#13;&#10;            &lt;/Box&gt;&#13;&#10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6, color: '#E8EEF9', lineHeight: 1.7 }}&gt;&#13;&#10;                    先问「我要改造哪一层」，再选路线——不要一上来就走最深的那条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29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752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三层定制能力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投入成本从小时级到周级，按需选路线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685800" y="1143000"/>
            <a:ext cx="6315075" cy="4914900"/>
          </a:xfrm>
          <a:custGeom>
            <a:pathLst>
              <a:path w="663" h="516">
                <a:moveTo>
                  <a:pt x="662" y="0"/>
                </a:moveTo>
                <a:lnTo>
                  <a:pt x="663" y="0"/>
                </a:lnTo>
                <a:lnTo>
                  <a:pt x="663" y="516"/>
                </a:lnTo>
                <a:lnTo>
                  <a:pt x="66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ROUTES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5086350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越往下，改动越深、成本越高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714375" y="14287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907" name=""/>
          <p:cNvSpPr/>
          <p:nvPr/>
        </p:nvSpPr>
        <p:spPr>
          <a:xfrm rot="0" flipH="0" flipV="0">
            <a:off x="714375" y="14287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908" name=""/>
          <p:cNvSpPr/>
          <p:nvPr/>
        </p:nvSpPr>
        <p:spPr>
          <a:xfrm rot="0" flipH="0" flipV="0">
            <a:off x="866775" y="2000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9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14550"/>
            <a:ext cx="180975" cy="180975"/>
          </a:xfrm>
          <a:prstGeom prst="rect">
            <a:avLst/>
          </a:prstGeom>
          <a:ln/>
        </p:spPr>
      </p:pic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1419225" y="16668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1914525" y="1666875"/>
            <a:ext cx="45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Skills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2466975" y="166687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提示词层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1419225" y="1990725"/>
            <a:ext cx="44100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一个遵循开放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Skills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标准的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文件夹，描述「遇到某类任务该怎么做」。模型按需自动加载，不占常驻上下文。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1419225" y="2590800"/>
            <a:ext cx="441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.pi/skills/release-checklist/SKILL.md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5981700" y="2085975"/>
            <a:ext cx="561975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076950" y="2124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714375" y="297180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918" name=""/>
          <p:cNvSpPr/>
          <p:nvPr/>
        </p:nvSpPr>
        <p:spPr>
          <a:xfrm rot="0" flipH="0" flipV="0">
            <a:off x="714375" y="297180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919" name=""/>
          <p:cNvSpPr/>
          <p:nvPr/>
        </p:nvSpPr>
        <p:spPr>
          <a:xfrm rot="0" flipH="0" flipV="0">
            <a:off x="866775" y="354330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9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57600"/>
            <a:ext cx="180975" cy="180975"/>
          </a:xfrm>
          <a:prstGeom prst="rect">
            <a:avLst/>
          </a:prstGeom>
          <a:ln/>
        </p:spPr>
      </p:pic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419225" y="32099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1914525" y="32099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Extensions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2952750" y="320992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运行时层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419225" y="353377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用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TypeScript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写扩展：给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加自定义工具，或修改运行时行为——在工具调用前后插入自己的校验与拦截。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1419225" y="413385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.pi/extensions/*.ts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6105525" y="362902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200775" y="3667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714375" y="45148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929" name=""/>
          <p:cNvSpPr/>
          <p:nvPr/>
        </p:nvSpPr>
        <p:spPr>
          <a:xfrm rot="0" flipH="0" flipV="0">
            <a:off x="714375" y="45148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930" name=""/>
          <p:cNvSpPr/>
          <p:nvPr/>
        </p:nvSpPr>
        <p:spPr>
          <a:xfrm rot="0" flipH="0" flipV="0">
            <a:off x="866775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9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200650"/>
            <a:ext cx="180975" cy="180975"/>
          </a:xfrm>
          <a:prstGeom prst="rect">
            <a:avLst/>
          </a:prstGeom>
          <a:ln/>
        </p:spPr>
      </p:pic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1419225" y="4752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1914525" y="4752975"/>
            <a:ext cx="37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SDK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2381250" y="4752975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进程内嵌层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1419225" y="507682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createAgentSession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在调用方进程内构建完整会话，可注入存储、配置、认证、模型注册表与工具。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1419225" y="56769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无桥接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无子进程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socket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6105525" y="517207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62007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296150" y="11430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COST LADDER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11106150" y="14668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7296150" y="1704975"/>
            <a:ext cx="14287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296150" y="1943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Extensions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11239500" y="19431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7296150" y="2181225"/>
            <a:ext cx="278130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296150" y="2419350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SDK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11239500" y="24193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296150" y="2657475"/>
            <a:ext cx="42100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7296150" y="2971800"/>
            <a:ext cx="4210050" cy="1171575"/>
          </a:xfrm>
          <a:prstGeom prst="roundRect">
            <a:avLst>
              <a:gd name="adj" fmla="val 3252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ASK FIRST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3905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绝大多数团队需求，停在</a:t>
            </a:r>
            <a:r>
              <a:rPr lang="en-US" sz="1163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Skills </a:t>
            </a: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就够了——先把经验写成文档，再谈改代码。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296150" y="4867275"/>
            <a:ext cx="4210050" cy="1190625"/>
          </a:xfrm>
          <a:prstGeom prst="roundRect">
            <a:avLst>
              <a:gd name="adj" fmla="val 32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7448550" y="50196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7448550" y="5276850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先问「我要改造哪一层」，再选路线——不要一上来就走最深的那条。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37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86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sec_practice.png&quot; style={{ position: 'absolute', left: 0, top: 0, width: 1536, height: 1024 }} /&gt;&#13;&#10;&#13;&#10;    &lt;Box style={{ position: 'absolute', left: 0, top: 0, width: 1040, height: 720, background: 'linear-gradient(90deg, rgba(11,18,32,0.97) 0%, rgba(11,18,32,0.84) 50%, rgba(11,18,32,0) 100%)' }} /&gt;&#13;&#10;    &lt;Box style={{ position: 'absolute', left: 0, top: 0, width: 6, height: 720, background: 'linear-gradient(180deg, #2AD4EE 0%, rgba(42,212,238,0) 100%)' }} /&gt;&#13;&#10;&#13;&#10;    {/* 左：整列分布 */}&#13;&#10;    &lt;Box style={{ position: 'absolute', left: 88, top: 152, width: 700, height: 508, flexDirection: 'column', justifyContent: 'space-between' }}&gt;&#13;&#10;        &lt;Box style={{ flexDirection: 'column' }}&gt;&#13;&#10;            &lt;Text style={{ fontSize: 18, color: '#2AD4EE', letterSpacing: 7, fontFamily: '&quot;JetBrains Mono&quot;, &quot;Cascadia Mono&quot;, Consolas, monospace' }}&gt;CHAPTER 04&lt;/Text&gt;&#13;&#10;            &lt;Text style={{ marginTop: 22, fontSize: 64, fontWeight: 'bold', color: '#E8EEF9', letterSpacing: 1, lineHeight: 1.2 }}&gt;&#13;&#10;                落地实践：&#13;&#10;                &lt;br /&gt;&#13;&#10;                &lt;span style={{ color: '#2AD4EE' }}&gt;智数问答 agent-DQ&lt;/span&gt;&#13;&#10;            &lt;/Text&gt;&#13;&#10;        &lt;/Box&gt;&#13;&#10;&#13;&#10;        &lt;Box style={{ flexDirection: 'column' }}&gt;&#13;&#10;            &lt;Box style={{ width: 76, height: 4, background: '#2AD4EE' }} /&gt;&#13;&#10;            &lt;Text style={{ marginTop: 24, fontSize: 21, color: 'rgba(232,238,249,0.72)', lineHeight: 1.75 }}&gt;&#13;&#10;                把前面所有知识，&#13;&#10;                &lt;br /&gt;&#13;&#10;                装进一个真实业务系统。&#13;&#10;            &lt;/Text&gt;&#13;&#10;        &lt;/Box&gt;&#13;&#10;&#13;&#10;        &lt;Box style={{ flexDirection: 'column' }}&gt;&#13;&#10;            &lt;Box style={{ width: 420, height: 1, background: 'rgba(232,238,249,0.18)' }} /&gt;&#13;&#10;            &lt;Text style={{ marginTop: 16, fontSize: 13, color: 'rgba(232,238,249,0.42)', letterSpacing: 3, fontFamily: '&quot;JetBrains Mono&quot;, &quot;Cascadia Mono&quot;, Consolas, monospace' }}&gt;本章要回答&lt;/Text&gt;&#13;&#10;            &lt;Box style={{ marginTop: 12, flexDirection: 'column', gap: 8 }}&gt;&#13;&#10;                {['三级路由是怎么把准确率拉起来的？', '加一个工具，为什么不用改主干代码？', '真实项目里到底踩过哪些坑？'].map((t, i) =&gt; (&#13;&#10;                    &lt;Box key={i} style={{ flexDirection: 'row', alignItems: 'center', gap: 12 }}&gt;&#13;&#10;                        &lt;Box style={{ width: 5, height: 5, background: '#2AD4EE' }} /&gt;&#13;&#10;                        &lt;Text style={{ fontSize: 17, color: 'rgba(232,238,249,0.78)' }}&gt;{t}&lt;/Text&gt;&#13;&#10;                    &lt;/Box&gt;&#13;&#10;                ))}&#13;&#10;            &lt;/Box&gt;&#13;&#10;        &lt;/Box&gt;&#13;&#10;    &lt;/Box&gt;&#13;&#10;&#13;&#10;    {/* 右：章节号 + 目录 */}&#13;&#10;    &lt;Box style={{ position: 'absolute', right: 88, top: 336, width: 392, flexDirection: 'column', paddingTop: 22, paddingBottom: 22, paddingLeft: 24, paddingRight: 24, background: 'rgba(11,18,32,0.82)', border: '1px solid rgba(42,212,238,0.22)', borderRadius: 4 }}&gt;&#13;&#10;        &lt;Box style={{ flexDirection: 'row', alignItems: 'flex-end', justifyContent: 'space-between' }}&gt;&#13;&#10;            &lt;Text style={{ fontSize: 76, fontWeight: 'bold', color: 'rgba(42,212,238,0.55)', fontFamily: '&quot;JetBrains Mono&quot;, &quot;Cascadia Mono&quot;, Consolas, monospace', lineHeight: 1 }}&gt;04&lt;/Text&gt;&#13;&#10;            &lt;Text style={{ fontSize: 13, color: 'rgba(232,238,249,0.42)', letterSpacing: 3, fontFamily: '&quot;JetBrains Mono&quot;, &quot;Cascadia Mono&quot;, Consolas, monospace', paddingBottom: 8 }}&gt;PAGES 30 – 36&lt;/Text&gt;&#13;&#10;        &lt;/Box&gt;&#13;&#10;        &lt;Box style={{ marginTop: 18, flexDirection: 'column', gap: 12 }}&gt;&#13;&#10;            {['项目概览与三级路由', '发现式注册 · 隔离安全 · 流式渲染', '四个真实 Bug 与修法'].map((t, i) =&gt; (&#13;&#10;                &lt;Box key={i} style={{ flexDirection: 'row', alignItems: 'center', gap: 12 }}&gt;&#13;&#10;                    &lt;Box style={{ width: 18, height: 1, background: 'rgba(42,212,238,0.6)' }} /&gt;&#13;&#10;                    &lt;Text style={{ fontSize: 17, color: 'rgba(232,238,249,0.82)' }}&gt;{t}&lt;/Text&gt;&#13;&#10;                &lt;/Box&gt;&#13;&#10;            ))}&#13;&#10;        &lt;/Box&gt;&#13;&#10;    &lt;/Box&gt;&#13;&#10;&#13;&#10;    &lt;Text style={{ position: 'absolute', left: 88, top: 674, fontSize: 14, color: 'rgba(232,238,249,0.42)', fontFamily: '&quot;JetBrains Mono&quot;, &quot;Cascadia Mono&quot;, Consolas, monospace' }}&gt;30 / 37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98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989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90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1001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30 – 36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37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01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项目概览：一句话与一套栈&lt;/Text&gt;&#13;&#10;            &lt;Text style={{ marginTop: 8, fontSize: 17, color: 'rgba(232,238,249,0.52)' }}&gt;自然语言进，结构化结果出，PI 在中间做编排&lt;/Text&gt;&#13;&#10;        &lt;/Box&gt;&#13;&#10;    &lt;/Box&gt;&#13;&#10;&#13;&#10;    {/* B 区 · 非对称双栏 56:44 */}&#13;&#10;    &lt;Box style={{ height: 516, flexDirection: 'row', gap: 32 }}&gt;&#13;&#10;        {/* 左：链路总览 */}&#13;&#10;        &lt;Box style={{ flex: 56, flexDirection: 'column', paddingRight: 30, borderRight: '1px solid rgba(232,238,249,0.12)' }}&gt;&#13;&#10;            &lt;Box style={{ flexDirection: 'row', alignItems: 'center', justifyContent: 'space-between' }}&gt;&#13;&#10;                &lt;Text style={{ fontSize: 15, color: '#2AD4EE', letterSpacing: 3, fontFamily: '&quot;JetBrains Mono&quot;, &quot;Cascadia Mono&quot;, Consolas, monospace' }}&gt;END-TO-END&lt;/Text&gt;&#13;&#10;                &lt;Text style={{ fontSize: 13, color: 'rgba(232,238,249,0.42)' }}&gt;HTTP + SSE 全链路流式&lt;/Text&gt;&#13;&#10;            &lt;/Box&gt;&#13;&#10;&#13;&#10;            &lt;Box style={{ flex: 1, marginTop: 12, flexDirection: 'column' }}&gt;&#13;&#10;                {[&#13;&#10;                    { t: '用户输入', d: '自然语言提问 · 前端 Vue3 + TS + Pinia', tag: 'CLIENT' },&#13;&#10;                    { t: 'Node (Koa) 服务', d: 'JWT 鉴权 · 数据范围注入 · SSE 通道', tag: 'SERVER' },&#13;&#10;                    { t: 'PI 智能体', d: '@earendil-works/pi-coding-agent，编排核心', tag: 'AGENT' },&#13;&#10;                    { t: '查询工具', d: '业务 API · 指标模板 · 受控 SQL · 图表 / 表格 / KPI 发射', tag: 'TOOLS' },&#13;&#10;                    { t: '前端流式渲染', d: '文本 · 表格 · 图表 · KPI 卡片，按 renderer 路由', tag: 'RENDER' },&#13;&#10;                ].map((s, i) =&gt; (&#13;&#10;                    &lt;Box key={i} style={{ flex: 1, flexDirection: 'column' }}&gt;&#13;&#10;                        &lt;Box style={{ flex: 1, flexDirection: 'row', alignItems: 'center', gap: 14, paddingLeft: 16, paddingRight: 16, background: i === 2 ? 'rgba(42,212,238,0.14)' : 'rgba(22,35,61,0.92)', border: i === 2 ? '1px solid rgba(42,212,238,0.48)' : '1px solid rgba(232,238,249,0.10)', borderRadius: 3 }}&gt;&#13;&#10;                            &lt;Text style={{ width: 62, fontSize: 12, color: i === 2 ? '#2AD4EE' : 'rgba(232,238,249,0.40)', letterSpacing: 1, fontFamily: '&quot;JetBrains Mono&quot;, &quot;Cascadia Mono&quot;, Consolas, monospace' }}&gt;{s.tag}&lt;/Text&gt;&#13;&#10;                            &lt;Box style={{ flexDirection: 'column', flex: 1 }}&gt;&#13;&#10;                                &lt;Text style={{ fontSize: 18, fontWeight: 'bold', color: '#E8EEF9' }}&gt;{s.t}&lt;/Text&gt;&#13;&#10;                                &lt;Text style={{ marginTop: 4, fontSize: 13.5, color: 'rgba(232,238,249,0.60)' }}&gt;{s.d}&lt;/Text&gt;&#13;&#10;                            &lt;/Box&gt;&#13;&#10;                        &lt;/Box&gt;&#13;&#10;                        {i &lt; 4 &amp;&amp; (&#13;&#10;                            &lt;Box style={{ height: 18, flexDirection: 'row', alignItems: 'center', paddingLeft: 26 }}&gt;&#13;&#10;                                &lt;Text style={{ fontSize: 13, color: 'rgba(42,212,238,0.7)', fontFamily: '&quot;JetBrains Mono&quot;, &quot;Cascadia Mono&quot;, Consolas, monospace' }}&gt;↓&lt;/Text&gt;&#13;&#10;                            &lt;/Box&gt;&#13;&#10;                        )}&#13;&#10;                    &lt;/Box&gt;&#13;&#10;                ))}&#13;&#10;            &lt;/Box&gt;&#13;&#10;        &lt;/Box&gt;&#13;&#10;&#13;&#10;        {/* 右：技术栈 + 判断 */}&#13;&#10;        &lt;Box style={{ flex: 44, flexDirection: 'column' }}&gt;&#13;&#10;            &lt;Text style={{ fontSize: 15, color: 'rgba(232,238,249,0.52)', letterSpacing: 2, fontFamily: '&quot;JetBrains Mono&quot;, &quot;Cascadia Mono&quot;, Consolas, monospace' }}&gt;TECH STACK&lt;/Text&gt;&#13;&#10;&#13;&#10;            &lt;Box style={{ marginTop: 14, flexDirection: 'column' }}&gt;&#13;&#10;                {[&#13;&#10;                    ['前端', 'Vue3 + TS + Pinia + Router'],&#13;&#10;                    ['服务端', 'Node + TS + Koa'],&#13;&#10;                    ['智能体', '@earendil-works/pi-coding-agent'],&#13;&#10;                    ['数据', '内存 JSON 种子数据，无需外部数据库'],&#13;&#10;                    ['注册', '.pi/ 目录发现式注册，代码零硬编码'],&#13;&#10;                ].map((r, i) =&gt; (&#13;&#10;                    &lt;Box key={i} style={{ flexDirection: 'row', alignItems: 'center', gap: 12, paddingTop: 9, paddingBottom: 9, borderBottom: '1px solid rgba(232,238,249,0.08)' }}&gt;&#13;&#10;                        &lt;Text style={{ width: 56, fontSize: 13.5, color: 'rgba(232,238,249,0.45)', fontFamily: '&quot;JetBrains Mono&quot;, &quot;Cascadia Mono&quot;, Consolas, monospace' }}&gt;{r[0]}&lt;/Text&gt;&#13;&#10;                        &lt;Text style={{ flex: 1, fontSize: 14.5, color: '#E8EEF9', lineHeight: 1.5 }}&gt;{r[1]}&lt;/Text&gt;&#13;&#10;                    &lt;/Box&gt;&#13;&#10;                ))}&#13;&#10;            &lt;/Box&gt;&#13;&#10;&#13;&#10;            &lt;Box style={{ marginTop: 20, paddingTop: 14, paddingBottom: 14, paddingLeft: 16, paddingRight: 16, background: 'rgba(22,35,61,0.92)', border: '1px solid rgba(232,238,249,0.12)', borderRadius: 4 }}&gt;&#13;&#10;                &lt;Text style={{ fontSize: 13, color: 'rgba(232,238,249,0.45)', letterSpacing: 2, fontFamily: '&quot;JetBrains Mono&quot;, &quot;Cascadia Mono&quot;, Consolas, monospace' }}&gt;要解决的三件事&lt;/Text&gt;&#13;&#10;                &lt;Box style={{ marginTop: 10, flexDirection: 'column', gap: 8 }}&gt;&#13;&#10;                    {['用户角色 / 部门的数据范围隔离', '多租户隔离（共享库 + tenant_id）', '指标的准确性与可追溯'].map((t, i) =&gt; (&#13;&#10;                        &lt;Box key={i} style={{ flexDirection: 'row', alignItems: 'center', gap: 10 }}&gt;&#13;&#10;                            &lt;Text style={{ fontSize: 13, color: '#2AD4EE', fontFamily: '&quot;JetBrains Mono&quot;, &quot;Cascadia Mono&quot;, Consolas, monospace' }}&gt;0{i + 1}&lt;/Text&gt;&#13;&#10;                            &lt;Text style={{ flex: 1, fontSize: 14.5, color: 'rgba(232,238,249,0.72)' }}&gt;{t}&lt;/Text&gt;&#13;&#10;                        &lt;/Box&gt;&#13;&#10;                    ))}&#13;&#10;                &lt;/Box&gt;&#13;&#10;            &lt;/Box&gt;&#13;&#10;&#13;&#10;            &lt;Box style={{ marginTop: 'auto', paddingTop: 14, paddingBottom: 14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8, fontSize: 16, color: '#E8EEF9', lineHeight: 1.7 }}&gt;&#13;&#10;                    PI 是&lt;span style={{ color: '#2AD4EE' }}&gt;编排核心&lt;/span&gt;，不是外挂组件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1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1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37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07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三级路由：准确性的核心&lt;/Text&gt;&#13;&#10;            &lt;Text style={{ marginTop: 8, fontSize: 17, color: 'rgba(232,238,249,0.52)' }}&gt;按顺序判断，不得跳级；缺参数就不调工具&lt;/Text&gt;&#13;&#10;        &lt;/Box&gt;&#13;&#10;    &lt;/Box&gt;&#13;&#10;&#13;&#10;    {/* B 区 */}&#13;&#10;    &lt;Box style={{ height: 516, flexDirection: 'row', gap: 34 }}&gt;&#13;&#10;        {/* 左：巨型数字 + 判断 */}&#13;&#10;        &lt;Box style={{ width: 336, flexDirection: 'column', paddingRight: 32, borderRight: '1px solid rgba(232,238,249,0.12)' }}&gt;&#13;&#10;            &lt;Text style={{ fontSize: 15, color: '#2AD4EE', letterSpacing: 3, fontFamily: '&quot;JetBrains Mono&quot;, &quot;Cascadia Mono&quot;, Consolas, monospace' }}&gt;ROUTING BY PRIORITY&lt;/Text&gt;&#13;&#10;            &lt;Text style={{ marginTop: 10, fontSize: 96, fontWeight: 'bold', color: '#2AD4EE', fontFamily: '&quot;JetBrains Mono&quot;, &quot;Cascadia Mono&quot;, Consolas, monospace', lineHeight: 1 }}&gt;三级&lt;/Text&gt;&#13;&#10;            &lt;Text style={{ marginTop: 16, fontSize: 21, fontWeight: 'bold', color: '#E8EEF9', lineHeight: 1.5 }}&gt;&#13;&#10;                强约束优先，&#13;&#10;                &lt;br /&gt;&#13;&#10;                自由 SQL 兜底&#13;&#10;            &lt;/Text&gt;&#13;&#10;            &lt;Text style={{ marginTop: 16, fontSize: 16, color: 'rgba(232,238,249,0.72)', lineHeight: 1.75 }}&gt;&#13;&#10;                越往上，模型能编造的空间越小。自由 SQL 永远放在最后，而且一定会被 AST 校验和范围注入重写一遍。&#13;&#10;            &lt;/Text&gt;&#13;&#10;            &lt;Box style={{ marginTop: 'auto', paddingTop: 16, paddingBottom: 16, paddingLeft: 18, paddingRight: 18, background: 'rgba(42,212,238,0.08)', border: '1px solid rgba(42,212,238,0.22)', borderRadius: 4 }}&gt;&#13;&#10;                &lt;Text style={{ fontSize: 15, color: '#2AD4EE', letterSpacing: 3, fontFamily: '&quot;JetBrains Mono&quot;, &quot;Cascadia Mono&quot;, Consolas, monospace' }}&gt;所以&lt;/Text&gt;&#13;&#10;                &lt;Text style={{ marginTop: 10, fontSize: 17, color: '#E8EEF9', lineHeight: 1.7 }}&gt;&#13;&#10;                    把「选哪条路」从模型手里收回来，才是准不准的关键。&#13;&#10;                &lt;/Text&gt;&#13;&#10;            &lt;/Box&gt;&#13;&#10;        &lt;/Box&gt;&#13;&#10;&#13;&#10;        {/* 右：三级阶梯 */}&#13;&#10;        &lt;Box style={{ flex: 1, flexDirection: 'column' }}&gt;&#13;&#10;            &lt;Box style={{ flexDirection: 'row', alignItems: 'center', justifyContent: 'space-between' }}&gt;&#13;&#10;                &lt;Text style={{ fontSize: 15, color: 'rgba(232,238,249,0.52)', letterSpacing: 2, fontFamily: '&quot;JetBrains Mono&quot;, &quot;Cascadia Mono&quot;, Consolas, monospace' }}&gt;DECISION ORDER · 自上而下，命中即停&lt;/Text&gt;&#13;&#10;                &lt;Text style={{ fontSize: 13, color: 'rgba(232,238,249,0.42)' }}&gt;跳级 = 准确率失控&lt;/Text&gt;&#13;&#10;            &lt;/Box&gt;&#13;&#10;&#13;&#10;            &lt;Box style={{ flex: 1, marginTop: 12, flexDirection: 'column' }}&gt;&#13;&#10;                {[&#13;&#10;                    { n: '①', t: '业务 API', tool: 'call_business_api', badge: '强约束', d: '先看问题是否命中租户的业务 API 清单；字典类 API 可直接按名调用。参数齐全才执行。' },&#13;&#10;                    { n: '②', t: '指标模板', tool: 'query_metric', badge: '中等约束', d: '未命中 API，再看是否命中预定义指标字典；检查维度 / 时间 / 过滤参数是否齐全。' },&#13;&#10;                    { n: '③', t: '受控 SQL', tool: 'run_safe_sql', badge: '受控兜底', d: '前两级都没命中才走自由 SQL；AST 校验 + 强制注入租户与数据范围后执行。' },&#13;&#10;                ].map((r, i) =&gt; (&#13;&#10;                    &lt;Box key={i} style={{ flex: 1, flexDirection: 'column' }}&gt;&#13;&#10;                        &lt;Box style={{ flex: 1, flexDirection: 'row', alignItems: 'center', gap: 16, paddingLeft: 18, paddingRight: 18, background: i === 0 ? 'rgba(42,212,238,0.13)' : 'rgba(22,35,61,0.94)', border: i === 0 ? '1px solid rgba(42,212,238,0.45)' : '1px solid rgba(232,238,249,0.10)', borderLeft: '4px solid #2AD4EE', borderRadius: 3 }}&gt;&#13;&#10;                            &lt;Text style={{ width: 34, fontSize: 30, color: '#2AD4EE', fontFamily: '&quot;JetBrains Mono&quot;, &quot;Cascadia Mono&quot;, Consolas, monospace', lineHeight: 1 }}&gt;{r.n}&lt;/Text&gt;&#13;&#10;                            &lt;Box style={{ flexDirection: 'column', flex: 1 }}&gt;&#13;&#10;                                &lt;Box style={{ flexDirection: 'row', alignItems: 'baseline', gap: 12 }}&gt;&#13;&#10;                                    &lt;Text style={{ fontSize: 21, fontWeight: 'bold', color: '#E8EEF9' }}&gt;{r.t}&lt;/Text&gt;&#13;&#10;                                    &lt;Text style={{ fontSize: 14, color: '#2AD4EE', fontFamily: '&quot;JetBrains Mono&quot;, &quot;Cascadia Mono&quot;, Consolas, monospace' }}&gt;{r.tool}&lt;/Text&gt;&#13;&#10;                                &lt;/Box&gt;&#13;&#10;                                &lt;Text style={{ marginTop: 6, fontSize: 13.5, color: 'rgba(232,238,249,0.60)', lineHeight: 1.5 }}&gt;{r.d}&lt;/Text&gt;&#13;&#10;                            &lt;/Box&gt;&#13;&#10;                            &lt;Box style={{ paddingTop: 4, paddingBottom: 4, paddingLeft: 10, paddingRight: 10, background: 'rgba(42,212,238,0.10)', border: '1px solid rgba(42,212,238,0.28)', borderRadius: 3 }}&gt;&#13;&#10;                                &lt;Text style={{ fontSize: 12.5, color: '#2AD4EE' }}&gt;{r.badge}&lt;/Text&gt;&#13;&#10;                            &lt;/Box&gt;&#13;&#10;                        &lt;/Box&gt;&#13;&#10;                        {i &lt; 2 &amp;&amp; (&#13;&#10;                            &lt;Box style={{ height: 28, flexDirection: 'row', alignItems: 'center', paddingLeft: 34, gap: 10 }}&gt;&#13;&#10;                                &lt;Text style={{ fontSize: 13, color: 'rgba(42,212,238,0.7)', fontFamily: '&quot;JetBrains Mono&quot;, &quot;Cascadia Mono&quot;, Consolas, monospace' }}&gt;↓ 未命中&lt;/Text&gt;&#13;&#10;                            &lt;/Box&gt;&#13;&#10;                        )}&#13;&#10;                    &lt;/Box&gt;&#13;&#10;                ))}&#13;&#10;            &lt;/Box&gt;&#13;&#10;&#13;&#10;            &lt;Box style={{ height: 68, marginTop: 12, flexDirection: 'row', alignItems: 'center', gap: 20, paddingLeft: 18, paddingRight: 18, background: 'rgba(42,212,238,0.06)', borderLeft: '3px solid rgba(42,212,238,0.6)' }}&gt;&#13;&#10;                &lt;Text style={{ fontSize: 13, color: '#2AD4EE', letterSpacing: 2, fontFamily: '&quot;JetBrains Mono&quot;, &quot;Cascadia Mono&quot;, Consolas, monospace' }}&gt;两条铁律&lt;/Text&gt;&#13;&#10;                &lt;Text style={{ flex: 1, fontSize: 15, color: 'rgba(232,238,249,0.76)', lineHeight: 1.6 }}&gt;&#13;&#10;                    &lt;span style={{ color: '#E8EEF9', fontWeight: '600' }}&gt;不得跳级&lt;/span&gt;：只能按 ①→②→③ 顺序判断 ｜&#13;&#10;                    &lt;span style={{ color: '#E8EEF9', fontWeight: '600' }}&gt;缺参不调工具&lt;/span&gt;：先向用户索要，补齐后重新判断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2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7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1079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/>
        </p:txBody>
      </p:sp>
      <p:sp>
        <p:nvSpPr>
          <p:cNvPr id="1090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1095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098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/>
        </p:txBody>
      </p:sp>
      <p:sp>
        <p:nvSpPr>
          <p:cNvPr id="1099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107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/>
        </p:txBody>
      </p:sp>
      <p:sp>
        <p:nvSpPr>
          <p:cNvPr id="1108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1116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37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12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发现式注册：加工具 = 丢一个文件&lt;/Text&gt;&#13;&#10;            &lt;Text style={{ marginTop: 8, fontSize: 17, color: 'rgba(232,238,249,0.52)' }}&gt;代码里零硬编码工具数组，能力全在磁盘上&lt;/Text&gt;&#13;&#10;        &lt;/Box&gt;&#13;&#10;    &lt;/Box&gt;&#13;&#10;&#13;&#10;    {/* B 区 · 左标题 + 右代码与目录树 */}&#13;&#10;    &lt;Box style={{ height: 516, flexDirection: 'row', gap: 32 }}&gt;&#13;&#10;        {/* 左：标题栏 */}&#13;&#10;        &lt;Box style={{ width: 274, flexDirection: 'column', paddingRight: 28, borderRight: '1px solid rgba(232,238,249,0.12)' }}&gt;&#13;&#10;            &lt;Text style={{ fontSize: 15, color: '#2AD4EE', letterSpacing: 3, fontFamily: '&quot;JetBrains Mono&quot;, &quot;Cascadia Mono&quot;, Consolas, monospace' }}&gt;DISCOVERY&lt;/Text&gt;&#13;&#10;            &lt;Text style={{ marginTop: 18, fontSize: 26, fontWeight: 'bold', color: '#E8EEF9', lineHeight: 1.45 }}&gt;&#13;&#10;                加一个工具&#13;&#10;                &lt;br /&gt;&#13;&#10;                等于丢一个文件&#13;&#10;            &lt;/Text&gt;&#13;&#10;            &lt;Text style={{ marginTop: 18, fontSize: 16, color: 'rgba(232,238,249,0.72)', lineHeight: 1.8 }}&gt;&#13;&#10;                启动时，&#13;&#10;                &lt;span style={{ color: '#2AD4EE', fontFamily: '&quot;JetBrains Mono&quot;, &quot;Cascadia Mono&quot;, Consolas, monospace' }}&gt;DefaultResourceLoader&lt;/span&gt;&#13;&#10;                扫描 &lt;span style={{ color: '#2AD4EE', fontFamily: '&quot;JetBrains Mono&quot;, &quot;Cascadia Mono&quot;, Consolas, monospace' }}&gt;.pi/extensions/*.ts&lt;/span&gt;，每个文件自己注册自己的工具。&#13;&#10;            &lt;/Text&gt;&#13;&#10;&#13;&#10;            &lt;Box style={{ marginTop: 18, flexDirection: 'column', gap: 9 }}&gt;&#13;&#10;                {['新增工具不动主干代码', 'AGENTS.md / APPEND_SYSTEM.md 自动合并进系统提示', '删除能力 = 删掉那个文件'].map((t, i) =&gt; (&#13;&#10;                    &lt;Box key={i} style={{ flexDirection: 'row', gap: 10, alignItems: 'flex-start' }}&gt;&#13;&#10;                        &lt;Box style={{ width: 5, height: 5, background: '#2AD4EE', marginTop: 7 }} /&gt;&#13;&#10;                        &lt;Text style={{ flex: 1, fontSize: 14.5, color: 'rgba(232,238,249,0.68)', lineHeight: 1.5 }}&gt;{t}&lt;/Text&gt;&#13;&#10;                    &lt;/Box&gt;&#13;&#10;                ))}&#13;&#10;            &lt;/Box&gt;&#13;&#10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5.5, color: '#E8EEF9', lineHeight: 1.7 }}&gt;&#13;&#10;                    新增能力不改主干代码，这就是低耦合的落地方式。&#13;&#10;                &lt;/Text&gt;&#13;&#10;            &lt;/Box&gt;&#13;&#10;        &lt;/Box&gt;&#13;&#10;&#13;&#10;        {/* 右：目录树 + 代码 */}&#13;&#10;        &lt;Box style={{ flex: 1, flexDirection: 'row', gap: 20 }}&gt;&#13;&#10;            {/* 目录树 */}&#13;&#10;            &lt;Box style={{ width: 290, flexDirection: 'column' }}&gt;&#13;&#10;                &lt;Text style={{ fontSize: 15, color: 'rgba(232,238,249,0.52)', letterSpacing: 2, fontFamily: '&quot;JetBrains Mono&quot;, &quot;Cascadia Mono&quot;, Consolas, monospace' }}&gt;server/.pi/&lt;/Text&gt;&#13;&#10;                &lt;Box style={{ flex: 1, marginTop: 12, flexDirection: 'column', paddingTop: 14, paddingBottom: 14, paddingLeft: 14, paddingRight: 14, background: 'rgba(22,35,61,0.92)', border: '1px solid rgba(42,212,238,0.22)', borderRadius: 4 }}&gt;&#13;&#10;                    {[&#13;&#10;                        ['├─ extensions/', null, true],&#13;&#10;                        ['│   ├─ query-metric.ts', 'query_metric', false],&#13;&#10;                        ['│   ├─ call-api.ts', 'call_business_api', false],&#13;&#10;                        ['│   ├─ safe-sql.ts', 'run_safe_sql', false],&#13;&#10;                        ['│   ├─ emit-table.ts', 'emit_table', false],&#13;&#10;                        ['│   ├─ emit-chart.ts', 'emit_chart', false],&#13;&#10;                        ['│   └─ emit-kpi.ts', 'emit_kpi', false],&#13;&#10;                        ['├─ AGENTS.md', '→ 自动合并进系统提示', true],&#13;&#10;                        ['└─ APPEND_SYSTEM.md', '→ 自动追加', true],&#13;&#10;                    ].map((r, i) =&gt; (&#13;&#10;                        &lt;Box key={i} style={{ flex: 1, flexDirection: 'column', justifyContent: 'center' }}&gt;&#13;&#10;                            &lt;Text style={{ fontSize: 13, color: r[2] ? '#E8EEF9' : 'rgba(232,238,249,0.78)', fontFamily: '&quot;JetBrains Mono&quot;, &quot;Cascadia Mono&quot;, Consolas, monospace', fontWeight: r[2] ? 'bold' : 'normal' }}&gt;{r[0]}&lt;/Text&gt;&#13;&#10;                            {r[1] &amp;&amp; &lt;Text style={{ marginTop: 3, fontSize: 11.5, color: 'rgba(42,212,238,0.72)', fontFamily: '&quot;JetBrains Mono&quot;, &quot;Cascadia Mono&quot;, Consolas, monospace' }}&gt;{r[1]}&lt;/Text&gt;}&#13;&#10;                        &lt;/Box&gt;&#13;&#10;                    ))}&#13;&#10;                &lt;/Box&gt;&#13;&#10;            &lt;/Box&gt;&#13;&#10;&#13;&#10;            {/* 代码 */}&#13;&#10;            &lt;Box style={{ flex: 1, flexDirection: 'column' }}&gt;&#13;&#10;                &lt;Text style={{ fontSize: 15, color: 'rgba(232,238,249,0.52)', letterSpacing: 2, fontFamily: '&quot;JetBrains Mono&quot;, &quot;Cascadia Mono&quot;, Consolas, monospace' }}&gt;extensions/emit-table.ts&lt;/Text&gt;&#13;&#10;                &lt;Box style={{ flex: 1, marginTop: 12 }}&gt;&#13;&#10;                    &lt;CodeBlock&#13;&#10;                        code={`import { defineTool, type ExtensionAPI } from&#13;&#10;  &quot;@earendil-works/pi-coding-agent&quot;;&#13;&#10;import { Type } from &quot;@sinclair/typebox&quot;;&#13;&#10;&#13;&#10;const tool = defineTool({&#13;&#10;  name: &quot;emit_table&quot;,&#13;&#10;  description: &quot;向用户输出明细表格。&quot;,&#13;&#10;  parameters: Type.Object({&#13;&#10;    title: Type.Optional(Type.String()),&#13;&#10;    rows: Type.Array(Type.Record(Type.String(), Type.Unknown())),&#13;&#10;    source: Type.String(),&#13;&#10;  }),&#13;&#10;  async execute(_id, p) {&#13;&#10;    return { details: { renderer: &quot;table&quot;, data: p, source: p.source } };&#13;&#10;  },&#13;&#10;});&#13;&#10;&#13;&#10;export default function (pi: ExtensionAPI) {&#13;&#10;  pi.registerTool(tool);  // 文件即工具，无需集中注册表&#13;&#10;}`}&#13;&#10;                        language='typescript'&#13;&#10;                        width={488}&#13;&#10;                        fontSize={12.5}&#13;&#10;                        theme='github-dark'&#13;&#10;                    /&gt;&#13;&#10;                &lt;/Box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3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2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1126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1140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33 / 37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162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6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隔离与安全：租户 · 范围 · SQL 守卫&lt;/Text&gt;&#13;&#10;            &lt;Text style={{ marginTop: 8, fontSize: 17, color: 'rgba(232,238,249,0.52)' }}&gt;三道防线都建在 PI 之外，所以它绕不过去&lt;/Text&gt;&#13;&#10;        &lt;/Box&gt;&#13;&#10;    &lt;/Box&gt;&#13;&#10;&#13;&#10;    {/* B 区 · 非对称双栏 55:45 */}&#13;&#10;    &lt;Box style={{ height: 516, flexDirection: 'row', gap: 32 }}&gt;&#13;&#10;        {/* 左：三层防线 */}&#13;&#10;        &lt;Box style={{ flex: 55, flexDirection: 'column', paddingRight: 30, borderRight: '1px solid rgba(232,238,249,0.12)' }}&gt;&#13;&#10;            &lt;Box style={{ flexDirection: 'row', alignItems: 'center', justifyContent: 'space-between' }}&gt;&#13;&#10;                &lt;Text style={{ fontSize: 15, color: '#2AD4EE', letterSpacing: 3, fontFamily: '&quot;JetBrains Mono&quot;, &quot;Cascadia Mono&quot;, Consolas, monospace' }}&gt;THREE DEFENSE LINES&lt;/Text&gt;&#13;&#10;                &lt;Text style={{ fontSize: 13, color: 'rgba(232,238,249,0.42)' }}&gt;自外向内，逐层收紧&lt;/Text&gt;&#13;&#10;            &lt;/Box&gt;&#13;&#10;&#13;&#10;            &lt;Box style={{ flex: 1, marginTop: 12, flexDirection: 'column', justifyContent: 'space-between' }}&gt;&#13;&#10;                {[&#13;&#10;                    { n: '01', i: 'key', t: '身份与数据范围', d: 'JWT 带出用户 / 租户 / 角色 / 部门；中间件把 tenantId 与 dataScope 显式放进会话上下文，不依赖全局隐式状态；数据访问层由 scoper 统一强制注入 tenant_id 与部门过滤。' },&#13;&#10;                    { n: '02', i: 'lock', t: '会话归属校验', d: '创建与恢复会话时都校验归属：一个会话只属于当前用户与租户。想越权读取别人的历史，在入口就被拒绝，根本进不到模型层。' },&#13;&#10;                    { n: '03', i: 'database', t: 'SQL 守卫（AST 级）', d: '仅允许单条 SELECT，拒绝写操作 / CTE / 子查询 / INTO OUTFILE / FOR UPDATE；表白名单；AST 级强制注入 tenant_id、is_deleted = 0 与数据范围；强制 LIMIT 上限（默认 1000 行）。' },&#13;&#10;                ].map((c, i) =&gt; (&#13;&#10;                    &lt;Box key={i} style={{ flex: 1, flexDirection: 'row', gap: 16, alignItems: 'center', paddingTop: 12, paddingBottom: 12, paddingLeft: 16, paddingRight: 16, background: 'rgba(22,35,61,0.90)', borderLeft: '3px solid rgba(42,212,238,0.7)', borderRadius: 3 }}&gt;&#13;&#10;                        &lt;Box style={{ width: 44, height: 44, borderRadius: 4, background: 'rgba(42,212,238,0.12)', border: '1px solid rgba(42,212,238,0.32)', alignItems: 'center', justifyContent: 'center' }}&gt;&#13;&#10;                            &lt;FAIcon name={c.i} style={{ fill: '#2AD4EE', width: 20, height: 20 }} /&gt;&#13;&#10;                        &lt;/Box&gt;&#13;&#10;                        &lt;Box style={{ flex: 1, flexDirection: 'column' }}&gt;&#13;&#10;                            &lt;Box style={{ flexDirection: 'row', alignItems: 'baseline', gap: 10 }}&gt;&#13;&#10;                                &lt;Text style={{ fontSize: 13, color: 'rgba(42,212,238,0.75)', fontFamily: '&quot;JetBrains Mono&quot;, &quot;Cascadia Mono&quot;, Consolas, monospace' }}&gt;{c.n}&lt;/Text&gt;&#13;&#10;                                &lt;Text style={{ fontSize: 21, fontWeight: 'bold', color: '#E8EEF9' }}&gt;{c.t}&lt;/Text&gt;&#13;&#10;                            &lt;/Box&gt;&#13;&#10;                            &lt;Text style={{ marginTop: 8, fontSize: 14, color: 'rgba(232,238,249,0.66)', lineHeight: 1.62 }}&gt;{c.d}&lt;/Text&gt;&#13;&#10;                        &lt;/Box&gt;&#13;&#10;                    &lt;/Box&gt;&#13;&#10;                ))}&#13;&#10;            &lt;/Box&gt;&#13;&#10;        &lt;/Box&gt;&#13;&#10;&#13;&#10;        {/* 右：不变量 + 判断 */}&#13;&#10;        &lt;Box style={{ flex: 45, flexDirection: 'column' }}&gt;&#13;&#10;            &lt;Text style={{ fontSize: 15, color: 'rgba(232,238,249,0.52)', letterSpacing: 2, fontFamily: '&quot;JetBrains Mono&quot;, &quot;Cascadia Mono&quot;, Consolas, monospace' }}&gt;TWO INVARIANTS&lt;/Text&gt;&#13;&#10;&#13;&#10;            &lt;Box style={{ marginTop: 16, flexDirection: 'column', gap: 14 }}&gt;&#13;&#10;                {[&#13;&#10;                    ['注入值不来自模型', 'SQL 里被注入的租户与范围值，全部来自 JWT 会话上下文——模型写的字符串只是「建议」，不改写它的语义。'],&#13;&#10;                    ['执行权永远在代码里', '模型只能说要查什么；怎么改、改完能不能跑、跑多少行，全部由服务端决定。'],&#13;&#10;                ].map((r, i) =&gt; (&#13;&#10;                    &lt;Box key={i} style={{ flexDirection: 'column', paddingTop: 14, paddingBottom: 14, paddingLeft: 16, paddingRight: 16, background: 'rgba(22,35,61,0.92)', border: '1px solid rgba(232,238,249,0.12)', borderRadius: 4 }}&gt;&#13;&#10;                        &lt;Text style={{ fontSize: 16.5, fontWeight: '600', color: '#E8EEF9' }}&gt;{r[0]}&lt;/Text&gt;&#13;&#10;                        &lt;Text style={{ marginTop: 8, fontSize: 14, color: 'rgba(232,238,249,0.66)', lineHeight: 1.65 }}&gt;{r[1]}&lt;/Text&gt;&#13;&#10;                    &lt;/Box&gt;&#13;&#10;                ))}&#13;&#10;            &lt;/Box&gt;&#13;&#10;&#13;&#10;            &lt;Box style={{ marginTop: 'auto', paddingTop: 16, paddingBottom: 16, paddingLeft: 18, paddingRight: 18, background: 'rgba(42,212,238,0.08)', border: '1px solid rgba(42,212,238,0.22)', borderRadius: 4 }}&gt;&#13;&#10;                &lt;Text style={{ fontSize: 15, color: '#2AD4EE', letterSpacing: 3, fontFamily: '&quot;JetBrains Mono&quot;, &quot;Cascadia Mono&quot;, Consolas, monospace' }}&gt;所以&lt;/Text&gt;&#13;&#10;                &lt;Text style={{ marginTop: 10, fontSize: 17, color: '#E8EEF9', lineHeight: 1.7 }}&gt;&#13;&#10;                    PI 层对这些&lt;span style={{ color: '#2AD4EE' }}&gt;无感知、也绕不过&lt;/span&gt;——安全才成立。&#13;&#10;                &lt;/Text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4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6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171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172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173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178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179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180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186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187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193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196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199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34 / 37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20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流式链路与前端渲染扩展&lt;/Text&gt;&#13;&#10;            &lt;Text style={{ marginTop: 8, fontSize: 17, color: 'rgba(232,238,249,0.52)' }}&gt;后端只说「这是什么」，前端决定「长什么样」&lt;/Text&gt;&#13;&#10;        &lt;/Box&gt;&#13;&#10;    &lt;/Box&gt;&#13;&#10;&#13;&#10;    {/* B 区 */}&#13;&#10;    &lt;Box style={{ height: 516, flexDirection: 'column' }}&gt;&#13;&#10;        &lt;Text style={{ fontSize: 15, color: '#2AD4EE', letterSpacing: 3, fontFamily: '&quot;JetBrains Mono&quot;, &quot;Cascadia Mono&quot;, Consolas, monospace' }}&gt;SSE PIPELINE · 一条事件从会话到像素&lt;/Text&gt;&#13;&#10;&#13;&#10;        {/* 链路 */}&#13;&#10;        &lt;Box style={{ height: 118, marginTop: 12, flexDirection: 'row', alignItems: 'stretch' }}&gt;&#13;&#10;            {[&#13;&#10;                { n: '01', t: 'session.subscribe', d: '订阅会话事件流' },&#13;&#10;                { n: '02', t: 'relay 事件映射', d: 'PI 事件 → SseEvent' },&#13;&#10;                { n: '03', t: 'SSE 写出', d: 'HTTP 分块推送' },&#13;&#10;                { n: '04', t: '前端分发', d: '按 type 追加 / 插块' },&#13;&#10;                { n: '05', t: 'renderer 注册表', d: 'text · table · chart · kpi' },&#13;&#10;            ].map((s, i) =&gt; (&#13;&#10;                &lt;Box key={i} style={{ flex: 1, flexDirection: 'row', alignItems: 'center' }}&gt;&#13;&#10;                    &lt;Box style={{ flex: 1, flexDirection: 'column', justifyContent: 'center', paddingLeft: 14, paddingRight: 14, background: i === 4 ? 'rgba(42,212,238,0.14)' : 'rgba(22,35,61,0.94)', border: i === 4 ? '1px solid rgba(42,212,238,0.45)' : '1px solid rgba(232,238,249,0.12)', borderRadius: 3 }}&gt;&#13;&#10;                        &lt;Text style={{ fontSize: 12.5, color: '#2AD4EE', fontFamily: '&quot;JetBrains Mono&quot;, &quot;Cascadia Mono&quot;, Consolas, monospace' }}&gt;{s.n}&lt;/Text&gt;&#13;&#10;                        &lt;Text style={{ marginTop: 8, fontSize: 16, fontWeight: 'bold', color: '#E8EEF9', lineHeight: 1.35 }}&gt;{s.t}&lt;/Text&gt;&#13;&#10;                        &lt;Text style={{ marginTop: 7, fontSize: 12.5, color: 'rgba(232,238,249,0.55)', lineHeight: 1.45 }}&gt;{s.d}&lt;/Text&gt;&#13;&#10;                    &lt;/Box&gt;&#13;&#10;                    {i &lt; 4 &amp;&amp; &lt;Text style={{ width: 22, textAlign: 'center', fontSize: 15, color: 'rgba(42,212,238,0.75)' }}&gt;›&lt;/Text&gt;}&#13;&#10;                &lt;/Box&gt;&#13;&#10;            ))}&#13;&#10;        &lt;/Box&gt;&#13;&#10;&#13;&#10;        {/* 契约 + 渲染路由 */}&#13;&#10;        &lt;Box style={{ flex: 1, marginTop: 16, flexDirection: 'row', gap: 24 }}&gt;&#13;&#10;            &lt;Box style={{ flex: 55, flexDirection: 'column' }}&gt;&#13;&#10;                &lt;Text style={{ fontSize: 15, color: 'rgba(232,238,249,0.52)', letterSpacing: 2, fontFamily: '&quot;JetBrains Mono&quot;, &quot;Cascadia Mono&quot;, Consolas, monospace' }}&gt;SSE 事件契约（前后端共享）&lt;/Text&gt;&#13;&#10;                &lt;Box style={{ flex: 1, marginTop: 10 }}&gt;&#13;&#10;                    &lt;CodeBlock&#13;&#10;                        code={`export type SseEvent =&#13;&#10;  | { type: &quot;connected&quot;;       sessionId?: string }&#13;&#10;  | { type: &quot;text_delta&quot;;      delta: string }&#13;&#10;  | { type: &quot;thinking_delta&quot;;  delta: string }&#13;&#10;  | { type: &quot;turn_reset&quot; }&#13;&#10;  | { type: &quot;tool_start&quot;;      tool: string }&#13;&#10;  | { type: &quot;tool_end&quot;;        tool: string }&#13;&#10;  | { type: &quot;render&quot;;  renderer: RendererType;&#13;&#10;      data: unknown; source?: string }&#13;&#10;  | { type: &quot;error&quot;;           message: string }&#13;&#10;  | { type: &quot;done&quot; };`}&#13;&#10;                        language='typescript'&#13;&#10;                        width={596}&#13;&#10;                        fontSize={13}&#13;&#10;                        theme='github-dark'&#13;&#10;                    /&gt;&#13;&#10;                &lt;/Box&gt;&#13;&#10;            &lt;/Box&gt;&#13;&#10;&#13;&#10;            &lt;Box style={{ flex: 45, flexDirection: 'column', paddingLeft: 24, borderLeft: '1px solid rgba(232,238,249,0.12)' }}&gt;&#13;&#10;                &lt;Text style={{ fontSize: 15, color: 'rgba(232,238,249,0.52)', letterSpacing: 2, fontFamily: '&quot;JetBrains Mono&quot;, &quot;Cascadia Mono&quot;, Consolas, monospace' }}&gt;RENDERER ROUTING&lt;/Text&gt;&#13;&#10;                &lt;Box style={{ marginTop: 12, flexDirection: 'column', gap: 9 }}&gt;&#13;&#10;                    {[&#13;&#10;                        ['text', '流式追加的 Markdown 正文'],&#13;&#10;                        ['table', '明细表格'],&#13;&#10;                        ['chart', '柱图 / 折线图 / 饼图'],&#13;&#10;                        ['kpi', '单指标卡片（含同比环比）'],&#13;&#10;                        ['metric_card', '指标口径说明卡'],&#13;&#10;                    ].map((r, i) =&gt; (&#13;&#10;                        &lt;Box key={i} style={{ flexDirection: 'row', alignItems: 'center', gap: 12 }}&gt;&#13;&#10;                            &lt;Text style={{ width: 96, fontSize: 13.5, color: '#2AD4EE', fontFamily: '&quot;JetBrains Mono&quot;, &quot;Cascadia Mono&quot;, Consolas, monospace' }}&gt;{r[0]}&lt;/Text&gt;&#13;&#10;                            &lt;Box style={{ width: 1, height: 16, background: 'rgba(232,238,249,0.16)' }} /&gt;&#13;&#10;                            &lt;Text style={{ flex: 1, fontSize: 14, color: 'rgba(232,238,249,0.72)' }}&gt;{r[1]}&lt;/Text&gt;&#13;&#10;                        &lt;/Box&gt;&#13;&#10;                    ))}&#13;&#10;                &lt;/Box&gt;&#13;&#10;&#13;&#10;                &lt;Box style={{ marginTop: 'auto', paddingTop: 14, paddingBottom: 14, paddingLeft: 16, paddingRight: 16, background: 'rgba(42,212,238,0.08)', border: '1px solid rgba(42,212,238,0.22)', borderRadius: 4 }}&gt;&#13;&#10;                    &lt;Text style={{ fontSize: 14, color: '#2AD4EE', letterSpacing: 3, fontFamily: '&quot;JetBrains Mono&quot;, &quot;Cascadia Mono&quot;, Consolas, monospace' }}&gt;所以&lt;/Text&gt;&#13;&#10;                    &lt;Text style={{ marginTop: 8, fontSize: 15.5, color: '#E8EEF9', lineHeight: 1.7 }}&gt;&#13;&#10;                        后端只管发&lt;span style={{ color: '#2AD4EE' }}&gt;结构化事件&lt;/span&gt;，前端注册表决定它长什么样。加一种展示 = 注册一个 renderer。&#13;&#10;                    &lt;/Text&gt;&#13;&#10;                &lt;/Box&gt;&#13;&#10;            &lt;/Box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5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0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210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215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241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244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247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250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35 / 37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258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59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踩坑实录：四个真实 Bug&lt;/Text&gt;&#13;&#10;            &lt;Text style={{ marginTop: 8, fontSize: 17, color: 'rgba(232,238,249,0.52)' }}&gt;现象 · 根因 · 修法，一个不少地记下来&lt;/Text&gt;&#13;&#10;        &lt;/Box&gt;&#13;&#10;    &lt;/Box&gt;&#13;&#10;&#13;&#10;    {/* B 区 · 左标题 + 右 2×2 */}&#13;&#10;    &lt;Box style={{ height: 516, flexDirection: 'row', gap: 30 }}&gt;&#13;&#10;        {/* 左：标题栏 */}&#13;&#10;        &lt;Box style={{ width: 262, flexDirection: 'column', paddingRight: 26, borderRight: '1px solid rgba(232,238,249,0.12)' }}&gt;&#13;&#10;            &lt;Text style={{ fontSize: 15, color: '#2AD4EE', letterSpacing: 3, fontFamily: '&quot;JetBrains Mono&quot;, &quot;Cascadia Mono&quot;, Consolas, monospace' }}&gt;POSTMORTEM&lt;/Text&gt;&#13;&#10;            &lt;Text style={{ marginTop: 18, fontSize: 26, fontWeight: 'bold', color: '#E8EEF9', lineHeight: 1.45 }}&gt;&#13;&#10;                四个 Bug&#13;&#10;                &lt;br /&gt;&#13;&#10;                四条边界&#13;&#10;            &lt;/Text&gt;&#13;&#10;            &lt;Text style={{ marginTop: 18, fontSize: 16, color: 'rgba(232,238,249,0.72)', lineHeight: 1.8 }}&gt;&#13;&#10;                这四个坑没有一个是&quot;模型不行&quot;。全部出在加载方式、订阅生命周期、错误传播与空结果的边界上。&#13;&#10;            &lt;/Text&gt;&#13;&#10;            &lt;Box style={{ marginTop: 'auto', paddingTop: 16, paddingBottom: 16, paddingLeft: 16, paddingRight: 16, background: 'rgba(42,212,238,0.08)', border: '1px solid rgba(42,212,238,0.22)', borderRadius: 4 }}&gt;&#13;&#10;                &lt;Text style={{ fontSize: 14, color: '#2AD4EE', letterSpacing: 3, fontFamily: '&quot;JetBrains Mono&quot;, &quot;Cascadia Mono&quot;, Consolas, monospace' }}&gt;所以&lt;/Text&gt;&#13;&#10;                &lt;Text style={{ marginTop: 10, fontSize: 15.5, color: '#E8EEF9', lineHeight: 1.7 }}&gt;&#13;&#10;                    Agent 的坑大多不在模型，在&lt;span style={{ color: '#2AD4EE' }}&gt;边界&lt;/span&gt;。&#13;&#10;                &lt;/Text&gt;&#13;&#10;            &lt;/Box&gt;&#13;&#10;        &lt;/Box&gt;&#13;&#10;&#13;&#10;        {/* 右：2×2 卡片 */}&#13;&#10;        &lt;Box style={{ flex: 1, flexDirection: 'column', gap: 16 }}&gt;&#13;&#10;            {[&#13;&#10;                [&#13;&#10;                    { n: '01', i: 'bug', t: '上下文在工具里读不到', c: '根因', cd: '.pi 扩展由 jiti(CJS) 加载，对 context 的 import 是独立编译副本，AsyncLocalStorage 实例被隔离，工具内 getCtx() 永远失败。', f: '修法', fd: '不打补丁——删掉 ALS，会话上下文沿调用链显式传参。' },&#13;&#10;                    { n: '02', i: 'clone', t: '每个字都重复两遍', c: '根因', cd: 'EventBus.attach 二次调用时，旧订阅的 unsubscribe 引用被覆盖却从未调用，新旧回调并存，每个事件 emit 两遍。', f: '修法', fd: 'attach 开头先 detach 旧回调，保证任一时刻只有一个订阅者。' },&#13;&#10;                ],&#13;&#10;                [&#13;&#10;                    { n: '03', i: 'circle-exclamation', t: '页面空白，模型&quot;没有输出&quot;', c: '根因', cd: '模型层 429（余额 / 限流）被内部重试 3 次后放弃，prompt() 不抛异常，错误全程静默。', f: '修法', fd: 'message_end 分支兜底：stopReason = error 时补推 SSE error，页面直接显示失败原因。' },&#13;&#10;                    { n: '04', i: 'ban', t: '无数据时反复换参重试', c: '根因', cd: '模型很难接受&quot;空结果&quot;，会降级改 SQL 或换参数重来，既浪费轮次，也可能编造数据。', f: '修法', fd: '双层熔断：软引导下发终止指令，硬熔断由服务端直接拒绝二次调用。' },&#13;&#10;                ],&#13;&#10;            ].map((row, ri) =&gt; (&#13;&#10;                &lt;Box key={ri} style={{ flex: 1, flexDirection: 'row', gap: 24 }}&gt;&#13;&#10;                    {row.map((k, ki) =&gt; (&#13;&#10;                        &lt;Box key={ki} style={{ flex: 1, flexDirection: 'column', paddingTop: 14, paddingBottom: 14, paddingLeft: 16, paddingRight: 16, background: 'rgba(22,35,61,0.92)', border: '1px solid rgba(232,238,249,0.10)', borderTop: '3px solid rgba(42,212,238,0.75)', borderRadius: 3 }}&gt;&#13;&#10;                            &lt;Box style={{ flexDirection: 'row', alignItems: 'center', gap: 12 }}&gt;&#13;&#10;                                &lt;Text style={{ fontSize: 26, color: '#2AD4EE', fontFamily: '&quot;JetBrains Mono&quot;, &quot;Cascadia Mono&quot;, Consolas, monospace', lineHeight: 1 }}&gt;{k.n}&lt;/Text&gt;&#13;&#10;                                &lt;FAIcon name={k.i} style={{ fill: 'rgba(42,212,238,0.85)', width: 15, height: 15 }} /&gt;&#13;&#10;                                &lt;Text style={{ flex: 1, fontSize: 16.5, fontWeight: 'bold', color: '#E8EEF9', lineHeight: 1.35 }}&gt;{k.t}&lt;/Text&gt;&#13;&#10;                            &lt;/Box&gt;&#13;&#10;                            &lt;Box style={{ marginTop: 'auto', flexDirection: 'column', gap: 8 }}&gt;&#13;&#10;                                &lt;Text style={{ fontSize: 13.5, color: 'rgba(232,238,249,0.66)', lineHeight: 1.6 }}&gt;&#13;&#10;                                    &lt;span style={{ color: '#2AD4EE', fontFamily: '&quot;JetBrains Mono&quot;, &quot;Cascadia Mono&quot;, Consolas, monospace', fontSize: 12.5 }}&gt;{k.c} &lt;/span&gt;&#13;&#10;                                    {k.cd}&#13;&#10;                                &lt;/Text&gt;&#13;&#10;                                &lt;Text style={{ fontSize: 13.5, color: 'rgba(232,238,249,0.80)', lineHeight: 1.6 }}&gt;&#13;&#10;                                    &lt;span style={{ color: '#2AD4EE', fontFamily: '&quot;JetBrains Mono&quot;, &quot;Cascadia Mono&quot;, Consolas, monospace', fontSize: 12.5 }}&gt;{k.f} &lt;/span&gt;&#13;&#10;                                    {k.fd}&#13;&#10;                                &lt;/Text&gt;&#13;&#10;                            &lt;/Box&gt;&#13;&#10;                        &lt;/Box&gt;&#13;&#10;                    ))}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6 / 3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6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52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踩坑实录：四个真实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52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现象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根因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修法，一个不少地记下来</a:t>
            </a:r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685800" y="1143000"/>
            <a:ext cx="2495550" cy="4914900"/>
          </a:xfrm>
          <a:custGeom>
            <a:pathLst>
              <a:path w="262" h="516">
                <a:moveTo>
                  <a:pt x="261" y="0"/>
                </a:moveTo>
                <a:lnTo>
                  <a:pt x="262" y="0"/>
                </a:lnTo>
                <a:lnTo>
                  <a:pt x="262" y="516"/>
                </a:lnTo>
                <a:lnTo>
                  <a:pt x="26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POSTMORTEM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383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四个</a:t>
            </a:r>
            <a:r>
              <a:rPr lang="en-US" sz="19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四条边界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383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这四个坑没有一个是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模型不行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。全部出在加载方式、订阅生命周期、错误传播与空结果的边界上。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685800" y="4886325"/>
            <a:ext cx="223837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933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的坑大多不在模型，在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边界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71" name=""/>
          <p:cNvSpPr/>
          <p:nvPr/>
        </p:nvSpPr>
        <p:spPr>
          <a:xfrm rot="0" flipH="0" flipV="0">
            <a:off x="346710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272" name=""/>
          <p:cNvSpPr/>
          <p:nvPr/>
        </p:nvSpPr>
        <p:spPr>
          <a:xfrm rot="0" flipH="0" flipV="0">
            <a:off x="346710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pic>
        <p:nvPicPr>
          <p:cNvPr id="1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29075" y="1390650"/>
            <a:ext cx="142875" cy="142875"/>
          </a:xfrm>
          <a:prstGeom prst="rect">
            <a:avLst/>
          </a:prstGeom>
          <a:ln/>
        </p:spPr>
      </p:pic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428625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上下文在工具里读不到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3619500" y="2324100"/>
            <a:ext cx="36004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.pi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扩展由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jiti(CJS)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加载，对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context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是独立编译副本，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AsyncLocalStorage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实例被隔离，工具内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getCtx()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永远失败。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3619500" y="314325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不打补丁——删掉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ALS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，会话上下文沿调用链显式传参。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760095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279" name=""/>
          <p:cNvSpPr/>
          <p:nvPr/>
        </p:nvSpPr>
        <p:spPr>
          <a:xfrm rot="0" flipH="0" flipV="0">
            <a:off x="760095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775335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pic>
        <p:nvPicPr>
          <p:cNvPr id="1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62925" y="1390650"/>
            <a:ext cx="142875" cy="142875"/>
          </a:xfrm>
          <a:prstGeom prst="rect">
            <a:avLst/>
          </a:prstGeom>
          <a:ln/>
        </p:spPr>
      </p:pic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842010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每个字都重复两遍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7753350" y="23241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EventBus.attach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二次调用时，旧订阅的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unsubscribe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引用被覆盖却从未调用，新旧回调并存，每个事件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emit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两遍。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7753350" y="28956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attach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开头先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旧回调，保证任一时刻只有一个订阅者。</a:t>
            </a:r>
            <a:endParaRPr/>
          </a:p>
        </p:txBody>
      </p:sp>
      <p:sp>
        <p:nvSpPr>
          <p:cNvPr id="1285" name=""/>
          <p:cNvSpPr/>
          <p:nvPr/>
        </p:nvSpPr>
        <p:spPr>
          <a:xfrm rot="0" flipH="0" flipV="0">
            <a:off x="346710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286" name=""/>
          <p:cNvSpPr/>
          <p:nvPr/>
        </p:nvSpPr>
        <p:spPr>
          <a:xfrm rot="0" flipH="0" flipV="0">
            <a:off x="346710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pic>
        <p:nvPicPr>
          <p:cNvPr id="1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29075" y="3924300"/>
            <a:ext cx="142875" cy="142875"/>
          </a:xfrm>
          <a:prstGeom prst="rect">
            <a:avLst/>
          </a:prstGeom>
          <a:ln/>
        </p:spPr>
      </p:pic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428625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页面空白，模型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没有输出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模型层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429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（余额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限流）被内部重试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次后放弃，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不抛异常，错误全程静默。</a:t>
            </a:r>
            <a:endParaRPr/>
          </a:p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361950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message_end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分支兜底：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stopReason = error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时补推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SSE error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，页面直接显示失败原因。</a:t>
            </a:r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760095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293" name=""/>
          <p:cNvSpPr/>
          <p:nvPr/>
        </p:nvSpPr>
        <p:spPr>
          <a:xfrm rot="0" flipH="0" flipV="0">
            <a:off x="760095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775335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pic>
        <p:nvPicPr>
          <p:cNvPr id="1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62925" y="3924300"/>
            <a:ext cx="142875" cy="142875"/>
          </a:xfrm>
          <a:prstGeom prst="rect">
            <a:avLst/>
          </a:prstGeom>
          <a:ln/>
        </p:spPr>
      </p:pic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无数据时反复换参重试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775335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模型很难接受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空结果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，会降级改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或换参数重来，既浪费轮次，也可能编造数据。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双层熔断：软引导下发终止指令，硬熔断由服务端直接拒绝二次调用。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36 / 37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301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ending_hero.png&quot; style={{ position: 'absolute', left: 0, top: 0, width: 1536, height: 1024 }} /&gt;&#13;&#10;    &lt;Box style={{ position: 'absolute', left: 0, top: 0, width: 1280, height: 720, background: 'linear-gradient(180deg, rgba(11,18,32,0.93) 0%, rgba(11,18,32,0.74) 26%, rgba(11,18,32,0.52) 52%, rgba(11,18,32,0.94) 100%)' }} /&gt;&#13;&#10;    &lt;Box style={{ position: 'absolute', left: 0, top: 0, width: 1280, height: 720, background: 'linear-gradient(90deg, rgba(11,18,32,0.80) 0%, rgba(11,18,32,0.10) 50%, rgba(11,18,32,0.80) 100%)' }} /&gt;&#13;&#10;&#13;&#10;    {/* 内容 */}&#13;&#10;    &lt;Box style={{ position: 'absolute', left: 120, top: 104, width: 1040, height: 512, flexDirection: 'column', alignItems: 'center', justifyContent: 'space-between' }}&gt;&#13;&#10;        {/* 金句 */}&#13;&#10;        &lt;Box style={{ flexDirection: 'column', alignItems: 'center' }}&gt;&#13;&#10;            &lt;Text style={{ fontSize: 16, color: '#2AD4EE', letterSpacing: 8, fontFamily: '&quot;JetBrains Mono&quot;, &quot;Cascadia Mono&quot;, Consolas, monospace' }}&gt;ENDING&lt;/Text&gt;&#13;&#10;            &lt;Text style={{ marginTop: 24, fontSize: 62, fontWeight: 'bold', color: '#E8EEF9', textAlign: 'center', lineHeight: 1.25, letterSpacing: 1 }}&gt;&#13;&#10;                模型是原料，&#13;&#10;                &lt;span style={{ color: '#2AD4EE' }}&gt;工程才是产品&lt;/span&gt;。&#13;&#10;            &lt;/Text&gt;&#13;&#10;            &lt;Box style={{ marginTop: 22, width: 96, height: 4, background: '#2AD4EE' }} /&gt;&#13;&#10;        &lt;/Box&gt;&#13;&#10;&#13;&#10;        {/* 三段回顾 */}&#13;&#10;        &lt;Box style={{ width: 1040, flexDirection: 'row' }}&gt;&#13;&#10;            {[&#13;&#10;                { k: 'MODEL', t: '模型', d: '无状态、有窗口。它决定「下一步干什么」，但什么都不记得。' },&#13;&#10;                { k: 'ENGINEERING', t: '工程', d: '七层功能地图 + 十条设计原则。边界，比能力更重要。' },&#13;&#10;                { k: 'DELIVERY', t: '落地', d: '三级路由 + 发现式注册，把知识装进一个真实业务系统。' },&#13;&#10;            ].map((c, i) =&gt; (&#13;&#10;                &lt;Box key={i} style={{ flex: 1, flexDirection: 'column', alignItems: 'center', paddingLeft: 24, paddingRight: 24, borderRight: i === 2 ? 'none' : '1px solid rgba(232,238,249,0.16)' }}&gt;&#13;&#10;                    &lt;Text style={{ fontSize: 12, color: 'rgba(42,212,238,0.85)', letterSpacing: 3, fontFamily: '&quot;JetBrains Mono&quot;, &quot;Cascadia Mono&quot;, Consolas, monospace' }}&gt;{c.k}&lt;/Text&gt;&#13;&#10;                    &lt;Text style={{ marginTop: 12, fontSize: 22, fontWeight: 'bold', color: '#E8EEF9' }}&gt;{c.t}&lt;/Text&gt;&#13;&#10;                    &lt;Text style={{ marginTop: 10, fontSize: 14.5, color: 'rgba(232,238,249,0.72)', textAlign: 'center', lineHeight: 1.7 }}&gt;{c.d}&lt;/Text&gt;&#13;&#10;                &lt;/Box&gt;&#13;&#10;            ))}&#13;&#10;        &lt;/Box&gt;&#13;&#10;&#13;&#10;        {/* 落款 */}&#13;&#10;        &lt;Box style={{ flexDirection: 'column', alignItems: 'center' }}&gt;&#13;&#10;            &lt;Text style={{ fontSize: 22, fontWeight: 'bold', color: '#E8EEF9', letterSpacing: 2 }}&gt;谢谢 · 欢迎提问&lt;/Text&gt;&#13;&#10;            &lt;Text style={{ marginTop: 14, fontSize: 14, color: 'rgba(232,238,249,0.48)', fontFamily: '&quot;JetBrains Mono&quot;, &quot;Cascadia Mono&quot;, Consolas, monospace' }}&gt;从 LLM 到 Agent 再到 Pi Agent　·　37 / 37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30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309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37 / 37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2026-10-19T10:41:28Z</dcterms:created>
  <dcterms:modified xsi:type="dcterms:W3CDTF">2026-10-19T10:41:28Z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{"AIGC":{"Label":"1","ContentProducer":"00119111010856365494821B355","ProduceID":"01a151fcb67e7e1dbb99c2c8e5a9a25e","ReservedCode1":"","ContentPropagator":"00119111010856365494821B355","PropagateID":"01a151fcb67e7e1dbb99c2c8e5a9a25e","ReservedCode2":""}}</vt:lpwstr>
  </property>
</Properties>
</file>