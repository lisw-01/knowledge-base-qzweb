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43.xml" ContentType="application/vnd.openxmlformats-officedocument.presentationml.slid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40.xml" ContentType="application/vnd.openxmlformats-officedocument.presentationml.slide+xml"/>
  <Override PartName="/ppt/slides/slide13.xml" ContentType="application/vnd.openxmlformats-officedocument.presentationml.slide+xml"/>
  <Override PartName="/ppt/slides/slide36.xml" ContentType="application/vnd.openxmlformats-officedocument.presentationml.slide+xml"/>
  <Override PartName="/ppt/slides/slide4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41.xml" ContentType="application/vnd.openxmlformats-officedocument.presentationml.slide+xml"/>
  <Override PartName="/ppt/slides/slide12.xml" ContentType="application/vnd.openxmlformats-officedocument.presentationml.slide+xml"/>
  <Override PartName="/ppt/slides/slide34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s/slide9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16.xml" ContentType="application/vnd.openxmlformats-officedocument.presentationml.slide+xml"/>
  <Override PartName="/ppt/slides/slide44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37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4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5" Type="http://schemas.openxmlformats.org/officeDocument/2006/relationships/slide" Target="slides/slide25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36" Type="http://schemas.openxmlformats.org/officeDocument/2006/relationships/slide" Target="slides/slide36.xml" /><Relationship Id="rId11" Type="http://schemas.openxmlformats.org/officeDocument/2006/relationships/slide" Target="slides/slide11.xml" /><Relationship Id="rId14" Type="http://schemas.openxmlformats.org/officeDocument/2006/relationships/slide" Target="slides/slide14.xml" /><Relationship Id="rId12" Type="http://schemas.openxmlformats.org/officeDocument/2006/relationships/slide" Target="slides/slide12.xml" /><Relationship Id="rId34" Type="http://schemas.openxmlformats.org/officeDocument/2006/relationships/slide" Target="slides/slide34.xml" /><Relationship Id="rId15" Type="http://schemas.openxmlformats.org/officeDocument/2006/relationships/slide" Target="slides/slide15.xml" /><Relationship Id="rId9" Type="http://schemas.openxmlformats.org/officeDocument/2006/relationships/slide" Target="slides/slide9.xml" /><Relationship Id="rId39" Type="http://schemas.openxmlformats.org/officeDocument/2006/relationships/slide" Target="slides/slide39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4" Type="http://schemas.openxmlformats.org/officeDocument/2006/relationships/slide" Target="slides/slide4.xml" /><Relationship Id="rId18" Type="http://schemas.openxmlformats.org/officeDocument/2006/relationships/slide" Target="slides/slide18.xml" /><Relationship Id="rId49" Type="http://schemas.openxmlformats.org/officeDocument/2006/relationships/tableStyles" Target="tableStyles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43" Type="http://schemas.openxmlformats.org/officeDocument/2006/relationships/slide" Target="slides/slide43.xml" /><Relationship Id="rId20" Type="http://schemas.openxmlformats.org/officeDocument/2006/relationships/slide" Target="slides/slide20.xml" /><Relationship Id="rId42" Type="http://schemas.openxmlformats.org/officeDocument/2006/relationships/slide" Target="slides/slide42.xml" /><Relationship Id="rId21" Type="http://schemas.openxmlformats.org/officeDocument/2006/relationships/slide" Target="slides/slide21.xml" /><Relationship Id="rId45" Type="http://schemas.openxmlformats.org/officeDocument/2006/relationships/slide" Target="slides/slide45.xml" /><Relationship Id="rId41" Type="http://schemas.openxmlformats.org/officeDocument/2006/relationships/slide" Target="slides/slide4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6" Type="http://schemas.openxmlformats.org/officeDocument/2006/relationships/slide" Target="slides/slide26.xml" /><Relationship Id="rId48" Type="http://schemas.openxmlformats.org/officeDocument/2006/relationships/presProps" Target="presProps.xml" /><Relationship Id="rId29" Type="http://schemas.openxmlformats.org/officeDocument/2006/relationships/slide" Target="slides/slide29.xml" /><Relationship Id="rId27" Type="http://schemas.openxmlformats.org/officeDocument/2006/relationships/slide" Target="slides/slide27.xml" /><Relationship Id="rId37" Type="http://schemas.openxmlformats.org/officeDocument/2006/relationships/slide" Target="slides/slide37.xml" /><Relationship Id="rId28" Type="http://schemas.openxmlformats.org/officeDocument/2006/relationships/slide" Target="slides/slide28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6" Type="http://schemas.openxmlformats.org/officeDocument/2006/relationships/slide" Target="slides/slide6.xml" /><Relationship Id="rId32" Type="http://schemas.openxmlformats.org/officeDocument/2006/relationships/slide" Target="slides/slide32.xml" /><Relationship Id="rId33" Type="http://schemas.openxmlformats.org/officeDocument/2006/relationships/slide" Target="slides/slide33.xml" /><Relationship Id="rId35" Type="http://schemas.openxmlformats.org/officeDocument/2006/relationships/slide" Target="slides/slide35.xml" /><Relationship Id="rId38" Type="http://schemas.openxmlformats.org/officeDocument/2006/relationships/slide" Target="slides/slide38.xml" /><Relationship Id="rId44" Type="http://schemas.openxmlformats.org/officeDocument/2006/relationships/slide" Target="slides/slide44.xml" /><Relationship Id="rId40" Type="http://schemas.openxmlformats.org/officeDocument/2006/relationships/slide" Target="slides/slide40.xml" /><Relationship Id="rId46" Type="http://schemas.openxmlformats.org/officeDocument/2006/relationships/slide" Target="slides/slide46.xml" /><Relationship Id="rId47" Type="http://schemas.openxmlformats.org/officeDocument/2006/relationships/notesMaster" Target="notesMasters/notesMaster1.xml" /><Relationship Id="rId50" Type="http://schemas.openxmlformats.org/officeDocument/2006/relationships/viewProps" Target="viewProps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Relationship Id="rId2" Type="http://schemas.openxmlformats.org/officeDocument/2006/relationships/image" Target="media/image29.svg" /><Relationship Id="rId4" Type="http://schemas.openxmlformats.org/officeDocument/2006/relationships/image" Target="media/image31.svg" /><Relationship Id="rId3" Type="http://schemas.openxmlformats.org/officeDocument/2006/relationships/image" Target="media/image30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2.svg" /><Relationship Id="rId2" Type="http://schemas.openxmlformats.org/officeDocument/2006/relationships/image" Target="media/image33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2" Type="http://schemas.openxmlformats.org/officeDocument/2006/relationships/image" Target="media/image4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5" Type="http://schemas.openxmlformats.org/officeDocument/2006/relationships/image" Target="media/image7.svg" /><Relationship Id="rId3" Type="http://schemas.openxmlformats.org/officeDocument/2006/relationships/image" Target="media/image3.svg" /><Relationship Id="rId0" Type="http://schemas.openxmlformats.org/officeDocument/2006/relationships/slideLayout" Target="../slideLayouts/slideLayout1.xml" /><Relationship Id="rId6" Type="http://schemas.openxmlformats.org/officeDocument/2006/relationships/image" Target="media/image8.svg" /><Relationship Id="rId4" Type="http://schemas.openxmlformats.org/officeDocument/2006/relationships/image" Target="media/image4.svg" /><Relationship Id="rId1" Type="http://schemas.openxmlformats.org/officeDocument/2006/relationships/image" Target="media/image5.svg" /><Relationship Id="rId7" Type="http://schemas.openxmlformats.org/officeDocument/2006/relationships/image" Target="media/image9.svg" /><Relationship Id="rId2" Type="http://schemas.openxmlformats.org/officeDocument/2006/relationships/image" Target="media/image6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1.svg" /><Relationship Id="rId1" Type="http://schemas.openxmlformats.org/officeDocument/2006/relationships/image" Target="media/image10.sv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png" /></Relationships>
</file>

<file path=ppt/slides/_rels/slide21.xml.rels><?xml version="1.0" encoding="UTF-8" standalone="yes"?><Relationships xmlns="http://schemas.openxmlformats.org/package/2006/relationships"><Relationship Id="rId2" Type="http://schemas.openxmlformats.org/officeDocument/2006/relationships/image" Target="media/image14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svg" /><Relationship Id="rId3" Type="http://schemas.openxmlformats.org/officeDocument/2006/relationships/image" Target="media/image15.svg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Relationship Id="rId2" Type="http://schemas.openxmlformats.org/officeDocument/2006/relationships/image" Target="media/image18.svg" /><Relationship Id="rId3" Type="http://schemas.openxmlformats.org/officeDocument/2006/relationships/image" Target="media/image19.svg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0.png" /></Relationships>
</file>

<file path=ppt/slides/_rels/slide4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3.xml.rels><?xml version="1.0" encoding="UTF-8" standalone="yes"?><Relationships xmlns="http://schemas.openxmlformats.org/package/2006/relationships"><Relationship Id="rId2" Type="http://schemas.openxmlformats.org/officeDocument/2006/relationships/image" Target="media/image22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svg" /><Relationship Id="rId3" Type="http://schemas.openxmlformats.org/officeDocument/2006/relationships/image" Target="media/image23.svg" /></Relationships>
</file>

<file path=ppt/slides/_rels/slide4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4.svg" /><Relationship Id="rId2" Type="http://schemas.openxmlformats.org/officeDocument/2006/relationships/image" Target="media/image25.svg" /><Relationship Id="rId3" Type="http://schemas.openxmlformats.org/officeDocument/2006/relationships/image" Target="media/image26.svg" /><Relationship Id="rId4" Type="http://schemas.openxmlformats.org/officeDocument/2006/relationships/image" Target="media/image27.svg" /></Relationships>
</file>

<file path=ppt/slides/_rels/slide4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8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89535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2000">
                <a:srgbClr val="0B1220">
                  <a:alpha val="86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0" y="4762500"/>
            <a:ext cx="12192000" cy="2095500"/>
          </a:xfrm>
          <a:prstGeom prst="rect">
            <a:avLst/>
          </a:prstGeom>
          <a:gradFill>
            <a:gsLst>
              <a:gs pos="0">
                <a:srgbClr val="0B1220">
                  <a:alpha val="94000"/>
                </a:srgbClr>
              </a:gs>
              <a:gs pos="100000">
                <a:srgbClr val="0B1220">
                  <a:alpha val="0"/>
                </a:srgbClr>
              </a:gs>
            </a:gsLst>
            <a:lin ang="16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838200" y="533400"/>
            <a:ext cx="105156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838200" y="1190625"/>
            <a:ext cx="438150" cy="2857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409700" y="1104900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300">
                <a:solidFill>
                  <a:srgbClr val="2AD4EE"/>
                </a:solidFill>
                <a:latin typeface="Source Han Sans SC"/>
                <a:ea typeface="Source Han Sans SC"/>
              </a:rPr>
              <a:t>内部技术分享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2743200" y="1104900"/>
            <a:ext cx="73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2026.10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8200" y="1628775"/>
            <a:ext cx="7239000" cy="2190750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>从</a:t>
            </a:r>
            <a:r>
              <a:rPr lang="en-US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>到</a:t>
            </a:r>
            <a:r>
              <a:rPr lang="en-US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endParaRPr/>
          </a:p>
          <a:p>
            <a:pPr>
              <a:lnSpc>
                <a:spcPct val="113999"/>
              </a:lnSpc>
            </a:pPr>
            <a:r>
              <a:rPr lang="zh-CN" sz="6300" b="1" spc="75">
                <a:solidFill>
                  <a:srgbClr val="2AD4EE"/>
                </a:solidFill>
                <a:latin typeface="Source Han Sans SC"/>
                <a:ea typeface="Source Han Sans SC"/>
              </a:rPr>
              <a:t>再到</a:t>
            </a:r>
            <a:r>
              <a:rPr lang="en-US" sz="6300" b="1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838200" y="4105275"/>
            <a:ext cx="28575" cy="5715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38200" y="4848225"/>
            <a:ext cx="7239000" cy="1228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模型是原料，工程才是产品。</a:t>
            </a:r>
            <a:endParaRPr/>
          </a:p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一条从「会聊天」到「能干活的系统」的完整链路：认知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工程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框架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落地。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9353550" y="1409700"/>
            <a:ext cx="2000250" cy="1352550"/>
          </a:xfrm>
          <a:prstGeom prst="roundRect">
            <a:avLst>
              <a:gd name="adj" fmla="val 2817"/>
            </a:avLst>
          </a:prstGeom>
          <a:solidFill>
            <a:srgbClr val="0B1220">
              <a:alpha val="7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525125" y="14954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820400" y="1485900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287000" y="18383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582275" y="1828800"/>
            <a:ext cx="58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AGENT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039350" y="21812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334625" y="217170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PI AGENT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010775" y="25241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306050" y="25146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PRACTICE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38200" y="61722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801350" y="617220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01 / 46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90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90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四章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37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页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一条从模型到业务系统的完整链路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85800" y="2162175"/>
            <a:ext cx="23145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85800" y="3400425"/>
            <a:ext cx="2314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CHAPTERS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685800" y="3781425"/>
            <a:ext cx="381000" cy="1905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685800" y="4010025"/>
            <a:ext cx="2314575" cy="1028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先补认知，再建工程观；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然后看一个范本，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最后落进一个真实系统。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3619500" y="1143000"/>
            <a:ext cx="7886700" cy="1238250"/>
          </a:xfrm>
          <a:custGeom>
            <a:pathLst>
              <a:path w="828" h="130">
                <a:moveTo>
                  <a:pt x="0" y="129"/>
                </a:moveTo>
                <a:lnTo>
                  <a:pt x="828" y="129"/>
                </a:lnTo>
                <a:lnTo>
                  <a:pt x="828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3619500" y="13049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4248150" y="12668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：一切的地基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4248150" y="16002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看懂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的无状态本质，理解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为什么必须做上下文工程。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11087100" y="13239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03–10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4248150" y="2009775"/>
            <a:ext cx="5524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4343400" y="2047875"/>
            <a:ext cx="361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Token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4876800" y="200977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4972050" y="20478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上下文窗口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5810250" y="2009775"/>
            <a:ext cx="11430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5905500" y="204787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Function Calling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3619500" y="2371725"/>
            <a:ext cx="7886700" cy="1247775"/>
          </a:xfrm>
          <a:custGeom>
            <a:pathLst>
              <a:path w="828" h="131">
                <a:moveTo>
                  <a:pt x="0" y="130"/>
                </a:moveTo>
                <a:lnTo>
                  <a:pt x="828" y="130"/>
                </a:lnTo>
                <a:lnTo>
                  <a:pt x="828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619500" y="25336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4248150" y="249555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：从“能聊”到“能干”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4248150" y="282892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掌握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ReAct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与七层功能地图，说清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的能力边界到底在哪。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1087100" y="255270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11–19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4248150" y="3238500"/>
            <a:ext cx="52387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4343400" y="32766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ReAct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4848225" y="32385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4943475" y="3276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七层地图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5648325" y="32385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5743575" y="3276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十条原则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3619500" y="3609975"/>
            <a:ext cx="7886700" cy="1238250"/>
          </a:xfrm>
          <a:custGeom>
            <a:pathLst>
              <a:path w="828" h="130">
                <a:moveTo>
                  <a:pt x="0" y="129"/>
                </a:moveTo>
                <a:lnTo>
                  <a:pt x="828" y="129"/>
                </a:lnTo>
                <a:lnTo>
                  <a:pt x="828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3619500" y="37719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4248150" y="373380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Pi Agent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：一个极简范式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4248150" y="406717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理解极简哲学与严格单向的分层架构，看懂它的每一个设计取舍。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11087100" y="379095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20–38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4248150" y="4476750"/>
            <a:ext cx="82867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343400" y="4514850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418 </a:t>
            </a: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行内核</a:t>
            </a:r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5153025" y="447675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5248275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四层架构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5953125" y="447675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048375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三层定制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3619500" y="50006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4248150" y="49625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落地实践：智数问答</a:t>
            </a: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agent-DQ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4248150" y="52959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完整拆解一个真实业务系统，带走可直接复用的踩坑经验。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11087100" y="50196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39–45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4248150" y="57054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434340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三级路由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5048250" y="570547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5143500" y="57435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发现式注册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5981700" y="57054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607695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流式渲染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02 / 46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0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05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1051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52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01</a:t>
            </a:r>
            <a:endParaRPr/>
          </a:p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一切的地基</a:t>
            </a:r>
            <a:endParaRPr/>
          </a:p>
        </p:txBody>
      </p:sp>
      <p:sp>
        <p:nvSpPr>
          <p:cNvPr id="1055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56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不认识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的「无状态」，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就理解不了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的上下文工程。</a:t>
            </a:r>
            <a:endParaRPr/>
          </a:p>
        </p:txBody>
      </p:sp>
      <p:sp>
        <p:nvSpPr>
          <p:cNvPr id="1057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58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1059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276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每次请求到底记住了什么？</a:t>
            </a:r>
            <a:endParaRPr/>
          </a:p>
        </p:txBody>
      </p:sp>
      <p:sp>
        <p:nvSpPr>
          <p:cNvPr id="1061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为什么必须用工具调用？</a:t>
            </a:r>
            <a:endParaRPr/>
          </a:p>
        </p:txBody>
      </p:sp>
      <p:sp>
        <p:nvSpPr>
          <p:cNvPr id="1063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64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手写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与原生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FC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差在哪？</a:t>
            </a:r>
            <a:endParaRPr/>
          </a:p>
        </p:txBody>
      </p:sp>
      <p:sp>
        <p:nvSpPr>
          <p:cNvPr id="1065" name=""/>
          <p:cNvSpPr/>
          <p:nvPr/>
        </p:nvSpPr>
        <p:spPr>
          <a:xfrm rot="0" flipH="0" flipV="0">
            <a:off x="7620000" y="3200400"/>
            <a:ext cx="3733800" cy="2495550"/>
          </a:xfrm>
          <a:prstGeom prst="roundRect">
            <a:avLst>
              <a:gd name="adj" fmla="val 1527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067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03 – 10</a:t>
            </a:r>
            <a:endParaRPr/>
          </a:p>
        </p:txBody>
      </p:sp>
      <p:sp>
        <p:nvSpPr>
          <p:cNvPr id="1068" name=""/>
          <p:cNvSpPr/>
          <p:nvPr/>
        </p:nvSpPr>
        <p:spPr>
          <a:xfrm rot="0" flipH="0" flipV="0">
            <a:off x="7848600" y="45339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8134350" y="4438650"/>
            <a:ext cx="1600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里的四种</a:t>
            </a:r>
            <a:r>
              <a:rPr lang="en-US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role</a:t>
            </a:r>
            <a:endParaRPr/>
          </a:p>
        </p:txBody>
      </p:sp>
      <p:sp>
        <p:nvSpPr>
          <p:cNvPr id="1070" name=""/>
          <p:cNvSpPr/>
          <p:nvPr/>
        </p:nvSpPr>
        <p:spPr>
          <a:xfrm rot="0" flipH="0" flipV="0">
            <a:off x="7848600" y="48196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8134350" y="47244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无状态与上下文窗口</a:t>
            </a:r>
            <a:endParaRPr/>
          </a:p>
        </p:txBody>
      </p:sp>
      <p:sp>
        <p:nvSpPr>
          <p:cNvPr id="1072" name=""/>
          <p:cNvSpPr/>
          <p:nvPr/>
        </p:nvSpPr>
        <p:spPr>
          <a:xfrm rot="0" flipH="0" flipV="0">
            <a:off x="7848600" y="51054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8134350" y="50101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四个必记的核心概念</a:t>
            </a:r>
            <a:endParaRPr/>
          </a:p>
        </p:txBody>
      </p:sp>
      <p:sp>
        <p:nvSpPr>
          <p:cNvPr id="1074" name=""/>
          <p:cNvSpPr/>
          <p:nvPr/>
        </p:nvSpPr>
        <p:spPr>
          <a:xfrm rot="0" flipH="0" flipV="0">
            <a:off x="7848600" y="53911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75" name="" descr="{&quot;isTemplate&quot;:true,&quot;type&quot;:&quot;text&quot;}"/>
          <p:cNvSpPr txBox="1"/>
          <p:nvPr/>
        </p:nvSpPr>
        <p:spPr>
          <a:xfrm rot="0" flipH="0" flipV="0">
            <a:off x="8134350" y="5295900"/>
            <a:ext cx="2190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两种调用方式与</a:t>
            </a:r>
            <a:r>
              <a:rPr lang="en-US" sz="1200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Function Calling</a:t>
            </a:r>
            <a:endParaRPr/>
          </a:p>
        </p:txBody>
      </p:sp>
      <p:sp>
        <p:nvSpPr>
          <p:cNvPr id="1076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03 / 46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6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63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63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362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里的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role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：谁在说话</a:t>
            </a:r>
            <a:endParaRPr/>
          </a:p>
        </p:txBody>
      </p:sp>
      <p:sp>
        <p:nvSpPr>
          <p:cNvPr id="163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362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同一句话换个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role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，模型对它的理解就完全不一样</a:t>
            </a:r>
            <a:endParaRPr/>
          </a:p>
        </p:txBody>
      </p:sp>
      <p:sp>
        <p:nvSpPr>
          <p:cNvPr id="1637" name=""/>
          <p:cNvSpPr/>
          <p:nvPr/>
        </p:nvSpPr>
        <p:spPr>
          <a:xfrm rot="0" flipH="0" flipV="0">
            <a:off x="6858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38" name="" descr="{&quot;isTemplate&quot;:true,&quot;type&quot;:&quot;text&quot;}"/>
          <p:cNvSpPr txBox="1"/>
          <p:nvPr/>
        </p:nvSpPr>
        <p:spPr>
          <a:xfrm rot="0" flipH="0" flipV="0">
            <a:off x="8572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system</a:t>
            </a:r>
            <a:endParaRPr/>
          </a:p>
        </p:txBody>
      </p:sp>
      <p:sp>
        <p:nvSpPr>
          <p:cNvPr id="1639" name="" descr="{&quot;isTemplate&quot;:true,&quot;type&quot;:&quot;text&quot;}"/>
          <p:cNvSpPr txBox="1"/>
          <p:nvPr/>
        </p:nvSpPr>
        <p:spPr>
          <a:xfrm rot="0" flipH="0" flipV="0">
            <a:off x="8572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系统提示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定规则</a:t>
            </a:r>
            <a:endParaRPr/>
          </a:p>
        </p:txBody>
      </p:sp>
      <p:sp>
        <p:nvSpPr>
          <p:cNvPr id="1640" name=""/>
          <p:cNvSpPr/>
          <p:nvPr/>
        </p:nvSpPr>
        <p:spPr>
          <a:xfrm rot="0" flipH="0" flipV="0">
            <a:off x="8572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41" name="" descr="{&quot;isTemplate&quot;:true,&quot;type&quot;:&quot;text&quot;}"/>
          <p:cNvSpPr txBox="1"/>
          <p:nvPr/>
        </p:nvSpPr>
        <p:spPr>
          <a:xfrm rot="0" flipH="0" flipV="0">
            <a:off x="8572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身份、能力边界、输出格式。通常放在第一条，优先级最高——用户说什么都盖不过它。</a:t>
            </a:r>
            <a:endParaRPr/>
          </a:p>
        </p:txBody>
      </p:sp>
      <p:sp>
        <p:nvSpPr>
          <p:cNvPr id="1642" name="" descr="{&quot;isTemplate&quot;:true,&quot;type&quot;:&quot;text&quot;}"/>
          <p:cNvSpPr txBox="1"/>
          <p:nvPr/>
        </p:nvSpPr>
        <p:spPr>
          <a:xfrm rot="0" flipH="0" flipV="0">
            <a:off x="8572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永远放最前</a:t>
            </a:r>
            <a:endParaRPr/>
          </a:p>
        </p:txBody>
      </p:sp>
      <p:sp>
        <p:nvSpPr>
          <p:cNvPr id="1643" name=""/>
          <p:cNvSpPr/>
          <p:nvPr/>
        </p:nvSpPr>
        <p:spPr>
          <a:xfrm rot="0" flipH="0" flipV="0">
            <a:off x="34290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44" name="" descr="{&quot;isTemplate&quot;:true,&quot;type&quot;:&quot;text&quot;}"/>
          <p:cNvSpPr txBox="1"/>
          <p:nvPr/>
        </p:nvSpPr>
        <p:spPr>
          <a:xfrm rot="0" flipH="0" flipV="0">
            <a:off x="36004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user</a:t>
            </a:r>
            <a:endParaRPr/>
          </a:p>
        </p:txBody>
      </p:sp>
      <p:sp>
        <p:nvSpPr>
          <p:cNvPr id="1645" name="" descr="{&quot;isTemplate&quot;:true,&quot;type&quot;:&quot;text&quot;}"/>
          <p:cNvSpPr txBox="1"/>
          <p:nvPr/>
        </p:nvSpPr>
        <p:spPr>
          <a:xfrm rot="0" flipH="0" flipV="0">
            <a:off x="36004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用户输入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提需求</a:t>
            </a:r>
            <a:endParaRPr/>
          </a:p>
        </p:txBody>
      </p:sp>
      <p:sp>
        <p:nvSpPr>
          <p:cNvPr id="1646" name=""/>
          <p:cNvSpPr/>
          <p:nvPr/>
        </p:nvSpPr>
        <p:spPr>
          <a:xfrm rot="0" flipH="0" flipV="0">
            <a:off x="36004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47" name="" descr="{&quot;isTemplate&quot;:true,&quot;type&quot;:&quot;text&quot;}"/>
          <p:cNvSpPr txBox="1"/>
          <p:nvPr/>
        </p:nvSpPr>
        <p:spPr>
          <a:xfrm rot="0" flipH="0" flipV="0">
            <a:off x="36004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这一轮用户说的话。方案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A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里，工具执行结果也用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user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身份拼成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回喂。</a:t>
            </a:r>
            <a:endParaRPr/>
          </a:p>
        </p:txBody>
      </p:sp>
      <p:sp>
        <p:nvSpPr>
          <p:cNvPr id="1648" name="" descr="{&quot;isTemplate&quot;:true,&quot;type&quot;:&quot;text&quot;}"/>
          <p:cNvSpPr txBox="1"/>
          <p:nvPr/>
        </p:nvSpPr>
        <p:spPr>
          <a:xfrm rot="0" flipH="0" flipV="0">
            <a:off x="36004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每轮必有</a:t>
            </a:r>
            <a:endParaRPr/>
          </a:p>
        </p:txBody>
      </p:sp>
      <p:sp>
        <p:nvSpPr>
          <p:cNvPr id="1649" name=""/>
          <p:cNvSpPr/>
          <p:nvPr/>
        </p:nvSpPr>
        <p:spPr>
          <a:xfrm rot="0" flipH="0" flipV="0">
            <a:off x="61722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50" name="" descr="{&quot;isTemplate&quot;:true,&quot;type&quot;:&quot;text&quot;}"/>
          <p:cNvSpPr txBox="1"/>
          <p:nvPr/>
        </p:nvSpPr>
        <p:spPr>
          <a:xfrm rot="0" flipH="0" flipV="0">
            <a:off x="63436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assistant</a:t>
            </a:r>
            <a:endParaRPr/>
          </a:p>
        </p:txBody>
      </p:sp>
      <p:sp>
        <p:nvSpPr>
          <p:cNvPr id="1651" name="" descr="{&quot;isTemplate&quot;:true,&quot;type&quot;:&quot;text&quot;}"/>
          <p:cNvSpPr txBox="1"/>
          <p:nvPr/>
        </p:nvSpPr>
        <p:spPr>
          <a:xfrm rot="0" flipH="0" flipV="0">
            <a:off x="63436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模型输出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留痕</a:t>
            </a:r>
            <a:endParaRPr/>
          </a:p>
        </p:txBody>
      </p:sp>
      <p:sp>
        <p:nvSpPr>
          <p:cNvPr id="1652" name=""/>
          <p:cNvSpPr/>
          <p:nvPr/>
        </p:nvSpPr>
        <p:spPr>
          <a:xfrm rot="0" flipH="0" flipV="0">
            <a:off x="63436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53" name="" descr="{&quot;isTemplate&quot;:true,&quot;type&quot;:&quot;text&quot;}"/>
          <p:cNvSpPr txBox="1"/>
          <p:nvPr/>
        </p:nvSpPr>
        <p:spPr>
          <a:xfrm rot="0" flipH="0" flipV="0">
            <a:off x="63436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模型上一轮的回答，包括它要求调用的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tool_calls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。必须原样回填，它才知道自己做过什么。</a:t>
            </a:r>
            <a:endParaRPr/>
          </a:p>
        </p:txBody>
      </p:sp>
      <p:sp>
        <p:nvSpPr>
          <p:cNvPr id="1654" name="" descr="{&quot;isTemplate&quot;:true,&quot;type&quot;:&quot;text&quot;}"/>
          <p:cNvSpPr txBox="1"/>
          <p:nvPr/>
        </p:nvSpPr>
        <p:spPr>
          <a:xfrm rot="0" flipH="0" flipV="0">
            <a:off x="63436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必须回填</a:t>
            </a:r>
            <a:endParaRPr/>
          </a:p>
        </p:txBody>
      </p:sp>
      <p:sp>
        <p:nvSpPr>
          <p:cNvPr id="1655" name=""/>
          <p:cNvSpPr/>
          <p:nvPr/>
        </p:nvSpPr>
        <p:spPr>
          <a:xfrm rot="0" flipH="0" flipV="0">
            <a:off x="8915400" y="1143000"/>
            <a:ext cx="2590800" cy="2247900"/>
          </a:xfrm>
          <a:prstGeom prst="roundRect">
            <a:avLst>
              <a:gd name="adj" fmla="val 169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56" name="" descr="{&quot;isTemplate&quot;:true,&quot;type&quot;:&quot;text&quot;}"/>
          <p:cNvSpPr txBox="1"/>
          <p:nvPr/>
        </p:nvSpPr>
        <p:spPr>
          <a:xfrm rot="0" flipH="0" flipV="0">
            <a:off x="9086850" y="1314450"/>
            <a:ext cx="2247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tool</a:t>
            </a:r>
            <a:endParaRPr/>
          </a:p>
        </p:txBody>
      </p:sp>
      <p:sp>
        <p:nvSpPr>
          <p:cNvPr id="1657" name="" descr="{&quot;isTemplate&quot;:true,&quot;type&quot;:&quot;text&quot;}"/>
          <p:cNvSpPr txBox="1"/>
          <p:nvPr/>
        </p:nvSpPr>
        <p:spPr>
          <a:xfrm rot="0" flipH="0" flipV="0">
            <a:off x="9086850" y="1628775"/>
            <a:ext cx="224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工具结果</a:t>
            </a:r>
            <a:r>
              <a:rPr lang="en-US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外部事实</a:t>
            </a:r>
            <a:endParaRPr/>
          </a:p>
        </p:txBody>
      </p:sp>
      <p:sp>
        <p:nvSpPr>
          <p:cNvPr id="1658" name=""/>
          <p:cNvSpPr/>
          <p:nvPr/>
        </p:nvSpPr>
        <p:spPr>
          <a:xfrm rot="0" flipH="0" flipV="0">
            <a:off x="9086850" y="1905000"/>
            <a:ext cx="22479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59" name="" descr="{&quot;isTemplate&quot;:true,&quot;type&quot;:&quot;text&quot;}"/>
          <p:cNvSpPr txBox="1"/>
          <p:nvPr/>
        </p:nvSpPr>
        <p:spPr>
          <a:xfrm rot="0" flipH="0" flipV="0">
            <a:off x="9086850" y="2028825"/>
            <a:ext cx="2247900" cy="838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8000"/>
              </a:lnSpc>
            </a:pP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工具执行完的返回值，用</a:t>
            </a:r>
            <a:r>
              <a:rPr lang="en-US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tool_call_id </a:t>
            </a:r>
            <a:r>
              <a:rPr lang="zh-CN" sz="10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绑定到具体那次调用，模型才知道结果属于哪一次请求。</a:t>
            </a:r>
            <a:endParaRPr/>
          </a:p>
        </p:txBody>
      </p:sp>
      <p:sp>
        <p:nvSpPr>
          <p:cNvPr id="1660" name="" descr="{&quot;isTemplate&quot;:true,&quot;type&quot;:&quot;text&quot;}"/>
          <p:cNvSpPr txBox="1"/>
          <p:nvPr/>
        </p:nvSpPr>
        <p:spPr>
          <a:xfrm rot="0" flipH="0" flipV="0">
            <a:off x="9086850" y="3076575"/>
            <a:ext cx="2247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原生</a:t>
            </a:r>
            <a:r>
              <a:rPr lang="en-US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 xml:space="preserve"> FC </a:t>
            </a:r>
            <a:r>
              <a:rPr lang="zh-CN" sz="938" spc="75">
                <a:solidFill>
                  <a:srgbClr val="2AD4EE">
                    <a:alpha val="82000"/>
                  </a:srgbClr>
                </a:solidFill>
                <a:latin typeface="JetBrains Mono"/>
                <a:ea typeface="JetBrains Mono"/>
              </a:rPr>
              <a:t>专用</a:t>
            </a:r>
            <a:endParaRPr/>
          </a:p>
        </p:txBody>
      </p:sp>
      <p:sp>
        <p:nvSpPr>
          <p:cNvPr id="1661" name="" descr="{&quot;isTemplate&quot;:true,&quot;type&quot;:&quot;text&quot;}"/>
          <p:cNvSpPr txBox="1"/>
          <p:nvPr/>
        </p:nvSpPr>
        <p:spPr>
          <a:xfrm rot="0" flipH="0" flipV="0">
            <a:off x="685800" y="3524250"/>
            <a:ext cx="3152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MESSAGES · </a:t>
            </a:r>
            <a:r>
              <a:rPr lang="zh-CN" sz="97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一次完整工具调用后，数组长这样</a:t>
            </a:r>
            <a:endParaRPr/>
          </a:p>
        </p:txBody>
      </p:sp>
      <p:sp>
        <p:nvSpPr>
          <p:cNvPr id="1662" name=""/>
          <p:cNvSpPr/>
          <p:nvPr/>
        </p:nvSpPr>
        <p:spPr>
          <a:xfrm rot="0" flipH="0" flipV="0">
            <a:off x="3933825" y="3600450"/>
            <a:ext cx="7572375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63" name=""/>
          <p:cNvSpPr/>
          <p:nvPr/>
        </p:nvSpPr>
        <p:spPr>
          <a:xfrm rot="0" flipH="0" flipV="0">
            <a:off x="685800" y="5486400"/>
            <a:ext cx="10820400" cy="571500"/>
          </a:xfrm>
          <a:prstGeom prst="roundRect">
            <a:avLst>
              <a:gd name="adj" fmla="val 666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64" name="" descr="{&quot;isTemplate&quot;:true,&quot;type&quot;:&quot;text&quot;}"/>
          <p:cNvSpPr txBox="1"/>
          <p:nvPr/>
        </p:nvSpPr>
        <p:spPr>
          <a:xfrm rot="0" flipH="0" flipV="0">
            <a:off x="857250" y="56673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记住</a:t>
            </a:r>
            <a:endParaRPr/>
          </a:p>
        </p:txBody>
      </p:sp>
      <p:sp>
        <p:nvSpPr>
          <p:cNvPr id="1665" name="" descr="{&quot;isTemplate&quot;:true,&quot;type&quot;:&quot;text&quot;}"/>
          <p:cNvSpPr txBox="1"/>
          <p:nvPr/>
        </p:nvSpPr>
        <p:spPr>
          <a:xfrm rot="0" flipH="0" flipV="0">
            <a:off x="1333500" y="5619750"/>
            <a:ext cx="1000125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role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不是日志标签，是对话的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语法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——它决定这段话被当成指令、提问、我自己的话，还是外部事实。</a:t>
            </a:r>
            <a:endParaRPr/>
          </a:p>
        </p:txBody>
      </p:sp>
      <p:sp>
        <p:nvSpPr>
          <p:cNvPr id="166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66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04 / 46</a:t>
            </a:r>
            <a:endParaRPr/>
          </a:p>
        </p:txBody>
      </p:sp>
      <p:sp>
        <p:nvSpPr>
          <p:cNvPr id="1668" name=""/>
          <p:cNvSpPr/>
          <p:nvPr/>
        </p:nvSpPr>
        <p:spPr>
          <a:xfrm rot="0" flipH="0" flipV="0">
            <a:off x="685800" y="3676650"/>
            <a:ext cx="10820400" cy="1714500"/>
          </a:xfrm>
          <a:prstGeom prst="roundRect">
            <a:avLst>
              <a:gd name="adj" fmla="val 4444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669" name=""/>
          <p:cNvSpPr txBox="1"/>
          <p:nvPr/>
        </p:nvSpPr>
        <p:spPr>
          <a:xfrm rot="0" flipH="0" flipV="0">
            <a:off x="838200" y="3810000"/>
            <a:ext cx="10515600" cy="1447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messages </a:t>
            </a:r>
            <a:r>
              <a:rPr sz="112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[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"system"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  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"你是智数问答助手，只回答指标类问题"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    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"华东区上月销售额多少？"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"assistant"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"tool_calls"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: [{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"id"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"call_01"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79B8FF"/>
                </a:solidFill>
                <a:latin typeface="Menlo"/>
                <a:ea typeface="Menlo"/>
              </a:rPr>
              <a:t>...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}]},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    {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"tool"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    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"tool_call_id"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"call_01"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125">
                <a:solidFill>
                  <a:srgbClr val="9ECBFF"/>
                </a:solidFill>
                <a:latin typeface="Menlo"/>
                <a:ea typeface="Menlo"/>
              </a:rPr>
              <a:t>"1.28 亿"</a:t>
            </a: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},</a:t>
            </a:r>
            <a:endParaRPr/>
          </a:p>
          <a:p>
            <a:pPr>
              <a:lnSpc>
                <a:spcPct val="140000"/>
              </a:lnSpc>
            </a:pPr>
            <a:r>
              <a:rPr sz="1125">
                <a:solidFill>
                  <a:srgbClr val="E1E4E8"/>
                </a:solidFill>
                <a:latin typeface="Menlo"/>
                <a:ea typeface="Menlo"/>
              </a:rPr>
              <a:t>]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9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81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982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43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是「无状态的文本预测器」</a:t>
            </a:r>
            <a:endParaRPr/>
          </a:p>
        </p:txBody>
      </p:sp>
      <p:sp>
        <p:nvSpPr>
          <p:cNvPr id="1983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4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理解这一点，才理解为什么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的上下文要自己算</a:t>
            </a:r>
            <a:endParaRPr/>
          </a:p>
        </p:txBody>
      </p:sp>
      <p:sp>
        <p:nvSpPr>
          <p:cNvPr id="1984" name=""/>
          <p:cNvSpPr/>
          <p:nvPr/>
        </p:nvSpPr>
        <p:spPr>
          <a:xfrm rot="0" flipH="0" flipV="0">
            <a:off x="685800" y="1143000"/>
            <a:ext cx="3429000" cy="4914900"/>
          </a:xfrm>
          <a:custGeom>
            <a:pathLst>
              <a:path w="360" h="516">
                <a:moveTo>
                  <a:pt x="359" y="0"/>
                </a:moveTo>
                <a:lnTo>
                  <a:pt x="360" y="0"/>
                </a:lnTo>
                <a:lnTo>
                  <a:pt x="360" y="516"/>
                </a:lnTo>
                <a:lnTo>
                  <a:pt x="359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85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DEFINITION</a:t>
            </a:r>
            <a:endParaRPr/>
          </a:p>
        </p:txBody>
      </p:sp>
      <p:sp>
        <p:nvSpPr>
          <p:cNvPr id="1986" name="" descr="{&quot;isTemplate&quot;:true,&quot;type&quot;:&quot;text&quot;}"/>
          <p:cNvSpPr txBox="1"/>
          <p:nvPr/>
        </p:nvSpPr>
        <p:spPr>
          <a:xfrm rot="0" flipH="0" flipV="0">
            <a:off x="685800" y="1447800"/>
            <a:ext cx="3133725" cy="800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模型本身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没有内存</a:t>
            </a:r>
            <a:endParaRPr/>
          </a:p>
        </p:txBody>
      </p:sp>
      <p:sp>
        <p:nvSpPr>
          <p:cNvPr id="1987" name="" descr="{&quot;isTemplate&quot;:true,&quot;type&quot;:&quot;text&quot;}"/>
          <p:cNvSpPr txBox="1"/>
          <p:nvPr/>
        </p:nvSpPr>
        <p:spPr>
          <a:xfrm rot="0" flipH="0" flipV="0">
            <a:off x="685800" y="2381250"/>
            <a:ext cx="31337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它不会记住上一次对话。不把历史完整塞回</a:t>
            </a:r>
            <a:r>
              <a:rPr lang="en-US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messages</a:t>
            </a: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，它就不知道之前聊过什么——所谓「记忆」，每次请求都要你重建。</a:t>
            </a:r>
            <a:endParaRPr/>
          </a:p>
        </p:txBody>
      </p:sp>
      <p:sp>
        <p:nvSpPr>
          <p:cNvPr id="1988" name=""/>
          <p:cNvSpPr/>
          <p:nvPr/>
        </p:nvSpPr>
        <p:spPr>
          <a:xfrm rot="0" flipH="0" flipV="0">
            <a:off x="685800" y="3467100"/>
            <a:ext cx="5905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89" name="" descr="{&quot;isTemplate&quot;:true,&quot;type&quot;:&quot;text&quot;}"/>
          <p:cNvSpPr txBox="1"/>
          <p:nvPr/>
        </p:nvSpPr>
        <p:spPr>
          <a:xfrm rot="0" flipH="0" flipV="0">
            <a:off x="781050" y="35052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无状态</a:t>
            </a:r>
            <a:endParaRPr/>
          </a:p>
        </p:txBody>
      </p:sp>
      <p:sp>
        <p:nvSpPr>
          <p:cNvPr id="1990" name=""/>
          <p:cNvSpPr/>
          <p:nvPr/>
        </p:nvSpPr>
        <p:spPr>
          <a:xfrm rot="0" flipH="0" flipV="0">
            <a:off x="1352550" y="34671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91" name="" descr="{&quot;isTemplate&quot;:true,&quot;type&quot;:&quot;text&quot;}"/>
          <p:cNvSpPr txBox="1"/>
          <p:nvPr/>
        </p:nvSpPr>
        <p:spPr>
          <a:xfrm rot="0" flipH="0" flipV="0">
            <a:off x="1447800" y="35052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每次重发</a:t>
            </a:r>
            <a:endParaRPr/>
          </a:p>
        </p:txBody>
      </p:sp>
      <p:sp>
        <p:nvSpPr>
          <p:cNvPr id="1992" name=""/>
          <p:cNvSpPr/>
          <p:nvPr/>
        </p:nvSpPr>
        <p:spPr>
          <a:xfrm rot="0" flipH="0" flipV="0">
            <a:off x="2152650" y="3467100"/>
            <a:ext cx="10668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93" name="" descr="{&quot;isTemplate&quot;:true,&quot;type&quot;:&quot;text&quot;}"/>
          <p:cNvSpPr txBox="1"/>
          <p:nvPr/>
        </p:nvSpPr>
        <p:spPr>
          <a:xfrm rot="0" flipH="0" flipV="0">
            <a:off x="2247900" y="350520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数组</a:t>
            </a:r>
            <a:endParaRPr/>
          </a:p>
        </p:txBody>
      </p:sp>
      <p:sp>
        <p:nvSpPr>
          <p:cNvPr id="1994" name=""/>
          <p:cNvSpPr/>
          <p:nvPr/>
        </p:nvSpPr>
        <p:spPr>
          <a:xfrm rot="0" flipH="0" flipV="0">
            <a:off x="685800" y="3876675"/>
            <a:ext cx="3133725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95" name="" descr="{&quot;isTemplate&quot;:true,&quot;type&quot;:&quot;text&quot;}"/>
          <p:cNvSpPr txBox="1"/>
          <p:nvPr/>
        </p:nvSpPr>
        <p:spPr>
          <a:xfrm rot="0" flipH="0" flipV="0">
            <a:off x="685800" y="40195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ACTIONS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两个必做动作</a:t>
            </a:r>
            <a:endParaRPr/>
          </a:p>
        </p:txBody>
      </p:sp>
      <p:sp>
        <p:nvSpPr>
          <p:cNvPr id="1996" name="" descr="{&quot;isTemplate&quot;:true,&quot;type&quot;:&quot;text&quot;}"/>
          <p:cNvSpPr txBox="1"/>
          <p:nvPr/>
        </p:nvSpPr>
        <p:spPr>
          <a:xfrm rot="0" flipH="0" flipV="0">
            <a:off x="685800" y="4286250"/>
            <a:ext cx="3133725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超窗之前：摘要压缩（</a:t>
            </a:r>
            <a:r>
              <a:rPr lang="en-US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compaction</a:t>
            </a: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进上下文前：工具返回精简</a:t>
            </a:r>
            <a:r>
              <a:rPr lang="en-US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脱敏</a:t>
            </a:r>
            <a:endParaRPr/>
          </a:p>
        </p:txBody>
      </p:sp>
      <p:sp>
        <p:nvSpPr>
          <p:cNvPr id="1997" name=""/>
          <p:cNvSpPr/>
          <p:nvPr/>
        </p:nvSpPr>
        <p:spPr>
          <a:xfrm rot="0" flipH="0" flipV="0">
            <a:off x="714375" y="5238750"/>
            <a:ext cx="3133725" cy="8191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98" name=""/>
          <p:cNvSpPr/>
          <p:nvPr/>
        </p:nvSpPr>
        <p:spPr>
          <a:xfrm rot="0" flipH="0" flipV="0">
            <a:off x="685800" y="5238750"/>
            <a:ext cx="3162300" cy="819150"/>
          </a:xfrm>
          <a:custGeom>
            <a:pathLst>
              <a:path w="332" h="86">
                <a:moveTo>
                  <a:pt x="0" y="0"/>
                </a:moveTo>
                <a:lnTo>
                  <a:pt x="3" y="0"/>
                </a:lnTo>
                <a:lnTo>
                  <a:pt x="3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999" name="" descr="{&quot;isTemplate&quot;:true,&quot;type&quot;:&quot;text&quot;}"/>
          <p:cNvSpPr txBox="1"/>
          <p:nvPr/>
        </p:nvSpPr>
        <p:spPr>
          <a:xfrm rot="0" flipH="0" flipV="0">
            <a:off x="866775" y="5353050"/>
            <a:ext cx="2800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上下文窗口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一次能读完的</a:t>
            </a:r>
            <a:r>
              <a:rPr lang="zh-CN" sz="1200">
                <a:solidFill>
                  <a:srgbClr val="2AD4EE"/>
                </a:solidFill>
                <a:latin typeface="Source Han Sans SC"/>
                <a:ea typeface="Source Han Sans SC"/>
              </a:rPr>
              <a:t>总量上限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（输入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输出）。</a:t>
            </a:r>
            <a:endParaRPr/>
          </a:p>
        </p:txBody>
      </p:sp>
      <p:sp>
        <p:nvSpPr>
          <p:cNvPr id="2000" name="" descr="{&quot;isTemplate&quot;:true,&quot;type&quot;:&quot;text&quot;}"/>
          <p:cNvSpPr txBox="1"/>
          <p:nvPr/>
        </p:nvSpPr>
        <p:spPr>
          <a:xfrm rot="0" flipH="0" flipV="0">
            <a:off x="4457700" y="1143000"/>
            <a:ext cx="704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CONTEXT WINDOW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以</a:t>
            </a: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 128k token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为例</a:t>
            </a:r>
            <a:endParaRPr/>
          </a:p>
        </p:txBody>
      </p:sp>
      <p:sp>
        <p:nvSpPr>
          <p:cNvPr id="2001" name=""/>
          <p:cNvSpPr/>
          <p:nvPr/>
        </p:nvSpPr>
        <p:spPr>
          <a:xfrm rot="0" flipH="0" flipV="0">
            <a:off x="4457700" y="1466850"/>
            <a:ext cx="7048500" cy="742950"/>
          </a:xfrm>
          <a:prstGeom prst="roundRect">
            <a:avLst>
              <a:gd name="adj" fmla="val 5128"/>
            </a:avLst>
          </a:prstGeom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02" name=""/>
          <p:cNvSpPr/>
          <p:nvPr/>
        </p:nvSpPr>
        <p:spPr>
          <a:xfrm rot="0" flipH="0" flipV="0">
            <a:off x="4457700" y="1466850"/>
            <a:ext cx="3990975" cy="742950"/>
          </a:xfrm>
          <a:prstGeom prst="rect">
            <a:avLst/>
          </a:prstGeom>
          <a:solidFill>
            <a:srgbClr val="2AD4EE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03" name=""/>
          <p:cNvSpPr/>
          <p:nvPr/>
        </p:nvSpPr>
        <p:spPr>
          <a:xfrm rot="0" flipH="0" flipV="0">
            <a:off x="4457700" y="1466850"/>
            <a:ext cx="4000500" cy="742950"/>
          </a:xfrm>
          <a:custGeom>
            <a:pathLst>
              <a:path w="420" h="78">
                <a:moveTo>
                  <a:pt x="419" y="0"/>
                </a:moveTo>
                <a:lnTo>
                  <a:pt x="420" y="0"/>
                </a:lnTo>
                <a:lnTo>
                  <a:pt x="420" y="78"/>
                </a:lnTo>
                <a:lnTo>
                  <a:pt x="419" y="78"/>
                </a:lnTo>
                <a:close/>
              </a:path>
            </a:pathLst>
          </a:custGeom>
          <a:solidFill>
            <a:srgbClr val="2AD4EE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04" name="" descr="{&quot;isTemplate&quot;:true,&quot;type&quot;:&quot;text&quot;}"/>
          <p:cNvSpPr txBox="1"/>
          <p:nvPr/>
        </p:nvSpPr>
        <p:spPr>
          <a:xfrm rot="0" flipH="0" flipV="0">
            <a:off x="4591050" y="164782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历史对话</a:t>
            </a:r>
            <a:endParaRPr/>
          </a:p>
        </p:txBody>
      </p:sp>
      <p:sp>
        <p:nvSpPr>
          <p:cNvPr id="2005" name="" descr="{&quot;isTemplate&quot;:true,&quot;type&quot;:&quot;text&quot;}"/>
          <p:cNvSpPr txBox="1"/>
          <p:nvPr/>
        </p:nvSpPr>
        <p:spPr>
          <a:xfrm rot="0" flipH="0" flipV="0">
            <a:off x="4591050" y="1876425"/>
            <a:ext cx="3752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system 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多轮</a:t>
            </a: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messages 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工具返回</a:t>
            </a:r>
            <a:endParaRPr/>
          </a:p>
        </p:txBody>
      </p:sp>
      <p:sp>
        <p:nvSpPr>
          <p:cNvPr id="2006" name=""/>
          <p:cNvSpPr/>
          <p:nvPr/>
        </p:nvSpPr>
        <p:spPr>
          <a:xfrm rot="0" flipH="0" flipV="0">
            <a:off x="8448675" y="1466850"/>
            <a:ext cx="1647825" cy="742950"/>
          </a:xfrm>
          <a:prstGeom prst="rect">
            <a:avLst/>
          </a:prstGeom>
          <a:solidFill>
            <a:srgbClr val="2AD4EE">
              <a:alpha val="3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07" name=""/>
          <p:cNvSpPr/>
          <p:nvPr/>
        </p:nvSpPr>
        <p:spPr>
          <a:xfrm rot="0" flipH="0" flipV="0">
            <a:off x="8448675" y="1466850"/>
            <a:ext cx="1657350" cy="742950"/>
          </a:xfrm>
          <a:custGeom>
            <a:pathLst>
              <a:path w="174" h="78">
                <a:moveTo>
                  <a:pt x="173" y="0"/>
                </a:moveTo>
                <a:lnTo>
                  <a:pt x="174" y="0"/>
                </a:lnTo>
                <a:lnTo>
                  <a:pt x="174" y="78"/>
                </a:lnTo>
                <a:lnTo>
                  <a:pt x="173" y="78"/>
                </a:lnTo>
                <a:close/>
              </a:path>
            </a:pathLst>
          </a:custGeom>
          <a:solidFill>
            <a:srgbClr val="2AD4EE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08" name="" descr="{&quot;isTemplate&quot;:true,&quot;type&quot;:&quot;text&quot;}"/>
          <p:cNvSpPr txBox="1"/>
          <p:nvPr/>
        </p:nvSpPr>
        <p:spPr>
          <a:xfrm rot="0" flipH="0" flipV="0">
            <a:off x="8562975" y="1647825"/>
            <a:ext cx="144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Source Han Sans SC"/>
                <a:ea typeface="Source Han Sans SC"/>
              </a:rPr>
              <a:t>本轮输入</a:t>
            </a:r>
            <a:endParaRPr/>
          </a:p>
        </p:txBody>
      </p:sp>
      <p:sp>
        <p:nvSpPr>
          <p:cNvPr id="2009" name="" descr="{&quot;isTemplate&quot;:true,&quot;type&quot;:&quot;text&quot;}"/>
          <p:cNvSpPr txBox="1"/>
          <p:nvPr/>
        </p:nvSpPr>
        <p:spPr>
          <a:xfrm rot="0" flipH="0" flipV="0">
            <a:off x="8562975" y="187642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B1220">
                    <a:alpha val="72000"/>
                  </a:srgbClr>
                </a:solidFill>
                <a:latin typeface="Source Han Sans SC"/>
                <a:ea typeface="Source Han Sans SC"/>
              </a:rPr>
              <a:t>用户问题</a:t>
            </a:r>
            <a:endParaRPr/>
          </a:p>
        </p:txBody>
      </p:sp>
      <p:sp>
        <p:nvSpPr>
          <p:cNvPr id="2010" name=""/>
          <p:cNvSpPr/>
          <p:nvPr/>
        </p:nvSpPr>
        <p:spPr>
          <a:xfrm rot="0" flipH="0" flipV="0">
            <a:off x="10096500" y="1466850"/>
            <a:ext cx="1409700" cy="7429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11" name="" descr="{&quot;isTemplate&quot;:true,&quot;type&quot;:&quot;text&quot;}"/>
          <p:cNvSpPr txBox="1"/>
          <p:nvPr/>
        </p:nvSpPr>
        <p:spPr>
          <a:xfrm rot="0" flipH="0" flipV="0">
            <a:off x="10210800" y="16478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预留输出</a:t>
            </a:r>
            <a:endParaRPr/>
          </a:p>
        </p:txBody>
      </p:sp>
      <p:sp>
        <p:nvSpPr>
          <p:cNvPr id="2012" name="" descr="{&quot;isTemplate&quot;:true,&quot;type&quot;:&quot;text&quot;}"/>
          <p:cNvSpPr txBox="1"/>
          <p:nvPr/>
        </p:nvSpPr>
        <p:spPr>
          <a:xfrm rot="0" flipH="0" flipV="0">
            <a:off x="10210800" y="1876425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maxTokens</a:t>
            </a:r>
            <a:endParaRPr/>
          </a:p>
        </p:txBody>
      </p:sp>
      <p:sp>
        <p:nvSpPr>
          <p:cNvPr id="2013" name="" descr="{&quot;isTemplate&quot;:true,&quot;type&quot;:&quot;text&quot;}"/>
          <p:cNvSpPr txBox="1"/>
          <p:nvPr/>
        </p:nvSpPr>
        <p:spPr>
          <a:xfrm rot="0" flipH="0" flipV="0">
            <a:off x="4457700" y="22860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2014" name="" descr="{&quot;isTemplate&quot;:true,&quot;type&quot;:&quot;text&quot;}"/>
          <p:cNvSpPr txBox="1"/>
          <p:nvPr/>
        </p:nvSpPr>
        <p:spPr>
          <a:xfrm rot="0" flipH="0" flipV="0">
            <a:off x="6981825" y="2286000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超过上限</a:t>
            </a: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最前面的信息被丢弃</a:t>
            </a:r>
            <a:endParaRPr/>
          </a:p>
        </p:txBody>
      </p:sp>
      <p:sp>
        <p:nvSpPr>
          <p:cNvPr id="2015" name="" descr="{&quot;isTemplate&quot;:true,&quot;type&quot;:&quot;text&quot;}"/>
          <p:cNvSpPr txBox="1"/>
          <p:nvPr/>
        </p:nvSpPr>
        <p:spPr>
          <a:xfrm rot="0" flipH="0" flipV="0">
            <a:off x="11210925" y="2286000"/>
            <a:ext cx="295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128k</a:t>
            </a:r>
            <a:endParaRPr/>
          </a:p>
        </p:txBody>
      </p:sp>
      <p:sp>
        <p:nvSpPr>
          <p:cNvPr id="2016" name="" descr="{&quot;isTemplate&quot;:true,&quot;type&quot;:&quot;text&quot;}"/>
          <p:cNvSpPr txBox="1"/>
          <p:nvPr/>
        </p:nvSpPr>
        <p:spPr>
          <a:xfrm rot="0" flipH="0" flipV="0">
            <a:off x="4457700" y="2724150"/>
            <a:ext cx="704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TOKEN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计费与窗口的最小单位</a:t>
            </a:r>
            <a:endParaRPr/>
          </a:p>
        </p:txBody>
      </p:sp>
      <p:sp>
        <p:nvSpPr>
          <p:cNvPr id="2017" name="" descr="{&quot;isTemplate&quot;:true,&quot;type&quot;:&quot;text&quot;}"/>
          <p:cNvSpPr txBox="1"/>
          <p:nvPr/>
        </p:nvSpPr>
        <p:spPr>
          <a:xfrm rot="0" flipH="0" flipV="0">
            <a:off x="4457700" y="3028950"/>
            <a:ext cx="704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「企业</a:t>
            </a:r>
            <a:r>
              <a:rPr lang="en-US" sz="15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2025 </a:t>
            </a: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年营收</a:t>
            </a:r>
            <a:r>
              <a:rPr lang="en-US" sz="15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3.2 </a:t>
            </a: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亿元」</a:t>
            </a:r>
            <a:endParaRPr/>
          </a:p>
        </p:txBody>
      </p:sp>
      <p:sp>
        <p:nvSpPr>
          <p:cNvPr id="2018" name=""/>
          <p:cNvSpPr/>
          <p:nvPr/>
        </p:nvSpPr>
        <p:spPr>
          <a:xfrm rot="0" flipH="0" flipV="0">
            <a:off x="4457700" y="3390900"/>
            <a:ext cx="495300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19" name="" descr="{&quot;isTemplate&quot;:true,&quot;type&quot;:&quot;text&quot;}"/>
          <p:cNvSpPr txBox="1"/>
          <p:nvPr/>
        </p:nvSpPr>
        <p:spPr>
          <a:xfrm rot="0" flipH="0" flipV="0">
            <a:off x="4562475" y="34385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企业</a:t>
            </a:r>
            <a:endParaRPr/>
          </a:p>
        </p:txBody>
      </p:sp>
      <p:sp>
        <p:nvSpPr>
          <p:cNvPr id="2020" name=""/>
          <p:cNvSpPr/>
          <p:nvPr/>
        </p:nvSpPr>
        <p:spPr>
          <a:xfrm rot="0" flipH="0" flipV="0">
            <a:off x="5029200" y="3390900"/>
            <a:ext cx="552450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21" name="" descr="{&quot;isTemplate&quot;:true,&quot;type&quot;:&quot;text&quot;}"/>
          <p:cNvSpPr txBox="1"/>
          <p:nvPr/>
        </p:nvSpPr>
        <p:spPr>
          <a:xfrm rot="0" flipH="0" flipV="0">
            <a:off x="5133975" y="34385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2025</a:t>
            </a:r>
            <a:endParaRPr/>
          </a:p>
        </p:txBody>
      </p:sp>
      <p:sp>
        <p:nvSpPr>
          <p:cNvPr id="2022" name=""/>
          <p:cNvSpPr/>
          <p:nvPr/>
        </p:nvSpPr>
        <p:spPr>
          <a:xfrm rot="0" flipH="0" flipV="0">
            <a:off x="565785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23" name="" descr="{&quot;isTemplate&quot;:true,&quot;type&quot;:&quot;text&quot;}"/>
          <p:cNvSpPr txBox="1"/>
          <p:nvPr/>
        </p:nvSpPr>
        <p:spPr>
          <a:xfrm rot="0" flipH="0" flipV="0">
            <a:off x="576262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年</a:t>
            </a:r>
            <a:endParaRPr/>
          </a:p>
        </p:txBody>
      </p:sp>
      <p:sp>
        <p:nvSpPr>
          <p:cNvPr id="2024" name=""/>
          <p:cNvSpPr/>
          <p:nvPr/>
        </p:nvSpPr>
        <p:spPr>
          <a:xfrm rot="0" flipH="0" flipV="0">
            <a:off x="6086475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25" name="" descr="{&quot;isTemplate&quot;:true,&quot;type&quot;:&quot;text&quot;}"/>
          <p:cNvSpPr txBox="1"/>
          <p:nvPr/>
        </p:nvSpPr>
        <p:spPr>
          <a:xfrm rot="0" flipH="0" flipV="0">
            <a:off x="6191250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营</a:t>
            </a:r>
            <a:endParaRPr/>
          </a:p>
        </p:txBody>
      </p:sp>
      <p:sp>
        <p:nvSpPr>
          <p:cNvPr id="2026" name=""/>
          <p:cNvSpPr/>
          <p:nvPr/>
        </p:nvSpPr>
        <p:spPr>
          <a:xfrm rot="0" flipH="0" flipV="0">
            <a:off x="651510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27" name="" descr="{&quot;isTemplate&quot;:true,&quot;type&quot;:&quot;text&quot;}"/>
          <p:cNvSpPr txBox="1"/>
          <p:nvPr/>
        </p:nvSpPr>
        <p:spPr>
          <a:xfrm rot="0" flipH="0" flipV="0">
            <a:off x="661987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收</a:t>
            </a:r>
            <a:endParaRPr/>
          </a:p>
        </p:txBody>
      </p:sp>
      <p:sp>
        <p:nvSpPr>
          <p:cNvPr id="2028" name=""/>
          <p:cNvSpPr/>
          <p:nvPr/>
        </p:nvSpPr>
        <p:spPr>
          <a:xfrm rot="0" flipH="0" flipV="0">
            <a:off x="6943725" y="3390900"/>
            <a:ext cx="4667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29" name="" descr="{&quot;isTemplate&quot;:true,&quot;type&quot;:&quot;text&quot;}"/>
          <p:cNvSpPr txBox="1"/>
          <p:nvPr/>
        </p:nvSpPr>
        <p:spPr>
          <a:xfrm rot="0" flipH="0" flipV="0">
            <a:off x="7048500" y="3438525"/>
            <a:ext cx="25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3.2</a:t>
            </a:r>
            <a:endParaRPr/>
          </a:p>
        </p:txBody>
      </p:sp>
      <p:sp>
        <p:nvSpPr>
          <p:cNvPr id="2030" name=""/>
          <p:cNvSpPr/>
          <p:nvPr/>
        </p:nvSpPr>
        <p:spPr>
          <a:xfrm rot="0" flipH="0" flipV="0">
            <a:off x="748665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31" name="" descr="{&quot;isTemplate&quot;:true,&quot;type&quot;:&quot;text&quot;}"/>
          <p:cNvSpPr txBox="1"/>
          <p:nvPr/>
        </p:nvSpPr>
        <p:spPr>
          <a:xfrm rot="0" flipH="0" flipV="0">
            <a:off x="759142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亿</a:t>
            </a:r>
            <a:endParaRPr/>
          </a:p>
        </p:txBody>
      </p:sp>
      <p:sp>
        <p:nvSpPr>
          <p:cNvPr id="2032" name="" descr="{&quot;isTemplate&quot;:true,&quot;type&quot;:&quot;text&quot;}"/>
          <p:cNvSpPr txBox="1"/>
          <p:nvPr/>
        </p:nvSpPr>
        <p:spPr>
          <a:xfrm rot="0" flipH="0" flipV="0">
            <a:off x="7972425" y="3438525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9 token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（中文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1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汉字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≈ 2 token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2033" name=""/>
          <p:cNvSpPr/>
          <p:nvPr/>
        </p:nvSpPr>
        <p:spPr>
          <a:xfrm rot="0" flipH="0" flipV="0">
            <a:off x="4457700" y="5419725"/>
            <a:ext cx="7048500" cy="638175"/>
          </a:xfrm>
          <a:prstGeom prst="roundRect">
            <a:avLst>
              <a:gd name="adj" fmla="val 597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34" name="" descr="{&quot;isTemplate&quot;:true,&quot;type&quot;:&quot;text&quot;}"/>
          <p:cNvSpPr txBox="1"/>
          <p:nvPr/>
        </p:nvSpPr>
        <p:spPr>
          <a:xfrm rot="0" flipH="0" flipV="0">
            <a:off x="4629150" y="56292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035" name="" descr="{&quot;isTemplate&quot;:true,&quot;type&quot;:&quot;text&quot;}"/>
          <p:cNvSpPr txBox="1"/>
          <p:nvPr/>
        </p:nvSpPr>
        <p:spPr>
          <a:xfrm rot="0" flipH="0" flipV="0">
            <a:off x="5143500" y="5572125"/>
            <a:ext cx="61912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多轮工具调用后上下文膨胀是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必然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，不是意外——预算要自己管。</a:t>
            </a:r>
            <a:endParaRPr/>
          </a:p>
        </p:txBody>
      </p:sp>
      <p:sp>
        <p:nvSpPr>
          <p:cNvPr id="203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03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05 / 46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040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041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371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四个必须先记住的概念</a:t>
            </a:r>
            <a:endParaRPr/>
          </a:p>
        </p:txBody>
      </p:sp>
      <p:sp>
        <p:nvSpPr>
          <p:cNvPr id="2042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它们分别管着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说什么、怎么说、会不会编、记不记得住</a:t>
            </a:r>
            <a:endParaRPr/>
          </a:p>
        </p:txBody>
      </p:sp>
      <p:sp>
        <p:nvSpPr>
          <p:cNvPr id="2043" name=""/>
          <p:cNvSpPr/>
          <p:nvPr/>
        </p:nvSpPr>
        <p:spPr>
          <a:xfrm rot="0" flipH="0" flipV="0">
            <a:off x="685800" y="1143000"/>
            <a:ext cx="6505575" cy="4914900"/>
          </a:xfrm>
          <a:custGeom>
            <a:pathLst>
              <a:path w="683" h="516">
                <a:moveTo>
                  <a:pt x="682" y="0"/>
                </a:moveTo>
                <a:lnTo>
                  <a:pt x="683" y="0"/>
                </a:lnTo>
                <a:lnTo>
                  <a:pt x="683" y="516"/>
                </a:lnTo>
                <a:lnTo>
                  <a:pt x="682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44" name=""/>
          <p:cNvSpPr/>
          <p:nvPr/>
        </p:nvSpPr>
        <p:spPr>
          <a:xfrm rot="0" flipH="0" flipV="0">
            <a:off x="685800" y="1143000"/>
            <a:ext cx="6162675" cy="1085850"/>
          </a:xfrm>
          <a:custGeom>
            <a:pathLst>
              <a:path w="647" h="114">
                <a:moveTo>
                  <a:pt x="0" y="113"/>
                </a:moveTo>
                <a:lnTo>
                  <a:pt x="647" y="113"/>
                </a:lnTo>
                <a:lnTo>
                  <a:pt x="647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45" name=""/>
          <p:cNvSpPr/>
          <p:nvPr/>
        </p:nvSpPr>
        <p:spPr>
          <a:xfrm rot="0" flipH="0" flipV="0">
            <a:off x="685800" y="12382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20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1343025"/>
            <a:ext cx="200025" cy="200025"/>
          </a:xfrm>
          <a:prstGeom prst="rect">
            <a:avLst/>
          </a:prstGeom>
          <a:ln/>
        </p:spPr>
      </p:pic>
      <p:sp>
        <p:nvSpPr>
          <p:cNvPr id="2047" name="" descr="{&quot;isTemplate&quot;:true,&quot;type&quot;:&quot;text&quot;}"/>
          <p:cNvSpPr txBox="1"/>
          <p:nvPr/>
        </p:nvSpPr>
        <p:spPr>
          <a:xfrm rot="0" flipH="0" flipV="0">
            <a:off x="1238250" y="12382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Prompt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提示词</a:t>
            </a:r>
            <a:endParaRPr/>
          </a:p>
        </p:txBody>
      </p:sp>
      <p:sp>
        <p:nvSpPr>
          <p:cNvPr id="2048" name="" descr="{&quot;isTemplate&quot;:true,&quot;type&quot;:&quot;text&quot;}"/>
          <p:cNvSpPr txBox="1"/>
          <p:nvPr/>
        </p:nvSpPr>
        <p:spPr>
          <a:xfrm rot="0" flipH="0" flipV="0">
            <a:off x="1238250" y="1524000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定角色、定任务、定边界、定输出格式。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System Prompt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就是它的岗位说明书。</a:t>
            </a:r>
            <a:endParaRPr/>
          </a:p>
        </p:txBody>
      </p:sp>
      <p:sp>
        <p:nvSpPr>
          <p:cNvPr id="2049" name=""/>
          <p:cNvSpPr/>
          <p:nvPr/>
        </p:nvSpPr>
        <p:spPr>
          <a:xfrm rot="0" flipH="0" flipV="0">
            <a:off x="685800" y="2524125"/>
            <a:ext cx="6162675" cy="790575"/>
          </a:xfrm>
          <a:custGeom>
            <a:pathLst>
              <a:path w="647" h="83">
                <a:moveTo>
                  <a:pt x="0" y="82"/>
                </a:moveTo>
                <a:lnTo>
                  <a:pt x="647" y="82"/>
                </a:lnTo>
                <a:lnTo>
                  <a:pt x="647" y="83"/>
                </a:lnTo>
                <a:lnTo>
                  <a:pt x="0" y="83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50" name=""/>
          <p:cNvSpPr/>
          <p:nvPr/>
        </p:nvSpPr>
        <p:spPr>
          <a:xfrm rot="0" flipH="0" flipV="0">
            <a:off x="685800" y="2619375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20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0575" y="2724150"/>
            <a:ext cx="200025" cy="200025"/>
          </a:xfrm>
          <a:prstGeom prst="rect">
            <a:avLst/>
          </a:prstGeom>
          <a:ln/>
        </p:spPr>
      </p:pic>
      <p:sp>
        <p:nvSpPr>
          <p:cNvPr id="2052" name="" descr="{&quot;isTemplate&quot;:true,&quot;type&quot;:&quot;text&quot;}"/>
          <p:cNvSpPr txBox="1"/>
          <p:nvPr/>
        </p:nvSpPr>
        <p:spPr>
          <a:xfrm rot="0" flipH="0" flipV="0">
            <a:off x="1238250" y="2619375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Temperature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温度</a:t>
            </a:r>
            <a:endParaRPr/>
          </a:p>
        </p:txBody>
      </p:sp>
      <p:sp>
        <p:nvSpPr>
          <p:cNvPr id="2053" name="" descr="{&quot;isTemplate&quot;:true,&quot;type&quot;:&quot;text&quot;}"/>
          <p:cNvSpPr txBox="1"/>
          <p:nvPr/>
        </p:nvSpPr>
        <p:spPr>
          <a:xfrm rot="0" flipH="0" flipV="0">
            <a:off x="1238250" y="2905125"/>
            <a:ext cx="56102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控制随机性。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0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最确定，适合工具调用与结构化输出；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0.7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有创造力；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&gt;1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容易胡编。</a:t>
            </a:r>
            <a:endParaRPr/>
          </a:p>
        </p:txBody>
      </p:sp>
      <p:sp>
        <p:nvSpPr>
          <p:cNvPr id="2054" name=""/>
          <p:cNvSpPr/>
          <p:nvPr/>
        </p:nvSpPr>
        <p:spPr>
          <a:xfrm rot="0" flipH="0" flipV="0">
            <a:off x="685800" y="3609975"/>
            <a:ext cx="6162675" cy="1085850"/>
          </a:xfrm>
          <a:custGeom>
            <a:pathLst>
              <a:path w="647" h="114">
                <a:moveTo>
                  <a:pt x="0" y="113"/>
                </a:moveTo>
                <a:lnTo>
                  <a:pt x="647" y="113"/>
                </a:lnTo>
                <a:lnTo>
                  <a:pt x="647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55" name=""/>
          <p:cNvSpPr/>
          <p:nvPr/>
        </p:nvSpPr>
        <p:spPr>
          <a:xfrm rot="0" flipH="0" flipV="0">
            <a:off x="685800" y="3705225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20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90575" y="3810000"/>
            <a:ext cx="200025" cy="200025"/>
          </a:xfrm>
          <a:prstGeom prst="rect">
            <a:avLst/>
          </a:prstGeom>
          <a:ln/>
        </p:spPr>
      </p:pic>
      <p:sp>
        <p:nvSpPr>
          <p:cNvPr id="2057" name="" descr="{&quot;isTemplate&quot;:true,&quot;type&quot;:&quot;text&quot;}"/>
          <p:cNvSpPr txBox="1"/>
          <p:nvPr/>
        </p:nvSpPr>
        <p:spPr>
          <a:xfrm rot="0" flipH="0" flipV="0">
            <a:off x="1238250" y="3705225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幻觉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Hallucination</a:t>
            </a:r>
            <a:endParaRPr/>
          </a:p>
        </p:txBody>
      </p:sp>
      <p:sp>
        <p:nvSpPr>
          <p:cNvPr id="2058" name="" descr="{&quot;isTemplate&quot;:true,&quot;type&quot;:&quot;text&quot;}"/>
          <p:cNvSpPr txBox="1"/>
          <p:nvPr/>
        </p:nvSpPr>
        <p:spPr>
          <a:xfrm rot="0" flipH="0" flipV="0">
            <a:off x="1238250" y="3990975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模型会编造不存在的事实、参数、表名。压制的可靠办法只有一个：让它基于工具返回的真实数据作答。</a:t>
            </a:r>
            <a:endParaRPr/>
          </a:p>
        </p:txBody>
      </p:sp>
      <p:sp>
        <p:nvSpPr>
          <p:cNvPr id="2059" name=""/>
          <p:cNvSpPr/>
          <p:nvPr/>
        </p:nvSpPr>
        <p:spPr>
          <a:xfrm rot="0" flipH="0" flipV="0">
            <a:off x="685800" y="50863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20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90575" y="5191125"/>
            <a:ext cx="200025" cy="200025"/>
          </a:xfrm>
          <a:prstGeom prst="rect">
            <a:avLst/>
          </a:prstGeom>
          <a:ln/>
        </p:spPr>
      </p:pic>
      <p:sp>
        <p:nvSpPr>
          <p:cNvPr id="2061" name="" descr="{&quot;isTemplate&quot;:true,&quot;type&quot;:&quot;text&quot;}"/>
          <p:cNvSpPr txBox="1"/>
          <p:nvPr/>
        </p:nvSpPr>
        <p:spPr>
          <a:xfrm rot="0" flipH="0" flipV="0">
            <a:off x="1238250" y="50863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Embedding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嵌入向量</a:t>
            </a:r>
            <a:endParaRPr/>
          </a:p>
        </p:txBody>
      </p:sp>
      <p:sp>
        <p:nvSpPr>
          <p:cNvPr id="2062" name="" descr="{&quot;isTemplate&quot;:true,&quot;type&quot;:&quot;text&quot;}"/>
          <p:cNvSpPr txBox="1"/>
          <p:nvPr/>
        </p:nvSpPr>
        <p:spPr>
          <a:xfrm rot="0" flipH="0" flipV="0">
            <a:off x="1238250" y="5372100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把文本转成向量，用相似度衡量语义远近（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相似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0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无关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-1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相反），是长期记忆的地基。</a:t>
            </a:r>
            <a:endParaRPr/>
          </a:p>
        </p:txBody>
      </p:sp>
      <p:sp>
        <p:nvSpPr>
          <p:cNvPr id="2063" name="" descr="{&quot;isTemplate&quot;:true,&quot;type&quot;:&quot;text&quot;}"/>
          <p:cNvSpPr txBox="1"/>
          <p:nvPr/>
        </p:nvSpPr>
        <p:spPr>
          <a:xfrm rot="0" flipH="0" flipV="0">
            <a:off x="7524750" y="1143000"/>
            <a:ext cx="398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PUT TOGETHER</a:t>
            </a:r>
            <a:endParaRPr/>
          </a:p>
        </p:txBody>
      </p:sp>
      <p:sp>
        <p:nvSpPr>
          <p:cNvPr id="2064" name="" descr="{&quot;isTemplate&quot;:true,&quot;type&quot;:&quot;text&quot;}"/>
          <p:cNvSpPr txBox="1"/>
          <p:nvPr/>
        </p:nvSpPr>
        <p:spPr>
          <a:xfrm rot="0" flipH="0" flipV="0">
            <a:off x="7524750" y="1485900"/>
            <a:ext cx="398145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四个概念，</a:t>
            </a:r>
            <a:endParaRPr/>
          </a:p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四道稳定性的闸门</a:t>
            </a:r>
            <a:endParaRPr/>
          </a:p>
        </p:txBody>
      </p:sp>
      <p:sp>
        <p:nvSpPr>
          <p:cNvPr id="2065" name="" descr="{&quot;isTemplate&quot;:true,&quot;type&quot;:&quot;text&quot;}"/>
          <p:cNvSpPr txBox="1"/>
          <p:nvPr/>
        </p:nvSpPr>
        <p:spPr>
          <a:xfrm rot="0" flipH="0" flipV="0">
            <a:off x="7524750" y="24765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说什么</a:t>
            </a:r>
            <a:endParaRPr/>
          </a:p>
        </p:txBody>
      </p:sp>
      <p:sp>
        <p:nvSpPr>
          <p:cNvPr id="2066" name="" descr="{&quot;isTemplate&quot;:true,&quot;type&quot;:&quot;text&quot;}"/>
          <p:cNvSpPr txBox="1"/>
          <p:nvPr/>
        </p:nvSpPr>
        <p:spPr>
          <a:xfrm rot="0" flipH="0" flipV="0">
            <a:off x="11029950" y="2476500"/>
            <a:ext cx="47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Prompt</a:t>
            </a:r>
            <a:endParaRPr/>
          </a:p>
        </p:txBody>
      </p:sp>
      <p:sp>
        <p:nvSpPr>
          <p:cNvPr id="2067" name=""/>
          <p:cNvSpPr/>
          <p:nvPr/>
        </p:nvSpPr>
        <p:spPr>
          <a:xfrm rot="0" flipH="0" flipV="0">
            <a:off x="7524750" y="2724150"/>
            <a:ext cx="398145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068" name="" descr="{&quot;isTemplate&quot;:true,&quot;type&quot;:&quot;text&quot;}"/>
          <p:cNvSpPr txBox="1"/>
          <p:nvPr/>
        </p:nvSpPr>
        <p:spPr>
          <a:xfrm rot="0" flipH="0" flipV="0">
            <a:off x="7524750" y="28670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怎么答</a:t>
            </a:r>
            <a:endParaRPr/>
          </a:p>
        </p:txBody>
      </p:sp>
      <p:sp>
        <p:nvSpPr>
          <p:cNvPr id="2069" name="" descr="{&quot;isTemplate&quot;:true,&quot;type&quot;:&quot;text&quot;}"/>
          <p:cNvSpPr txBox="1"/>
          <p:nvPr/>
        </p:nvSpPr>
        <p:spPr>
          <a:xfrm rot="0" flipH="0" flipV="0">
            <a:off x="10325100" y="2867025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Temperature = 0</a:t>
            </a:r>
            <a:endParaRPr/>
          </a:p>
        </p:txBody>
      </p:sp>
      <p:sp>
        <p:nvSpPr>
          <p:cNvPr id="2070" name=""/>
          <p:cNvSpPr/>
          <p:nvPr/>
        </p:nvSpPr>
        <p:spPr>
          <a:xfrm rot="0" flipH="0" flipV="0">
            <a:off x="7524750" y="3114675"/>
            <a:ext cx="310515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071" name="" descr="{&quot;isTemplate&quot;:true,&quot;type&quot;:&quot;text&quot;}"/>
          <p:cNvSpPr txBox="1"/>
          <p:nvPr/>
        </p:nvSpPr>
        <p:spPr>
          <a:xfrm rot="0" flipH="0" flipV="0">
            <a:off x="7524750" y="32575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会不会编</a:t>
            </a:r>
            <a:endParaRPr/>
          </a:p>
        </p:txBody>
      </p:sp>
      <p:sp>
        <p:nvSpPr>
          <p:cNvPr id="2072" name="" descr="{&quot;isTemplate&quot;:true,&quot;type&quot;:&quot;text&quot;}"/>
          <p:cNvSpPr txBox="1"/>
          <p:nvPr/>
        </p:nvSpPr>
        <p:spPr>
          <a:xfrm rot="0" flipH="0" flipV="0">
            <a:off x="10706100" y="3257550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JetBrains Mono"/>
                <a:ea typeface="JetBrains Mono"/>
              </a:rPr>
              <a:t>工具真实数据</a:t>
            </a:r>
            <a:endParaRPr/>
          </a:p>
        </p:txBody>
      </p:sp>
      <p:sp>
        <p:nvSpPr>
          <p:cNvPr id="2073" name=""/>
          <p:cNvSpPr/>
          <p:nvPr/>
        </p:nvSpPr>
        <p:spPr>
          <a:xfrm rot="0" flipH="0" flipV="0">
            <a:off x="7524750" y="3505200"/>
            <a:ext cx="2466975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074" name="" descr="{&quot;isTemplate&quot;:true,&quot;type&quot;:&quot;text&quot;}"/>
          <p:cNvSpPr txBox="1"/>
          <p:nvPr/>
        </p:nvSpPr>
        <p:spPr>
          <a:xfrm rot="0" flipH="0" flipV="0">
            <a:off x="7524750" y="36480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记得住吗</a:t>
            </a:r>
            <a:endParaRPr/>
          </a:p>
        </p:txBody>
      </p:sp>
      <p:sp>
        <p:nvSpPr>
          <p:cNvPr id="2075" name="" descr="{&quot;isTemplate&quot;:true,&quot;type&quot;:&quot;text&quot;}"/>
          <p:cNvSpPr txBox="1"/>
          <p:nvPr/>
        </p:nvSpPr>
        <p:spPr>
          <a:xfrm rot="0" flipH="0" flipV="0">
            <a:off x="10163175" y="3648075"/>
            <a:ext cx="134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 xml:space="preserve">Embedding + </a:t>
            </a:r>
            <a:r>
              <a:rPr lang="zh-CN" sz="1050">
                <a:solidFill>
                  <a:srgbClr val="2AD4EE"/>
                </a:solidFill>
                <a:latin typeface="JetBrains Mono"/>
                <a:ea typeface="JetBrains Mono"/>
              </a:rPr>
              <a:t>向量库</a:t>
            </a:r>
            <a:endParaRPr/>
          </a:p>
        </p:txBody>
      </p:sp>
      <p:sp>
        <p:nvSpPr>
          <p:cNvPr id="2076" name=""/>
          <p:cNvSpPr/>
          <p:nvPr/>
        </p:nvSpPr>
        <p:spPr>
          <a:xfrm rot="0" flipH="0" flipV="0">
            <a:off x="7524750" y="3895725"/>
            <a:ext cx="182880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077" name=""/>
          <p:cNvSpPr/>
          <p:nvPr/>
        </p:nvSpPr>
        <p:spPr>
          <a:xfrm rot="0" flipH="0" flipV="0">
            <a:off x="7524750" y="5067300"/>
            <a:ext cx="3981450" cy="990600"/>
          </a:xfrm>
          <a:prstGeom prst="roundRect">
            <a:avLst>
              <a:gd name="adj" fmla="val 384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78" name="" descr="{&quot;isTemplate&quot;:true,&quot;type&quot;:&quot;text&quot;}"/>
          <p:cNvSpPr txBox="1"/>
          <p:nvPr/>
        </p:nvSpPr>
        <p:spPr>
          <a:xfrm rot="0" flipH="0" flipV="0">
            <a:off x="7696200" y="5219700"/>
            <a:ext cx="36385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这四点决定了</a:t>
            </a: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稳定性上限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——它们出问题，模型再强也救不回来。</a:t>
            </a:r>
            <a:endParaRPr/>
          </a:p>
        </p:txBody>
      </p:sp>
      <p:sp>
        <p:nvSpPr>
          <p:cNvPr id="207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08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06 / 46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08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08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695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两种调用方式：对话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vs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工具调用</a:t>
            </a:r>
            <a:endParaRPr/>
          </a:p>
        </p:txBody>
      </p:sp>
      <p:sp>
        <p:nvSpPr>
          <p:cNvPr id="208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69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从「只会说」到「能动手」，差别就在出口是文本还是结构化参数</a:t>
            </a:r>
            <a:endParaRPr/>
          </a:p>
        </p:txBody>
      </p:sp>
      <p:sp>
        <p:nvSpPr>
          <p:cNvPr id="2086" name=""/>
          <p:cNvSpPr/>
          <p:nvPr/>
        </p:nvSpPr>
        <p:spPr>
          <a:xfrm rot="0" flipH="0" flipV="0">
            <a:off x="685800" y="1143000"/>
            <a:ext cx="3238500" cy="4095750"/>
          </a:xfrm>
          <a:custGeom>
            <a:pathLst>
              <a:path w="340" h="430">
                <a:moveTo>
                  <a:pt x="339" y="0"/>
                </a:moveTo>
                <a:lnTo>
                  <a:pt x="340" y="0"/>
                </a:lnTo>
                <a:lnTo>
                  <a:pt x="340" y="430"/>
                </a:lnTo>
                <a:lnTo>
                  <a:pt x="339" y="4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8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62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THE DIVIDE</a:t>
            </a:r>
            <a:endParaRPr/>
          </a:p>
        </p:txBody>
      </p:sp>
      <p:sp>
        <p:nvSpPr>
          <p:cNvPr id="2088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62275" cy="1000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8EEF9"/>
                </a:solidFill>
                <a:latin typeface="Source Han Sans SC"/>
                <a:ea typeface="Source Han Sans SC"/>
              </a:rPr>
              <a:t>模型只说，</a:t>
            </a:r>
            <a:endParaRPr/>
          </a:p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8EEF9"/>
                </a:solidFill>
                <a:latin typeface="Source Han Sans SC"/>
                <a:ea typeface="Source Han Sans SC"/>
              </a:rPr>
              <a:t>不做</a:t>
            </a:r>
            <a:endParaRPr/>
          </a:p>
        </p:txBody>
      </p:sp>
      <p:sp>
        <p:nvSpPr>
          <p:cNvPr id="2089" name="" descr="{&quot;isTemplate&quot;:true,&quot;type&quot;:&quot;text&quot;}"/>
          <p:cNvSpPr txBox="1"/>
          <p:nvPr/>
        </p:nvSpPr>
        <p:spPr>
          <a:xfrm rot="0" flipH="0" flipV="0">
            <a:off x="685800" y="2638425"/>
            <a:ext cx="29622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两种方式里，模型都只负责「说要调什么」；真正执行函数的永远是我们的代码。这就是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安全的关键——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模型没有权限，只有建议权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090" name=""/>
          <p:cNvSpPr/>
          <p:nvPr/>
        </p:nvSpPr>
        <p:spPr>
          <a:xfrm rot="0" flipH="0" flipV="0">
            <a:off x="685800" y="4191000"/>
            <a:ext cx="9906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91" name="" descr="{&quot;isTemplate&quot;:true,&quot;type&quot;:&quot;text&quot;}"/>
          <p:cNvSpPr txBox="1"/>
          <p:nvPr/>
        </p:nvSpPr>
        <p:spPr>
          <a:xfrm rot="0" flipH="0" flipV="0">
            <a:off x="781050" y="42291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建议权在模型</a:t>
            </a:r>
            <a:endParaRPr/>
          </a:p>
        </p:txBody>
      </p:sp>
      <p:sp>
        <p:nvSpPr>
          <p:cNvPr id="2092" name=""/>
          <p:cNvSpPr/>
          <p:nvPr/>
        </p:nvSpPr>
        <p:spPr>
          <a:xfrm rot="0" flipH="0" flipV="0">
            <a:off x="1752600" y="4191000"/>
            <a:ext cx="9906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93" name="" descr="{&quot;isTemplate&quot;:true,&quot;type&quot;:&quot;text&quot;}"/>
          <p:cNvSpPr txBox="1"/>
          <p:nvPr/>
        </p:nvSpPr>
        <p:spPr>
          <a:xfrm rot="0" flipH="0" flipV="0">
            <a:off x="1847850" y="42291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执行权在代码</a:t>
            </a:r>
            <a:endParaRPr/>
          </a:p>
        </p:txBody>
      </p:sp>
      <p:sp>
        <p:nvSpPr>
          <p:cNvPr id="2094" name=""/>
          <p:cNvSpPr/>
          <p:nvPr/>
        </p:nvSpPr>
        <p:spPr>
          <a:xfrm rot="0" flipH="0" flipV="0">
            <a:off x="685800" y="450532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95" name="" descr="{&quot;isTemplate&quot;:true,&quot;type&quot;:&quot;text&quot;}"/>
          <p:cNvSpPr txBox="1"/>
          <p:nvPr/>
        </p:nvSpPr>
        <p:spPr>
          <a:xfrm rot="0" flipH="0" flipV="0">
            <a:off x="781050" y="45434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结构化参数</a:t>
            </a:r>
            <a:endParaRPr/>
          </a:p>
        </p:txBody>
      </p:sp>
      <p:pic>
        <p:nvPicPr>
          <p:cNvPr id="20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267200" y="1171575"/>
            <a:ext cx="152400" cy="152400"/>
          </a:xfrm>
          <a:prstGeom prst="rect">
            <a:avLst/>
          </a:prstGeom>
          <a:ln/>
        </p:spPr>
      </p:pic>
      <p:sp>
        <p:nvSpPr>
          <p:cNvPr id="2097" name="" descr="{&quot;isTemplate&quot;:true,&quot;type&quot;:&quot;text&quot;}"/>
          <p:cNvSpPr txBox="1"/>
          <p:nvPr/>
        </p:nvSpPr>
        <p:spPr>
          <a:xfrm rot="0" flipH="0" flipV="0">
            <a:off x="4514850" y="1143000"/>
            <a:ext cx="2362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① </a:t>
            </a:r>
            <a:r>
              <a:rPr lang="zh-CN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普通对话</a:t>
            </a:r>
            <a:r>
              <a:rPr lang="en-US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· Chat Completions</a:t>
            </a:r>
            <a:endParaRPr/>
          </a:p>
        </p:txBody>
      </p:sp>
      <p:sp>
        <p:nvSpPr>
          <p:cNvPr id="2098" name=""/>
          <p:cNvSpPr/>
          <p:nvPr/>
        </p:nvSpPr>
        <p:spPr>
          <a:xfrm rot="0" flipH="0" flipV="0">
            <a:off x="4267200" y="14763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99" name="" descr="{&quot;isTemplate&quot;:true,&quot;type&quot;:&quot;text&quot;}"/>
          <p:cNvSpPr txBox="1"/>
          <p:nvPr/>
        </p:nvSpPr>
        <p:spPr>
          <a:xfrm rot="0" flipH="0" flipV="0">
            <a:off x="4676775" y="16668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2100" name="" descr="{&quot;isTemplate&quot;:true,&quot;type&quot;:&quot;text&quot;}"/>
          <p:cNvSpPr txBox="1"/>
          <p:nvPr/>
        </p:nvSpPr>
        <p:spPr>
          <a:xfrm rot="0" flipH="0" flipV="0">
            <a:off x="4572000" y="1895475"/>
            <a:ext cx="81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数组</a:t>
            </a:r>
            <a:endParaRPr/>
          </a:p>
        </p:txBody>
      </p:sp>
      <p:sp>
        <p:nvSpPr>
          <p:cNvPr id="2101" name="" descr="{&quot;isTemplate&quot;:true,&quot;type&quot;:&quot;text&quot;}"/>
          <p:cNvSpPr txBox="1"/>
          <p:nvPr/>
        </p:nvSpPr>
        <p:spPr>
          <a:xfrm rot="0" flipH="0" flipV="0">
            <a:off x="5695950" y="1743075"/>
            <a:ext cx="438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102" name=""/>
          <p:cNvSpPr/>
          <p:nvPr/>
        </p:nvSpPr>
        <p:spPr>
          <a:xfrm rot="0" flipH="0" flipV="0">
            <a:off x="6134100" y="14763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03" name="" descr="{&quot;isTemplate&quot;:true,&quot;type&quot;:&quot;text&quot;}"/>
          <p:cNvSpPr txBox="1"/>
          <p:nvPr/>
        </p:nvSpPr>
        <p:spPr>
          <a:xfrm rot="0" flipH="0" flipV="0">
            <a:off x="6715125" y="1666875"/>
            <a:ext cx="27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2104" name="" descr="{&quot;isTemplate&quot;:true,&quot;type&quot;:&quot;text&quot;}"/>
          <p:cNvSpPr txBox="1"/>
          <p:nvPr/>
        </p:nvSpPr>
        <p:spPr>
          <a:xfrm rot="0" flipH="0" flipV="0">
            <a:off x="6724650" y="1895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生成</a:t>
            </a:r>
            <a:endParaRPr/>
          </a:p>
        </p:txBody>
      </p:sp>
      <p:sp>
        <p:nvSpPr>
          <p:cNvPr id="2105" name="" descr="{&quot;isTemplate&quot;:true,&quot;type&quot;:&quot;text&quot;}"/>
          <p:cNvSpPr txBox="1"/>
          <p:nvPr/>
        </p:nvSpPr>
        <p:spPr>
          <a:xfrm rot="0" flipH="0" flipV="0">
            <a:off x="7562850" y="1743075"/>
            <a:ext cx="438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106" name=""/>
          <p:cNvSpPr/>
          <p:nvPr/>
        </p:nvSpPr>
        <p:spPr>
          <a:xfrm rot="0" flipH="0" flipV="0">
            <a:off x="8001000" y="1476375"/>
            <a:ext cx="220980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07" name="" descr="{&quot;isTemplate&quot;:true,&quot;type&quot;:&quot;text&quot;}"/>
          <p:cNvSpPr txBox="1"/>
          <p:nvPr/>
        </p:nvSpPr>
        <p:spPr>
          <a:xfrm rot="0" flipH="0" flipV="0">
            <a:off x="8724900" y="166687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纯文本输出</a:t>
            </a:r>
            <a:endParaRPr/>
          </a:p>
        </p:txBody>
      </p:sp>
      <p:sp>
        <p:nvSpPr>
          <p:cNvPr id="2108" name="" descr="{&quot;isTemplate&quot;:true,&quot;type&quot;:&quot;text&quot;}"/>
          <p:cNvSpPr txBox="1"/>
          <p:nvPr/>
        </p:nvSpPr>
        <p:spPr>
          <a:xfrm rot="0" flipH="0" flipV="0">
            <a:off x="8181975" y="1895475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程序只拿到一个字符串，到此为止</a:t>
            </a:r>
            <a:endParaRPr/>
          </a:p>
        </p:txBody>
      </p:sp>
      <p:pic>
        <p:nvPicPr>
          <p:cNvPr id="21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267200" y="4019550"/>
            <a:ext cx="152400" cy="152400"/>
          </a:xfrm>
          <a:prstGeom prst="rect">
            <a:avLst/>
          </a:prstGeom>
          <a:ln/>
        </p:spPr>
      </p:pic>
      <p:sp>
        <p:nvSpPr>
          <p:cNvPr id="2110" name="" descr="{&quot;isTemplate&quot;:true,&quot;type&quot;:&quot;text&quot;}"/>
          <p:cNvSpPr txBox="1"/>
          <p:nvPr/>
        </p:nvSpPr>
        <p:spPr>
          <a:xfrm rot="0" flipH="0" flipV="0">
            <a:off x="4514850" y="3990975"/>
            <a:ext cx="2238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②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工具调用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Function Calling</a:t>
            </a:r>
            <a:endParaRPr/>
          </a:p>
        </p:txBody>
      </p:sp>
      <p:sp>
        <p:nvSpPr>
          <p:cNvPr id="2111" name=""/>
          <p:cNvSpPr/>
          <p:nvPr/>
        </p:nvSpPr>
        <p:spPr>
          <a:xfrm rot="0" flipH="0" flipV="0">
            <a:off x="4267200" y="4324350"/>
            <a:ext cx="1314450" cy="914400"/>
          </a:xfrm>
          <a:prstGeom prst="roundRect">
            <a:avLst>
              <a:gd name="adj" fmla="val 4167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12" name="" descr="{&quot;isTemplate&quot;:true,&quot;type&quot;:&quot;text&quot;}"/>
          <p:cNvSpPr txBox="1"/>
          <p:nvPr/>
        </p:nvSpPr>
        <p:spPr>
          <a:xfrm rot="0" flipH="0" flipV="0">
            <a:off x="4619625" y="459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2113" name="" descr="{&quot;isTemplate&quot;:true,&quot;type&quot;:&quot;text&quot;}"/>
          <p:cNvSpPr txBox="1"/>
          <p:nvPr/>
        </p:nvSpPr>
        <p:spPr>
          <a:xfrm rot="0" flipH="0" flipV="0">
            <a:off x="4343400" y="4819650"/>
            <a:ext cx="1162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「</a:t>
            </a: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128×456 </a:t>
            </a: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等于几」</a:t>
            </a:r>
            <a:endParaRPr/>
          </a:p>
        </p:txBody>
      </p:sp>
      <p:sp>
        <p:nvSpPr>
          <p:cNvPr id="2114" name="" descr="{&quot;isTemplate&quot;:true,&quot;type&quot;:&quot;text&quot;}"/>
          <p:cNvSpPr txBox="1"/>
          <p:nvPr/>
        </p:nvSpPr>
        <p:spPr>
          <a:xfrm rot="0" flipH="0" flipV="0">
            <a:off x="5581650" y="4667250"/>
            <a:ext cx="342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115" name=""/>
          <p:cNvSpPr/>
          <p:nvPr/>
        </p:nvSpPr>
        <p:spPr>
          <a:xfrm rot="0" flipH="0" flipV="0">
            <a:off x="5924550" y="4324350"/>
            <a:ext cx="1695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16" name="" descr="{&quot;isTemplate&quot;:true,&quot;type&quot;:&quot;text&quot;}"/>
          <p:cNvSpPr txBox="1"/>
          <p:nvPr/>
        </p:nvSpPr>
        <p:spPr>
          <a:xfrm rot="0" flipH="0" flipV="0">
            <a:off x="6124575" y="45910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输出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tool_calls</a:t>
            </a:r>
            <a:endParaRPr/>
          </a:p>
        </p:txBody>
      </p:sp>
      <p:sp>
        <p:nvSpPr>
          <p:cNvPr id="2117" name="" descr="{&quot;isTemplate&quot;:true,&quot;type&quot;:&quot;text&quot;}"/>
          <p:cNvSpPr txBox="1"/>
          <p:nvPr/>
        </p:nvSpPr>
        <p:spPr>
          <a:xfrm rot="0" flipH="0" flipV="0">
            <a:off x="6467475" y="4819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JetBrains Mono"/>
                <a:ea typeface="JetBrains Mono"/>
              </a:rPr>
              <a:t xml:space="preserve">JSON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JetBrains Mono"/>
                <a:ea typeface="JetBrains Mono"/>
              </a:rPr>
              <a:t>参数</a:t>
            </a:r>
            <a:endParaRPr/>
          </a:p>
        </p:txBody>
      </p:sp>
      <p:sp>
        <p:nvSpPr>
          <p:cNvPr id="2118" name="" descr="{&quot;isTemplate&quot;:true,&quot;type&quot;:&quot;text&quot;}"/>
          <p:cNvSpPr txBox="1"/>
          <p:nvPr/>
        </p:nvSpPr>
        <p:spPr>
          <a:xfrm rot="0" flipH="0" flipV="0">
            <a:off x="7620000" y="4667250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⇄</a:t>
            </a:r>
            <a:endParaRPr/>
          </a:p>
        </p:txBody>
      </p:sp>
      <p:sp>
        <p:nvSpPr>
          <p:cNvPr id="2119" name=""/>
          <p:cNvSpPr/>
          <p:nvPr/>
        </p:nvSpPr>
        <p:spPr>
          <a:xfrm rot="0" flipH="0" flipV="0">
            <a:off x="8001000" y="4324350"/>
            <a:ext cx="1695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20" name="" descr="{&quot;isTemplate&quot;:true,&quot;type&quot;:&quot;text&quot;}"/>
          <p:cNvSpPr txBox="1"/>
          <p:nvPr/>
        </p:nvSpPr>
        <p:spPr>
          <a:xfrm rot="0" flipH="0" flipV="0">
            <a:off x="8239125" y="45910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你的代码真正执行</a:t>
            </a:r>
            <a:endParaRPr/>
          </a:p>
        </p:txBody>
      </p:sp>
      <p:sp>
        <p:nvSpPr>
          <p:cNvPr id="2121" name="" descr="{&quot;isTemplate&quot;:true,&quot;type&quot;:&quot;text&quot;}"/>
          <p:cNvSpPr txBox="1"/>
          <p:nvPr/>
        </p:nvSpPr>
        <p:spPr>
          <a:xfrm rot="0" flipH="0" flipV="0">
            <a:off x="8343900" y="4819650"/>
            <a:ext cx="1019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role=tool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结果回填</a:t>
            </a:r>
            <a:endParaRPr/>
          </a:p>
        </p:txBody>
      </p:sp>
      <p:sp>
        <p:nvSpPr>
          <p:cNvPr id="2122" name="" descr="{&quot;isTemplate&quot;:true,&quot;type&quot;:&quot;text&quot;}"/>
          <p:cNvSpPr txBox="1"/>
          <p:nvPr/>
        </p:nvSpPr>
        <p:spPr>
          <a:xfrm rot="0" flipH="0" flipV="0">
            <a:off x="9696450" y="4667250"/>
            <a:ext cx="342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2123" name=""/>
          <p:cNvSpPr/>
          <p:nvPr/>
        </p:nvSpPr>
        <p:spPr>
          <a:xfrm rot="0" flipH="0" flipV="0">
            <a:off x="10039350" y="4324350"/>
            <a:ext cx="1314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2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24" name="" descr="{&quot;isTemplate&quot;:true,&quot;type&quot;:&quot;text&quot;}"/>
          <p:cNvSpPr txBox="1"/>
          <p:nvPr/>
        </p:nvSpPr>
        <p:spPr>
          <a:xfrm rot="0" flipH="0" flipV="0">
            <a:off x="10391775" y="459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Source Han Sans SC"/>
                <a:ea typeface="Source Han Sans SC"/>
              </a:rPr>
              <a:t>最终回答</a:t>
            </a:r>
            <a:endParaRPr/>
          </a:p>
        </p:txBody>
      </p:sp>
      <p:sp>
        <p:nvSpPr>
          <p:cNvPr id="2125" name="" descr="{&quot;isTemplate&quot;:true,&quot;type&quot;:&quot;text&quot;}"/>
          <p:cNvSpPr txBox="1"/>
          <p:nvPr/>
        </p:nvSpPr>
        <p:spPr>
          <a:xfrm rot="0" flipH="0" flipV="0">
            <a:off x="10515600" y="48196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220">
                    <a:alpha val="72000"/>
                  </a:srgbClr>
                </a:solidFill>
                <a:latin typeface="JetBrains Mono"/>
                <a:ea typeface="JetBrains Mono"/>
              </a:rPr>
              <a:t>58368</a:t>
            </a:r>
            <a:endParaRPr/>
          </a:p>
        </p:txBody>
      </p:sp>
      <p:sp>
        <p:nvSpPr>
          <p:cNvPr id="2126" name=""/>
          <p:cNvSpPr/>
          <p:nvPr/>
        </p:nvSpPr>
        <p:spPr>
          <a:xfrm rot="0" flipH="0" flipV="0">
            <a:off x="685800" y="5372100"/>
            <a:ext cx="10820400" cy="685800"/>
          </a:xfrm>
          <a:prstGeom prst="roundRect">
            <a:avLst>
              <a:gd name="adj" fmla="val 555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27" name="" descr="{&quot;isTemplate&quot;:true,&quot;type&quot;:&quot;text&quot;}"/>
          <p:cNvSpPr txBox="1"/>
          <p:nvPr/>
        </p:nvSpPr>
        <p:spPr>
          <a:xfrm rot="0" flipH="0" flipV="0">
            <a:off x="876300" y="5610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共同点</a:t>
            </a:r>
            <a:endParaRPr/>
          </a:p>
        </p:txBody>
      </p:sp>
      <p:sp>
        <p:nvSpPr>
          <p:cNvPr id="2128" name=""/>
          <p:cNvSpPr/>
          <p:nvPr/>
        </p:nvSpPr>
        <p:spPr>
          <a:xfrm rot="0" flipH="0" flipV="0">
            <a:off x="1543050" y="5572125"/>
            <a:ext cx="9525" cy="28575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29" name="" descr="{&quot;isTemplate&quot;:true,&quot;type&quot;:&quot;text&quot;}"/>
          <p:cNvSpPr txBox="1"/>
          <p:nvPr/>
        </p:nvSpPr>
        <p:spPr>
          <a:xfrm rot="0" flipH="0" flipV="0">
            <a:off x="1704975" y="5381625"/>
            <a:ext cx="96107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模型不碰真实世界，它只输出「调哪个工具、传什么参数」；执行永远发生在你的进程里——这就是工具调用成为「聊天机器人」与「</a:t>
            </a: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」分水岭的原因。</a:t>
            </a:r>
            <a:endParaRPr/>
          </a:p>
        </p:txBody>
      </p:sp>
      <p:sp>
        <p:nvSpPr>
          <p:cNvPr id="213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13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07 / 46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2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13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13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19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方案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：手写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ReAct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213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19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自己发明格式、自己解析、自己执行——理解原理最直观的一条路</a:t>
            </a:r>
            <a:endParaRPr/>
          </a:p>
        </p:txBody>
      </p:sp>
      <p:sp>
        <p:nvSpPr>
          <p:cNvPr id="213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2AD4EE"/>
                </a:solidFill>
                <a:latin typeface="JetBrains Mono"/>
                <a:ea typeface="JetBrains Mono"/>
              </a:rPr>
              <a:t>fc_demo_a.py</a:t>
            </a:r>
            <a:endParaRPr/>
          </a:p>
        </p:txBody>
      </p:sp>
      <p:sp>
        <p:nvSpPr>
          <p:cNvPr id="2138" name=""/>
          <p:cNvSpPr/>
          <p:nvPr/>
        </p:nvSpPr>
        <p:spPr>
          <a:xfrm rot="0" flipH="0" flipV="0">
            <a:off x="2038350" y="1162050"/>
            <a:ext cx="9525" cy="133350"/>
          </a:xfrm>
          <a:prstGeom prst="rect">
            <a:avLst/>
          </a:prstGeom>
          <a:solidFill>
            <a:srgbClr val="E8EEF9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39" name="" descr="{&quot;isTemplate&quot;:true,&quot;type&quot;:&quot;text&quot;}"/>
          <p:cNvSpPr txBox="1"/>
          <p:nvPr/>
        </p:nvSpPr>
        <p:spPr>
          <a:xfrm rot="0" flipH="0" flipV="0">
            <a:off x="2162175" y="1143000"/>
            <a:ext cx="543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约定：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Thought → Action: tool[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参数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] → Answer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，并明令禁止编造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Observation</a:t>
            </a:r>
            <a:endParaRPr/>
          </a:p>
        </p:txBody>
      </p:sp>
      <p:sp>
        <p:nvSpPr>
          <p:cNvPr id="2140" name=""/>
          <p:cNvSpPr/>
          <p:nvPr/>
        </p:nvSpPr>
        <p:spPr>
          <a:xfrm rot="0" flipH="0" flipV="0">
            <a:off x="685800" y="4514850"/>
            <a:ext cx="3619500" cy="1543050"/>
          </a:xfrm>
          <a:custGeom>
            <a:pathLst>
              <a:path w="380" h="162">
                <a:moveTo>
                  <a:pt x="379" y="0"/>
                </a:moveTo>
                <a:lnTo>
                  <a:pt x="380" y="0"/>
                </a:lnTo>
                <a:lnTo>
                  <a:pt x="380" y="162"/>
                </a:lnTo>
                <a:lnTo>
                  <a:pt x="379" y="16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41" name="" descr="{&quot;isTemplate&quot;:true,&quot;type&quot;:&quot;text&quot;}"/>
          <p:cNvSpPr txBox="1"/>
          <p:nvPr/>
        </p:nvSpPr>
        <p:spPr>
          <a:xfrm rot="0" flipH="0" flipV="0">
            <a:off x="685800" y="4514850"/>
            <a:ext cx="335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01</a:t>
            </a:r>
            <a:endParaRPr/>
          </a:p>
        </p:txBody>
      </p:sp>
      <p:sp>
        <p:nvSpPr>
          <p:cNvPr id="2142" name="" descr="{&quot;isTemplate&quot;:true,&quot;type&quot;:&quot;text&quot;}"/>
          <p:cNvSpPr txBox="1"/>
          <p:nvPr/>
        </p:nvSpPr>
        <p:spPr>
          <a:xfrm rot="0" flipH="0" flipV="0">
            <a:off x="685800" y="4752975"/>
            <a:ext cx="335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模型自演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Observation</a:t>
            </a:r>
            <a:endParaRPr/>
          </a:p>
        </p:txBody>
      </p:sp>
      <p:sp>
        <p:nvSpPr>
          <p:cNvPr id="2143" name="" descr="{&quot;isTemplate&quot;:true,&quot;type&quot;:&quot;text&quot;}"/>
          <p:cNvSpPr txBox="1"/>
          <p:nvPr/>
        </p:nvSpPr>
        <p:spPr>
          <a:xfrm rot="0" flipH="0" flipV="0">
            <a:off x="685800" y="5048250"/>
            <a:ext cx="33528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太弱时，模型会把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Thought / Action / Observation / Answer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一口气全「演」出来，甚至编造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Observation: 58848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（真实值是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58368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2144" name=""/>
          <p:cNvSpPr/>
          <p:nvPr/>
        </p:nvSpPr>
        <p:spPr>
          <a:xfrm rot="0" flipH="0" flipV="0">
            <a:off x="4295775" y="4514850"/>
            <a:ext cx="3609975" cy="1543050"/>
          </a:xfrm>
          <a:custGeom>
            <a:pathLst>
              <a:path w="379" h="162">
                <a:moveTo>
                  <a:pt x="378" y="0"/>
                </a:moveTo>
                <a:lnTo>
                  <a:pt x="379" y="0"/>
                </a:lnTo>
                <a:lnTo>
                  <a:pt x="379" y="162"/>
                </a:lnTo>
                <a:lnTo>
                  <a:pt x="378" y="16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45" name="" descr="{&quot;isTemplate&quot;:true,&quot;type&quot;:&quot;text&quot;}"/>
          <p:cNvSpPr txBox="1"/>
          <p:nvPr/>
        </p:nvSpPr>
        <p:spPr>
          <a:xfrm rot="0" flipH="0" flipV="0">
            <a:off x="4543425" y="45148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02</a:t>
            </a:r>
            <a:endParaRPr/>
          </a:p>
        </p:txBody>
      </p:sp>
      <p:sp>
        <p:nvSpPr>
          <p:cNvPr id="2146" name="" descr="{&quot;isTemplate&quot;:true,&quot;type&quot;:&quot;text&quot;}"/>
          <p:cNvSpPr txBox="1"/>
          <p:nvPr/>
        </p:nvSpPr>
        <p:spPr>
          <a:xfrm rot="0" flipH="0" flipV="0">
            <a:off x="4543425" y="4752975"/>
            <a:ext cx="3095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编造结果被原样拼回</a:t>
            </a:r>
            <a:endParaRPr/>
          </a:p>
        </p:txBody>
      </p:sp>
      <p:sp>
        <p:nvSpPr>
          <p:cNvPr id="2147" name="" descr="{&quot;isTemplate&quot;:true,&quot;type&quot;:&quot;text&quot;}"/>
          <p:cNvSpPr txBox="1"/>
          <p:nvPr/>
        </p:nvSpPr>
        <p:spPr>
          <a:xfrm rot="0" flipH="0" flipV="0">
            <a:off x="4543425" y="5048250"/>
            <a:ext cx="30956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把模型输出整段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append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进历史，编造的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与真实结果打架，模型每轮重复同样的幻觉，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5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轮全部耗尽。</a:t>
            </a:r>
            <a:endParaRPr/>
          </a:p>
        </p:txBody>
      </p:sp>
      <p:sp>
        <p:nvSpPr>
          <p:cNvPr id="2148" name="" descr="{&quot;isTemplate&quot;:true,&quot;type&quot;:&quot;text&quot;}"/>
          <p:cNvSpPr txBox="1"/>
          <p:nvPr/>
        </p:nvSpPr>
        <p:spPr>
          <a:xfrm rot="0" flipH="0" flipV="0">
            <a:off x="8143875" y="4514850"/>
            <a:ext cx="3362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03</a:t>
            </a:r>
            <a:endParaRPr/>
          </a:p>
        </p:txBody>
      </p:sp>
      <p:sp>
        <p:nvSpPr>
          <p:cNvPr id="2149" name="" descr="{&quot;isTemplate&quot;:true,&quot;type&quot;:&quot;text&quot;}"/>
          <p:cNvSpPr txBox="1"/>
          <p:nvPr/>
        </p:nvSpPr>
        <p:spPr>
          <a:xfrm rot="0" flipH="0" flipV="0">
            <a:off x="8143875" y="47529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循环耗尽返回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None</a:t>
            </a:r>
            <a:endParaRPr/>
          </a:p>
        </p:txBody>
      </p:sp>
      <p:sp>
        <p:nvSpPr>
          <p:cNvPr id="2150" name="" descr="{&quot;isTemplate&quot;:true,&quot;type&quot;:&quot;text&quot;}"/>
          <p:cNvSpPr txBox="1"/>
          <p:nvPr/>
        </p:nvSpPr>
        <p:spPr>
          <a:xfrm rot="0" flipH="0" flipV="0">
            <a:off x="8143875" y="5048250"/>
            <a:ext cx="33623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run()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没有兜底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return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，最终打印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None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；报错信息只有一个空值，排查全靠猜。</a:t>
            </a:r>
            <a:endParaRPr/>
          </a:p>
        </p:txBody>
      </p:sp>
      <p:sp>
        <p:nvSpPr>
          <p:cNvPr id="215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15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08 / 46</a:t>
            </a:r>
            <a:endParaRPr/>
          </a:p>
        </p:txBody>
      </p:sp>
      <p:sp>
        <p:nvSpPr>
          <p:cNvPr id="2153" name=""/>
          <p:cNvSpPr/>
          <p:nvPr/>
        </p:nvSpPr>
        <p:spPr>
          <a:xfrm rot="0" flipH="0" flipV="0">
            <a:off x="685800" y="1390650"/>
            <a:ext cx="10820400" cy="2962275"/>
          </a:xfrm>
          <a:prstGeom prst="roundRect">
            <a:avLst>
              <a:gd name="adj" fmla="val 2572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154" name=""/>
          <p:cNvSpPr txBox="1"/>
          <p:nvPr/>
        </p:nvSpPr>
        <p:spPr>
          <a:xfrm rot="0" flipH="0" flipV="0">
            <a:off x="838200" y="1524000"/>
            <a:ext cx="10515600" cy="2695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def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B392F0"/>
                </a:solidFill>
                <a:latin typeface="Menlo"/>
                <a:ea typeface="Menlo"/>
              </a:rPr>
              <a:t>run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(q):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messages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[{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"system"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PROMPT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}, 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:q}]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_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range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5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):               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最大轮数兜底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out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llm(messages, </a:t>
            </a:r>
            <a:r>
              <a:rPr sz="1050">
                <a:solidFill>
                  <a:srgbClr val="FFAB70"/>
                </a:solidFill>
                <a:latin typeface="Menlo"/>
                <a:ea typeface="Menlo"/>
              </a:rPr>
              <a:t>stop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[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"Observation:"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])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生成阶段强制截断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hit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re.search(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DBEDFF"/>
                </a:solidFill>
                <a:latin typeface="Menlo"/>
                <a:ea typeface="Menlo"/>
              </a:rPr>
              <a:t>Action: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\s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(\w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 b="1">
                <a:solidFill>
                  <a:srgbClr val="85E89D"/>
                </a:solidFill>
                <a:latin typeface="Menlo"/>
                <a:ea typeface="Menlo"/>
              </a:rPr>
              <a:t>\[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(.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+?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 b="1">
                <a:solidFill>
                  <a:srgbClr val="85E89D"/>
                </a:solidFill>
                <a:latin typeface="Menlo"/>
                <a:ea typeface="Menlo"/>
              </a:rPr>
              <a:t>\]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 out)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not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hit:                  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没有 Action = 答完了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re.search(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DBEDFF"/>
                </a:solidFill>
                <a:latin typeface="Menlo"/>
                <a:ea typeface="Menlo"/>
              </a:rPr>
              <a:t>Answer: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\s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(.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 out).group(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result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globals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()[hit.group(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)](hit.group(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真正执行工具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messages.append({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"assistant"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            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 out.split(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"Observation:"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)[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]})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截干净再拼回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messages.append({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 xml:space="preserve">"Observation: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{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result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}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"达到最大轮数，未能得到答案"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兜底返回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15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15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572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方案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：原生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（推荐）</a:t>
            </a:r>
            <a:endParaRPr/>
          </a:p>
        </p:txBody>
      </p:sp>
      <p:sp>
        <p:nvSpPr>
          <p:cNvPr id="215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工具用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声明，模型直接返回结构化参数——不用正则</a:t>
            </a:r>
            <a:endParaRPr/>
          </a:p>
        </p:txBody>
      </p:sp>
      <p:sp>
        <p:nvSpPr>
          <p:cNvPr id="2160" name=""/>
          <p:cNvSpPr/>
          <p:nvPr/>
        </p:nvSpPr>
        <p:spPr>
          <a:xfrm rot="0" flipH="0" flipV="0">
            <a:off x="685800" y="1143000"/>
            <a:ext cx="3200400" cy="4381500"/>
          </a:xfrm>
          <a:custGeom>
            <a:pathLst>
              <a:path w="336" h="460">
                <a:moveTo>
                  <a:pt x="335" y="0"/>
                </a:moveTo>
                <a:lnTo>
                  <a:pt x="336" y="0"/>
                </a:lnTo>
                <a:lnTo>
                  <a:pt x="336" y="460"/>
                </a:lnTo>
                <a:lnTo>
                  <a:pt x="335" y="46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6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WHY BETTER</a:t>
            </a:r>
            <a:endParaRPr/>
          </a:p>
        </p:txBody>
      </p:sp>
      <p:sp>
        <p:nvSpPr>
          <p:cNvPr id="2162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24175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格式是官方标准，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不用自己发明</a:t>
            </a:r>
            <a:endParaRPr/>
          </a:p>
        </p:txBody>
      </p:sp>
      <p:sp>
        <p:nvSpPr>
          <p:cNvPr id="2163" name="" descr="{&quot;isTemplate&quot;:true,&quot;type&quot;:&quot;text&quot;}"/>
          <p:cNvSpPr txBox="1"/>
          <p:nvPr/>
        </p:nvSpPr>
        <p:spPr>
          <a:xfrm rot="0" flipH="0" flipV="0">
            <a:off x="685800" y="2533650"/>
            <a:ext cx="29241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工具用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正式声明并随请求传入；模型开启特训过的「工具模式」，返回值直接是结构化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JSON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，稳定性和兼容性都由模型侧保证。</a:t>
            </a:r>
            <a:endParaRPr/>
          </a:p>
        </p:txBody>
      </p:sp>
      <p:sp>
        <p:nvSpPr>
          <p:cNvPr id="2164" name=""/>
          <p:cNvSpPr/>
          <p:nvPr/>
        </p:nvSpPr>
        <p:spPr>
          <a:xfrm rot="0" flipH="0" flipV="0">
            <a:off x="685800" y="4067175"/>
            <a:ext cx="103822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65" name="" descr="{&quot;isTemplate&quot;:true,&quot;type&quot;:&quot;text&quot;}"/>
          <p:cNvSpPr txBox="1"/>
          <p:nvPr/>
        </p:nvSpPr>
        <p:spPr>
          <a:xfrm rot="0" flipH="0" flipV="0">
            <a:off x="781050" y="4105275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JSON Schema</a:t>
            </a:r>
            <a:endParaRPr/>
          </a:p>
        </p:txBody>
      </p:sp>
      <p:sp>
        <p:nvSpPr>
          <p:cNvPr id="2166" name=""/>
          <p:cNvSpPr/>
          <p:nvPr/>
        </p:nvSpPr>
        <p:spPr>
          <a:xfrm rot="0" flipH="0" flipV="0">
            <a:off x="1800225" y="4067175"/>
            <a:ext cx="7620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67" name="" descr="{&quot;isTemplate&quot;:true,&quot;type&quot;:&quot;text&quot;}"/>
          <p:cNvSpPr txBox="1"/>
          <p:nvPr/>
        </p:nvSpPr>
        <p:spPr>
          <a:xfrm rot="0" flipH="0" flipV="0">
            <a:off x="1895475" y="4105275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tool_calls</a:t>
            </a:r>
            <a:endParaRPr/>
          </a:p>
        </p:txBody>
      </p:sp>
      <p:sp>
        <p:nvSpPr>
          <p:cNvPr id="2168" name=""/>
          <p:cNvSpPr/>
          <p:nvPr/>
        </p:nvSpPr>
        <p:spPr>
          <a:xfrm rot="0" flipH="0" flipV="0">
            <a:off x="2638425" y="40671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69" name="" descr="{&quot;isTemplate&quot;:true,&quot;type&quot;:&quot;text&quot;}"/>
          <p:cNvSpPr txBox="1"/>
          <p:nvPr/>
        </p:nvSpPr>
        <p:spPr>
          <a:xfrm rot="0" flipH="0" flipV="0">
            <a:off x="2733675" y="4105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无需正则</a:t>
            </a:r>
            <a:endParaRPr/>
          </a:p>
        </p:txBody>
      </p:sp>
      <p:sp>
        <p:nvSpPr>
          <p:cNvPr id="2170" name=""/>
          <p:cNvSpPr/>
          <p:nvPr/>
        </p:nvSpPr>
        <p:spPr>
          <a:xfrm rot="0" flipH="0" flipV="0">
            <a:off x="714375" y="4343400"/>
            <a:ext cx="2924175" cy="1181100"/>
          </a:xfrm>
          <a:prstGeom prst="roundRect">
            <a:avLst>
              <a:gd name="adj" fmla="val 3226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71" name=""/>
          <p:cNvSpPr/>
          <p:nvPr/>
        </p:nvSpPr>
        <p:spPr>
          <a:xfrm rot="0" flipH="0" flipV="0">
            <a:off x="714375" y="4343400"/>
            <a:ext cx="2924175" cy="1181100"/>
          </a:xfrm>
          <a:custGeom>
            <a:pathLst>
              <a:path w="307" h="12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23"/>
                </a:lnTo>
                <a:cubicBezTo>
                  <a:pt x="3" y="123"/>
                  <a:pt x="3" y="124"/>
                  <a:pt x="4" y="124"/>
                </a:cubicBezTo>
                <a:cubicBezTo>
                  <a:pt x="2" y="124"/>
                  <a:pt x="0" y="122"/>
                  <a:pt x="0" y="12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172" name="" descr="{&quot;isTemplate&quot;:true,&quot;type&quot;:&quot;text&quot;}"/>
          <p:cNvSpPr txBox="1"/>
          <p:nvPr/>
        </p:nvSpPr>
        <p:spPr>
          <a:xfrm rot="0" flipH="0" flipV="0">
            <a:off x="866775" y="4476750"/>
            <a:ext cx="25908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就是写给模型看的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文档——模型选错工具，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是这里写得烂。</a:t>
            </a:r>
            <a:endParaRPr/>
          </a:p>
        </p:txBody>
      </p:sp>
      <p:sp>
        <p:nvSpPr>
          <p:cNvPr id="2173" name="" descr="{&quot;isTemplate&quot;:true,&quot;type&quot;:&quot;text&quot;}"/>
          <p:cNvSpPr txBox="1"/>
          <p:nvPr/>
        </p:nvSpPr>
        <p:spPr>
          <a:xfrm rot="0" flipH="0" flipV="0">
            <a:off x="4229100" y="11430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2AD4EE"/>
                </a:solidFill>
                <a:latin typeface="JetBrains Mono"/>
                <a:ea typeface="JetBrains Mono"/>
              </a:rPr>
              <a:t>fc_demo_b.js</a:t>
            </a:r>
            <a:endParaRPr/>
          </a:p>
        </p:txBody>
      </p:sp>
      <p:sp>
        <p:nvSpPr>
          <p:cNvPr id="2174" name=""/>
          <p:cNvSpPr/>
          <p:nvPr/>
        </p:nvSpPr>
        <p:spPr>
          <a:xfrm rot="0" flipH="0" flipV="0">
            <a:off x="5581650" y="1162050"/>
            <a:ext cx="9525" cy="133350"/>
          </a:xfrm>
          <a:prstGeom prst="rect">
            <a:avLst/>
          </a:prstGeom>
          <a:solidFill>
            <a:srgbClr val="E8EEF9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75" name="" descr="{&quot;isTemplate&quot;:true,&quot;type&quot;:&quot;text&quot;}"/>
          <p:cNvSpPr txBox="1"/>
          <p:nvPr/>
        </p:nvSpPr>
        <p:spPr>
          <a:xfrm rot="0" flipH="0" flipV="0">
            <a:off x="5705475" y="1143000"/>
            <a:ext cx="1990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声明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调用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回填，三步走完</a:t>
            </a:r>
            <a:endParaRPr/>
          </a:p>
        </p:txBody>
      </p:sp>
      <p:sp>
        <p:nvSpPr>
          <p:cNvPr id="2176" name=""/>
          <p:cNvSpPr/>
          <p:nvPr/>
        </p:nvSpPr>
        <p:spPr>
          <a:xfrm rot="0" flipH="0" flipV="0">
            <a:off x="685800" y="5619750"/>
            <a:ext cx="10820400" cy="438150"/>
          </a:xfrm>
          <a:prstGeom prst="roundRect">
            <a:avLst>
              <a:gd name="adj" fmla="val 869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77" name="" descr="{&quot;isTemplate&quot;:true,&quot;type&quot;:&quot;text&quot;}"/>
          <p:cNvSpPr txBox="1"/>
          <p:nvPr/>
        </p:nvSpPr>
        <p:spPr>
          <a:xfrm rot="0" flipH="0" flipV="0">
            <a:off x="876300" y="57340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结论</a:t>
            </a:r>
            <a:endParaRPr/>
          </a:p>
        </p:txBody>
      </p:sp>
      <p:sp>
        <p:nvSpPr>
          <p:cNvPr id="2178" name=""/>
          <p:cNvSpPr/>
          <p:nvPr/>
        </p:nvSpPr>
        <p:spPr>
          <a:xfrm rot="0" flipH="0" flipV="0">
            <a:off x="1371600" y="57054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79" name="" descr="{&quot;isTemplate&quot;:true,&quot;type&quot;:&quot;text&quot;}"/>
          <p:cNvSpPr txBox="1"/>
          <p:nvPr/>
        </p:nvSpPr>
        <p:spPr>
          <a:xfrm rot="0" flipH="0" flipV="0">
            <a:off x="1533525" y="5686425"/>
            <a:ext cx="97821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实际项目一律用原生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；手写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只用来理解原理——模型自动把「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128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乘以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456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」翻译成了表达式，靠的就是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description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18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18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09 / 46</a:t>
            </a:r>
            <a:endParaRPr/>
          </a:p>
        </p:txBody>
      </p:sp>
      <p:sp>
        <p:nvSpPr>
          <p:cNvPr id="2182" name=""/>
          <p:cNvSpPr/>
          <p:nvPr/>
        </p:nvSpPr>
        <p:spPr>
          <a:xfrm rot="0" flipH="0" flipV="0">
            <a:off x="4229100" y="1390650"/>
            <a:ext cx="7277100" cy="3152775"/>
          </a:xfrm>
          <a:prstGeom prst="roundRect">
            <a:avLst>
              <a:gd name="adj" fmla="val 2417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183" name=""/>
          <p:cNvSpPr txBox="1"/>
          <p:nvPr/>
        </p:nvSpPr>
        <p:spPr>
          <a:xfrm rot="0" flipH="0" flipV="0">
            <a:off x="4381500" y="1524000"/>
            <a:ext cx="6972300" cy="2886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① 用 JSON Schema 声明工具（name / description / parameters）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tools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[{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"function"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function: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name: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"calculate"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description: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"计算数学表达式的值，如加减乘除"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parameters: 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"object"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required: [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"expression"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],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properties: { expression: 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"string"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  description: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"数学表达式，如 128*456"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} } },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}}];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② tools 随请求传入；模型返回结构化 tool_calls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msg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await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llm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(messages, tools);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of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msg.tool_calls)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args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JSON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parse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(tc.function.arguments);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参数直接是 JSON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r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TOOLS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[tc.function.name](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...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Object.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values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(args));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messages.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push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({ role: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"tool"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, tool_call_id: tc.id, content: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(r) });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05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A/B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对比与一条安全红线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05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五个维度看差别，一条原则定生死</a:t>
            </a:r>
            <a:endParaRPr/>
          </a:p>
        </p:txBody>
      </p:sp>
      <p:graphicFrame>
        <p:nvGraphicFramePr>
          <p:cNvPr id="29" name=""/>
          <p:cNvGraphicFramePr/>
          <p:nvPr/>
        </p:nvGraphicFramePr>
        <p:xfrm rot="0" flipH="0" flipV="0">
          <a:off x="685800" y="1143000"/>
          <a:ext cx="10820400" cy="3238500"/>
        </p:xfrm>
        <a:graphic>
          <a:graphicData uri="http://schemas.openxmlformats.org/drawingml/2006/table">
            <a:tbl>
              <a:tblGrid>
                <a:gridCol w="1339603">
                  <a:extLst>
                    <a:ext uri="{9D8B030D-6E8A-4147-A177-3AD203B41FA5}">
                      <a16:colId val="1"/>
                    </a:ext>
                  </a:extLst>
                </a:gridCol>
                <a:gridCol w="4723136">
                  <a:extLst>
                    <a:ext uri="{9D8B030D-6E8A-4147-A177-3AD203B41FA5}">
                      <a16:colId val="2"/>
                    </a:ext>
                  </a:extLst>
                </a:gridCol>
                <a:gridCol w="475766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E8EEF9">
                              <a:alpha val="70000"/>
                            </a:srgbClr>
                          </a:solidFill>
                          <a:latin typeface="Microsoft YaHei"/>
                          <a:ea typeface="Microsoft YaHei"/>
                        </a:rPr>
                        <a:t>方案 A · 手写 Prompt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方案 B · 原生 Function Calling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格式约定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自己发明（Action:工具名[参数]）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官方标准（JSON Schema）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模型输出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普通文本，要正则抠参数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结构化 tool_calls JSON，直接解析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稳定性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模型可能不守格式，需各种兜底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模型专门训练过，非常稳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兼容性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任何模型都能用（哪怕不支持 FC）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需要模型支持（GLM-4 / GPT 等）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使用建议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理解原理用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实际项目一律用这个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30" name=""/>
          <p:cNvSpPr/>
          <p:nvPr/>
        </p:nvSpPr>
        <p:spPr>
          <a:xfrm rot="0" flipH="0" flipV="0">
            <a:off x="685800" y="4514850"/>
            <a:ext cx="5314950" cy="1543050"/>
          </a:xfrm>
          <a:prstGeom prst="roundRect">
            <a:avLst>
              <a:gd name="adj" fmla="val 2469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76300" y="466725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选型结论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76300" y="4953000"/>
            <a:ext cx="49339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能用原生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就不用自己发明格式。手写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的价值在于让你看清循环内部长什么样——理解原理，而不是交付方案。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191250" y="4514850"/>
            <a:ext cx="5314950" cy="1543050"/>
          </a:xfrm>
          <a:prstGeom prst="roundRect">
            <a:avLst>
              <a:gd name="adj" fmla="val 2469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381750" y="466725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安全红线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381750" y="4953000"/>
            <a:ext cx="49339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两种方案里，模型都只负责「说要调什么」，真正执行函数的永远是我们的代码——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模型没有权限，只有建议权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10 / 46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1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02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从“能聊”到“能干”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的核心代码就一个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循环；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真正的开发量，全在循环之外。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066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的能力边界到底在哪？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一个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系统要处理哪些功能点？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怎么写才不翻车？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11 – 19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581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ReAct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循环与终止条件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工具、记忆与控制层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七层功能地图与十条原则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11 / 46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91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= LLM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91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让模型从「只会聊天」变成「能干活、会决策、可循环」的程序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685800" y="1143000"/>
            <a:ext cx="10820400" cy="1152525"/>
          </a:xfrm>
          <a:custGeom>
            <a:pathLst>
              <a:path w="1136" h="121">
                <a:moveTo>
                  <a:pt x="0" y="120"/>
                </a:moveTo>
                <a:lnTo>
                  <a:pt x="1136" y="120"/>
                </a:lnTo>
                <a:lnTo>
                  <a:pt x="1136" y="121"/>
                </a:lnTo>
                <a:lnTo>
                  <a:pt x="0" y="12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885950" y="1219200"/>
            <a:ext cx="20097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124325" y="1381125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=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572000" y="1314450"/>
            <a:ext cx="9620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68642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05790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277100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648575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86777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23925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858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685800" y="2495550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大脑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85800" y="2771775"/>
            <a:ext cx="2466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685800" y="3124200"/>
            <a:ext cx="24669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无状态的推理引擎。它决定「下一步该干什么」，但自己不记得任何事。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33909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6195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手脚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6195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3619500" y="3124200"/>
            <a:ext cx="2238375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你写的普通函数。模型只能「说要调用哪个」，执行权始终在你手里。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0960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3246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上下文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3246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324600" y="3124200"/>
            <a:ext cx="2238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短期靠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，长期靠向量库。近期带原文，远期压摘要。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029700" y="2495550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循环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029700" y="277177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9029700" y="3124200"/>
            <a:ext cx="2476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简单任务单循环就够，复杂任务先拆步骤。别一上来就过度设计。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四要素缺任何一项，它都只是一个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会聊天的模型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——而不是一个能自己把活干完的程序。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12 / 46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67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>ReAct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：思考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行动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观察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Reasoning + Acting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：让模型交替输出「思考」与「行动」，直到能回答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85800" y="1143000"/>
            <a:ext cx="3200400" cy="4914900"/>
          </a:xfrm>
          <a:custGeom>
            <a:pathLst>
              <a:path w="336" h="516">
                <a:moveTo>
                  <a:pt x="335" y="0"/>
                </a:moveTo>
                <a:lnTo>
                  <a:pt x="336" y="0"/>
                </a:lnTo>
                <a:lnTo>
                  <a:pt x="336" y="516"/>
                </a:lnTo>
                <a:lnTo>
                  <a:pt x="33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REASONING + ACTING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24175" cy="9334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9"/>
                </a:solidFill>
                <a:latin typeface="Source Han Sans SC"/>
                <a:ea typeface="Source Han Sans SC"/>
              </a:rPr>
              <a:t>一段话，</a:t>
            </a:r>
            <a:endParaRPr/>
          </a:p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9"/>
                </a:solidFill>
                <a:latin typeface="Source Han Sans SC"/>
                <a:ea typeface="Source Han Sans SC"/>
              </a:rPr>
              <a:t>拆成思考与行动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29241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模型不再一次性给答案，而是交替输出「我要做什么」和「我调用什么工具」；系统执行后把结果作为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喂回去，模型再决定下一步。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85800" y="4105275"/>
            <a:ext cx="7048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81050" y="41433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Thought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1466850" y="4105275"/>
            <a:ext cx="6286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1562100" y="414337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Action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2171700" y="4105275"/>
            <a:ext cx="99060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2266950" y="4143375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Observation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85800" y="5181600"/>
            <a:ext cx="2924175" cy="876300"/>
          </a:xfrm>
          <a:prstGeom prst="roundRect">
            <a:avLst>
              <a:gd name="adj" fmla="val 4348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38200" y="5314950"/>
            <a:ext cx="2619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没有最大轮数兜底的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，一次死循环就能烧掉一个月的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token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预算。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229100" y="1143000"/>
            <a:ext cx="727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THE LOOP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229100" y="1685925"/>
            <a:ext cx="2009775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400550" y="1838325"/>
            <a:ext cx="1724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思考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400550" y="2133600"/>
            <a:ext cx="1724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Thought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400550" y="2381250"/>
            <a:ext cx="17240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我要先查北京天气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238875" y="2114550"/>
            <a:ext cx="419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657975" y="1685925"/>
            <a:ext cx="2000250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829425" y="18383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行动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829425" y="213360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Action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829425" y="2381250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get_weather[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北京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]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658225" y="2114550"/>
            <a:ext cx="419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9077325" y="1685925"/>
            <a:ext cx="2428875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248775" y="1838325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观察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248775" y="2133600"/>
            <a:ext cx="2143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Observation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9248775" y="238125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晴，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28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度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4229100" y="3200400"/>
            <a:ext cx="7277100" cy="495300"/>
          </a:xfrm>
          <a:prstGeom prst="roundRect">
            <a:avLst>
              <a:gd name="adj" fmla="val 7692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45000"/>
              </a:srgbClr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400550" y="33337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↺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629150" y="3352800"/>
            <a:ext cx="416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还没拿到答案</a:t>
            </a:r>
            <a:r>
              <a:rPr lang="en-US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带着</a:t>
            </a:r>
            <a:r>
              <a:rPr lang="en-US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回到「思考」，进入下一轮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4229100" y="4105275"/>
            <a:ext cx="2095500" cy="800100"/>
          </a:xfrm>
          <a:prstGeom prst="roundRect">
            <a:avLst>
              <a:gd name="adj" fmla="val 4762"/>
            </a:avLst>
          </a:prstGeom>
          <a:solidFill>
            <a:srgbClr val="2AD4EE">
              <a:alpha val="22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067300" y="42862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1220"/>
                </a:solidFill>
                <a:latin typeface="Source Han Sans SC"/>
                <a:ea typeface="Source Han Sans SC"/>
              </a:rPr>
              <a:t>回答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057775" y="458152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220">
                    <a:alpha val="72000"/>
                  </a:srgbClr>
                </a:solidFill>
                <a:latin typeface="JetBrains Mono"/>
                <a:ea typeface="JetBrains Mono"/>
              </a:rPr>
              <a:t>Answer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496050" y="44100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证据足够</a:t>
            </a:r>
            <a:r>
              <a:rPr lang="en-US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输出最终答案，退出循环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229100" y="5334000"/>
            <a:ext cx="727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终止条件</a:t>
            </a: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四个都要有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229100" y="5600700"/>
            <a:ext cx="1752600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572000" y="5743575"/>
            <a:ext cx="106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模型输出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Answer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76950" y="5600700"/>
            <a:ext cx="1743075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667500" y="57435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最大轮数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7915275" y="5600700"/>
            <a:ext cx="1752600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648700" y="57435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超时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9763125" y="5600700"/>
            <a:ext cx="1743075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0296525" y="5743575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token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预算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13 / 46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工具与记忆：手脚和上下文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真正干活的地方，和真正决定成本的地方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85800" y="1143000"/>
            <a:ext cx="6086475" cy="4914900"/>
          </a:xfrm>
          <a:custGeom>
            <a:pathLst>
              <a:path w="639" h="516">
                <a:moveTo>
                  <a:pt x="638" y="0"/>
                </a:moveTo>
                <a:lnTo>
                  <a:pt x="639" y="0"/>
                </a:lnTo>
                <a:lnTo>
                  <a:pt x="639" y="516"/>
                </a:lnTo>
                <a:lnTo>
                  <a:pt x="638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90625"/>
            <a:ext cx="171450" cy="171450"/>
          </a:xfrm>
          <a:prstGeom prst="rect">
            <a:avLst/>
          </a:prstGeom>
          <a:ln/>
        </p:spPr>
      </p:pic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52500" y="11430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工具：手脚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2095500" y="11906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TOOLS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685800" y="1495425"/>
            <a:ext cx="5762625" cy="1028700"/>
          </a:xfrm>
          <a:custGeom>
            <a:pathLst>
              <a:path w="605" h="108">
                <a:moveTo>
                  <a:pt x="0" y="107"/>
                </a:moveTo>
                <a:lnTo>
                  <a:pt x="605" y="107"/>
                </a:lnTo>
                <a:lnTo>
                  <a:pt x="605" y="108"/>
                </a:lnTo>
                <a:lnTo>
                  <a:pt x="0" y="108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85800" y="159067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162050" y="159067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小而专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162050" y="1857375"/>
            <a:ext cx="52863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search_order + refund_order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优于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handle_anything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。一个工具干一件事，模型才用得准。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85800" y="2952750"/>
            <a:ext cx="5762625" cy="752475"/>
          </a:xfrm>
          <a:custGeom>
            <a:pathLst>
              <a:path w="605" h="79">
                <a:moveTo>
                  <a:pt x="0" y="78"/>
                </a:moveTo>
                <a:lnTo>
                  <a:pt x="605" y="78"/>
                </a:lnTo>
                <a:lnTo>
                  <a:pt x="605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5800" y="3048000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162050" y="3048000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描述大于实现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162050" y="3314700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就是给模型看的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文档。模型选错工具，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的原因是这里写得烂。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85800" y="4143375"/>
            <a:ext cx="5762625" cy="752475"/>
          </a:xfrm>
          <a:custGeom>
            <a:pathLst>
              <a:path w="605" h="79">
                <a:moveTo>
                  <a:pt x="0" y="78"/>
                </a:moveTo>
                <a:lnTo>
                  <a:pt x="605" y="78"/>
                </a:lnTo>
                <a:lnTo>
                  <a:pt x="605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5800" y="42386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62050" y="423862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参数先校验再执行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62050" y="4505325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模型真的会瞎传参数，类型与范围都要验；「合法」也不等于「安全」。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85800" y="54197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62050" y="541972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失败要回喂，不要吞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62050" y="5686425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工具抛错别让程序崩，把报错拼回上下文，让模型下一轮自己调整。</a:t>
            </a:r>
            <a:endParaRPr/>
          </a:p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05650" y="1190625"/>
            <a:ext cx="171450" cy="17145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372350" y="11430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记忆：上下文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724900" y="1190625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MEMORY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105650" y="15906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近期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原文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086725" y="159067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system +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历史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本轮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7105650" y="1857375"/>
            <a:ext cx="4400550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105650" y="206692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远期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摘要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086725" y="2066925"/>
            <a:ext cx="1647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超窗裁剪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/ compaction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压缩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7105650" y="2333625"/>
            <a:ext cx="334327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105650" y="25431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事实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卡片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086725" y="254317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结构化字段，稳定可查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7105650" y="2809875"/>
            <a:ext cx="237172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105650" y="3019425"/>
            <a:ext cx="104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知识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向量库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248650" y="301942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Embedding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检索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topK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7105650" y="3286125"/>
            <a:ext cx="149542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7105650" y="4838700"/>
            <a:ext cx="4400550" cy="1219200"/>
          </a:xfrm>
          <a:prstGeom prst="roundRect">
            <a:avLst>
              <a:gd name="adj" fmla="val 3125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7277100" y="4991100"/>
            <a:ext cx="405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口诀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277100" y="5257800"/>
            <a:ext cx="4057650" cy="647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近期带原文，远期压摘要；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事实存卡片，知识进向量库。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14 / 46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048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学习路径：五个阶段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048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从「手写一遍」到「工程化」，每个阶段解决一类新问题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695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LEARNING PATH · 5 STAGES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801225" y="1143000"/>
            <a:ext cx="1704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难度与工程量</a:t>
            </a:r>
            <a:r>
              <a:rPr lang="en-US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: </a:t>
            </a:r>
            <a:r>
              <a:rPr lang="zh-CN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依次递增</a:t>
            </a:r>
            <a:r>
              <a:rPr lang="en-US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→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85800" y="4152900"/>
            <a:ext cx="6362700" cy="1905000"/>
          </a:xfrm>
          <a:custGeom>
            <a:pathLst>
              <a:path w="668" h="200">
                <a:moveTo>
                  <a:pt x="667" y="0"/>
                </a:moveTo>
                <a:lnTo>
                  <a:pt x="668" y="0"/>
                </a:lnTo>
                <a:lnTo>
                  <a:pt x="668" y="200"/>
                </a:lnTo>
                <a:lnTo>
                  <a:pt x="667" y="20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85800" y="4152900"/>
            <a:ext cx="6115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为什么顺序不能颠倒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85800" y="4572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28675" y="4495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1–2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是「看穿黑盒」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：不亲手拼一次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，你永远不知道模型为什么不听话。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685800" y="4953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28675" y="4876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是「成本与记忆」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：上下文是所有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问题的共同源头。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85800" y="5334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28675" y="5257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是「边界」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：真实世界的错误，几乎都发生在工具与数据的接缝处。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85800" y="5715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28675" y="5638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5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才轮到工程化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：没有前四步的直觉，框架只会让你更糊涂。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267575" y="4152900"/>
            <a:ext cx="4238625" cy="1905000"/>
          </a:xfrm>
          <a:prstGeom prst="roundRect">
            <a:avLst>
              <a:gd name="adj" fmla="val 200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477125" y="4391025"/>
            <a:ext cx="3819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477125" y="4714875"/>
            <a:ext cx="3819525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先手写，再上框架。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跳过手写阶段，出问题时你连</a:t>
            </a:r>
            <a:r>
              <a:rPr lang="zh-CN" sz="1425">
                <a:solidFill>
                  <a:srgbClr val="2AD4EE"/>
                </a:solidFill>
                <a:latin typeface="Source Han Sans SC"/>
                <a:ea typeface="Source Han Sans SC"/>
              </a:rPr>
              <a:t>日志该看哪一行</a:t>
            </a: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都不知道。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15 / 46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858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524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858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手写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ReAct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858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自己拼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、自己正则解析输出，把循环每个环节摸一遍。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7048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858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001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一个能跑的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287655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294322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287655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原生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FC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2876550" y="2324100"/>
            <a:ext cx="20574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改用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声明工具，模型直接返回结构化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tool_calls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289560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287655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299085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稳定的工具契约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0673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1339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50673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记忆与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RAG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0673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上下文裁剪、摘要压缩、向量检索，让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记得住事。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50863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50673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1816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可控的上下文预算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725805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32472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25805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多工具实战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25805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工具变多、结果变脏、失败变常态，开始处理真实的边界。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727710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25805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37235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敢给业务用的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94488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95154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4488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框架与工程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4488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上框架、做观测、加护栏、建评测，从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demo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走到系统。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94678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94488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95631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可维护的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系统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800100" y="1666875"/>
            <a:ext cx="10591800" cy="19050"/>
          </a:xfrm>
          <a:prstGeom prst="rect">
            <a:avLst/>
          </a:prstGeom>
          <a:gradFill>
            <a:gsLst>
              <a:gs pos="0">
                <a:srgbClr val="2AD4EE">
                  <a:alpha val="85000"/>
                </a:srgbClr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686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七层功能地图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686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的能力边界不来自模型，来自这七层的工程量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85800" y="1143000"/>
            <a:ext cx="3543300" cy="4914900"/>
          </a:xfrm>
          <a:custGeom>
            <a:pathLst>
              <a:path w="372" h="516">
                <a:moveTo>
                  <a:pt x="371" y="0"/>
                </a:moveTo>
                <a:lnTo>
                  <a:pt x="372" y="0"/>
                </a:lnTo>
                <a:lnTo>
                  <a:pt x="372" y="516"/>
                </a:lnTo>
                <a:lnTo>
                  <a:pt x="37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FUNCTION MAP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85800" y="1390650"/>
            <a:ext cx="3209925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600" b="1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685800" y="3028950"/>
            <a:ext cx="3209925" cy="800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七层里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前五层只是「搭起来」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85800" y="4000500"/>
            <a:ext cx="32099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①~⑤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决定它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能不能跑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⑥~⑦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决定它</a:t>
            </a:r>
            <a:r>
              <a:rPr lang="zh-CN" sz="1200" b="1">
                <a:solidFill>
                  <a:srgbClr val="2AD4EE"/>
                </a:solidFill>
                <a:latin typeface="Source Han Sans SC"/>
                <a:ea typeface="Source Han Sans SC"/>
              </a:rPr>
              <a:t>敢不敢给别人用、出事查不查得清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85800" y="4743450"/>
            <a:ext cx="3209925" cy="1314450"/>
          </a:xfrm>
          <a:prstGeom prst="roundRect">
            <a:avLst>
              <a:gd name="adj" fmla="val 2899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57250" y="4914900"/>
            <a:ext cx="2867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57250" y="5219700"/>
            <a:ext cx="28670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换模型只动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</a:t>
            </a:r>
            <a:r>
              <a:rPr sz="1275">
                <a:solidFill>
                  <a:srgbClr val="2AD4EE"/>
                </a:solidFill>
                <a:latin typeface="Source Han Sans SC"/>
                <a:ea typeface="Source Han Sans SC"/>
              </a:rPr>
              <a:t>①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，加工具只动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</a:t>
            </a:r>
            <a:r>
              <a:rPr sz="1275">
                <a:solidFill>
                  <a:srgbClr val="2AD4EE"/>
                </a:solidFill>
                <a:latin typeface="Source Han Sans SC"/>
                <a:ea typeface="Source Han Sans SC"/>
              </a:rPr>
              <a:t>③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——分层，是为了让改动可预测。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572000" y="1143000"/>
            <a:ext cx="2257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LAYER STACK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自下而上读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9744075" y="1190625"/>
            <a:ext cx="76200" cy="76200"/>
          </a:xfrm>
          <a:prstGeom prst="rect">
            <a:avLst/>
          </a:prstGeom>
          <a:solidFill>
            <a:srgbClr val="2AD4EE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896475" y="1152525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越往上，越接近「生产可用」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5562600" y="1428750"/>
            <a:ext cx="4953000" cy="495300"/>
          </a:xfrm>
          <a:prstGeom prst="roundRect">
            <a:avLst>
              <a:gd name="adj" fmla="val 576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5715000" y="15525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96000" y="155257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运营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781800" y="158115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924675" y="159067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观测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评测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成本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5372100" y="2114550"/>
            <a:ext cx="5334000" cy="495300"/>
          </a:xfrm>
          <a:prstGeom prst="roundRect">
            <a:avLst>
              <a:gd name="adj" fmla="val 576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524500" y="22383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⑥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5905500" y="223837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护栏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591300" y="226695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6734175" y="2276475"/>
            <a:ext cx="135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输入审查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输出脱敏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5181600" y="2809875"/>
            <a:ext cx="57150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5334000" y="29337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⑤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5715000" y="29337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控制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400800" y="29622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543675" y="2971800"/>
            <a:ext cx="106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循环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终止条件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5029200" y="3495675"/>
            <a:ext cx="60198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181600" y="36195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④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562600" y="36195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6248400" y="36480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391275" y="36576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上下文工程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4876800" y="4181475"/>
            <a:ext cx="63246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5029200" y="43053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5410200" y="4305300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0" y="4333875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238875" y="43434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手脚与契约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4743450" y="4876800"/>
            <a:ext cx="65913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895850" y="50006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5276850" y="500062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提示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5962650" y="502920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105525" y="503872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目标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格式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4610100" y="5562600"/>
            <a:ext cx="6858000" cy="495300"/>
          </a:xfrm>
          <a:prstGeom prst="roundRect">
            <a:avLst>
              <a:gd name="adj" fmla="val 576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762500" y="56864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143500" y="5686425"/>
            <a:ext cx="552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829300" y="5715000"/>
            <a:ext cx="9525" cy="1905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5972175" y="57245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选型与接入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16 / 46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逐层拆解：每层到底要写什么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21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少写一层，问题就会以最难查的方式冒出来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85800" y="1143000"/>
            <a:ext cx="2781300" cy="4914900"/>
          </a:xfrm>
          <a:custGeom>
            <a:pathLst>
              <a:path w="292" h="516">
                <a:moveTo>
                  <a:pt x="291" y="0"/>
                </a:moveTo>
                <a:lnTo>
                  <a:pt x="292" y="0"/>
                </a:lnTo>
                <a:lnTo>
                  <a:pt x="292" y="516"/>
                </a:lnTo>
                <a:lnTo>
                  <a:pt x="29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LAYER BY LAYER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48602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把七层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摊成一张清单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48602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每一层都有必须落地的动作项。它们不写进代码，就会在某个凌晨的线上事故里，以最难查的方式出现。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685800" y="4562475"/>
            <a:ext cx="2486025" cy="1495425"/>
          </a:xfrm>
          <a:prstGeom prst="roundRect">
            <a:avLst>
              <a:gd name="adj" fmla="val 254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38200" y="4714875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38200" y="4972050"/>
            <a:ext cx="21812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①~⑤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写不好，系统跑不起来；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⑥~⑦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不写，系统跑起来之后你不敢让人用。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3810000" y="1143000"/>
            <a:ext cx="3743325" cy="1038225"/>
          </a:xfrm>
          <a:prstGeom prst="roundRect">
            <a:avLst>
              <a:gd name="adj" fmla="val 2752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3810000" y="1143000"/>
            <a:ext cx="3743325" cy="1038225"/>
          </a:xfrm>
          <a:custGeom>
            <a:pathLst>
              <a:path w="393" h="109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08"/>
                </a:lnTo>
                <a:cubicBezTo>
                  <a:pt x="2" y="108"/>
                  <a:pt x="2" y="109"/>
                  <a:pt x="3" y="109"/>
                </a:cubicBezTo>
                <a:cubicBezTo>
                  <a:pt x="1" y="109"/>
                  <a:pt x="0" y="108"/>
                  <a:pt x="0" y="10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43350" y="1581150"/>
            <a:ext cx="161925" cy="161925"/>
          </a:xfrm>
          <a:prstGeom prst="rect">
            <a:avLst/>
          </a:prstGeom>
          <a:ln/>
        </p:spPr>
      </p:pic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4219575" y="14001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4381500" y="14001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4219575" y="16764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密钥与多模型切换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超时重试与降级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流式输出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3810000" y="2276475"/>
            <a:ext cx="3743325" cy="1276350"/>
          </a:xfrm>
          <a:prstGeom prst="roundRect">
            <a:avLst>
              <a:gd name="adj" fmla="val 2239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3810000" y="2276475"/>
            <a:ext cx="3743325" cy="1276350"/>
          </a:xfrm>
          <a:custGeom>
            <a:pathLst>
              <a:path w="393" h="134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33"/>
                </a:lnTo>
                <a:cubicBezTo>
                  <a:pt x="2" y="133"/>
                  <a:pt x="2" y="134"/>
                  <a:pt x="3" y="134"/>
                </a:cubicBezTo>
                <a:cubicBezTo>
                  <a:pt x="1" y="134"/>
                  <a:pt x="0" y="133"/>
                  <a:pt x="0" y="1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43350" y="2838450"/>
            <a:ext cx="161925" cy="161925"/>
          </a:xfrm>
          <a:prstGeom prst="rect">
            <a:avLst/>
          </a:prstGeom>
          <a:ln/>
        </p:spPr>
      </p:pic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219575" y="25336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381500" y="25336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提示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219575" y="2809875"/>
            <a:ext cx="3181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目标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边界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输出格式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少样本示例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系统提示版本化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3810000" y="3648075"/>
            <a:ext cx="3743325" cy="1285875"/>
          </a:xfrm>
          <a:prstGeom prst="roundRect">
            <a:avLst>
              <a:gd name="adj" fmla="val 2222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3810000" y="3648075"/>
            <a:ext cx="3743325" cy="1285875"/>
          </a:xfrm>
          <a:custGeom>
            <a:pathLst>
              <a:path w="393" h="13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34"/>
                </a:lnTo>
                <a:cubicBezTo>
                  <a:pt x="2" y="134"/>
                  <a:pt x="2" y="135"/>
                  <a:pt x="3" y="135"/>
                </a:cubicBezTo>
                <a:cubicBezTo>
                  <a:pt x="1" y="135"/>
                  <a:pt x="0" y="134"/>
                  <a:pt x="0" y="13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43350" y="4210050"/>
            <a:ext cx="161925" cy="161925"/>
          </a:xfrm>
          <a:prstGeom prst="rect">
            <a:avLst/>
          </a:prstGeom>
          <a:ln/>
        </p:spPr>
      </p:pic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219575" y="39052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381500" y="39052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219575" y="4181475"/>
            <a:ext cx="3181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JSON Schema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描述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参数类型与范围校验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错误信息回喂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3810000" y="5029200"/>
            <a:ext cx="3743325" cy="1028700"/>
          </a:xfrm>
          <a:prstGeom prst="roundRect">
            <a:avLst>
              <a:gd name="adj" fmla="val 277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3810000" y="5029200"/>
            <a:ext cx="3743325" cy="1028700"/>
          </a:xfrm>
          <a:custGeom>
            <a:pathLst>
              <a:path w="393" h="108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07"/>
                </a:lnTo>
                <a:cubicBezTo>
                  <a:pt x="2" y="107"/>
                  <a:pt x="2" y="108"/>
                  <a:pt x="3" y="108"/>
                </a:cubicBezTo>
                <a:cubicBezTo>
                  <a:pt x="1" y="108"/>
                  <a:pt x="0" y="107"/>
                  <a:pt x="0" y="10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943350" y="5467350"/>
            <a:ext cx="161925" cy="161925"/>
          </a:xfrm>
          <a:prstGeom prst="rect">
            <a:avLst/>
          </a:prstGeom>
          <a:ln/>
        </p:spPr>
      </p:pic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219575" y="52863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④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381500" y="52863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219575" y="55626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上下文裁剪与摘要压缩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事实卡片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向量检索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topK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7781925" y="1143000"/>
            <a:ext cx="3743325" cy="1571625"/>
          </a:xfrm>
          <a:prstGeom prst="roundRect">
            <a:avLst>
              <a:gd name="adj" fmla="val 181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7781925" y="1143000"/>
            <a:ext cx="3743325" cy="1571625"/>
          </a:xfrm>
          <a:custGeom>
            <a:pathLst>
              <a:path w="393" h="16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4"/>
                </a:lnTo>
                <a:cubicBezTo>
                  <a:pt x="2" y="164"/>
                  <a:pt x="2" y="165"/>
                  <a:pt x="3" y="165"/>
                </a:cubicBezTo>
                <a:cubicBezTo>
                  <a:pt x="1" y="165"/>
                  <a:pt x="0" y="164"/>
                  <a:pt x="0" y="16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915275" y="1847850"/>
            <a:ext cx="161925" cy="161925"/>
          </a:xfrm>
          <a:prstGeom prst="rect">
            <a:avLst/>
          </a:prstGeom>
          <a:ln/>
        </p:spPr>
      </p:pic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191500" y="16668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⑤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353425" y="16668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控制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191500" y="19431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四个终止条件：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Answer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最大轮数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超时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token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预算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7781925" y="2809875"/>
            <a:ext cx="3743325" cy="1581150"/>
          </a:xfrm>
          <a:prstGeom prst="roundRect">
            <a:avLst>
              <a:gd name="adj" fmla="val 1807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7781925" y="2809875"/>
            <a:ext cx="3743325" cy="1581150"/>
          </a:xfrm>
          <a:custGeom>
            <a:pathLst>
              <a:path w="393" h="166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5"/>
                </a:lnTo>
                <a:cubicBezTo>
                  <a:pt x="2" y="165"/>
                  <a:pt x="2" y="166"/>
                  <a:pt x="3" y="166"/>
                </a:cubicBezTo>
                <a:cubicBezTo>
                  <a:pt x="1" y="166"/>
                  <a:pt x="0" y="165"/>
                  <a:pt x="0" y="16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915275" y="3524250"/>
            <a:ext cx="161925" cy="161925"/>
          </a:xfrm>
          <a:prstGeom prst="rect">
            <a:avLst/>
          </a:prstGeom>
          <a:ln/>
        </p:spPr>
      </p:pic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191500" y="33432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⑥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353425" y="33432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护栏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191500" y="36195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输入审查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输出脱敏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高危操作二次确认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7781925" y="4486275"/>
            <a:ext cx="3743325" cy="1571625"/>
          </a:xfrm>
          <a:prstGeom prst="roundRect">
            <a:avLst>
              <a:gd name="adj" fmla="val 181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7781925" y="4486275"/>
            <a:ext cx="3743325" cy="1571625"/>
          </a:xfrm>
          <a:custGeom>
            <a:pathLst>
              <a:path w="393" h="16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4"/>
                </a:lnTo>
                <a:cubicBezTo>
                  <a:pt x="2" y="164"/>
                  <a:pt x="2" y="165"/>
                  <a:pt x="3" y="165"/>
                </a:cubicBezTo>
                <a:cubicBezTo>
                  <a:pt x="1" y="165"/>
                  <a:pt x="0" y="164"/>
                  <a:pt x="0" y="16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7915275" y="5191125"/>
            <a:ext cx="161925" cy="161925"/>
          </a:xfrm>
          <a:prstGeom prst="rect">
            <a:avLst/>
          </a:prstGeom>
          <a:ln/>
        </p:spPr>
      </p:pic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191500" y="50101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353425" y="50101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运营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191500" y="5286375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全链路日志与耗时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token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成本统计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离线评测集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17 / 46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428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十条设计原则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前三条定生死，后七条定维护成本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TEN PRINCIPLES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076950" y="11525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违背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线上事故的常见来源</a:t>
            </a:r>
            <a:endParaRPr/>
          </a:p>
        </p:txBody>
      </p:sp>
      <p:graphicFrame>
        <p:nvGraphicFramePr>
          <p:cNvPr id="369" name=""/>
          <p:cNvGraphicFramePr/>
          <p:nvPr/>
        </p:nvGraphicFramePr>
        <p:xfrm rot="0" flipH="0" flipV="0">
          <a:off x="685800" y="1428750"/>
          <a:ext cx="6991350" cy="4629150"/>
        </p:xfrm>
        <a:graphic>
          <a:graphicData uri="http://schemas.openxmlformats.org/drawingml/2006/table">
            <a:tbl>
              <a:tblGrid>
                <a:gridCol w="273751">
                  <a:extLst>
                    <a:ext uri="{9D8B030D-6E8A-4147-A177-3AD203B41FA5}">
                      <a16:colId val="1"/>
                    </a:ext>
                  </a:extLst>
                </a:gridCol>
                <a:gridCol w="1984696">
                  <a:extLst>
                    <a:ext uri="{9D8B030D-6E8A-4147-A177-3AD203B41FA5}">
                      <a16:colId val="2"/>
                    </a:ext>
                  </a:extLst>
                </a:gridCol>
                <a:gridCol w="473290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能用固定流程就不上自主循环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步骤确定就写死 workflow；要「见机行事」才把自主权交给模型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控制流在代码，判断在模型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分支 / 循环 / 重试用代码写死，模型只决定「调哪个工具、传什么参数」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模型输出 = 不可信输入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解析前一律校验格式、类型、范围——幻觉出的参数不该直接进工具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工具小而专，描述大于实现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一个工具干一件事，description 当 API 文档写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确定性优先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temperature = 0，尽量走结构化输出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失败要回喂，不要吞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错误信息拼回上下文，让模型下一轮自救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高风险必过人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删除 / 支付 / 对外发消息，执行前必须人工确认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可观测先行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先加日志，再调 prompt——出了问题不能全靠猜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token 是钱，上下文是预算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及时摘要压缩，工具返回要精简——膨胀的大头是工具返回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从最简单的开始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单 Agent + 2 个工具 + 一个循环，按需再加复杂度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</a:tbl>
          </a:graphicData>
        </a:graphic>
      </p:graphicFrame>
      <p:sp>
        <p:nvSpPr>
          <p:cNvPr id="370" name=""/>
          <p:cNvSpPr/>
          <p:nvPr/>
        </p:nvSpPr>
        <p:spPr>
          <a:xfrm rot="0" flipH="0" flipV="0">
            <a:off x="7905750" y="1143000"/>
            <a:ext cx="3609975" cy="4914900"/>
          </a:xfrm>
          <a:custGeom>
            <a:pathLst>
              <a:path w="379" h="516">
                <a:moveTo>
                  <a:pt x="0" y="0"/>
                </a:moveTo>
                <a:lnTo>
                  <a:pt x="1" y="0"/>
                </a:lnTo>
                <a:lnTo>
                  <a:pt x="1" y="516"/>
                </a:lnTo>
                <a:lnTo>
                  <a:pt x="0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143875" y="1143000"/>
            <a:ext cx="3362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TWO TIERS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8143875" y="1466850"/>
            <a:ext cx="3362325" cy="1504950"/>
          </a:xfrm>
          <a:prstGeom prst="roundRect">
            <a:avLst>
              <a:gd name="adj" fmla="val 2532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315325" y="163830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639175" y="1638300"/>
            <a:ext cx="1038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条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架构级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315325" y="2209800"/>
            <a:ext cx="30194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第</a:t>
            </a:r>
            <a:r>
              <a:rPr lang="en-US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1~3 </a:t>
            </a: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条决定项目</a:t>
            </a:r>
            <a:r>
              <a:rPr lang="zh-CN" sz="1125" b="1">
                <a:solidFill>
                  <a:srgbClr val="2AD4EE"/>
                </a:solidFill>
                <a:latin typeface="Source Han Sans SC"/>
                <a:ea typeface="Source Han Sans SC"/>
              </a:rPr>
              <a:t>成败</a:t>
            </a: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。选错了，后面写得多漂亮都是在给错误的路铺砖。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8143875" y="3105150"/>
            <a:ext cx="3362325" cy="1790700"/>
          </a:xfrm>
          <a:prstGeom prst="roundRect">
            <a:avLst>
              <a:gd name="adj" fmla="val 2128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8315325" y="327660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8639175" y="3276600"/>
            <a:ext cx="1419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条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工程习惯级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315325" y="3848100"/>
            <a:ext cx="30194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第</a:t>
            </a:r>
            <a:r>
              <a:rPr lang="en-US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4~10 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条决定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维护成本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。单条不致命，累积起来就是「能跑的</a:t>
            </a:r>
            <a:r>
              <a:rPr lang="en-US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demo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」和「敢用的系统」的差距。</a:t>
            </a:r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8172450" y="5419725"/>
            <a:ext cx="3362325" cy="638175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8143875" y="5419725"/>
            <a:ext cx="3390900" cy="638175"/>
          </a:xfrm>
          <a:custGeom>
            <a:pathLst>
              <a:path w="356" h="67">
                <a:moveTo>
                  <a:pt x="0" y="0"/>
                </a:moveTo>
                <a:lnTo>
                  <a:pt x="3" y="0"/>
                </a:lnTo>
                <a:lnTo>
                  <a:pt x="3" y="67"/>
                </a:lnTo>
                <a:lnTo>
                  <a:pt x="0" y="67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343900" y="5572125"/>
            <a:ext cx="29908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架构级靠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判断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，习惯级靠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复盘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18 / 46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400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避坑清单与上线自查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左边是写之前要记住的，右边是发之前要打勾的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CHECKLIST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两份清单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十四条勾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764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左边的七条几乎不花成本，但能省下大量排查时间；右边的七条是「敢给别人用」的最低门槛。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85800" y="4562475"/>
            <a:ext cx="2276475" cy="1495425"/>
          </a:xfrm>
          <a:prstGeom prst="roundRect">
            <a:avLst>
              <a:gd name="adj" fmla="val 254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838200" y="471487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838200" y="4972050"/>
            <a:ext cx="19716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全部打勾，才算从「能跑的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demo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」变成「敢给别人用的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」。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3562350" y="1152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AD4EE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3629025" y="11906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3867150" y="1143000"/>
            <a:ext cx="1352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开发避坑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七条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3562350" y="143827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BEFORE YOU BUILD</a:t>
            </a:r>
            <a:endParaRPr/>
          </a:p>
        </p:txBody>
      </p:sp>
      <p:pic>
        <p:nvPicPr>
          <p:cNvPr id="4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1733550"/>
            <a:ext cx="152400" cy="152400"/>
          </a:xfrm>
          <a:prstGeom prst="rect">
            <a:avLst/>
          </a:prstGeom>
          <a:ln/>
        </p:spPr>
      </p:pic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3819525" y="1704975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不要一开始就上框架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先手写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ReAct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，否则出问题完全不会排查</a:t>
            </a:r>
            <a:endParaRPr/>
          </a:p>
        </p:txBody>
      </p:sp>
      <p:pic>
        <p:nvPicPr>
          <p:cNvPr id="4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2552700"/>
            <a:ext cx="152400" cy="152400"/>
          </a:xfrm>
          <a:prstGeom prst="rect">
            <a:avLst/>
          </a:prstGeom>
          <a:ln/>
        </p:spPr>
      </p:pic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3819525" y="2524125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工具描述写清楚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模型选错工具，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是因为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description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写得烂</a:t>
            </a:r>
            <a:endParaRPr/>
          </a:p>
        </p:txBody>
      </p:sp>
      <p:pic>
        <p:nvPicPr>
          <p:cNvPr id="4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3362325"/>
            <a:ext cx="152400" cy="152400"/>
          </a:xfrm>
          <a:prstGeom prst="rect">
            <a:avLst/>
          </a:prstGeom>
          <a:ln/>
        </p:spPr>
      </p:pic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3819525" y="333375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循环要有终止条件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最大轮数兜底，防止死循环烧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token</a:t>
            </a:r>
            <a:endParaRPr/>
          </a:p>
        </p:txBody>
      </p:sp>
      <p:pic>
        <p:nvPicPr>
          <p:cNvPr id="4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4181475"/>
            <a:ext cx="152400" cy="152400"/>
          </a:xfrm>
          <a:prstGeom prst="rect">
            <a:avLst/>
          </a:prstGeom>
          <a:ln/>
        </p:spPr>
      </p:pic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3819525" y="41529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temperature 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设</a:t>
            </a:r>
            <a:r>
              <a:rPr lang="en-US" sz="11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0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工具调用与结构化输出都要确定性</a:t>
            </a:r>
            <a:endParaRPr/>
          </a:p>
        </p:txBody>
      </p:sp>
      <p:pic>
        <p:nvPicPr>
          <p:cNvPr id="4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4724400"/>
            <a:ext cx="152400" cy="152400"/>
          </a:xfrm>
          <a:prstGeom prst="rect">
            <a:avLst/>
          </a:prstGeom>
          <a:ln/>
        </p:spPr>
      </p:pic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3819525" y="469582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幻觉应对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强制模型基于工具返回的真实数据作答</a:t>
            </a:r>
            <a:endParaRPr/>
          </a:p>
        </p:txBody>
      </p:sp>
      <p:pic>
        <p:nvPicPr>
          <p:cNvPr id="4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5276850"/>
            <a:ext cx="152400" cy="152400"/>
          </a:xfrm>
          <a:prstGeom prst="rect">
            <a:avLst/>
          </a:prstGeom>
          <a:ln/>
        </p:spPr>
      </p:pic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3819525" y="52482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上下文膨胀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多轮工具调用后及时摘要压缩</a:t>
            </a:r>
            <a:endParaRPr/>
          </a:p>
        </p:txBody>
      </p:sp>
      <p:pic>
        <p:nvPicPr>
          <p:cNvPr id="4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5819775"/>
            <a:ext cx="152400" cy="152400"/>
          </a:xfrm>
          <a:prstGeom prst="rect">
            <a:avLst/>
          </a:prstGeom>
          <a:ln/>
        </p:spPr>
      </p:pic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3819525" y="57912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危险操作加确认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执行前让用户点一下，或加白名单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7677150" y="1152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AD4EE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743825" y="11906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981950" y="1143000"/>
            <a:ext cx="1352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上线自查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七条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677150" y="143827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BEFORE YOU SHIP</a:t>
            </a:r>
            <a:endParaRPr/>
          </a:p>
        </p:txBody>
      </p:sp>
      <p:pic>
        <p:nvPicPr>
          <p:cNvPr id="4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1733550"/>
            <a:ext cx="152400" cy="152400"/>
          </a:xfrm>
          <a:prstGeom prst="rect">
            <a:avLst/>
          </a:prstGeom>
          <a:ln/>
        </p:spPr>
      </p:pic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7934325" y="17049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有兜底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最大轮数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token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上限，防死循环烧钱</a:t>
            </a:r>
            <a:endParaRPr/>
          </a:p>
        </p:txBody>
      </p:sp>
      <p:pic>
        <p:nvPicPr>
          <p:cNvPr id="4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2324100"/>
            <a:ext cx="152400" cy="152400"/>
          </a:xfrm>
          <a:prstGeom prst="rect">
            <a:avLst/>
          </a:prstGeom>
          <a:ln/>
        </p:spPr>
      </p:pic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7934325" y="229552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不崩程序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工具报错被回喂给模型，而不是抛出异常</a:t>
            </a:r>
            <a:endParaRPr/>
          </a:p>
        </p:txBody>
      </p:sp>
      <p:pic>
        <p:nvPicPr>
          <p:cNvPr id="4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2914650"/>
            <a:ext cx="152400" cy="152400"/>
          </a:xfrm>
          <a:prstGeom prst="rect">
            <a:avLst/>
          </a:prstGeom>
          <a:ln/>
        </p:spPr>
      </p:pic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7934325" y="28860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先校验再执行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模型输出的格式、类型、范围都验一遍</a:t>
            </a:r>
            <a:endParaRPr/>
          </a:p>
        </p:txBody>
      </p:sp>
      <p:pic>
        <p:nvPicPr>
          <p:cNvPr id="4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3514725"/>
            <a:ext cx="152400" cy="152400"/>
          </a:xfrm>
          <a:prstGeom prst="rect">
            <a:avLst/>
          </a:prstGeom>
          <a:ln/>
        </p:spPr>
      </p:pic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934325" y="348615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人工确认位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删除、支付、对外发消息必须过人</a:t>
            </a:r>
            <a:endParaRPr/>
          </a:p>
        </p:txBody>
      </p:sp>
      <p:pic>
        <p:nvPicPr>
          <p:cNvPr id="4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4105275"/>
            <a:ext cx="152400" cy="152400"/>
          </a:xfrm>
          <a:prstGeom prst="rect">
            <a:avLst/>
          </a:prstGeom>
          <a:ln/>
        </p:spPr>
      </p:pic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7934325" y="40767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日志可回放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每轮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Thought / Action / Observation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落盘</a:t>
            </a:r>
            <a:endParaRPr/>
          </a:p>
        </p:txBody>
      </p:sp>
      <p:pic>
        <p:nvPicPr>
          <p:cNvPr id="4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4695825"/>
            <a:ext cx="152400" cy="152400"/>
          </a:xfrm>
          <a:prstGeom prst="rect">
            <a:avLst/>
          </a:prstGeom>
          <a:ln/>
        </p:spPr>
      </p:pic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934325" y="466725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密钥与提示词归位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key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不在代码里，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不散落在业务代码</a:t>
            </a:r>
            <a:endParaRPr/>
          </a:p>
        </p:txBody>
      </p:sp>
      <p:pic>
        <p:nvPicPr>
          <p:cNvPr id="4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5553075"/>
            <a:ext cx="152400" cy="152400"/>
          </a:xfrm>
          <a:prstGeom prst="rect">
            <a:avLst/>
          </a:prstGeom>
          <a:ln/>
        </p:spPr>
      </p:pic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7934325" y="552450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回归测试集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有固定问题集，改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 /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换模型后能回归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19 / 46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9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93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03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Pi Agent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一个极简范式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自主智能体本质就是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LLM +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循环；</a:t>
            </a:r>
            <a:endParaRPr/>
          </a:p>
          <a:p>
            <a:pPr>
              <a:lnSpc>
                <a:spcPct val="175000"/>
              </a:lnSpc>
            </a:pP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把这条公式工程化到了极致。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「极简」具体体现在哪几个数字上？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四层架构为什么要严格单向依赖？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想改一处能力，该走哪条定制路线？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20 – 38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三个反常识设计与极简的数字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分层架构与一次调用的数据流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943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九个设计点与三层定制能力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 / 46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914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是什么：三个反常识设计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91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它把「不做什么」写成了设计原则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85800" y="1143000"/>
            <a:ext cx="6096000" cy="4914900"/>
          </a:xfrm>
          <a:custGeom>
            <a:pathLst>
              <a:path w="640" h="516">
                <a:moveTo>
                  <a:pt x="639" y="0"/>
                </a:moveTo>
                <a:lnTo>
                  <a:pt x="640" y="0"/>
                </a:lnTo>
                <a:lnTo>
                  <a:pt x="640" y="516"/>
                </a:lnTo>
                <a:lnTo>
                  <a:pt x="639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577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COUNTER-INTUITIVE BY DESIGN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685800" y="158115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95450"/>
            <a:ext cx="190500" cy="190500"/>
          </a:xfrm>
          <a:prstGeom prst="rect">
            <a:avLst/>
          </a:prstGeom>
          <a:ln/>
        </p:spPr>
      </p:pic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276350" y="158115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1533525" y="158115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刻意「不内置」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1276350" y="1933575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不内置</a:t>
            </a:r>
            <a:r>
              <a:rPr lang="en-US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MCP</a:t>
            </a: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、子智能体、计划模式、任务清单、权限弹窗。核心只保留最必要的部分，多余能力全部外置成扩展——需要什么，自己装。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685800" y="2981325"/>
            <a:ext cx="5772150" cy="1543050"/>
          </a:xfrm>
          <a:custGeom>
            <a:pathLst>
              <a:path w="606" h="162">
                <a:moveTo>
                  <a:pt x="0" y="0"/>
                </a:moveTo>
                <a:lnTo>
                  <a:pt x="606" y="0"/>
                </a:lnTo>
                <a:lnTo>
                  <a:pt x="60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685800" y="312420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0100" y="3238500"/>
            <a:ext cx="190500" cy="190500"/>
          </a:xfrm>
          <a:prstGeom prst="rect">
            <a:avLst/>
          </a:prstGeom>
          <a:ln/>
        </p:spPr>
      </p:pic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1276350" y="312420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1533525" y="31242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没有沙箱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276350" y="3476625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以启动用户的完整权限运行。这既是它「真能干完活」的原因，也意味着生产环境必须自己做容器化隔离，或用扩展钩子自建拦截。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85800" y="4514850"/>
            <a:ext cx="5772150" cy="1552575"/>
          </a:xfrm>
          <a:custGeom>
            <a:pathLst>
              <a:path w="606" h="163">
                <a:moveTo>
                  <a:pt x="0" y="0"/>
                </a:moveTo>
                <a:lnTo>
                  <a:pt x="606" y="0"/>
                </a:lnTo>
                <a:lnTo>
                  <a:pt x="60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85800" y="465772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00100" y="4772025"/>
            <a:ext cx="190500" cy="190500"/>
          </a:xfrm>
          <a:prstGeom prst="rect">
            <a:avLst/>
          </a:prstGeom>
          <a:ln/>
        </p:spPr>
      </p:pic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1276350" y="4657725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533525" y="4657725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不给「计划模式」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276350" y="5010150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怎么拆步骤、先做哪一步，交给模型自己判断。框架不预设流程，也就不会用错误的流程绑住模型的手脚。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7096125" y="1143000"/>
            <a:ext cx="4410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WHAT IT IS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7096125" y="1447800"/>
            <a:ext cx="4410075" cy="1581150"/>
          </a:xfrm>
          <a:prstGeom prst="roundRect">
            <a:avLst>
              <a:gd name="adj" fmla="val 241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7267575" y="1619250"/>
            <a:ext cx="406717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minimal terminal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coding harness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7267575" y="2247900"/>
            <a:ext cx="40671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不是聊天机器人，也不是</a:t>
            </a:r>
            <a:r>
              <a:rPr lang="en-US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IDE </a:t>
            </a:r>
            <a:r>
              <a:rPr lang="zh-CN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插件，而是把模型、工具、上下文、会话与扩展串起来的终端执行框架。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7096125" y="31623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7096125" y="32670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协议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7858125" y="32194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MIT ·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完全开源，可商用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7096125" y="36195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096125" y="37242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运行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858125" y="36766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完全本地，模型调用走自己的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Key /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订阅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7096125" y="40767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7096125" y="41814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默认工具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7858125" y="41338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>read · write · edit · bash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，只有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个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7096125" y="45339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7096125" y="46386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模型接入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7858125" y="45910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内置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30+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家，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/model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一键切换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7096125" y="5153025"/>
            <a:ext cx="4410075" cy="904875"/>
          </a:xfrm>
          <a:prstGeom prst="roundRect">
            <a:avLst>
              <a:gd name="adj" fmla="val 421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7267575" y="530542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7267575" y="5572125"/>
            <a:ext cx="406717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这不是功能少，而是把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指导权还给了模型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21 / 46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极简的代价与回报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三个数字，说明它凭什么又快又便宜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85800" y="1143000"/>
            <a:ext cx="10820400" cy="2733675"/>
          </a:xfrm>
          <a:custGeom>
            <a:pathLst>
              <a:path w="1136" h="287">
                <a:moveTo>
                  <a:pt x="0" y="286"/>
                </a:moveTo>
                <a:lnTo>
                  <a:pt x="1136" y="286"/>
                </a:lnTo>
                <a:lnTo>
                  <a:pt x="1136" y="287"/>
                </a:lnTo>
                <a:lnTo>
                  <a:pt x="0" y="287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685800" y="1143000"/>
            <a:ext cx="4333875" cy="2114550"/>
          </a:xfrm>
          <a:custGeom>
            <a:pathLst>
              <a:path w="455" h="222">
                <a:moveTo>
                  <a:pt x="454" y="0"/>
                </a:moveTo>
                <a:lnTo>
                  <a:pt x="455" y="0"/>
                </a:lnTo>
                <a:lnTo>
                  <a:pt x="455" y="222"/>
                </a:lnTo>
                <a:lnTo>
                  <a:pt x="454" y="222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19325" cy="1390650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9900" b="1">
                <a:solidFill>
                  <a:srgbClr val="2AD4EE"/>
                </a:solidFill>
                <a:latin typeface="JetBrains Mono"/>
                <a:ea typeface="JetBrains Mono"/>
              </a:rPr>
              <a:t>418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2981325" y="2162175"/>
            <a:ext cx="228600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行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3990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核心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循环的代码量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685800" y="2971800"/>
            <a:ext cx="399097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同类工具的核心实现通常是数千行</a:t>
            </a: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TypeScript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5010150" y="1143000"/>
            <a:ext cx="3257550" cy="2400300"/>
          </a:xfrm>
          <a:custGeom>
            <a:pathLst>
              <a:path w="342" h="252">
                <a:moveTo>
                  <a:pt x="341" y="0"/>
                </a:moveTo>
                <a:lnTo>
                  <a:pt x="342" y="0"/>
                </a:lnTo>
                <a:lnTo>
                  <a:pt x="342" y="252"/>
                </a:lnTo>
                <a:lnTo>
                  <a:pt x="341" y="252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5334000" y="1438275"/>
            <a:ext cx="581025" cy="1095375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7800" b="1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5991225" y="2162175"/>
            <a:ext cx="228600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个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5334000" y="26670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默认工具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5334000" y="2971800"/>
            <a:ext cx="2590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read · write · edit · bash</a:t>
            </a: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，够完成绝大多数编码任务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582025" y="1647825"/>
            <a:ext cx="1409700" cy="885825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6300" b="1">
                <a:solidFill>
                  <a:srgbClr val="2AD4EE"/>
                </a:solidFill>
                <a:latin typeface="JetBrains Mono"/>
                <a:ea typeface="JetBrains Mono"/>
              </a:rPr>
              <a:t>1/3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0067925" y="2162175"/>
            <a:ext cx="142875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×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8582025" y="2667000"/>
            <a:ext cx="2600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每轮发送的上下文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8582025" y="2971800"/>
            <a:ext cx="26003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Databricks </a:t>
            </a: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基准测试的实测结果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685800" y="4038600"/>
            <a:ext cx="5295900" cy="1257300"/>
          </a:xfrm>
          <a:prstGeom prst="roundRect">
            <a:avLst>
              <a:gd name="adj" fmla="val 303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876300" y="4438650"/>
            <a:ext cx="1123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&lt;1000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2171700" y="4362450"/>
            <a:ext cx="3619500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系统提示的</a:t>
            </a:r>
            <a:r>
              <a:rPr lang="en-US" sz="1163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token </a:t>
            </a: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数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别家动辄数千。省掉的每一行，都会在每一轮里重复付费。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210300" y="4038600"/>
            <a:ext cx="5295900" cy="1257300"/>
          </a:xfrm>
          <a:prstGeom prst="roundRect">
            <a:avLst>
              <a:gd name="adj" fmla="val 303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400800" y="443865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6800850" y="4362450"/>
            <a:ext cx="4514850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内置的编排与审批机制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不塞进内核，能力全部外置成扩展——按需注入。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省下来的上下文，就是省下来的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钱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和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准确率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22 / 46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5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829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分层架构：严格单向的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monorepo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829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下层不知道上层，每一层都能单独拿出来用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ARCHITECTURE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四层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单向依赖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764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内核里没有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CLI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、没有扩展、没有文件系统。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「组装」这件事，被完整地留在了最上面一层。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685800" y="37719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28675" y="370522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每层可独立发布，单独装也合法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85800" y="41148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28675" y="3962400"/>
            <a:ext cx="21336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可替换：换掉</a:t>
            </a:r>
            <a:r>
              <a:rPr lang="en-US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pi-tui</a:t>
            </a: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，内核一行不改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685800" y="4591050"/>
            <a:ext cx="2276475" cy="1466850"/>
          </a:xfrm>
          <a:prstGeom prst="roundRect">
            <a:avLst>
              <a:gd name="adj" fmla="val 259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838200" y="4743450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838200" y="5000625"/>
            <a:ext cx="197167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做编码类产品，直接用</a:t>
            </a:r>
            <a:r>
              <a:rPr lang="en-US" sz="1163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coding-agent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；只要裸内核，用</a:t>
            </a:r>
            <a:r>
              <a:rPr lang="en-US" sz="1163">
                <a:solidFill>
                  <a:srgbClr val="2AD4EE"/>
                </a:solidFill>
                <a:latin typeface="Source Han Sans SC"/>
                <a:ea typeface="Source Han Sans SC"/>
              </a:rPr>
              <a:t>agent-core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3562350" y="1143000"/>
            <a:ext cx="3438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PACKAGE DEPENDENCY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箭头</a:t>
            </a: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 =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依赖方向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9772650" y="1152525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上层可以依赖下层，反之不成立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3571875" y="1428750"/>
            <a:ext cx="7943850" cy="876300"/>
          </a:xfrm>
          <a:prstGeom prst="roundRect">
            <a:avLst>
              <a:gd name="adj" fmla="val 3261"/>
            </a:avLst>
          </a:prstGeom>
          <a:solidFill>
            <a:srgbClr val="16233D">
              <a:alpha val="8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3571875" y="1428750"/>
            <a:ext cx="7943850" cy="876300"/>
          </a:xfrm>
          <a:custGeom>
            <a:pathLst>
              <a:path w="834" h="92">
                <a:moveTo>
                  <a:pt x="3" y="0"/>
                </a:moveTo>
                <a:cubicBezTo>
                  <a:pt x="2" y="0"/>
                  <a:pt x="1" y="1"/>
                  <a:pt x="1" y="2"/>
                </a:cubicBezTo>
                <a:lnTo>
                  <a:pt x="1" y="90"/>
                </a:lnTo>
                <a:cubicBezTo>
                  <a:pt x="1" y="91"/>
                  <a:pt x="2" y="92"/>
                  <a:pt x="3" y="92"/>
                </a:cubicBezTo>
                <a:cubicBezTo>
                  <a:pt x="1" y="92"/>
                  <a:pt x="0" y="90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E8EEF9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3743325" y="177165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UI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4238625" y="1609725"/>
            <a:ext cx="676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pi-tui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5029200" y="1609725"/>
            <a:ext cx="102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终端差分渲染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UI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4238625" y="1895475"/>
            <a:ext cx="70961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独立包，不直接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内核；换成自己的前端同样成立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3943350" y="2333625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3590925" y="2514600"/>
            <a:ext cx="7943850" cy="866775"/>
          </a:xfrm>
          <a:prstGeom prst="roundRect">
            <a:avLst>
              <a:gd name="adj" fmla="val 3297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3590925" y="2514600"/>
            <a:ext cx="7943850" cy="866775"/>
          </a:xfrm>
          <a:custGeom>
            <a:pathLst>
              <a:path w="834" h="91">
                <a:moveTo>
                  <a:pt x="3" y="91"/>
                </a:moveTo>
                <a:cubicBezTo>
                  <a:pt x="1" y="91"/>
                  <a:pt x="0" y="90"/>
                  <a:pt x="0" y="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1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3762375" y="285750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L3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4257675" y="268605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pi-coding-agent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048375" y="2686050"/>
            <a:ext cx="1933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产品运行时组装层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SDK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入口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4257675" y="2971800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组装内核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内置编码工具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会话持久化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扩展扫描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多运行模式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3943350" y="340995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3590925" y="3590925"/>
            <a:ext cx="7943850" cy="876300"/>
          </a:xfrm>
          <a:prstGeom prst="roundRect">
            <a:avLst>
              <a:gd name="adj" fmla="val 3261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3590925" y="3590925"/>
            <a:ext cx="7943850" cy="876300"/>
          </a:xfrm>
          <a:custGeom>
            <a:pathLst>
              <a:path w="834" h="92">
                <a:moveTo>
                  <a:pt x="3" y="92"/>
                </a:moveTo>
                <a:cubicBezTo>
                  <a:pt x="1" y="92"/>
                  <a:pt x="0" y="91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2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3762375" y="3933825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L2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4257675" y="3771900"/>
            <a:ext cx="1457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pi-agent-core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5829300" y="3771900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纯内核层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4257675" y="4057650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Agent Loop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工具抽象与调度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事件总线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终止与最大轮次控制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3943350" y="4495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3590925" y="4676775"/>
            <a:ext cx="7943850" cy="866775"/>
          </a:xfrm>
          <a:prstGeom prst="roundRect">
            <a:avLst>
              <a:gd name="adj" fmla="val 3297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3590925" y="4676775"/>
            <a:ext cx="7943850" cy="866775"/>
          </a:xfrm>
          <a:custGeom>
            <a:pathLst>
              <a:path w="834" h="91">
                <a:moveTo>
                  <a:pt x="3" y="91"/>
                </a:moveTo>
                <a:cubicBezTo>
                  <a:pt x="1" y="91"/>
                  <a:pt x="0" y="90"/>
                  <a:pt x="0" y="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1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3762375" y="5019675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L1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4257675" y="4848225"/>
            <a:ext cx="561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pi-ai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4933950" y="484822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Unified LLM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统一模型接入层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4257675" y="5133975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多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Provider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适配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流式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chunk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归一化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schema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凭证管理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3590925" y="5638800"/>
            <a:ext cx="7943850" cy="41910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0" name=""/>
          <p:cNvSpPr/>
          <p:nvPr/>
        </p:nvSpPr>
        <p:spPr>
          <a:xfrm rot="0" flipH="0" flipV="0">
            <a:off x="3562350" y="5638800"/>
            <a:ext cx="7972425" cy="419100"/>
          </a:xfrm>
          <a:custGeom>
            <a:pathLst>
              <a:path w="837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3743325" y="577215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OPTIONAL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4486275" y="5762625"/>
            <a:ext cx="5972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另有可选的</a:t>
            </a:r>
            <a:r>
              <a:rPr lang="en-US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CBOR </a:t>
            </a: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远程会话栈：</a:t>
            </a:r>
            <a:r>
              <a:rPr lang="en-US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pi-protocol · pi-client · pi-server</a:t>
            </a: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，独立叠加，不影响核心四层。</a:t>
            </a:r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23 / 46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6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7242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一次调用的完整数据流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从一句话输入，到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agent_end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，中间到底发生了什么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REQUEST LIFECYCLE · </a:t>
            </a: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事件回流贯穿全程</a:t>
            </a:r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85800" y="1762125"/>
            <a:ext cx="1352550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800100" y="18954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800100" y="212407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800100" y="2438400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自然语言需求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2038350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2228850" y="1762125"/>
            <a:ext cx="1362075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2343150" y="1895475"/>
            <a:ext cx="1133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2343150" y="2124075"/>
            <a:ext cx="11334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>AgentSession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2343150" y="243840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.prompt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入队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359092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3781425" y="1666875"/>
            <a:ext cx="1352550" cy="1247775"/>
          </a:xfrm>
          <a:prstGeom prst="roundRect">
            <a:avLst>
              <a:gd name="adj" fmla="val 2290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3781425" y="1666875"/>
            <a:ext cx="1352550" cy="1247775"/>
          </a:xfrm>
          <a:custGeom>
            <a:pathLst>
              <a:path w="142" h="131">
                <a:moveTo>
                  <a:pt x="139" y="0"/>
                </a:moveTo>
                <a:cubicBezTo>
                  <a:pt x="141" y="0"/>
                  <a:pt x="142" y="1"/>
                  <a:pt x="142" y="3"/>
                </a:cubicBezTo>
                <a:cubicBezTo>
                  <a:pt x="142" y="2"/>
                  <a:pt x="141" y="2"/>
                  <a:pt x="141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139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3895725" y="18002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3895725" y="202882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双层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while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3895725" y="2343150"/>
            <a:ext cx="11239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内层工具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外层续跑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513397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5324475" y="1771650"/>
            <a:ext cx="1352550" cy="1038225"/>
          </a:xfrm>
          <a:prstGeom prst="roundRect">
            <a:avLst>
              <a:gd name="adj" fmla="val 2752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5324475" y="1771650"/>
            <a:ext cx="1352550" cy="1038225"/>
          </a:xfrm>
          <a:custGeom>
            <a:pathLst>
              <a:path w="142" h="109">
                <a:moveTo>
                  <a:pt x="139" y="0"/>
                </a:moveTo>
                <a:cubicBezTo>
                  <a:pt x="141" y="0"/>
                  <a:pt x="142" y="1"/>
                  <a:pt x="142" y="3"/>
                </a:cubicBezTo>
                <a:cubicBezTo>
                  <a:pt x="142" y="2"/>
                  <a:pt x="141" y="2"/>
                  <a:pt x="141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139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5438775" y="1905000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5438775" y="2133600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上下文转换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5438775" y="2447925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transformContext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667702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73" name=""/>
          <p:cNvSpPr/>
          <p:nvPr/>
        </p:nvSpPr>
        <p:spPr>
          <a:xfrm rot="0" flipH="0" flipV="0">
            <a:off x="6867525" y="1762125"/>
            <a:ext cx="1352550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6981825" y="18954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981825" y="212407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流式请求</a:t>
            </a:r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6981825" y="2438400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streamSimple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22007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8410575" y="1762125"/>
            <a:ext cx="1362075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8524875" y="1895475"/>
            <a:ext cx="1133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06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8524875" y="2124075"/>
            <a:ext cx="11334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事件回流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524875" y="243840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事件总线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 → UI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9772650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9963150" y="1762125"/>
            <a:ext cx="1543050" cy="1019175"/>
          </a:xfrm>
          <a:prstGeom prst="roundRect">
            <a:avLst>
              <a:gd name="adj" fmla="val 2804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10077450" y="1895475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07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10077450" y="2124075"/>
            <a:ext cx="13144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>agent_end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10077450" y="2438400"/>
            <a:ext cx="13144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本轮结束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685800" y="3257550"/>
            <a:ext cx="10820400" cy="1428750"/>
          </a:xfrm>
          <a:prstGeom prst="roundRect">
            <a:avLst>
              <a:gd name="adj" fmla="val 2667"/>
            </a:avLst>
          </a:prstGeom>
          <a:solidFill>
            <a:srgbClr val="2AD4EE">
              <a:alpha val="5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857250" y="3390900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步骤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③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展开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工具管线的四个阶段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610600" y="3390900"/>
            <a:ext cx="2724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所有「每次工具调用都要做的事」都被收进这一层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88582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88582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101917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Prepare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01917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参数校验</a:t>
            </a: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beforeToolCall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拦截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101917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工具还没跑，先验一遍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353377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353377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366712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Execute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366712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execute() + onUpdate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进度回调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366712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真正干活的一步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618172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18172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631507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Finalize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31507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afterToolCall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改写</a:t>
            </a: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脱敏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31507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结果进上下文前先过一道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882967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882967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96302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截断保护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896302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超长结果裁剪后回喂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896302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别让一条返回撑爆窗口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685800" y="4838700"/>
            <a:ext cx="6162675" cy="1219200"/>
          </a:xfrm>
          <a:prstGeom prst="roundRect">
            <a:avLst>
              <a:gd name="adj" fmla="val 3125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876300" y="5010150"/>
            <a:ext cx="5781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WHY TWO LOOPS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876300" y="5276850"/>
            <a:ext cx="57816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内层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在一轮里反复「模型</a:t>
            </a:r>
            <a:r>
              <a:rPr lang="en-US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结果」，直到模型不再要工具；</a:t>
            </a: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外层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负责续跑——用户的插话与追问变成队列消息注入，而不是硬中断。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7038975" y="4838700"/>
            <a:ext cx="4467225" cy="1219200"/>
          </a:xfrm>
          <a:prstGeom prst="roundRect">
            <a:avLst>
              <a:gd name="adj" fmla="val 3125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7229475" y="5153025"/>
            <a:ext cx="4086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7229475" y="5419725"/>
            <a:ext cx="4086225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看懂了这条流，就懂了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一切扩展点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24 / 46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7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20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162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九个设计点：对应七层地图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162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九个设计点都能落回那七层——接下来十二页，逐个拆开看</a:t>
            </a:r>
            <a:endParaRPr/>
          </a:p>
        </p:txBody>
      </p:sp>
      <p:sp>
        <p:nvSpPr>
          <p:cNvPr id="723" name=""/>
          <p:cNvSpPr/>
          <p:nvPr/>
        </p:nvSpPr>
        <p:spPr>
          <a:xfrm rot="0" flipH="0" flipV="0">
            <a:off x="685800" y="1143000"/>
            <a:ext cx="2533650" cy="4914900"/>
          </a:xfrm>
          <a:custGeom>
            <a:pathLst>
              <a:path w="266" h="516">
                <a:moveTo>
                  <a:pt x="265" y="0"/>
                </a:moveTo>
                <a:lnTo>
                  <a:pt x="266" y="0"/>
                </a:lnTo>
                <a:lnTo>
                  <a:pt x="266" y="516"/>
                </a:lnTo>
                <a:lnTo>
                  <a:pt x="26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DESIGN NOTES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九个设计点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一张映射表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685800" y="2486025"/>
            <a:ext cx="22764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学完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的九个设计点，回头看七层地图，会发现它们一一对得上。</a:t>
            </a:r>
            <a:endParaRPr/>
          </a:p>
        </p:txBody>
      </p:sp>
      <p:sp>
        <p:nvSpPr>
          <p:cNvPr id="727" name=""/>
          <p:cNvSpPr/>
          <p:nvPr/>
        </p:nvSpPr>
        <p:spPr>
          <a:xfrm rot="0" flipH="0" flipV="0">
            <a:off x="685800" y="3648075"/>
            <a:ext cx="2276475" cy="914400"/>
          </a:xfrm>
          <a:prstGeom prst="roundRect">
            <a:avLst>
              <a:gd name="adj" fmla="val 4167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1323975" y="3714750"/>
            <a:ext cx="257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2AD4EE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1714500" y="38481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2076450" y="3714750"/>
            <a:ext cx="257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E8EEF9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733425" y="434340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9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个设计点</a:t>
            </a: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· 7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个功能层</a:t>
            </a: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顺序一致</a:t>
            </a:r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685800" y="4962525"/>
            <a:ext cx="2276475" cy="1095375"/>
          </a:xfrm>
          <a:prstGeom prst="roundRect">
            <a:avLst>
              <a:gd name="adj" fmla="val 347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838200" y="509587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838200" y="5334000"/>
            <a:ext cx="19716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编号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1–7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就是层号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①–⑦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。这不是巧合，是刻意的教学设计。</a:t>
            </a:r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3505200" y="1143000"/>
            <a:ext cx="8001000" cy="276225"/>
          </a:xfrm>
          <a:custGeom>
            <a:pathLst>
              <a:path w="840" h="29">
                <a:moveTo>
                  <a:pt x="0" y="28"/>
                </a:moveTo>
                <a:lnTo>
                  <a:pt x="840" y="28"/>
                </a:lnTo>
                <a:lnTo>
                  <a:pt x="84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3505200" y="1143000"/>
            <a:ext cx="2724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设计点</a:t>
            </a:r>
            <a:r>
              <a:rPr lang="en-US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解决什么问题</a:t>
            </a:r>
            <a:r>
              <a:rPr lang="en-US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对应功能层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9525000" y="1152525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每一个设计点，都解决一类具体问题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3505200" y="140970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3505200" y="15811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3790950" y="15716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模型适配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5010150" y="15811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5172075" y="154305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一套统一类型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归一化流式事件：把厂商差异挡在循环之外，换模型不改业务代码</a:t>
            </a:r>
            <a:endParaRPr/>
          </a:p>
        </p:txBody>
      </p:sp>
      <p:sp>
        <p:nvSpPr>
          <p:cNvPr id="743" name=""/>
          <p:cNvSpPr/>
          <p:nvPr/>
        </p:nvSpPr>
        <p:spPr>
          <a:xfrm rot="0" flipH="0" flipV="0">
            <a:off x="10763250" y="155257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10877550" y="15906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①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模型层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3505200" y="1924050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3505200" y="21050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3790950" y="20859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上下文工程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5010150" y="209550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5172075" y="206692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常驻最小化：系统提示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&lt;1000 token + 4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个工具，其余按需注入，放不下就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compaction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10763250" y="206692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10877550" y="21050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②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提示层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3505200" y="2447925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3505200" y="261937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3790950" y="26098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工具系统</a:t>
            </a:r>
            <a:endParaRPr/>
          </a:p>
        </p:txBody>
      </p:sp>
      <p:sp>
        <p:nvSpPr>
          <p:cNvPr id="755" name=""/>
          <p:cNvSpPr/>
          <p:nvPr/>
        </p:nvSpPr>
        <p:spPr>
          <a:xfrm rot="0" flipH="0" flipV="0">
            <a:off x="5010150" y="261937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5172075" y="258127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四阶段流水线：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Prepare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校验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Execute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执行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Finalize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改写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脱敏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截断保护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10763250" y="259080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10877550" y="26289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③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工具层</a:t>
            </a:r>
            <a:endParaRPr/>
          </a:p>
        </p:txBody>
      </p:sp>
      <p:sp>
        <p:nvSpPr>
          <p:cNvPr id="759" name=""/>
          <p:cNvSpPr/>
          <p:nvPr/>
        </p:nvSpPr>
        <p:spPr>
          <a:xfrm rot="0" flipH="0" flipV="0">
            <a:off x="3505200" y="2962275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3505200" y="31337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3790950" y="31242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会话系统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5010150" y="313372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5172075" y="309562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会话原语与持久化：历史怎么存、怎么取、怎么续跑，都是可替换的存储后端</a:t>
            </a:r>
            <a:endParaRPr/>
          </a:p>
        </p:txBody>
      </p:sp>
      <p:sp>
        <p:nvSpPr>
          <p:cNvPr id="764" name=""/>
          <p:cNvSpPr/>
          <p:nvPr/>
        </p:nvSpPr>
        <p:spPr>
          <a:xfrm rot="0" flipH="0" flipV="0">
            <a:off x="10763250" y="310515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10877550" y="314325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④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记忆层</a:t>
            </a:r>
            <a:endParaRPr/>
          </a:p>
        </p:txBody>
      </p:sp>
      <p:sp>
        <p:nvSpPr>
          <p:cNvPr id="766" name=""/>
          <p:cNvSpPr/>
          <p:nvPr/>
        </p:nvSpPr>
        <p:spPr>
          <a:xfrm rot="0" flipH="0" flipV="0">
            <a:off x="3505200" y="3476625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67" name="" descr="{&quot;isTemplate&quot;:true,&quot;type&quot;:&quot;text&quot;}"/>
          <p:cNvSpPr txBox="1"/>
          <p:nvPr/>
        </p:nvSpPr>
        <p:spPr>
          <a:xfrm rot="0" flipH="0" flipV="0">
            <a:off x="3505200" y="36576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3790950" y="36385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769" name=""/>
          <p:cNvSpPr/>
          <p:nvPr/>
        </p:nvSpPr>
        <p:spPr>
          <a:xfrm rot="0" flipH="0" flipV="0">
            <a:off x="5010150" y="364807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5172075" y="361950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418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行双层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while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：内层跑工具调用、外层跑续跑，终止与最大轮次都有兜底</a:t>
            </a:r>
            <a:endParaRPr/>
          </a:p>
        </p:txBody>
      </p:sp>
      <p:sp>
        <p:nvSpPr>
          <p:cNvPr id="771" name=""/>
          <p:cNvSpPr/>
          <p:nvPr/>
        </p:nvSpPr>
        <p:spPr>
          <a:xfrm rot="0" flipH="0" flipV="0">
            <a:off x="10763250" y="361950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10877550" y="36576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⑤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控制层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3505200" y="400050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3505200" y="41719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6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3790950" y="41624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扩展系统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5010150" y="41719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5172075" y="413385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能力全部外置成扩展：加工具、加拦截、加校验，全都不动内核一行代码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10763250" y="414337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10877550" y="41814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⑥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护栏层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3505200" y="451485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3505200" y="46863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3790950" y="46767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事件系统</a:t>
            </a:r>
            <a:endParaRPr/>
          </a:p>
        </p:txBody>
      </p:sp>
      <p:sp>
        <p:nvSpPr>
          <p:cNvPr id="783" name=""/>
          <p:cNvSpPr/>
          <p:nvPr/>
        </p:nvSpPr>
        <p:spPr>
          <a:xfrm rot="0" flipH="0" flipV="0">
            <a:off x="5010150" y="468630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5172075" y="464820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事件总线贯穿全程：文本与思考增量实时回流，是可观测性的地基</a:t>
            </a:r>
            <a:endParaRPr/>
          </a:p>
        </p:txBody>
      </p:sp>
      <p:sp>
        <p:nvSpPr>
          <p:cNvPr id="785" name=""/>
          <p:cNvSpPr/>
          <p:nvPr/>
        </p:nvSpPr>
        <p:spPr>
          <a:xfrm rot="0" flipH="0" flipV="0">
            <a:off x="10763250" y="465772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10877550" y="46958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⑦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运营层</a:t>
            </a:r>
            <a:endParaRPr/>
          </a:p>
        </p:txBody>
      </p:sp>
      <p:sp>
        <p:nvSpPr>
          <p:cNvPr id="787" name=""/>
          <p:cNvSpPr/>
          <p:nvPr/>
        </p:nvSpPr>
        <p:spPr>
          <a:xfrm rot="0" flipH="0" flipV="0">
            <a:off x="3505200" y="5029200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3505200" y="521017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8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3790950" y="51911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安全与可观测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5010150" y="52006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5172075" y="5172075"/>
            <a:ext cx="57435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内核不做权限：权限、沙箱与审计交回给使用方，用扩展钩子自建拦截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10915650" y="5172075"/>
            <a:ext cx="5905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11029950" y="5210175"/>
            <a:ext cx="361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⑥ + ⑦</a:t>
            </a:r>
            <a:endParaRPr/>
          </a:p>
        </p:txBody>
      </p: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3505200" y="57245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3790950" y="57150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远程会话栈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5010150" y="572452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5172075" y="5686425"/>
            <a:ext cx="56102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CBOR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远程会话：协议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客户端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服务端三层，可选，不影响核心四层</a:t>
            </a:r>
            <a:endParaRPr/>
          </a:p>
        </p:txBody>
      </p:sp>
      <p:sp>
        <p:nvSpPr>
          <p:cNvPr id="798" name=""/>
          <p:cNvSpPr/>
          <p:nvPr/>
        </p:nvSpPr>
        <p:spPr>
          <a:xfrm rot="0" flipH="0" flipV="0">
            <a:off x="10782300" y="5695950"/>
            <a:ext cx="72390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10896600" y="57340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独立叠加</a:t>
            </a:r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25 / 46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8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01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①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模型层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5219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模型适配：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40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家厂商，一个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stream()</a:t>
            </a:r>
            <a:endParaRPr/>
          </a:p>
        </p:txBody>
      </p:sp>
      <p:sp>
        <p:nvSpPr>
          <p:cNvPr id="808" name=""/>
          <p:cNvSpPr/>
          <p:nvPr/>
        </p:nvSpPr>
        <p:spPr>
          <a:xfrm rot="0" flipH="0" flipV="0">
            <a:off x="685800" y="1143000"/>
            <a:ext cx="3676650" cy="4476750"/>
          </a:xfrm>
          <a:custGeom>
            <a:pathLst>
              <a:path w="386" h="470">
                <a:moveTo>
                  <a:pt x="385" y="0"/>
                </a:moveTo>
                <a:lnTo>
                  <a:pt x="386" y="0"/>
                </a:lnTo>
                <a:lnTo>
                  <a:pt x="386" y="470"/>
                </a:lnTo>
                <a:lnTo>
                  <a:pt x="385" y="47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3438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>TYPES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685800" y="1400175"/>
            <a:ext cx="3438525" cy="704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适配层只产出</a:t>
            </a:r>
            <a:endParaRPr/>
          </a:p>
          <a:p>
            <a:pPr>
              <a:lnSpc>
                <a:spcPct val="145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两样东西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685800" y="2181225"/>
            <a:ext cx="3438525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统一类型</a:t>
            </a:r>
            <a:r>
              <a:rPr lang="en-US" sz="1013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归一化事件流。这两样定好，上层就稳了。</a:t>
            </a:r>
            <a:endParaRPr/>
          </a:p>
        </p:txBody>
      </p:sp>
      <p:sp>
        <p:nvSpPr>
          <p:cNvPr id="812" name=""/>
          <p:cNvSpPr/>
          <p:nvPr/>
        </p:nvSpPr>
        <p:spPr>
          <a:xfrm rot="0" flipH="0" flipV="0">
            <a:off x="685800" y="2562225"/>
            <a:ext cx="3457575" cy="438150"/>
          </a:xfrm>
          <a:custGeom>
            <a:pathLst>
              <a:path w="363" h="46">
                <a:moveTo>
                  <a:pt x="0" y="0"/>
                </a:moveTo>
                <a:lnTo>
                  <a:pt x="2" y="0"/>
                </a:lnTo>
                <a:lnTo>
                  <a:pt x="2" y="46"/>
                </a:lnTo>
                <a:lnTo>
                  <a:pt x="0" y="46"/>
                </a:lnTo>
                <a:close/>
              </a:path>
            </a:pathLst>
          </a:custGeom>
          <a:solidFill>
            <a:srgbClr val="2AD4EE">
              <a:alpha val="4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809625" y="2619375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Model&lt;TApi&gt;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809625" y="2800350"/>
            <a:ext cx="331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id · api · baseUrl · contextWindow · compat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685800" y="3067050"/>
            <a:ext cx="3457575" cy="438150"/>
          </a:xfrm>
          <a:custGeom>
            <a:pathLst>
              <a:path w="363" h="46">
                <a:moveTo>
                  <a:pt x="0" y="0"/>
                </a:moveTo>
                <a:lnTo>
                  <a:pt x="2" y="0"/>
                </a:lnTo>
                <a:lnTo>
                  <a:pt x="2" y="46"/>
                </a:lnTo>
                <a:lnTo>
                  <a:pt x="0" y="46"/>
                </a:lnTo>
                <a:close/>
              </a:path>
            </a:pathLst>
          </a:custGeom>
          <a:solidFill>
            <a:srgbClr val="2AD4EE">
              <a:alpha val="4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809625" y="3124200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Context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809625" y="3305175"/>
            <a:ext cx="331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systemPrompt? · messages[] · tools?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685800" y="3571875"/>
            <a:ext cx="3457575" cy="438150"/>
          </a:xfrm>
          <a:custGeom>
            <a:pathLst>
              <a:path w="363" h="46">
                <a:moveTo>
                  <a:pt x="0" y="0"/>
                </a:moveTo>
                <a:lnTo>
                  <a:pt x="2" y="0"/>
                </a:lnTo>
                <a:lnTo>
                  <a:pt x="2" y="46"/>
                </a:lnTo>
                <a:lnTo>
                  <a:pt x="0" y="46"/>
                </a:lnTo>
                <a:close/>
              </a:path>
            </a:pathLst>
          </a:custGeom>
          <a:solidFill>
            <a:srgbClr val="2AD4EE">
              <a:alpha val="4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809625" y="3629025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Message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809625" y="3810000"/>
            <a:ext cx="331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User | Assistant | ToolResult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85800" y="4076700"/>
            <a:ext cx="3457575" cy="438150"/>
          </a:xfrm>
          <a:custGeom>
            <a:pathLst>
              <a:path w="363" h="46">
                <a:moveTo>
                  <a:pt x="0" y="0"/>
                </a:moveTo>
                <a:lnTo>
                  <a:pt x="2" y="0"/>
                </a:lnTo>
                <a:lnTo>
                  <a:pt x="2" y="46"/>
                </a:lnTo>
                <a:lnTo>
                  <a:pt x="0" y="46"/>
                </a:lnTo>
                <a:close/>
              </a:path>
            </a:pathLst>
          </a:custGeom>
          <a:solidFill>
            <a:srgbClr val="2AD4EE">
              <a:alpha val="4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809625" y="4133850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Usage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809625" y="4314825"/>
            <a:ext cx="331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input · output · cacheRead · cacheWrite · cost</a:t>
            </a:r>
            <a:endParaRPr/>
          </a:p>
        </p:txBody>
      </p:sp>
      <p:sp>
        <p:nvSpPr>
          <p:cNvPr id="824" name=""/>
          <p:cNvSpPr/>
          <p:nvPr/>
        </p:nvSpPr>
        <p:spPr>
          <a:xfrm rot="0" flipH="0" flipV="0">
            <a:off x="685800" y="4581525"/>
            <a:ext cx="3457575" cy="438150"/>
          </a:xfrm>
          <a:custGeom>
            <a:pathLst>
              <a:path w="363" h="46">
                <a:moveTo>
                  <a:pt x="0" y="0"/>
                </a:moveTo>
                <a:lnTo>
                  <a:pt x="2" y="0"/>
                </a:lnTo>
                <a:lnTo>
                  <a:pt x="2" y="46"/>
                </a:lnTo>
                <a:lnTo>
                  <a:pt x="0" y="46"/>
                </a:lnTo>
                <a:close/>
              </a:path>
            </a:pathLst>
          </a:custGeom>
          <a:solidFill>
            <a:srgbClr val="2AD4EE">
              <a:alpha val="4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809625" y="4638675"/>
            <a:ext cx="3314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StopReason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809625" y="4819650"/>
            <a:ext cx="3314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stop · length · toolUse · error · aborted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685800" y="5162550"/>
            <a:ext cx="4476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AD4EE"/>
                </a:solidFill>
                <a:latin typeface="JetBrains Mono"/>
                <a:ea typeface="JetBrains Mono"/>
              </a:rPr>
              <a:t>10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1228725" y="5133975"/>
            <a:ext cx="1143000" cy="485775"/>
          </a:xfrm>
          <a:prstGeom prst="rect"/>
        </p:spPr>
        <p:txBody>
          <a:bodyPr wrap="none" lIns="0" tIns="0" rIns="0" bIns="28575"/>
          <a:p>
            <a:pPr>
              <a:lnSpc>
                <a:spcPct val="150000"/>
              </a:lnSpc>
            </a:pP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种</a:t>
            </a: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wire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格式</a:t>
            </a:r>
            <a:endParaRPr/>
          </a:p>
          <a:p>
            <a:pPr>
              <a:lnSpc>
                <a:spcPct val="150000"/>
              </a:lnSpc>
            </a:pP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40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家</a:t>
            </a: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300+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4610100" y="114300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>AssistantMessageEvent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9715500" y="1143000"/>
            <a:ext cx="179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所有适配器实现的同一个出口契约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4610100" y="1381125"/>
            <a:ext cx="495300" cy="209550"/>
          </a:xfrm>
          <a:prstGeom prst="roundRect">
            <a:avLst>
              <a:gd name="adj" fmla="val 13636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4695825" y="1419225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start</a:t>
            </a:r>
            <a:endParaRPr/>
          </a:p>
        </p:txBody>
      </p:sp>
      <p:sp>
        <p:nvSpPr>
          <p:cNvPr id="833" name=""/>
          <p:cNvSpPr/>
          <p:nvPr/>
        </p:nvSpPr>
        <p:spPr>
          <a:xfrm rot="0" flipH="0" flipV="0">
            <a:off x="5162550" y="1381125"/>
            <a:ext cx="1714500" cy="209550"/>
          </a:xfrm>
          <a:prstGeom prst="roundRect">
            <a:avLst>
              <a:gd name="adj" fmla="val 13636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5248275" y="1419225"/>
            <a:ext cx="15430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text_start / delta / end</a:t>
            </a:r>
            <a:endParaRPr/>
          </a:p>
        </p:txBody>
      </p:sp>
      <p:sp>
        <p:nvSpPr>
          <p:cNvPr id="835" name=""/>
          <p:cNvSpPr/>
          <p:nvPr/>
        </p:nvSpPr>
        <p:spPr>
          <a:xfrm rot="0" flipH="0" flipV="0">
            <a:off x="6934200" y="1381125"/>
            <a:ext cx="819150" cy="209550"/>
          </a:xfrm>
          <a:prstGeom prst="roundRect">
            <a:avLst>
              <a:gd name="adj" fmla="val 13636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7019925" y="141922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thinking_*</a:t>
            </a:r>
            <a:endParaRPr/>
          </a:p>
        </p:txBody>
      </p:sp>
      <p:sp>
        <p:nvSpPr>
          <p:cNvPr id="837" name=""/>
          <p:cNvSpPr/>
          <p:nvPr/>
        </p:nvSpPr>
        <p:spPr>
          <a:xfrm rot="0" flipH="0" flipV="0">
            <a:off x="7810500" y="1381125"/>
            <a:ext cx="819150" cy="209550"/>
          </a:xfrm>
          <a:prstGeom prst="roundRect">
            <a:avLst>
              <a:gd name="adj" fmla="val 13636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7896225" y="1419225"/>
            <a:ext cx="647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toolcall_*</a:t>
            </a:r>
            <a:endParaRPr/>
          </a:p>
        </p:txBody>
      </p:sp>
      <p:sp>
        <p:nvSpPr>
          <p:cNvPr id="839" name=""/>
          <p:cNvSpPr/>
          <p:nvPr/>
        </p:nvSpPr>
        <p:spPr>
          <a:xfrm rot="0" flipH="0" flipV="0">
            <a:off x="8686800" y="1381125"/>
            <a:ext cx="428625" cy="209550"/>
          </a:xfrm>
          <a:prstGeom prst="roundRect">
            <a:avLst>
              <a:gd name="adj" fmla="val 13636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8772525" y="1419225"/>
            <a:ext cx="257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done</a:t>
            </a:r>
            <a:endParaRPr/>
          </a:p>
        </p:txBody>
      </p:sp>
      <p:sp>
        <p:nvSpPr>
          <p:cNvPr id="841" name=""/>
          <p:cNvSpPr/>
          <p:nvPr/>
        </p:nvSpPr>
        <p:spPr>
          <a:xfrm rot="0" flipH="0" flipV="0">
            <a:off x="9172575" y="1381125"/>
            <a:ext cx="495300" cy="209550"/>
          </a:xfrm>
          <a:prstGeom prst="roundRect">
            <a:avLst>
              <a:gd name="adj" fmla="val 13636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9258300" y="1419225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error</a:t>
            </a:r>
            <a:endParaRPr/>
          </a:p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4610100" y="1724025"/>
            <a:ext cx="6896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type </a:t>
            </a: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是怎么翻译的：以</a:t>
            </a:r>
            <a:r>
              <a:rPr lang="en-US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anthropic-messages </a:t>
            </a: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为例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4610100" y="1933575"/>
            <a:ext cx="6896100" cy="200025"/>
          </a:xfrm>
          <a:custGeom>
            <a:pathLst>
              <a:path w="724" h="21">
                <a:moveTo>
                  <a:pt x="0" y="20"/>
                </a:moveTo>
                <a:lnTo>
                  <a:pt x="724" y="20"/>
                </a:lnTo>
                <a:lnTo>
                  <a:pt x="724" y="21"/>
                </a:lnTo>
                <a:lnTo>
                  <a:pt x="0" y="21"/>
                </a:lnTo>
                <a:close/>
              </a:path>
            </a:pathLst>
          </a:custGeom>
          <a:solidFill>
            <a:srgbClr val="E8EEF9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4610100" y="1933575"/>
            <a:ext cx="2857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厂商原始事件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7467600" y="1933575"/>
            <a:ext cx="4038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归一化后</a:t>
            </a:r>
            <a:endParaRPr/>
          </a:p>
        </p:txBody>
      </p:sp>
      <p:sp>
        <p:nvSpPr>
          <p:cNvPr id="847" name=""/>
          <p:cNvSpPr/>
          <p:nvPr/>
        </p:nvSpPr>
        <p:spPr>
          <a:xfrm rot="0" flipH="0" flipV="0">
            <a:off x="4610100" y="2124075"/>
            <a:ext cx="6896100" cy="276225"/>
          </a:xfrm>
          <a:custGeom>
            <a:pathLst>
              <a:path w="724" h="29">
                <a:moveTo>
                  <a:pt x="0" y="28"/>
                </a:moveTo>
                <a:lnTo>
                  <a:pt x="724" y="28"/>
                </a:lnTo>
                <a:lnTo>
                  <a:pt x="72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4610100" y="2181225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message_start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7467600" y="2181225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>start</a:t>
            </a:r>
            <a:r>
              <a:rPr lang="zh-CN" sz="938">
                <a:solidFill>
                  <a:srgbClr val="E8EEF9"/>
                </a:solidFill>
                <a:latin typeface="JetBrains Mono"/>
                <a:ea typeface="JetBrains Mono"/>
              </a:rPr>
              <a:t>（携带空</a:t>
            </a: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 xml:space="preserve"> partial</a:t>
            </a:r>
            <a:r>
              <a:rPr lang="zh-CN" sz="938">
                <a:solidFill>
                  <a:srgbClr val="E8EEF9"/>
                </a:solidFill>
                <a:latin typeface="JetBrains Mono"/>
                <a:ea typeface="JetBrains Mono"/>
              </a:rPr>
              <a:t>）</a:t>
            </a:r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4610100" y="2390775"/>
            <a:ext cx="6896100" cy="409575"/>
          </a:xfrm>
          <a:custGeom>
            <a:pathLst>
              <a:path w="724" h="43">
                <a:moveTo>
                  <a:pt x="0" y="42"/>
                </a:moveTo>
                <a:lnTo>
                  <a:pt x="724" y="42"/>
                </a:lnTo>
                <a:lnTo>
                  <a:pt x="724" y="43"/>
                </a:lnTo>
                <a:lnTo>
                  <a:pt x="0" y="43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4610100" y="2447925"/>
            <a:ext cx="285750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content_block_start (text / thinking / tool_use)</a:t>
            </a:r>
            <a:endParaRPr/>
          </a:p>
        </p:txBody>
      </p:sp>
      <p:sp>
        <p:nvSpPr>
          <p:cNvPr id="852" name="" descr="{&quot;isTemplate&quot;:true,&quot;type&quot;:&quot;text&quot;}"/>
          <p:cNvSpPr txBox="1"/>
          <p:nvPr/>
        </p:nvSpPr>
        <p:spPr>
          <a:xfrm rot="0" flipH="0" flipV="0">
            <a:off x="7467600" y="2514600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>text_start / thinking_start / toolcall_start</a:t>
            </a:r>
            <a:endParaRPr/>
          </a:p>
        </p:txBody>
      </p:sp>
      <p:sp>
        <p:nvSpPr>
          <p:cNvPr id="853" name=""/>
          <p:cNvSpPr/>
          <p:nvPr/>
        </p:nvSpPr>
        <p:spPr>
          <a:xfrm rot="0" flipH="0" flipV="0">
            <a:off x="4610100" y="2790825"/>
            <a:ext cx="6896100" cy="409575"/>
          </a:xfrm>
          <a:custGeom>
            <a:pathLst>
              <a:path w="724" h="43">
                <a:moveTo>
                  <a:pt x="0" y="42"/>
                </a:moveTo>
                <a:lnTo>
                  <a:pt x="724" y="42"/>
                </a:lnTo>
                <a:lnTo>
                  <a:pt x="724" y="43"/>
                </a:lnTo>
                <a:lnTo>
                  <a:pt x="0" y="43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4610100" y="2847975"/>
            <a:ext cx="285750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content_block_delta (text_delta / input_json_delta)</a:t>
            </a:r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7467600" y="2914650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/>
                </a:solidFill>
                <a:latin typeface="JetBrains Mono"/>
                <a:ea typeface="JetBrains Mono"/>
              </a:rPr>
              <a:t>对应的</a:t>
            </a: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 xml:space="preserve"> *_delta</a:t>
            </a:r>
            <a:endParaRPr/>
          </a:p>
        </p:txBody>
      </p:sp>
      <p:sp>
        <p:nvSpPr>
          <p:cNvPr id="856" name=""/>
          <p:cNvSpPr/>
          <p:nvPr/>
        </p:nvSpPr>
        <p:spPr>
          <a:xfrm rot="0" flipH="0" flipV="0">
            <a:off x="4610100" y="3190875"/>
            <a:ext cx="6896100" cy="276225"/>
          </a:xfrm>
          <a:custGeom>
            <a:pathLst>
              <a:path w="724" h="29">
                <a:moveTo>
                  <a:pt x="0" y="28"/>
                </a:moveTo>
                <a:lnTo>
                  <a:pt x="724" y="28"/>
                </a:lnTo>
                <a:lnTo>
                  <a:pt x="72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57" name="" descr="{&quot;isTemplate&quot;:true,&quot;type&quot;:&quot;text&quot;}"/>
          <p:cNvSpPr txBox="1"/>
          <p:nvPr/>
        </p:nvSpPr>
        <p:spPr>
          <a:xfrm rot="0" flipH="0" flipV="0">
            <a:off x="4610100" y="3248025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content_block_stop</a:t>
            </a:r>
            <a:endParaRPr/>
          </a:p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7467600" y="3248025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/>
                </a:solidFill>
                <a:latin typeface="JetBrains Mono"/>
                <a:ea typeface="JetBrains Mono"/>
              </a:rPr>
              <a:t>对应的</a:t>
            </a: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 xml:space="preserve"> *_end</a:t>
            </a:r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4610100" y="3457575"/>
            <a:ext cx="6896100" cy="276225"/>
          </a:xfrm>
          <a:custGeom>
            <a:pathLst>
              <a:path w="724" h="29">
                <a:moveTo>
                  <a:pt x="0" y="28"/>
                </a:moveTo>
                <a:lnTo>
                  <a:pt x="724" y="28"/>
                </a:lnTo>
                <a:lnTo>
                  <a:pt x="724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4610100" y="3514725"/>
            <a:ext cx="2857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 xml:space="preserve">message_delta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的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 xml:space="preserve"> stop_reason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7467600" y="3514725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>done</a:t>
            </a:r>
            <a:r>
              <a:rPr lang="zh-CN" sz="938">
                <a:solidFill>
                  <a:srgbClr val="E8EEF9"/>
                </a:solidFill>
                <a:latin typeface="JetBrains Mono"/>
                <a:ea typeface="JetBrains Mono"/>
              </a:rPr>
              <a:t>，</a:t>
            </a: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 xml:space="preserve">reason </a:t>
            </a:r>
            <a:r>
              <a:rPr lang="zh-CN" sz="938">
                <a:solidFill>
                  <a:srgbClr val="E8EEF9"/>
                </a:solidFill>
                <a:latin typeface="JetBrains Mono"/>
                <a:ea typeface="JetBrains Mono"/>
              </a:rPr>
              <a:t>折叠成枚举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4610100" y="3838575"/>
            <a:ext cx="3390900" cy="1000125"/>
          </a:xfrm>
          <a:prstGeom prst="roundRect">
            <a:avLst>
              <a:gd name="adj" fmla="val 2857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4724400" y="3924300"/>
            <a:ext cx="3162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② </a:t>
            </a: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没有边界就造边界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4724400" y="4114800"/>
            <a:ext cx="3162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OpenAI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chunk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流没有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content_block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：首次见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delta.content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补发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text_start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，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finish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时补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text_end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tool_calls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按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index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映射成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contentIndex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865" name=""/>
          <p:cNvSpPr/>
          <p:nvPr/>
        </p:nvSpPr>
        <p:spPr>
          <a:xfrm rot="0" flipH="0" flipV="0">
            <a:off x="8115300" y="3838575"/>
            <a:ext cx="3390900" cy="1000125"/>
          </a:xfrm>
          <a:prstGeom prst="roundRect">
            <a:avLst>
              <a:gd name="adj" fmla="val 2857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8229600" y="3924300"/>
            <a:ext cx="3162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③ </a:t>
            </a: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终止原因折叠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8229600" y="4114800"/>
            <a:ext cx="316230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end_turn / stop → stop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max_tokens / length → length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tool_use / tool_calls → toolUse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。加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error / aborted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即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StopReason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全集。</a:t>
            </a:r>
            <a:endParaRPr/>
          </a:p>
        </p:txBody>
      </p:sp>
      <p:sp>
        <p:nvSpPr>
          <p:cNvPr id="868" name=""/>
          <p:cNvSpPr/>
          <p:nvPr/>
        </p:nvSpPr>
        <p:spPr>
          <a:xfrm rot="0" flipH="0" flipV="0">
            <a:off x="685800" y="5619750"/>
            <a:ext cx="10820400" cy="438150"/>
          </a:xfrm>
          <a:prstGeom prst="roundRect">
            <a:avLst>
              <a:gd name="adj" fmla="val 869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857250" y="5762625"/>
            <a:ext cx="304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2AD4EE"/>
                </a:solidFill>
                <a:latin typeface="JetBrains Mono"/>
                <a:ea typeface="JetBrains Mono"/>
              </a:rPr>
              <a:t>关键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1295400" y="5715000"/>
            <a:ext cx="10039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每个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delta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都携带最新的完整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125">
                <a:solidFill>
                  <a:srgbClr val="2AD4EE"/>
                </a:solidFill>
                <a:latin typeface="Source Han Sans SC"/>
                <a:ea typeface="Source Han Sans SC"/>
              </a:rPr>
              <a:t>partial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：归一化不只是改名，还把状态模型也统一了——消费者拿任何一个事件都是自洽快照。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26 / 46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873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Box style={{ flexDirection: 'row', alignItems: 'center', gap: 12 }}&gt;&#10;                &lt;Text style={{ fontSize: 13, color: '#2AD4EE', letterSpacing: 3, fontFamily: '&quot;JetBrains Mono&quot;, &quot;Cascadia Mono&quot;, Consolas, monospace' }}&gt;DESIGN POINT 01 · 续&lt;/Text&gt;&#10;                &lt;Text style={{ fontSize: 13, color: 'rgba(232,238,249,0.38)', letterSpacing: 2, fontFamily: '&quot;JetBrains Mono&quot;, &quot;Cascadia Mono&quot;, Consolas, monospace' }}&gt;· 归一化之后的收尾&lt;/Text&gt;&#10;            &lt;/Box&gt;&#10;            &lt;Text style={{ marginTop: 6, fontSize: 34, fontWeight: 'bold', color: '#E8EEF9' }}&gt;「OpenAI 兼容」的残缺，逐个关掉&lt;/Text&gt;&#10;        &lt;/Box&gt;&#10;    &lt;/Box&gt;&#10;&#10;    {/* B 区 */}&#10;    &lt;Box style={{ height: 516, flexDirection: 'row', gap: 30 }}&gt;&#10;        {/* 左：compat 表 */}&#10;        &lt;Box style={{ flex: 1, flexDirection: 'column' }}&gt;&#10;            &lt;Box style={{ flexDirection: 'row', alignItems: 'baseline', justifyContent: 'space-between' }}&gt;&#10;                &lt;Text style={{ fontSize: 14, color: '#2AD4EE', letterSpacing: 2.5, fontFamily: '&quot;JetBrains Mono&quot;, &quot;Cascadia Mono&quot;, Consolas, monospace' }}&gt;COMPAT · 8 个开关&lt;/Text&gt;&#10;                &lt;Text style={{ fontSize: 12.5, color: 'rgba(232,238,249,0.42)' }}&gt;接国产服务，前两项最常手动关&lt;/Text&gt;&#10;            &lt;/Box&gt;&#10;&#10;            &lt;Box style={{ marginTop: 12, flex: 1, flexDirection: 'column' }}&gt;&#10;                {[&#10;                    ['supportsDeveloperRole', '改用 system 角色发系统提示'],&#10;                    ['supportsReasoningEffort', '不发 reasoning_effort 参数'],&#10;                    ['supportsStore', '不传 store 字段，禁用服务端留存'],&#10;                    ['supportsUsageInStreaming', '不解析流里的 usage'],&#10;                    ['supportsFinishReason', '忽略 finish_reason，只认内容结束'],&#10;                    ['maxTokensField', '换 max tokens 的字段名'],&#10;                    ['requiresToolResultName', '给工具结果补上 name 字段'],&#10;                    ['requiresAssistantAfterToolResult', '工具结果后补一条 assistant 消息'],&#10;                ].map((r, i) =&gt; (&#10;                    &lt;Box key={i} style={{ flex: 1, flexDirection: 'row', alignItems: 'center', borderBottom: i === 7 ? 'none' : '1px solid rgba(232,238,249,0.08)' }}&gt;&#10;                        &lt;Text style={{ width: 300, fontSize: 13, color: '#2AD4EE', fontFamily: '&quot;JetBrains Mono&quot;, &quot;Cascadia Mono&quot;, Consolas, monospace' }}&gt;{r[0]}&lt;/Text&gt;&#10;                        &lt;Text style={{ flex: 1, fontSize: 13.5, color: 'rgba(232,238,249,0.80)' }}&gt;{r[1]}&lt;/Text&gt;&#10;                    &lt;/Box&gt;&#10;                ))}&#10;            &lt;/Box&gt;&#10;&#10;            &lt;Text style={{ marginTop: 10, fontSize: 13, color: 'rgba(232,238,249,0.50)', lineHeight: 1.6 }}&gt;&#10;                默认按 baseUrl 自动探测；接自建厂商时，在 &lt;span style={{ color: '#2AD4EE', fontFamily: '&quot;JetBrains Mono&quot;, &quot;Cascadia Mono&quot;, Consolas, monospace' }}&gt;models.json&lt;/span&gt; 写 provider + baseUrl + api + models 即可，不动一行适配代码。&#10;            &lt;/Text&gt;&#10;        &lt;/Box&gt;&#10;&#10;        {/* 右：三块 */}&#10;        &lt;Box style={{ width: 420, flexDirection: 'column', gap: 12 }}&gt;&#10;            &lt;Box style={{ flexDirection: 'column', paddingTop: 14, paddingBottom: 14, paddingLeft: 16, paddingRight: 16, background: 'rgba(42,212,238,0.07)', border: '1px solid rgba(42,212,238,0.26)', borderRadius: 4 }}&gt;&#10;                &lt;Text style={{ fontSize: 13, color: '#2AD4EE', letterSpacing: 2, fontFamily: '&quot;JetBrains Mono&quot;, &quot;Cascadia Mono&quot;, Consolas, monospace' }}&gt;NEVER THROW&lt;/Text&gt;&#10;                &lt;Text style={{ marginTop: 8, fontSize: 15.5, fontWeight: 'bold', color: '#E8EEF9', lineHeight: 1.4 }}&gt;错误也是数据&lt;/Text&gt;&#10;                &lt;Text style={{ marginTop: 6, fontSize: 13, color: 'rgba(232,238,249,0.74)', lineHeight: 1.62 }}&gt;&#10;                    StreamFn 一旦调用，请求、模型、运行时的任何失败都必须编码成流上的 error 事件（stopReason = error / aborted），不允许同步抛出。上层循环因此一个 try/catch 都不用写。&#10;                &lt;/Text&gt;&#10;            &lt;/Box&gt;&#10;&#10;            &lt;Box style={{ flexDirection: 'column', paddingTop: 14, paddingBottom: 14, paddingLeft: 16, paddingRight: 16, background: 'rgba(22,35,61,0.72)', border: '1px solid rgba(232,238,249,0.10)', borderRadius: 4 }}&gt;&#10;                &lt;Text style={{ fontSize: 13, color: '#2AD4EE', letterSpacing: 2, fontFamily: '&quot;JetBrains Mono&quot;, &quot;Cascadia Mono&quot;, Consolas, monospace' }}&gt;LAZY LOAD&lt;/Text&gt;&#10;                &lt;Text style={{ marginTop: 8, fontSize: 13, color: 'rgba(232,238,249,0.74)', lineHeight: 1.62 }}&gt;&#10;                    &lt;span style={{ color: '#E8EEF9', fontFamily: '&quot;JetBrains Mono&quot;, &quot;Cascadia Mono&quot;, Consolas, monospace' }}&gt;lazyApi(() =&amp;gt; import(...))&lt;/span&gt; 把每家 SDK 包成 ProviderStreams，首次调用才动态加载。不用 Claude，就不加载 Anthropic SDK。&#10;                &lt;/Text&gt;&#10;            &lt;/Box&gt;&#10;&#10;            &lt;Box style={{ flex: 1, flexDirection: 'column', paddingTop: 14, paddingBottom: 12, paddingLeft: 16, paddingRight: 16, background: 'rgba(22,35,61,0.72)', border: '1px solid rgba(232,238,249,0.10)', borderRadius: 4 }}&gt;&#10;                &lt;Text style={{ fontSize: 13, color: '#2AD4EE', letterSpacing: 2, fontFamily: '&quot;JetBrains Mono&quot;, &quot;Cascadia Mono&quot;, Consolas, monospace' }}&gt;AUTH · 四级优先&lt;/Text&gt;&#10;                &lt;Box style={{ marginTop: 9, flexDirection: 'column', gap: 6 }}&gt;&#10;                    {[&#10;                        ['1', '--api-key', '仅内存，不落盘'],&#10;                        ['2', 'auth.json', 'OAuth 登录态也在这'],&#10;                        ['3', '环境变量', 'ANTHROPIC_API_KEY 等'],&#10;                        ['4', 'models.json', 'provider.apiKey，可引用变量'],&#10;                    ].map((r, i) =&gt; (&#10;                        &lt;Box key={i} style={{ flexDirection: 'row', alignItems: 'center', gap: 10 }}&gt;&#10;                            &lt;Text style={{ width: 14, fontSize: 12, color: 'rgba(42,212,238,0.66)', fontFamily: '&quot;JetBrains Mono&quot;, &quot;Cascadia Mono&quot;, Consolas, monospace' }}&gt;{r[0]}&lt;/Text&gt;&#10;                            &lt;Text style={{ width: 96, fontSize: 12.5, color: '#E8EEF9', fontFamily: '&quot;JetBrains Mono&quot;, &quot;Cascadia Mono&quot;, Consolas, monospace' }}&gt;{r[1]}&lt;/Text&gt;&#10;                            &lt;Text style={{ flex: 1, fontSize: 12.5, color: 'rgba(232,238,249,0.56)' }}&gt;{r[2]}&lt;/Text&gt;&#10;                        &lt;/Box&gt;&#10;                    ))}&#10;                &lt;/Box&gt;&#10;                &lt;Text style={{ marginTop: 'auto', paddingTop: 10, fontSize: 10.5, color: 'rgba(232,238,249,0.44)', lineHeight: 1.5 }}&gt;&#10;                    SDK 侧：modelRuntime.setRuntimeApiKey(&quot;anthropic&quot;, key) 运行时注入。&#10;                &lt;/Text&gt;&#10;            &lt;/Box&gt;&#10;        &lt;/Box&gt;&#10;    &lt;/Box&gt;&#10;&#10;    {/* 底部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7 / 4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87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DESIGN POINT 01 · </a:t>
            </a:r>
            <a:r>
              <a:rPr lang="zh-CN" sz="975" spc="225">
                <a:solidFill>
                  <a:srgbClr val="2AD4EE"/>
                </a:solidFill>
                <a:latin typeface="JetBrains Mono"/>
                <a:ea typeface="JetBrains Mono"/>
              </a:rPr>
              <a:t>续</a:t>
            </a:r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2971800" y="247650"/>
            <a:ext cx="133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归一化之后的收尾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5010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「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OpenAI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兼容」的残缺，逐个关掉</a:t>
            </a:r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COMPAT · 8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个开关</a:t>
            </a:r>
            <a:endParaRPr/>
          </a:p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5553075" y="1143000"/>
            <a:ext cx="1666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接国产服务，前两项最常手动关</a:t>
            </a:r>
            <a:endParaRPr/>
          </a:p>
        </p:txBody>
      </p:sp>
      <p:sp>
        <p:nvSpPr>
          <p:cNvPr id="881" name=""/>
          <p:cNvSpPr/>
          <p:nvPr/>
        </p:nvSpPr>
        <p:spPr>
          <a:xfrm rot="0" flipH="0" flipV="0">
            <a:off x="685800" y="1419225"/>
            <a:ext cx="6534150" cy="523875"/>
          </a:xfrm>
          <a:custGeom>
            <a:pathLst>
              <a:path w="686" h="55">
                <a:moveTo>
                  <a:pt x="0" y="54"/>
                </a:moveTo>
                <a:lnTo>
                  <a:pt x="686" y="54"/>
                </a:lnTo>
                <a:lnTo>
                  <a:pt x="686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685800" y="1600200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supportsDeveloperRole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3543300" y="1590675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改用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system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角色发系统提示</a:t>
            </a:r>
            <a:endParaRPr/>
          </a:p>
        </p:txBody>
      </p:sp>
      <p:sp>
        <p:nvSpPr>
          <p:cNvPr id="884" name=""/>
          <p:cNvSpPr/>
          <p:nvPr/>
        </p:nvSpPr>
        <p:spPr>
          <a:xfrm rot="0" flipH="0" flipV="0">
            <a:off x="685800" y="1933575"/>
            <a:ext cx="6534150" cy="514350"/>
          </a:xfrm>
          <a:custGeom>
            <a:pathLst>
              <a:path w="686" h="54">
                <a:moveTo>
                  <a:pt x="0" y="53"/>
                </a:moveTo>
                <a:lnTo>
                  <a:pt x="686" y="53"/>
                </a:lnTo>
                <a:lnTo>
                  <a:pt x="68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885" name="" descr="{&quot;isTemplate&quot;:true,&quot;type&quot;:&quot;text&quot;}"/>
          <p:cNvSpPr txBox="1"/>
          <p:nvPr/>
        </p:nvSpPr>
        <p:spPr>
          <a:xfrm rot="0" flipH="0" flipV="0">
            <a:off x="685800" y="2105025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supportsReasoningEffort</a:t>
            </a:r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3543300" y="2105025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不发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reasoning_effort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参数</a:t>
            </a:r>
            <a:endParaRPr/>
          </a:p>
        </p:txBody>
      </p:sp>
      <p:sp>
        <p:nvSpPr>
          <p:cNvPr id="887" name=""/>
          <p:cNvSpPr/>
          <p:nvPr/>
        </p:nvSpPr>
        <p:spPr>
          <a:xfrm rot="0" flipH="0" flipV="0">
            <a:off x="685800" y="2438400"/>
            <a:ext cx="6534150" cy="523875"/>
          </a:xfrm>
          <a:custGeom>
            <a:pathLst>
              <a:path w="686" h="55">
                <a:moveTo>
                  <a:pt x="0" y="54"/>
                </a:moveTo>
                <a:lnTo>
                  <a:pt x="686" y="54"/>
                </a:lnTo>
                <a:lnTo>
                  <a:pt x="686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685800" y="2619375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supportsStore</a:t>
            </a:r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3543300" y="2609850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不传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store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字段，禁用服务端留存</a:t>
            </a:r>
            <a:endParaRPr/>
          </a:p>
        </p:txBody>
      </p:sp>
      <p:sp>
        <p:nvSpPr>
          <p:cNvPr id="890" name=""/>
          <p:cNvSpPr/>
          <p:nvPr/>
        </p:nvSpPr>
        <p:spPr>
          <a:xfrm rot="0" flipH="0" flipV="0">
            <a:off x="685800" y="2952750"/>
            <a:ext cx="6534150" cy="514350"/>
          </a:xfrm>
          <a:custGeom>
            <a:pathLst>
              <a:path w="686" h="54">
                <a:moveTo>
                  <a:pt x="0" y="53"/>
                </a:moveTo>
                <a:lnTo>
                  <a:pt x="686" y="53"/>
                </a:lnTo>
                <a:lnTo>
                  <a:pt x="68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685800" y="3124200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supportsUsageInStreaming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3543300" y="3124200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不解析流里的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usage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685800" y="3457575"/>
            <a:ext cx="6534150" cy="523875"/>
          </a:xfrm>
          <a:custGeom>
            <a:pathLst>
              <a:path w="686" h="55">
                <a:moveTo>
                  <a:pt x="0" y="54"/>
                </a:moveTo>
                <a:lnTo>
                  <a:pt x="686" y="54"/>
                </a:lnTo>
                <a:lnTo>
                  <a:pt x="686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685800" y="3638550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supportsFinishReason</a:t>
            </a:r>
            <a:endParaRPr/>
          </a:p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3543300" y="3629025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忽略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finish_reason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，只认内容结束</a:t>
            </a:r>
            <a:endParaRPr/>
          </a:p>
        </p:txBody>
      </p:sp>
      <p:sp>
        <p:nvSpPr>
          <p:cNvPr id="896" name=""/>
          <p:cNvSpPr/>
          <p:nvPr/>
        </p:nvSpPr>
        <p:spPr>
          <a:xfrm rot="0" flipH="0" flipV="0">
            <a:off x="685800" y="3971925"/>
            <a:ext cx="6534150" cy="514350"/>
          </a:xfrm>
          <a:custGeom>
            <a:pathLst>
              <a:path w="686" h="54">
                <a:moveTo>
                  <a:pt x="0" y="53"/>
                </a:moveTo>
                <a:lnTo>
                  <a:pt x="686" y="53"/>
                </a:lnTo>
                <a:lnTo>
                  <a:pt x="686" y="54"/>
                </a:lnTo>
                <a:lnTo>
                  <a:pt x="0" y="5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685800" y="4143375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maxTokensField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3543300" y="4143375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换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max tokens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的字段名</a:t>
            </a:r>
            <a:endParaRPr/>
          </a:p>
        </p:txBody>
      </p:sp>
      <p:sp>
        <p:nvSpPr>
          <p:cNvPr id="899" name=""/>
          <p:cNvSpPr/>
          <p:nvPr/>
        </p:nvSpPr>
        <p:spPr>
          <a:xfrm rot="0" flipH="0" flipV="0">
            <a:off x="685800" y="4476750"/>
            <a:ext cx="6534150" cy="523875"/>
          </a:xfrm>
          <a:custGeom>
            <a:pathLst>
              <a:path w="686" h="55">
                <a:moveTo>
                  <a:pt x="0" y="54"/>
                </a:moveTo>
                <a:lnTo>
                  <a:pt x="686" y="54"/>
                </a:lnTo>
                <a:lnTo>
                  <a:pt x="686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685800" y="4657725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requiresToolResultName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3543300" y="4648200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给工具结果补上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name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字段</a:t>
            </a:r>
            <a:endParaRPr/>
          </a:p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685800" y="5162550"/>
            <a:ext cx="285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requiresAssistantAfterToolResult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3543300" y="5162550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工具结果后补一条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assistant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消息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685800" y="5581650"/>
            <a:ext cx="65341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默认按</a:t>
            </a:r>
            <a:r>
              <a:rPr lang="en-US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baseUrl </a:t>
            </a: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自动探测；接自建厂商时，在</a:t>
            </a:r>
            <a:r>
              <a:rPr lang="en-US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>models.json</a:t>
            </a:r>
            <a:r>
              <a:rPr lang="en-US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写</a:t>
            </a:r>
            <a:r>
              <a:rPr lang="en-US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provider + baseUrl + api + models </a:t>
            </a: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即可，不动一行适配代码。</a:t>
            </a:r>
            <a:endParaRPr/>
          </a:p>
        </p:txBody>
      </p:sp>
      <p:sp>
        <p:nvSpPr>
          <p:cNvPr id="905" name=""/>
          <p:cNvSpPr/>
          <p:nvPr/>
        </p:nvSpPr>
        <p:spPr>
          <a:xfrm rot="0" flipH="0" flipV="0">
            <a:off x="7505700" y="1143000"/>
            <a:ext cx="4000500" cy="1533525"/>
          </a:xfrm>
          <a:prstGeom prst="roundRect">
            <a:avLst>
              <a:gd name="adj" fmla="val 2484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2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7658100" y="1276350"/>
            <a:ext cx="3695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2AD4EE"/>
                </a:solidFill>
                <a:latin typeface="JetBrains Mono"/>
                <a:ea typeface="JetBrains Mono"/>
              </a:rPr>
              <a:t>NEVER THROW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7658100" y="1504950"/>
            <a:ext cx="36957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错误也是数据</a:t>
            </a:r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7658100" y="1819275"/>
            <a:ext cx="3695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StreamFn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一旦调用，请求、模型、运行时的任何失败都必须编码成流上的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error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事件（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stopReason = error / aborted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），不允许同步抛出。上层循环因此一个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try/catch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都不用写。</a:t>
            </a:r>
            <a:endParaRPr/>
          </a:p>
        </p:txBody>
      </p:sp>
      <p:sp>
        <p:nvSpPr>
          <p:cNvPr id="909" name=""/>
          <p:cNvSpPr/>
          <p:nvPr/>
        </p:nvSpPr>
        <p:spPr>
          <a:xfrm rot="0" flipH="0" flipV="0">
            <a:off x="7505700" y="2790825"/>
            <a:ext cx="4000500" cy="981075"/>
          </a:xfrm>
          <a:prstGeom prst="roundRect">
            <a:avLst>
              <a:gd name="adj" fmla="val 3883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7658100" y="2924175"/>
            <a:ext cx="3695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2AD4EE"/>
                </a:solidFill>
                <a:latin typeface="JetBrains Mono"/>
                <a:ea typeface="JetBrains Mono"/>
              </a:rPr>
              <a:t>LAZY LOAD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7658100" y="3152775"/>
            <a:ext cx="3695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975">
                <a:solidFill>
                  <a:srgbClr val="E8EEF9"/>
                </a:solidFill>
                <a:latin typeface="Source Han Sans SC"/>
                <a:ea typeface="Source Han Sans SC"/>
              </a:rPr>
              <a:t>lazyApi(() =&gt; import(...))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把每家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SDK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包成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ProviderStreams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，首次调用才动态加载。不用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Claude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，就不加载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Anthropic SDK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912" name=""/>
          <p:cNvSpPr/>
          <p:nvPr/>
        </p:nvSpPr>
        <p:spPr>
          <a:xfrm rot="0" flipH="0" flipV="0">
            <a:off x="7505700" y="3886200"/>
            <a:ext cx="4000500" cy="2171700"/>
          </a:xfrm>
          <a:prstGeom prst="roundRect">
            <a:avLst>
              <a:gd name="adj" fmla="val 1754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13" name="" descr="{&quot;isTemplate&quot;:true,&quot;type&quot;:&quot;text&quot;}"/>
          <p:cNvSpPr txBox="1"/>
          <p:nvPr/>
        </p:nvSpPr>
        <p:spPr>
          <a:xfrm rot="0" flipH="0" flipV="0">
            <a:off x="7658100" y="4019550"/>
            <a:ext cx="3695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AUTH · </a:t>
            </a: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四级优先</a:t>
            </a:r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7658100" y="4257675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6000"/>
                  </a:srgbClr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7886700" y="425767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>--api-key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8896350" y="4257675"/>
            <a:ext cx="245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仅内存，不落盘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7658100" y="445770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6000"/>
                  </a:srgbClr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7886700" y="445770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>auth.json</a:t>
            </a:r>
            <a:endParaRPr/>
          </a:p>
        </p:txBody>
      </p:sp>
      <p:sp>
        <p:nvSpPr>
          <p:cNvPr id="919" name="" descr="{&quot;isTemplate&quot;:true,&quot;type&quot;:&quot;text&quot;}"/>
          <p:cNvSpPr txBox="1"/>
          <p:nvPr/>
        </p:nvSpPr>
        <p:spPr>
          <a:xfrm rot="0" flipH="0" flipV="0">
            <a:off x="8896350" y="4457700"/>
            <a:ext cx="245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OAuth 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登录态也在这</a:t>
            </a:r>
            <a:endParaRPr/>
          </a:p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7658100" y="4657725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6000"/>
                  </a:srgbClr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7886700" y="4657725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/>
                </a:solidFill>
                <a:latin typeface="JetBrains Mono"/>
                <a:ea typeface="JetBrains Mono"/>
              </a:rPr>
              <a:t>环境变量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8896350" y="4657725"/>
            <a:ext cx="245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ANTHROPIC_API_KEY 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等</a:t>
            </a:r>
            <a:endParaRPr/>
          </a:p>
        </p:txBody>
      </p:sp>
      <p:sp>
        <p:nvSpPr>
          <p:cNvPr id="923" name="" descr="{&quot;isTemplate&quot;:true,&quot;type&quot;:&quot;text&quot;}"/>
          <p:cNvSpPr txBox="1"/>
          <p:nvPr/>
        </p:nvSpPr>
        <p:spPr>
          <a:xfrm rot="0" flipH="0" flipV="0">
            <a:off x="7658100" y="4857750"/>
            <a:ext cx="133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6000"/>
                  </a:srgbClr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7886700" y="4857750"/>
            <a:ext cx="91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/>
                </a:solidFill>
                <a:latin typeface="JetBrains Mono"/>
                <a:ea typeface="JetBrains Mono"/>
              </a:rPr>
              <a:t>models.json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8896350" y="4857750"/>
            <a:ext cx="2457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provider.apiKey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，可引用变量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7658100" y="5667375"/>
            <a:ext cx="3695700" cy="276225"/>
          </a:xfrm>
          <a:prstGeom prst="rect"/>
        </p:spPr>
        <p:txBody>
          <a:bodyPr wrap="none" lIns="0" tIns="71438" rIns="0" bIns="0"/>
          <a:p>
            <a:pPr>
              <a:lnSpc>
                <a:spcPct val="150000"/>
              </a:lnSpc>
            </a:pPr>
            <a:r>
              <a:rPr lang="en-US" sz="788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 xml:space="preserve">SDK </a:t>
            </a:r>
            <a:r>
              <a:rPr lang="zh-CN" sz="788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>侧：</a:t>
            </a:r>
            <a:r>
              <a:rPr lang="en-US" sz="788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 xml:space="preserve">modelRuntime.setRuntimeApiKey("anthropic", key) </a:t>
            </a:r>
            <a:r>
              <a:rPr lang="zh-CN" sz="788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>运行时注入。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928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27 / 46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929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Box style={{ flexDirection: 'row', alignItems: 'center', gap: 12 }}&gt;&#10;                &lt;Text style={{ fontSize: 13, color: '#2AD4EE', letterSpacing: 3, fontFamily: '&quot;JetBrains Mono&quot;, &quot;Cascadia Mono&quot;, Consolas, monospace' }}&gt;DESIGN POINT 02&lt;/Text&gt;&#10;                &lt;Text style={{ fontSize: 13, color: 'rgba(232,238,249,0.38)', letterSpacing: 2, fontFamily: '&quot;JetBrains Mono&quot;, &quot;Cascadia Mono&quot;, Consolas, monospace' }}&gt;· 对应 ② 提示层&lt;/Text&gt;&#10;            &lt;/Box&gt;&#10;            &lt;Text style={{ marginTop: 6, fontSize: 34, fontWeight: 'bold', color: '#E8EEF9' }}&gt;上下文工程：每一行常驻都要付租金&lt;/Text&gt;&#10;        &lt;/Box&gt;&#10;    &lt;/Box&gt;&#10;&#10;    {/* B 区 */}&#10;    &lt;Box style={{ height: 516, flexDirection: 'column' }}&gt;&#10;        &lt;Box style={{ height: 452, flexDirection: 'row', gap: 30 }}&gt;&#10;&#10;            {/* 左：五层堆栈 */}&#10;            &lt;Box style={{ width: 596, flexDirection: 'column' }}&gt;&#10;                &lt;Box style={{ flexDirection: 'row', alignItems: 'baseline', justifyContent: 'space-between' }}&gt;&#10;                    &lt;Text style={{ fontSize: 14, color: '#2AD4EE', letterSpacing: 2.5, fontFamily: '&quot;JetBrains Mono&quot;, &quot;Cascadia Mono&quot;, Consolas, monospace' }}&gt;SYSTEM PROMPT · 分层组装&lt;/Text&gt;&#10;                    &lt;Text style={{ fontSize: 12.5, color: 'rgba(232,238,249,0.42)' }}&gt;越靠上越稳定&lt;/Text&gt;&#10;                &lt;/Box&gt;&#10;&#10;                &lt;Box style={{ marginTop: 10, flexDirection: 'column', gap: 5 }}&gt;&#10;                    {[&#10;                        ['基础系统提示', '编码代理人格 + guidelines + 工具片段', '内核生成 · &lt;1000 token', 'rgba(42,212,238,0.16)', '100%'],&#10;                        ['AGENTS.md', '项目规则，从 cwd 向上逐级遍历自动发现', '跟着仓库走 · 随 git 版本化', 'rgba(42,212,238,0.11)', '100%'],&#10;                        ['SYSTEM.md', '稳定的行为边界', '长期不变', 'rgba(42,212,238,0.08)', '96%'],&#10;                        ['APPEND_SYSTEM.md', '追加指令，~/.pi/agent 或 .pi', '环境级差异', 'rgba(42,212,238,0.06)', '92%'],&#10;                        ['Skills 目录', '只有 name + description 常驻，正文按需加载', '目录常驻 · 正文不常驻', 'rgba(232,238,249,0.04)', '88%'],&#10;                    ].map((r, i) =&gt; (&#10;                        &lt;Box key={i} style={{ width: r[4], height: 60, flexDirection: 'row', alignItems: 'center', paddingLeft: 14, paddingRight: 14, background: r[3], border: '1px solid rgba(42,212,238,0.16)', borderRadius: 3 }}&gt;&#10;                            &lt;Text style={{ width: 156, fontSize: 14.5, fontWeight: 'bold', color: '#E8EEF9' }}&gt;{r[0]}&lt;/Text&gt;&#10;                            &lt;Text style={{ flex: 1, fontSize: 12.5, color: 'rgba(232,238,249,0.62)', lineHeight: 1.45 }}&gt;{r[1]}&lt;/Text&gt;&#10;                            &lt;Text style={{ width: 150, fontSize: 11.5, color: '#2AD4EE', textAlign: 'right', fontFamily: '&quot;JetBrains Mono&quot;, &quot;Cascadia Mono&quot;, Consolas, monospace' }}&gt;{r[2]}&lt;/Text&gt;&#10;                        &lt;/Box&gt;&#10;                    ))}&#10;                &lt;/Box&gt;&#10;&#10;                &lt;Text style={{ marginTop: 10, fontSize: 12, color: 'rgba(232,238,249,0.46)' }}&gt;SDK 层可覆盖：systemPromptOverride / appendSystemPromptOverride / agentsFilesOverride&lt;/Text&gt;&#10;&#10;                &lt;Box style={{ marginTop: 'auto', paddingTop: 10, paddingBottom: 10, paddingLeft: 14, paddingRight: 14, borderLeft: '3px solid #2AD4EE', background: 'rgba(42,212,238,0.06)' }}&gt;&#10;                    &lt;Text style={{ fontSize: 13, color: '#E8EEF9', lineHeight: 1.55 }}&gt;&#10;                        进系统提示的每一行，都要付「每轮都发」的租金——所以常驻最小化，其余按需注入。&#10;                    &lt;/Text&gt;&#10;                &lt;/Box&gt;&#10;            &lt;/Box&gt;&#10;&#10;            {/* 右：两卡 */}&#10;            &lt;Box style={{ flex: 1, flexDirection: 'column', gap: 14 }}&gt;&#10;                &lt;Box style={{ flex: 1.25, flexDirection: 'column', paddingTop: 16, paddingBottom: 14, paddingLeft: 18, paddingRight: 18, background: 'rgba(22,35,61,0.72)', border: '1px solid rgba(42,212,238,0.20)', borderRadius: 4 }}&gt;&#10;                    &lt;Text style={{ fontSize: 13, color: '#2AD4EE', letterSpacing: 2, fontFamily: '&quot;JetBrains Mono&quot;, &quot;Cascadia Mono&quot;, Consolas, monospace' }}&gt;SKILLS&lt;/Text&gt;&#10;                    &lt;Text style={{ marginTop: 8, fontSize: 17, fontWeight: 'bold', color: '#E8EEF9' }}&gt;目录常驻，正文按需&lt;/Text&gt;&#10;                    &lt;Text style={{ marginTop: 8, fontSize: 13, color: 'rgba(232,238,249,0.74)', lineHeight: 1.65 }}&gt;&#10;                        &lt;span style={{ color: '#2AD4EE', fontFamily: '&quot;JetBrains Mono&quot;, &quot;Cascadia Mono&quot;, Consolas, monospace' }}&gt;.pi/skills/&amp;lt;name&amp;gt;/SKILL.md&lt;/span&gt;&#10;                        ，frontmatter 写 name + description。模型只看到目录，需要时才读正文。&#10;                    &lt;/Text&gt;&#10;                    &lt;Box style={{ marginTop: 10, flexDirection: 'column', gap: 6 }}&gt;&#10;                        {[&#10;                            ['和 RAG 同源', '检索式注入，优于全量携带'],&#10;                            ['disableModelInvocation', '只许用户手动触发，不许模型自己调'],&#10;                            ['可筛选/合并/内联', 'skillsOverride + 合成 sourceInfo'],&#10;                        ].map((r, i) =&gt; (&#10;                            &lt;Box key={i} style={{ flexDirection: 'row', gap: 8, alignItems: 'flex-start' }}&gt;&#10;                                &lt;Box style={{ width: 4, height: 4, background: '#2AD4EE', marginTop: 7 }} /&gt;&#10;                                &lt;Text style={{ flex: 1, fontSize: 12.5, color: 'rgba(232,238,249,0.62)', lineHeight: 1.55 }}&gt;&#10;                                    &lt;span style={{ color: '#E8EEF9' }}&gt;{r[0]}&lt;/span&gt; · {r[1]}&#10;                                &lt;/Text&gt;&#10;                            &lt;/Box&gt;&#10;                        ))}&#10;                    &lt;/Box&gt;&#10;                &lt;/Box&gt;&#10;&#10;                &lt;Box style={{ flex: 1, flexDirection: 'column', paddingTop: 16, paddingBottom: 14, paddingLeft: 18, paddingRight: 18, background: 'rgba(22,35,61,0.72)', border: '1px solid rgba(232,238,249,0.10)', borderRadius: 4 }}&gt;&#10;                    &lt;Text style={{ fontSize: 13, color: '#2AD4EE', letterSpacing: 2, fontFamily: '&quot;JetBrains Mono&quot;, &quot;Cascadia Mono&quot;, Consolas, monospace' }}&gt;PROMPT 模板&lt;/Text&gt;&#10;                    &lt;Text style={{ marginTop: 8, fontSize: 17, fontWeight: 'bold', color: '#E8EEF9' }}&gt;文件版斜杠命令&lt;/Text&gt;&#10;                    &lt;Text style={{ marginTop: 8, fontSize: 13, color: 'rgba(232,238,249,0.74)', lineHeight: 1.65 }}&gt;&#10;                        &lt;span style={{ color: '#2AD4EE', fontFamily: '&quot;JetBrains Mono&quot;, &quot;Cascadia Mono&quot;, Consolas, monospace' }}&gt;/templatename&lt;/span&gt;&#10;                        触发，模板是 markdown 文件，内容作为 prompt 注入。部署步骤、审查清单这类固定流程，沉淀成模板比每次口述可靠。&#10;                    &lt;/Text&gt;&#10;                &lt;/Box&gt;&#10;            &lt;/Box&gt;&#10;        &lt;/Box&gt;&#10;&#10;        {/* 底部通栏：1/3 从哪来 */}&#10;        &lt;Box style={{ height: 52, flexDirection: 'row', alignItems: 'center', gap: 16, paddingLeft: 18, paddingRight: 18, background: 'rgba(42,212,238,0.08)', border: '1px solid rgba(42,212,238,0.22)', borderRadius: 4 }}&gt;&#10;            &lt;Text style={{ fontSize: 13, color: '#2AD4EE', letterSpacing: 2, fontFamily: '&quot;JetBrains Mono&quot;, &quot;Cascadia Mono&quot;, Consolas, monospace', lineHeight: 1.4 }}&gt;1/3&lt;br /&gt;从哪来&lt;/Text&gt;&#10;            &lt;Text style={{ flex: 1, fontSize: 14, color: '#E8EEF9', lineHeight: 1.55 }}&gt;&#10;                系统提示 &amp;lt;1000 token · 默认只挂 4 个工具 · Skills 按需不常驻 · compaction 主动压长会话 —— 四件事叠加，才有 Databricks 基准里约三分之一的每轮上下文。&#10;            &lt;/Text&gt;&#10;        &lt;/Box&gt;&#10;    &lt;/Box&gt;&#10;&#10;    {/* C 区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8 / 4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931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02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②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提示层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5181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上下文工程：每一行常驻都要付租金</a:t>
            </a:r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SYSTEM PROMPT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分层组装</a:t>
            </a:r>
            <a:endParaRPr/>
          </a:p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5648325" y="1143000"/>
            <a:ext cx="71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越靠上越稳定</a:t>
            </a:r>
            <a:endParaRPr/>
          </a:p>
        </p:txBody>
      </p:sp>
      <p:sp>
        <p:nvSpPr>
          <p:cNvPr id="937" name=""/>
          <p:cNvSpPr/>
          <p:nvPr/>
        </p:nvSpPr>
        <p:spPr>
          <a:xfrm rot="0" flipH="0" flipV="0">
            <a:off x="685800" y="1400175"/>
            <a:ext cx="5676900" cy="571500"/>
          </a:xfrm>
          <a:prstGeom prst="roundRect">
            <a:avLst>
              <a:gd name="adj" fmla="val 5000"/>
            </a:avLst>
          </a:prstGeom>
          <a:solidFill>
            <a:srgbClr val="2AD4EE">
              <a:alpha val="16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819150" y="160020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E8EEF9"/>
                </a:solidFill>
                <a:latin typeface="Source Han Sans SC"/>
                <a:ea typeface="Source Han Sans SC"/>
              </a:rPr>
              <a:t>基础系统提示</a:t>
            </a:r>
            <a:endParaRPr/>
          </a:p>
        </p:txBody>
      </p:sp>
      <p:sp>
        <p:nvSpPr>
          <p:cNvPr id="939" name="" descr="{&quot;isTemplate&quot;:true,&quot;type&quot;:&quot;text&quot;}"/>
          <p:cNvSpPr txBox="1"/>
          <p:nvPr/>
        </p:nvSpPr>
        <p:spPr>
          <a:xfrm rot="0" flipH="0" flipV="0">
            <a:off x="2305050" y="1581150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编码代理人格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+ guidelines + </a:t>
            </a: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工具片段</a:t>
            </a:r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4800600" y="1619250"/>
            <a:ext cx="14287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内核生成</a:t>
            </a: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 xml:space="preserve"> · &lt;1000 token</a:t>
            </a:r>
            <a:endParaRPr/>
          </a:p>
        </p:txBody>
      </p:sp>
      <p:sp>
        <p:nvSpPr>
          <p:cNvPr id="941" name=""/>
          <p:cNvSpPr/>
          <p:nvPr/>
        </p:nvSpPr>
        <p:spPr>
          <a:xfrm rot="0" flipH="0" flipV="0">
            <a:off x="685800" y="2019300"/>
            <a:ext cx="5676900" cy="571500"/>
          </a:xfrm>
          <a:prstGeom prst="roundRect">
            <a:avLst>
              <a:gd name="adj" fmla="val 5000"/>
            </a:avLst>
          </a:prstGeom>
          <a:solidFill>
            <a:srgbClr val="2AD4EE">
              <a:alpha val="11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2" name="" descr="{&quot;isTemplate&quot;:true,&quot;type&quot;:&quot;text&quot;}"/>
          <p:cNvSpPr txBox="1"/>
          <p:nvPr/>
        </p:nvSpPr>
        <p:spPr>
          <a:xfrm rot="0" flipH="0" flipV="0">
            <a:off x="819150" y="2219325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E8EEF9"/>
                </a:solidFill>
                <a:latin typeface="Source Han Sans SC"/>
                <a:ea typeface="Source Han Sans SC"/>
              </a:rPr>
              <a:t>AGENTS.md</a:t>
            </a:r>
            <a:endParaRPr/>
          </a:p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2305050" y="2200275"/>
            <a:ext cx="24955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项目规则，从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cwd </a:t>
            </a: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向上逐级遍历自动发现</a:t>
            </a:r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4800600" y="2171700"/>
            <a:ext cx="1428750" cy="266700"/>
          </a:xfrm>
          <a:prstGeom prst="rect"/>
        </p:spPr>
        <p:txBody>
          <a:bodyPr wrap="square" lIns="0" tIns="0" rIns="0" bIns="0">
            <a:normAutofit/>
          </a:bodyPr>
          <a:p>
            <a:pPr algn="r"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跟着仓库走</a:t>
            </a: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随</a:t>
            </a: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 xml:space="preserve"> git </a:t>
            </a: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版本化</a:t>
            </a:r>
            <a:endParaRPr/>
          </a:p>
        </p:txBody>
      </p:sp>
      <p:sp>
        <p:nvSpPr>
          <p:cNvPr id="945" name=""/>
          <p:cNvSpPr/>
          <p:nvPr/>
        </p:nvSpPr>
        <p:spPr>
          <a:xfrm rot="0" flipH="0" flipV="0">
            <a:off x="685800" y="2638425"/>
            <a:ext cx="5448300" cy="571500"/>
          </a:xfrm>
          <a:prstGeom prst="roundRect">
            <a:avLst>
              <a:gd name="adj" fmla="val 500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819150" y="283845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E8EEF9"/>
                </a:solidFill>
                <a:latin typeface="Source Han Sans SC"/>
                <a:ea typeface="Source Han Sans SC"/>
              </a:rPr>
              <a:t>SYSTEM.md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2305050" y="2819400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稳定的行为边界</a:t>
            </a:r>
            <a:endParaRPr/>
          </a:p>
        </p:txBody>
      </p:sp>
      <p:sp>
        <p:nvSpPr>
          <p:cNvPr id="948" name="" descr="{&quot;isTemplate&quot;:true,&quot;type&quot;:&quot;text&quot;}"/>
          <p:cNvSpPr txBox="1"/>
          <p:nvPr/>
        </p:nvSpPr>
        <p:spPr>
          <a:xfrm rot="0" flipH="0" flipV="0">
            <a:off x="4572000" y="2857500"/>
            <a:ext cx="14287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长期不变</a:t>
            </a:r>
            <a:endParaRPr/>
          </a:p>
        </p:txBody>
      </p:sp>
      <p:sp>
        <p:nvSpPr>
          <p:cNvPr id="949" name=""/>
          <p:cNvSpPr/>
          <p:nvPr/>
        </p:nvSpPr>
        <p:spPr>
          <a:xfrm rot="0" flipH="0" flipV="0">
            <a:off x="685800" y="3257550"/>
            <a:ext cx="5219700" cy="571500"/>
          </a:xfrm>
          <a:prstGeom prst="roundRect">
            <a:avLst>
              <a:gd name="adj" fmla="val 5000"/>
            </a:avLst>
          </a:prstGeom>
          <a:solidFill>
            <a:srgbClr val="2AD4EE">
              <a:alpha val="6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819150" y="3457575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E8EEF9"/>
                </a:solidFill>
                <a:latin typeface="Source Han Sans SC"/>
                <a:ea typeface="Source Han Sans SC"/>
              </a:rPr>
              <a:t>APPEND_SYSTEM.md</a:t>
            </a:r>
            <a:endParaRPr/>
          </a:p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2305050" y="3438525"/>
            <a:ext cx="20383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追加指令，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~/.pi/agent </a:t>
            </a: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或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.pi</a:t>
            </a:r>
            <a:endParaRPr/>
          </a:p>
        </p:txBody>
      </p:sp>
      <p:sp>
        <p:nvSpPr>
          <p:cNvPr id="952" name="" descr="{&quot;isTemplate&quot;:true,&quot;type&quot;:&quot;text&quot;}"/>
          <p:cNvSpPr txBox="1"/>
          <p:nvPr/>
        </p:nvSpPr>
        <p:spPr>
          <a:xfrm rot="0" flipH="0" flipV="0">
            <a:off x="4343400" y="3476625"/>
            <a:ext cx="14287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环境级差异</a:t>
            </a:r>
            <a:endParaRPr/>
          </a:p>
        </p:txBody>
      </p:sp>
      <p:sp>
        <p:nvSpPr>
          <p:cNvPr id="953" name=""/>
          <p:cNvSpPr/>
          <p:nvPr/>
        </p:nvSpPr>
        <p:spPr>
          <a:xfrm rot="0" flipH="0" flipV="0">
            <a:off x="685800" y="3876675"/>
            <a:ext cx="4991100" cy="571500"/>
          </a:xfrm>
          <a:prstGeom prst="roundRect">
            <a:avLst>
              <a:gd name="adj" fmla="val 5000"/>
            </a:avLst>
          </a:prstGeom>
          <a:solidFill>
            <a:srgbClr val="E8EEF9">
              <a:alpha val="4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819150" y="4076700"/>
            <a:ext cx="1485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88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Skills </a:t>
            </a:r>
            <a:r>
              <a:rPr lang="zh-CN" sz="1088" b="1">
                <a:solidFill>
                  <a:srgbClr val="E8EEF9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2305050" y="3952875"/>
            <a:ext cx="18097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只有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name + description </a:t>
            </a: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常驻，正文按需加载</a:t>
            </a:r>
            <a:endParaRPr/>
          </a:p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4114800" y="4095750"/>
            <a:ext cx="142875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目录常驻</a:t>
            </a: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正文不常驻</a:t>
            </a:r>
            <a:endParaRPr/>
          </a:p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685800" y="4543425"/>
            <a:ext cx="5676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SDK </a:t>
            </a:r>
            <a:r>
              <a:rPr lang="zh-CN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层可覆盖：</a:t>
            </a:r>
            <a:r>
              <a:rPr lang="en-US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systemPromptOverride / appendSystemPromptOverride / agentsFilesOverride</a:t>
            </a:r>
            <a:endParaRPr/>
          </a:p>
        </p:txBody>
      </p:sp>
      <p:sp>
        <p:nvSpPr>
          <p:cNvPr id="958" name=""/>
          <p:cNvSpPr/>
          <p:nvPr/>
        </p:nvSpPr>
        <p:spPr>
          <a:xfrm rot="0" flipH="0" flipV="0">
            <a:off x="714375" y="5019675"/>
            <a:ext cx="5676900" cy="428625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/>
        </p:txBody>
      </p:sp>
      <p:sp>
        <p:nvSpPr>
          <p:cNvPr id="959" name=""/>
          <p:cNvSpPr/>
          <p:nvPr/>
        </p:nvSpPr>
        <p:spPr>
          <a:xfrm rot="0" flipH="0" flipV="0">
            <a:off x="685800" y="5019675"/>
            <a:ext cx="5705475" cy="428625"/>
          </a:xfrm>
          <a:custGeom>
            <a:pathLst>
              <a:path w="599" h="45">
                <a:moveTo>
                  <a:pt x="0" y="0"/>
                </a:moveTo>
                <a:lnTo>
                  <a:pt x="3" y="0"/>
                </a:lnTo>
                <a:lnTo>
                  <a:pt x="3" y="45"/>
                </a:lnTo>
                <a:lnTo>
                  <a:pt x="0" y="45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847725" y="5114925"/>
            <a:ext cx="5381625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E8EEF9"/>
                </a:solidFill>
                <a:latin typeface="Source Han Sans SC"/>
                <a:ea typeface="Source Han Sans SC"/>
              </a:rPr>
              <a:t>进系统提示的每一行，都要付「每轮都发」的租金——所以常驻最小化，其余按需注入。</a:t>
            </a:r>
            <a:endParaRPr/>
          </a:p>
        </p:txBody>
      </p:sp>
      <p:sp>
        <p:nvSpPr>
          <p:cNvPr id="961" name=""/>
          <p:cNvSpPr/>
          <p:nvPr/>
        </p:nvSpPr>
        <p:spPr>
          <a:xfrm rot="0" flipH="0" flipV="0">
            <a:off x="6648450" y="1143000"/>
            <a:ext cx="4857750" cy="2571750"/>
          </a:xfrm>
          <a:prstGeom prst="roundRect">
            <a:avLst>
              <a:gd name="adj" fmla="val 1481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6819900" y="1295400"/>
            <a:ext cx="4514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2AD4EE"/>
                </a:solidFill>
                <a:latin typeface="JetBrains Mono"/>
                <a:ea typeface="JetBrains Mono"/>
              </a:rPr>
              <a:t>SKILLS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6819900" y="1524000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目录常驻，正文按需</a:t>
            </a:r>
            <a:endParaRPr/>
          </a:p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6819900" y="1800225"/>
            <a:ext cx="45148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>.pi/skills/&lt;name&gt;/SKILL.md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，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frontmatter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写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name + description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。模型只看到目录，需要时才读正文。</a:t>
            </a:r>
            <a:endParaRPr/>
          </a:p>
        </p:txBody>
      </p:sp>
      <p:sp>
        <p:nvSpPr>
          <p:cNvPr id="965" name=""/>
          <p:cNvSpPr/>
          <p:nvPr/>
        </p:nvSpPr>
        <p:spPr>
          <a:xfrm rot="0" flipH="0" flipV="0">
            <a:off x="6819900" y="2457450"/>
            <a:ext cx="381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6934200" y="2390775"/>
            <a:ext cx="440055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E8EEF9"/>
                </a:solidFill>
                <a:latin typeface="Source Han Sans SC"/>
                <a:ea typeface="Source Han Sans SC"/>
              </a:rPr>
              <a:t>和</a:t>
            </a:r>
            <a:r>
              <a:rPr lang="en-US" sz="93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RAG </a:t>
            </a:r>
            <a:r>
              <a:rPr lang="zh-CN" sz="938">
                <a:solidFill>
                  <a:srgbClr val="E8EEF9"/>
                </a:solidFill>
                <a:latin typeface="Source Han Sans SC"/>
                <a:ea typeface="Source Han Sans SC"/>
              </a:rPr>
              <a:t>同源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检索式注入，优于全量携带</a:t>
            </a:r>
            <a:endParaRPr/>
          </a:p>
        </p:txBody>
      </p:sp>
      <p:sp>
        <p:nvSpPr>
          <p:cNvPr id="967" name=""/>
          <p:cNvSpPr/>
          <p:nvPr/>
        </p:nvSpPr>
        <p:spPr>
          <a:xfrm rot="0" flipH="0" flipV="0">
            <a:off x="6819900" y="2743200"/>
            <a:ext cx="381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6934200" y="2676525"/>
            <a:ext cx="440055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>
                <a:solidFill>
                  <a:srgbClr val="E8EEF9"/>
                </a:solidFill>
                <a:latin typeface="Source Han Sans SC"/>
                <a:ea typeface="Source Han Sans SC"/>
              </a:rPr>
              <a:t>disableModelInvocation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只许用户手动触发，不许模型自己调</a:t>
            </a:r>
            <a:endParaRPr/>
          </a:p>
        </p:txBody>
      </p:sp>
      <p:sp>
        <p:nvSpPr>
          <p:cNvPr id="969" name=""/>
          <p:cNvSpPr/>
          <p:nvPr/>
        </p:nvSpPr>
        <p:spPr>
          <a:xfrm rot="0" flipH="0" flipV="0">
            <a:off x="6819900" y="3028950"/>
            <a:ext cx="381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6934200" y="2962275"/>
            <a:ext cx="440055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>
                <a:solidFill>
                  <a:srgbClr val="E8EEF9"/>
                </a:solidFill>
                <a:latin typeface="Source Han Sans SC"/>
                <a:ea typeface="Source Han Sans SC"/>
              </a:rPr>
              <a:t>可筛选</a:t>
            </a:r>
            <a:r>
              <a:rPr lang="en-US" sz="938">
                <a:solidFill>
                  <a:srgbClr val="E8EEF9"/>
                </a:solidFill>
                <a:latin typeface="Source Han Sans SC"/>
                <a:ea typeface="Source Han Sans SC"/>
              </a:rPr>
              <a:t>/</a:t>
            </a:r>
            <a:r>
              <a:rPr lang="zh-CN" sz="938">
                <a:solidFill>
                  <a:srgbClr val="E8EEF9"/>
                </a:solidFill>
                <a:latin typeface="Source Han Sans SC"/>
                <a:ea typeface="Source Han Sans SC"/>
              </a:rPr>
              <a:t>合并</a:t>
            </a:r>
            <a:r>
              <a:rPr lang="en-US" sz="938">
                <a:solidFill>
                  <a:srgbClr val="E8EEF9"/>
                </a:solidFill>
                <a:latin typeface="Source Han Sans SC"/>
                <a:ea typeface="Source Han Sans SC"/>
              </a:rPr>
              <a:t>/</a:t>
            </a:r>
            <a:r>
              <a:rPr lang="zh-CN" sz="938">
                <a:solidFill>
                  <a:srgbClr val="E8EEF9"/>
                </a:solidFill>
                <a:latin typeface="Source Han Sans SC"/>
                <a:ea typeface="Source Han Sans SC"/>
              </a:rPr>
              <a:t>内联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skillsOverride + </a:t>
            </a:r>
            <a:r>
              <a:rPr lang="zh-CN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合成</a:t>
            </a:r>
            <a:r>
              <a:rPr lang="en-US" sz="938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sourceInfo</a:t>
            </a:r>
            <a:endParaRPr/>
          </a:p>
        </p:txBody>
      </p:sp>
      <p:sp>
        <p:nvSpPr>
          <p:cNvPr id="971" name=""/>
          <p:cNvSpPr/>
          <p:nvPr/>
        </p:nvSpPr>
        <p:spPr>
          <a:xfrm rot="0" flipH="0" flipV="0">
            <a:off x="6648450" y="3848100"/>
            <a:ext cx="4857750" cy="1600200"/>
          </a:xfrm>
          <a:prstGeom prst="roundRect">
            <a:avLst>
              <a:gd name="adj" fmla="val 2381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6819900" y="4000500"/>
            <a:ext cx="4514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PROMPT </a:t>
            </a: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模板</a:t>
            </a:r>
            <a:endParaRPr/>
          </a:p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6819900" y="4229100"/>
            <a:ext cx="4514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文件版斜杠命令</a:t>
            </a:r>
            <a:endParaRPr/>
          </a:p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6819900" y="4505325"/>
            <a:ext cx="45148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>/templatename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触发，模板是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markdown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文件，内容作为</a:t>
            </a:r>
            <a:r>
              <a:rPr lang="en-US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975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注入。部署步骤、审查清单这类固定流程，沉淀成模板比每次口述可靠。</a:t>
            </a:r>
            <a:endParaRPr/>
          </a:p>
        </p:txBody>
      </p:sp>
      <p:sp>
        <p:nvSpPr>
          <p:cNvPr id="975" name=""/>
          <p:cNvSpPr/>
          <p:nvPr/>
        </p:nvSpPr>
        <p:spPr>
          <a:xfrm rot="0" flipH="0" flipV="0">
            <a:off x="685800" y="5448300"/>
            <a:ext cx="10820400" cy="495300"/>
          </a:xfrm>
          <a:prstGeom prst="roundRect">
            <a:avLst>
              <a:gd name="adj" fmla="val 769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6" name="" descr="{&quot;isTemplate&quot;:true,&quot;type&quot;:&quot;text&quot;}"/>
          <p:cNvSpPr txBox="1"/>
          <p:nvPr/>
        </p:nvSpPr>
        <p:spPr>
          <a:xfrm rot="0" flipH="0" flipV="0">
            <a:off x="857250" y="5486400"/>
            <a:ext cx="428625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975" spc="150">
                <a:solidFill>
                  <a:srgbClr val="2AD4EE"/>
                </a:solidFill>
                <a:latin typeface="JetBrains Mono"/>
                <a:ea typeface="JetBrains Mono"/>
              </a:rPr>
              <a:t>1/3</a:t>
            </a:r>
            <a:endParaRPr/>
          </a:p>
          <a:p>
            <a:pPr>
              <a:lnSpc>
                <a:spcPct val="14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从哪来</a:t>
            </a:r>
            <a:endParaRPr/>
          </a:p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1438275" y="5572125"/>
            <a:ext cx="9896475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E8EEF9"/>
                </a:solidFill>
                <a:latin typeface="Source Han Sans SC"/>
                <a:ea typeface="Source Han Sans SC"/>
              </a:rPr>
              <a:t>系统提示</a:t>
            </a:r>
            <a:r>
              <a:rPr lang="en-US" sz="10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&lt;1000 token · </a:t>
            </a:r>
            <a:r>
              <a:rPr lang="zh-CN" sz="1050">
                <a:solidFill>
                  <a:srgbClr val="E8EEF9"/>
                </a:solidFill>
                <a:latin typeface="Source Han Sans SC"/>
                <a:ea typeface="Source Han Sans SC"/>
              </a:rPr>
              <a:t>默认只挂</a:t>
            </a:r>
            <a:r>
              <a:rPr lang="en-US" sz="10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050">
                <a:solidFill>
                  <a:srgbClr val="E8EEF9"/>
                </a:solidFill>
                <a:latin typeface="Source Han Sans SC"/>
                <a:ea typeface="Source Han Sans SC"/>
              </a:rPr>
              <a:t>个工具</a:t>
            </a:r>
            <a:r>
              <a:rPr lang="en-US" sz="10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Skills </a:t>
            </a:r>
            <a:r>
              <a:rPr lang="zh-CN" sz="1050">
                <a:solidFill>
                  <a:srgbClr val="E8EEF9"/>
                </a:solidFill>
                <a:latin typeface="Source Han Sans SC"/>
                <a:ea typeface="Source Han Sans SC"/>
              </a:rPr>
              <a:t>按需不常驻</a:t>
            </a:r>
            <a:r>
              <a:rPr lang="en-US" sz="10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compaction </a:t>
            </a:r>
            <a:r>
              <a:rPr lang="zh-CN" sz="1050">
                <a:solidFill>
                  <a:srgbClr val="E8EEF9"/>
                </a:solidFill>
                <a:latin typeface="Source Han Sans SC"/>
                <a:ea typeface="Source Han Sans SC"/>
              </a:rPr>
              <a:t>主动压长会话</a:t>
            </a:r>
            <a:r>
              <a:rPr lang="en-US" sz="10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1050">
                <a:solidFill>
                  <a:srgbClr val="E8EEF9"/>
                </a:solidFill>
                <a:latin typeface="Source Han Sans SC"/>
                <a:ea typeface="Source Han Sans SC"/>
              </a:rPr>
              <a:t>四件事叠加，才有</a:t>
            </a:r>
            <a:r>
              <a:rPr lang="en-US" sz="10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Databricks </a:t>
            </a:r>
            <a:r>
              <a:rPr lang="zh-CN" sz="1050">
                <a:solidFill>
                  <a:srgbClr val="E8EEF9"/>
                </a:solidFill>
                <a:latin typeface="Source Han Sans SC"/>
                <a:ea typeface="Source Han Sans SC"/>
              </a:rPr>
              <a:t>基准里约三分之一的每轮上下文。</a:t>
            </a:r>
            <a:endParaRPr/>
          </a:p>
        </p:txBody>
      </p:sp>
      <p:sp>
        <p:nvSpPr>
          <p:cNvPr id="978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28 / 46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980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Box style={{ flexDirection: 'row', alignItems: 'center', gap: 12 }}&gt;&#10;                &lt;Text style={{ fontSize: 13, color: '#2AD4EE', letterSpacing: 3, fontFamily: '&quot;JetBrains Mono&quot;, &quot;Cascadia Mono&quot;, Consolas, monospace' }}&gt;DESIGN POINT 02 · 续&lt;/Text&gt;&#10;                &lt;Text style={{ fontSize: 13, color: 'rgba(232,238,249,0.38)', letterSpacing: 2, fontFamily: '&quot;JetBrains Mono&quot;, &quot;Cascadia Mono&quot;, Consolas, monospace' }}&gt;· compaction 压缩&lt;/Text&gt;&#10;            &lt;/Box&gt;&#10;            &lt;Text style={{ marginTop: 6, fontSize: 34, fontWeight: 'bold', color: '#E8EEF9' }}&gt;压缩是有损的，日志是无损的&lt;/Text&gt;&#10;        &lt;/Box&gt;&#10;    &lt;/Box&gt;&#10;&#10;    {/* B 区 */}&#10;    &lt;Box style={{ height: 516, flexDirection: 'row', gap: 28 }}&gt;&#10;        {/* 左 */}&#10;        &lt;Box style={{ width: 612, flexDirection: 'column' }}&gt;&#10;            &lt;Text style={{ fontSize: 14, color: '#2AD4EE', letterSpacing: 2.5, fontFamily: '&quot;JetBrains Mono&quot;, &quot;Cascadia Mono&quot;, Consolas, monospace' }}&gt;两条触发路径&lt;/Text&gt;&#10;&#10;            &lt;Box style={{ marginTop: 10, flexDirection: 'row', gap: 10 }}&gt;&#10;                {[&#10;                    { k: 'threshold', t: '提前压', d: 'contextTokens &gt; contextWindow − reserveTokens（默认 16384）', n: '下一次 assistant 请求前 / 每次 agent_end 后；不打断当前轮' },&#10;                    { k: 'overflow', t: '事后压', d: 'provider 报 context overflow，或 stopReason = length 且可恢复', n: 'compact 后 continue() 恢复被打断的 turn；只重试一次' },&#10;                ].map((c, i) =&gt; (&#10;                    &lt;Box key={i} style={{ flex: 1, flexDirection: 'column', paddingTop: 9, paddingBottom: 9, paddingLeft: 13, paddingRight: 13, background: i === 0 ? 'rgba(42,212,238,0.09)' : 'rgba(22,35,61,0.72)', border: '1px solid rgba(42,212,238,0.20)', borderRadius: 3 }}&gt;&#10;                        &lt;Box style={{ flexDirection: 'row', alignItems: 'baseline', gap: 8 }}&gt;&#10;                            &lt;Text style={{ fontSize: 14, fontFamily: '&quot;JetBrains Mono&quot;, &quot;Cascadia Mono&quot;, Consolas, monospace', color: '#2AD4EE' }}&gt;{c.k}&lt;/Text&gt;&#10;                            &lt;Text style={{ fontSize: 13, color: '#E8EEF9', fontWeight: 'bold' }}&gt;{c.t}&lt;/Text&gt;&#10;                        &lt;/Box&gt;&#10;                        &lt;Text style={{ marginTop: 7, fontSize: 12, color: 'rgba(232,238,249,0.72)', lineHeight: 1.55 }}&gt;{c.d}&lt;/Text&gt;&#10;                        &lt;Text style={{ marginTop: 6, fontSize: 11.5, color: 'rgba(232,238,249,0.46)', lineHeight: 1.5 }}&gt;{c.n}&lt;/Text&gt;&#10;                    &lt;/Box&gt;&#10;                ))}&#10;            &lt;/Box&gt;&#10;&#10;            &lt;Text style={{ marginTop: 16, fontSize: 14, color: '#2AD4EE', letterSpacing: 2.5, fontFamily: '&quot;JetBrains Mono&quot;, &quot;Cascadia Mono&quot;, Consolas, monospace' }}&gt;切点不是简单截断 · 三条边界规则&lt;/Text&gt;&#10;&#10;            &lt;Box style={{ marginTop: 10, flex: 1, flexDirection: 'column', gap: 9 }}&gt;&#10;                {[&#10;                    ['01', '保住工作现场', '从最新消息向前累计 token，凑够 keepRecentTokens（默认 20000）处切开。'],&#10;                    ['02', '只在合法切点切', 'user / assistant / bashExecution / custom 可以切，绝不在 toolResult 处切——工具结果必须紧跟它对应的调用。'],&#10;                    ['03', '切在轮中要补前缀摘要', 'split turn 时对该轮前缀单独生成小摘要：Original Request / Early Progress / Context for Suffix，拼在主摘要之后。'],&#10;                ].map((r, i) =&gt; (&#10;                    &lt;Box key={i} style={{ flexDirection: 'row', gap: 12, alignItems: 'flex-start', paddingTop: 5, paddingBottom: 5, borderTop: '1px solid rgba(232,238,249,0.08)' }}&gt;&#10;                        &lt;Text style={{ fontSize: 15, color: 'rgba(42,212,238,0.62)', fontFamily: '&quot;JetBrains Mono&quot;, &quot;Cascadia Mono&quot;, Consolas, monospace' }}&gt;{r[0]}&lt;/Text&gt;&#10;                        &lt;Box style={{ flex: 1, flexDirection: 'column' }}&gt;&#10;                            &lt;Text style={{ fontSize: 13.5, fontWeight: 'bold', color: '#E8EEF9' }}&gt;{r[1]}&lt;/Text&gt;&#10;                            &lt;Text style={{ marginTop: 4, fontSize: 12.5, color: 'rgba(232,238,249,0.66)', lineHeight: 1.6 }}&gt;{r[2]}&lt;/Text&gt;&#10;                        &lt;/Box&gt;&#10;                    &lt;/Box&gt;&#10;                ))}&#10;            &lt;/Box&gt;&#10;&#10;            &lt;Box style={{ flexDirection: 'row', alignItems: 'center', gap: 12, paddingTop: 8, paddingBottom: 8, paddingLeft: 14, paddingRight: 14, background: 'rgba(42,212,238,0.07)', border: '1px solid rgba(42,212,238,0.20)', borderRadius: 3 }}&gt;&#10;                &lt;Text style={{ fontSize: 12, color: '#2AD4EE', fontFamily: '&quot;JetBrains Mono&quot;, &quot;Cascadia Mono&quot;, Consolas, monospace' }}&gt;WRITE&lt;/Text&gt;&#10;                &lt;Text style={{ flex: 1, fontSize: 12.5, color: 'rgba(232,238,249,0.78)', lineHeight: 1.55 }}&gt;&#10;                    .jsonl 不删任何条目，只追加一条 compaction entry（summary + firstKeptEntryId）——随时可回溯，甚至撤销压缩。&#10;                &lt;/Text&gt;&#10;            &lt;/Box&gt;&#10;        &lt;/Box&gt;&#10;&#10;        {/* 右 */}&#10;        &lt;Box style={{ flex: 1, flexDirection: 'column' }}&gt;&#10;            &lt;Text style={{ fontSize: 14, color: '#2AD4EE', letterSpacing: 2.5, fontFamily: '&quot;JetBrains Mono&quot;, &quot;Cascadia Mono&quot;, Consolas, monospace' }}&gt;结构化摘要 · 固定模板&lt;/Text&gt;&#10;            &lt;Text style={{ marginTop: 6, fontSize: 12.5, color: 'rgba(232,238,249,0.46)' }}&gt;被丢弃的消息序列化进 &amp;lt;conversation&amp;gt; 标签，让 LLM 输出 checkpoint&lt;/Text&gt;&#10;&#10;            &lt;Box style={{ marginTop: 10, flexDirection: 'column', gap: 5 }}&gt;&#10;                {[&#10;                    ['## Goal', '这次任务要达成什么'],&#10;                    ['## Constraints &amp; Preferences', '约束、偏好、不能碰的东西'],&#10;                    ['## Progress', 'Done / In Progress / Blocked'],&#10;                    ['## Key Decisions', '做过哪些决定，为什么'],&#10;                    ['## Next Steps', '下一步该干什么'],&#10;                    ['## Critical Context', '路径、函数名、报错原文'],&#10;                ].map((r, i) =&gt; (&#10;                    &lt;Box key={i} style={{ flexDirection: 'row', alignItems: 'center', paddingTop: 6, paddingBottom: 6, paddingLeft: 10, background: 'rgba(22,35,61,0.60)', borderLeft: '2px solid rgba(42,212,238,0.34)' }}&gt;&#10;                        &lt;Text style={{ width: 208, fontSize: 11.5, color: '#2AD4EE', fontFamily: '&quot;JetBrains Mono&quot;, &quot;Cascadia Mono&quot;, Consolas, monospace' }}&gt;{r[0]}&lt;/Text&gt;&#10;                        &lt;Text style={{ flex: 1, fontSize: 12.5, color: 'rgba(232,238,249,0.66)' }}&gt;{r[1]}&lt;/Text&gt;&#10;                    &lt;/Box&gt;&#10;                ))}&#10;            &lt;/Box&gt;&#10;&#10;            &lt;Box style={{ marginTop: 12, flex: 1, flexDirection: 'column', paddingTop: 12, paddingBottom: 12, paddingLeft: 14, paddingRight: 14, background: 'rgba(22,35,61,0.72)', border: '1px solid rgba(232,238,249,0.10)', borderRadius: 3 }}&gt;&#10;                &lt;Text style={{ fontSize: 12.5, color: '#E8EEF9', fontWeight: 'bold' }}&gt;增量合并，不滚雪球&lt;/Text&gt;&#10;                &lt;Text style={{ marginTop: 6, fontSize: 12.5, color: 'rgba(232,238,249,0.70)', lineHeight: 1.62 }}&gt;&#10;                    已有旧摘要时走 UPDATE prompt：PRESERVE all existing information，只把 In Progress 挪到 Done、刷新 Next Steps。&#10;                &lt;/Text&gt;&#10;                &lt;Text style={{ marginTop: 8, fontSize: 12.5, color: 'rgba(232,238,249,0.70)', lineHeight: 1.62 }}&gt;&#10;                    模板硬性要求保真：Preserve exact file paths, function names, and error messages。&#10;                &lt;/Text&gt;&#10;                &lt;Text style={{ marginTop: 8, fontSize: 12.5, color: 'rgba(232,238,249,0.70)', lineHeight: 1.62 }}&gt;&#10;                    文件清单兜底：从历史工具调用提取 readFiles / modifiedFiles，存进 entry 的 details，下次压缩继承。&#10;                &lt;/Text&gt;&#10;                &lt;Box style={{ marginTop: 'auto', paddingTop: 8, borderTop: '1px solid rgba(232,238,249,0.08)' }}&gt;&#10;                    &lt;Text style={{ fontSize: 11.5, color: 'rgba(42,212,238,0.80)', lineHeight: 1.55 }}&gt;&#10;                        摘要调用失败或 stopReason = error / length → 拒绝落盘。半截摘要当 checkpoint 是灾难。&#10;                    &lt;/Text&gt;&#10;                &lt;/Box&gt;&#10;            &lt;/Box&gt;&#10;        &lt;/Box&gt;&#10;    &lt;/Box&gt;&#10;&#10;    {/* C 区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29 / 4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982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DESIGN POINT 02 · </a:t>
            </a:r>
            <a:r>
              <a:rPr lang="zh-CN" sz="975" spc="225">
                <a:solidFill>
                  <a:srgbClr val="2AD4EE"/>
                </a:solidFill>
                <a:latin typeface="JetBrains Mono"/>
                <a:ea typeface="JetBrains Mono"/>
              </a:rPr>
              <a:t>续</a:t>
            </a:r>
            <a:endParaRPr/>
          </a:p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2971800" y="247650"/>
            <a:ext cx="148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compaction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压缩</a:t>
            </a:r>
            <a:endParaRPr/>
          </a:p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压缩是有损的，日志是无损的</a:t>
            </a:r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582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两条触发路径</a:t>
            </a:r>
            <a:endParaRPr/>
          </a:p>
        </p:txBody>
      </p:sp>
      <p:sp>
        <p:nvSpPr>
          <p:cNvPr id="987" name=""/>
          <p:cNvSpPr/>
          <p:nvPr/>
        </p:nvSpPr>
        <p:spPr>
          <a:xfrm rot="0" flipH="0" flipV="0">
            <a:off x="685800" y="1400175"/>
            <a:ext cx="2867025" cy="1285875"/>
          </a:xfrm>
          <a:prstGeom prst="roundRect">
            <a:avLst>
              <a:gd name="adj" fmla="val 2222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809625" y="1485900"/>
            <a:ext cx="70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threshold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1590675" y="1485900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8EEF9"/>
                </a:solidFill>
                <a:latin typeface="Source Han Sans SC"/>
                <a:ea typeface="Source Han Sans SC"/>
              </a:rPr>
              <a:t>提前压</a:t>
            </a:r>
            <a:endParaRPr/>
          </a:p>
        </p:txBody>
      </p:sp>
      <p:sp>
        <p:nvSpPr>
          <p:cNvPr id="990" name="" descr="{&quot;isTemplate&quot;:true,&quot;type&quot;:&quot;text&quot;}"/>
          <p:cNvSpPr txBox="1"/>
          <p:nvPr/>
        </p:nvSpPr>
        <p:spPr>
          <a:xfrm rot="0" flipH="0" flipV="0">
            <a:off x="809625" y="1714500"/>
            <a:ext cx="26193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contextTokens &gt; contextWindow − reserveTokens</a:t>
            </a:r>
            <a:r>
              <a:rPr lang="zh-CN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（默认</a:t>
            </a:r>
            <a:r>
              <a:rPr lang="en-US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16384</a:t>
            </a:r>
            <a:r>
              <a:rPr lang="zh-CN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809625" y="2200275"/>
            <a:ext cx="26193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下一次</a:t>
            </a:r>
            <a:r>
              <a:rPr lang="en-US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assistant </a:t>
            </a:r>
            <a:r>
              <a:rPr lang="zh-CN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请求前</a:t>
            </a:r>
            <a:r>
              <a:rPr lang="en-US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每次</a:t>
            </a:r>
            <a:r>
              <a:rPr lang="en-US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agent_end </a:t>
            </a:r>
            <a:r>
              <a:rPr lang="zh-CN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后；不打断当前轮</a:t>
            </a:r>
            <a:endParaRPr/>
          </a:p>
        </p:txBody>
      </p:sp>
      <p:sp>
        <p:nvSpPr>
          <p:cNvPr id="992" name=""/>
          <p:cNvSpPr/>
          <p:nvPr/>
        </p:nvSpPr>
        <p:spPr>
          <a:xfrm rot="0" flipH="0" flipV="0">
            <a:off x="3648075" y="1400175"/>
            <a:ext cx="2867025" cy="1285875"/>
          </a:xfrm>
          <a:prstGeom prst="roundRect">
            <a:avLst>
              <a:gd name="adj" fmla="val 2222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3771900" y="148590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overflow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4476750" y="1485900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E8EEF9"/>
                </a:solidFill>
                <a:latin typeface="Source Han Sans SC"/>
                <a:ea typeface="Source Han Sans SC"/>
              </a:rPr>
              <a:t>事后压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3771900" y="1714500"/>
            <a:ext cx="261937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provider </a:t>
            </a:r>
            <a:r>
              <a:rPr lang="zh-CN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报</a:t>
            </a:r>
            <a:r>
              <a:rPr lang="en-US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context overflow</a:t>
            </a:r>
            <a:r>
              <a:rPr lang="zh-CN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，或</a:t>
            </a:r>
            <a:r>
              <a:rPr lang="en-US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stopReason = length </a:t>
            </a:r>
            <a:r>
              <a:rPr lang="zh-CN" sz="9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且可恢复</a:t>
            </a:r>
            <a:endParaRPr/>
          </a:p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3771900" y="2200275"/>
            <a:ext cx="26193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compact </a:t>
            </a:r>
            <a:r>
              <a:rPr lang="zh-CN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后</a:t>
            </a:r>
            <a:r>
              <a:rPr lang="en-US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continue() </a:t>
            </a:r>
            <a:r>
              <a:rPr lang="zh-CN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恢复被打断的</a:t>
            </a:r>
            <a:r>
              <a:rPr lang="en-US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turn</a:t>
            </a:r>
            <a:r>
              <a:rPr lang="zh-CN" sz="863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；只重试一次</a:t>
            </a:r>
            <a:endParaRPr/>
          </a:p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685800" y="2838450"/>
            <a:ext cx="582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切点不是简单截断</a:t>
            </a: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三条边界规则</a:t>
            </a:r>
            <a:endParaRPr/>
          </a:p>
        </p:txBody>
      </p:sp>
      <p:sp>
        <p:nvSpPr>
          <p:cNvPr id="998" name=""/>
          <p:cNvSpPr/>
          <p:nvPr/>
        </p:nvSpPr>
        <p:spPr>
          <a:xfrm rot="0" flipH="0" flipV="0">
            <a:off x="685800" y="3095625"/>
            <a:ext cx="5829300" cy="542925"/>
          </a:xfrm>
          <a:custGeom>
            <a:pathLst>
              <a:path w="612" h="57">
                <a:moveTo>
                  <a:pt x="0" y="0"/>
                </a:moveTo>
                <a:lnTo>
                  <a:pt x="612" y="0"/>
                </a:lnTo>
                <a:lnTo>
                  <a:pt x="61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685800" y="3152775"/>
            <a:ext cx="17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971550" y="3152775"/>
            <a:ext cx="554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E8EEF9"/>
                </a:solidFill>
                <a:latin typeface="Source Han Sans SC"/>
                <a:ea typeface="Source Han Sans SC"/>
              </a:rPr>
              <a:t>保住工作现场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971550" y="3352800"/>
            <a:ext cx="55435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从最新消息向前累计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token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，凑够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keepRecentTokens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（默认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20000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）处切开。</a:t>
            </a:r>
            <a:endParaRPr/>
          </a:p>
        </p:txBody>
      </p:sp>
      <p:sp>
        <p:nvSpPr>
          <p:cNvPr id="1002" name=""/>
          <p:cNvSpPr/>
          <p:nvPr/>
        </p:nvSpPr>
        <p:spPr>
          <a:xfrm rot="0" flipH="0" flipV="0">
            <a:off x="685800" y="3714750"/>
            <a:ext cx="5829300" cy="771525"/>
          </a:xfrm>
          <a:custGeom>
            <a:pathLst>
              <a:path w="612" h="81">
                <a:moveTo>
                  <a:pt x="0" y="0"/>
                </a:moveTo>
                <a:lnTo>
                  <a:pt x="612" y="0"/>
                </a:lnTo>
                <a:lnTo>
                  <a:pt x="61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685800" y="3771900"/>
            <a:ext cx="17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004" name="" descr="{&quot;isTemplate&quot;:true,&quot;type&quot;:&quot;text&quot;}"/>
          <p:cNvSpPr txBox="1"/>
          <p:nvPr/>
        </p:nvSpPr>
        <p:spPr>
          <a:xfrm rot="0" flipH="0" flipV="0">
            <a:off x="971550" y="3771900"/>
            <a:ext cx="554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E8EEF9"/>
                </a:solidFill>
                <a:latin typeface="Source Han Sans SC"/>
                <a:ea typeface="Source Han Sans SC"/>
              </a:rPr>
              <a:t>只在合法切点切</a:t>
            </a:r>
            <a:endParaRPr/>
          </a:p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971550" y="3971925"/>
            <a:ext cx="55435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user / assistant / bashExecution / custom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可以切，绝不在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toolResult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处切——工具结果必须紧跟它对应的调用。</a:t>
            </a:r>
            <a:endParaRPr/>
          </a:p>
        </p:txBody>
      </p:sp>
      <p:sp>
        <p:nvSpPr>
          <p:cNvPr id="1006" name=""/>
          <p:cNvSpPr/>
          <p:nvPr/>
        </p:nvSpPr>
        <p:spPr>
          <a:xfrm rot="0" flipH="0" flipV="0">
            <a:off x="685800" y="4562475"/>
            <a:ext cx="5829300" cy="771525"/>
          </a:xfrm>
          <a:custGeom>
            <a:pathLst>
              <a:path w="612" h="81">
                <a:moveTo>
                  <a:pt x="0" y="0"/>
                </a:moveTo>
                <a:lnTo>
                  <a:pt x="612" y="0"/>
                </a:lnTo>
                <a:lnTo>
                  <a:pt x="612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007" name="" descr="{&quot;isTemplate&quot;:true,&quot;type&quot;:&quot;text&quot;}"/>
          <p:cNvSpPr txBox="1"/>
          <p:nvPr/>
        </p:nvSpPr>
        <p:spPr>
          <a:xfrm rot="0" flipH="0" flipV="0">
            <a:off x="685800" y="4619625"/>
            <a:ext cx="17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971550" y="4619625"/>
            <a:ext cx="554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E8EEF9"/>
                </a:solidFill>
                <a:latin typeface="Source Han Sans SC"/>
                <a:ea typeface="Source Han Sans SC"/>
              </a:rPr>
              <a:t>切在轮中要补前缀摘要</a:t>
            </a:r>
            <a:endParaRPr/>
          </a:p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971550" y="4819650"/>
            <a:ext cx="554355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split turn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时对该轮前缀单独生成小摘要：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Original Request / Early Progress / Context for Suffix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，拼在主摘要之后。</a:t>
            </a:r>
            <a:endParaRPr/>
          </a:p>
        </p:txBody>
      </p:sp>
      <p:sp>
        <p:nvSpPr>
          <p:cNvPr id="1010" name=""/>
          <p:cNvSpPr/>
          <p:nvPr/>
        </p:nvSpPr>
        <p:spPr>
          <a:xfrm rot="0" flipH="0" flipV="0">
            <a:off x="685800" y="5457825"/>
            <a:ext cx="5829300" cy="600075"/>
          </a:xfrm>
          <a:prstGeom prst="roundRect">
            <a:avLst>
              <a:gd name="adj" fmla="val 4762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819150" y="56864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WRITE</a:t>
            </a:r>
            <a:endParaRPr/>
          </a:p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1276350" y="5534025"/>
            <a:ext cx="51054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38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.jsonl </a:t>
            </a:r>
            <a:r>
              <a:rPr lang="zh-CN" sz="938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不删任何条目，只追加一条</a:t>
            </a:r>
            <a:r>
              <a:rPr lang="en-US" sz="938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compaction entry</a:t>
            </a:r>
            <a:r>
              <a:rPr lang="zh-CN" sz="938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（</a:t>
            </a:r>
            <a:r>
              <a:rPr lang="en-US" sz="938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summary + firstKeptEntryId</a:t>
            </a:r>
            <a:r>
              <a:rPr lang="zh-CN" sz="938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）——随时可回溯，甚至撤销压缩。</a:t>
            </a:r>
            <a:endParaRPr/>
          </a:p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6781800" y="1143000"/>
            <a:ext cx="472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结构化摘要</a:t>
            </a: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固定模板</a:t>
            </a:r>
            <a:endParaRPr/>
          </a:p>
        </p:txBody>
      </p:sp>
      <p:sp>
        <p:nvSpPr>
          <p:cNvPr id="1014" name="" descr="{&quot;isTemplate&quot;:true,&quot;type&quot;:&quot;text&quot;}"/>
          <p:cNvSpPr txBox="1"/>
          <p:nvPr/>
        </p:nvSpPr>
        <p:spPr>
          <a:xfrm rot="0" flipH="0" flipV="0">
            <a:off x="6781800" y="1362075"/>
            <a:ext cx="4724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被丢弃的消息序列化进</a:t>
            </a:r>
            <a:r>
              <a:rPr lang="en-US" sz="938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&lt;conversation&gt; </a:t>
            </a:r>
            <a:r>
              <a:rPr lang="zh-CN" sz="938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标签，让</a:t>
            </a:r>
            <a:r>
              <a:rPr lang="en-US" sz="938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938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输出</a:t>
            </a:r>
            <a:r>
              <a:rPr lang="en-US" sz="938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checkpoint</a:t>
            </a:r>
            <a:endParaRPr/>
          </a:p>
        </p:txBody>
      </p:sp>
      <p:sp>
        <p:nvSpPr>
          <p:cNvPr id="1015" name=""/>
          <p:cNvSpPr/>
          <p:nvPr/>
        </p:nvSpPr>
        <p:spPr>
          <a:xfrm rot="0" flipH="0" flipV="0">
            <a:off x="6800850" y="1600200"/>
            <a:ext cx="4724400" cy="257175"/>
          </a:xfrm>
          <a:prstGeom prst="rect">
            <a:avLst/>
          </a:prstGeom>
          <a:solidFill>
            <a:srgbClr val="16233D">
              <a:alpha val="60000"/>
            </a:srgbClr>
          </a:solidFill>
          <a:ln/>
        </p:spPr>
        <p:txBody>
          <a:bodyPr/>
          <a:p/>
        </p:txBody>
      </p:sp>
      <p:sp>
        <p:nvSpPr>
          <p:cNvPr id="1016" name=""/>
          <p:cNvSpPr/>
          <p:nvPr/>
        </p:nvSpPr>
        <p:spPr>
          <a:xfrm rot="0" flipH="0" flipV="0">
            <a:off x="6781800" y="1600200"/>
            <a:ext cx="4743450" cy="257175"/>
          </a:xfrm>
          <a:custGeom>
            <a:pathLst>
              <a:path w="498" h="27">
                <a:moveTo>
                  <a:pt x="0" y="0"/>
                </a:moveTo>
                <a:lnTo>
                  <a:pt x="2" y="0"/>
                </a:lnTo>
                <a:lnTo>
                  <a:pt x="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2AD4EE">
              <a:alpha val="34000"/>
            </a:srgbClr>
          </a:solidFill>
          <a:ln/>
        </p:spPr>
        <p:txBody>
          <a:bodyPr/>
          <a:p/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6896100" y="166687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## Goal</a:t>
            </a:r>
            <a:endParaRPr/>
          </a:p>
        </p:txBody>
      </p:sp>
      <p:sp>
        <p:nvSpPr>
          <p:cNvPr id="1018" name="" descr="{&quot;isTemplate&quot;:true,&quot;type&quot;:&quot;text&quot;}"/>
          <p:cNvSpPr txBox="1"/>
          <p:nvPr/>
        </p:nvSpPr>
        <p:spPr>
          <a:xfrm rot="0" flipH="0" flipV="0">
            <a:off x="8877300" y="1657350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这次任务要达成什么</a:t>
            </a:r>
            <a:endParaRPr/>
          </a:p>
        </p:txBody>
      </p:sp>
      <p:sp>
        <p:nvSpPr>
          <p:cNvPr id="1019" name=""/>
          <p:cNvSpPr/>
          <p:nvPr/>
        </p:nvSpPr>
        <p:spPr>
          <a:xfrm rot="0" flipH="0" flipV="0">
            <a:off x="6800850" y="1905000"/>
            <a:ext cx="4724400" cy="257175"/>
          </a:xfrm>
          <a:prstGeom prst="rect">
            <a:avLst/>
          </a:prstGeom>
          <a:solidFill>
            <a:srgbClr val="16233D">
              <a:alpha val="60000"/>
            </a:srgbClr>
          </a:solidFill>
          <a:ln/>
        </p:spPr>
        <p:txBody>
          <a:bodyPr/>
          <a:p/>
        </p:txBody>
      </p:sp>
      <p:sp>
        <p:nvSpPr>
          <p:cNvPr id="1020" name=""/>
          <p:cNvSpPr/>
          <p:nvPr/>
        </p:nvSpPr>
        <p:spPr>
          <a:xfrm rot="0" flipH="0" flipV="0">
            <a:off x="6781800" y="1905000"/>
            <a:ext cx="4743450" cy="257175"/>
          </a:xfrm>
          <a:custGeom>
            <a:pathLst>
              <a:path w="498" h="27">
                <a:moveTo>
                  <a:pt x="0" y="0"/>
                </a:moveTo>
                <a:lnTo>
                  <a:pt x="2" y="0"/>
                </a:lnTo>
                <a:lnTo>
                  <a:pt x="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2AD4EE">
              <a:alpha val="34000"/>
            </a:srgbClr>
          </a:solidFill>
          <a:ln/>
        </p:spPr>
        <p:txBody>
          <a:bodyPr/>
          <a:p/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6896100" y="197167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## Constraints &amp; Preferences</a:t>
            </a:r>
            <a:endParaRPr/>
          </a:p>
        </p:txBody>
      </p:sp>
      <p:sp>
        <p:nvSpPr>
          <p:cNvPr id="1022" name="" descr="{&quot;isTemplate&quot;:true,&quot;type&quot;:&quot;text&quot;}"/>
          <p:cNvSpPr txBox="1"/>
          <p:nvPr/>
        </p:nvSpPr>
        <p:spPr>
          <a:xfrm rot="0" flipH="0" flipV="0">
            <a:off x="8877300" y="1962150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约束、偏好、不能碰的东西</a:t>
            </a:r>
            <a:endParaRPr/>
          </a:p>
        </p:txBody>
      </p:sp>
      <p:sp>
        <p:nvSpPr>
          <p:cNvPr id="1023" name=""/>
          <p:cNvSpPr/>
          <p:nvPr/>
        </p:nvSpPr>
        <p:spPr>
          <a:xfrm rot="0" flipH="0" flipV="0">
            <a:off x="6800850" y="2209800"/>
            <a:ext cx="4724400" cy="257175"/>
          </a:xfrm>
          <a:prstGeom prst="rect">
            <a:avLst/>
          </a:prstGeom>
          <a:solidFill>
            <a:srgbClr val="16233D">
              <a:alpha val="60000"/>
            </a:srgbClr>
          </a:solidFill>
          <a:ln/>
        </p:spPr>
        <p:txBody>
          <a:bodyPr/>
          <a:p/>
        </p:txBody>
      </p:sp>
      <p:sp>
        <p:nvSpPr>
          <p:cNvPr id="1024" name=""/>
          <p:cNvSpPr/>
          <p:nvPr/>
        </p:nvSpPr>
        <p:spPr>
          <a:xfrm rot="0" flipH="0" flipV="0">
            <a:off x="6781800" y="2209800"/>
            <a:ext cx="4743450" cy="257175"/>
          </a:xfrm>
          <a:custGeom>
            <a:pathLst>
              <a:path w="498" h="27">
                <a:moveTo>
                  <a:pt x="0" y="0"/>
                </a:moveTo>
                <a:lnTo>
                  <a:pt x="2" y="0"/>
                </a:lnTo>
                <a:lnTo>
                  <a:pt x="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2AD4EE">
              <a:alpha val="34000"/>
            </a:srgbClr>
          </a:solidFill>
          <a:ln/>
        </p:spPr>
        <p:txBody>
          <a:bodyPr/>
          <a:p/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6896100" y="227647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## Progress</a:t>
            </a:r>
            <a:endParaRPr/>
          </a:p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8877300" y="2266950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Done / In Progress / Blocked</a:t>
            </a:r>
            <a:endParaRPr/>
          </a:p>
        </p:txBody>
      </p:sp>
      <p:sp>
        <p:nvSpPr>
          <p:cNvPr id="1027" name=""/>
          <p:cNvSpPr/>
          <p:nvPr/>
        </p:nvSpPr>
        <p:spPr>
          <a:xfrm rot="0" flipH="0" flipV="0">
            <a:off x="6800850" y="2514600"/>
            <a:ext cx="4724400" cy="257175"/>
          </a:xfrm>
          <a:prstGeom prst="rect">
            <a:avLst/>
          </a:prstGeom>
          <a:solidFill>
            <a:srgbClr val="16233D">
              <a:alpha val="60000"/>
            </a:srgbClr>
          </a:solidFill>
          <a:ln/>
        </p:spPr>
        <p:txBody>
          <a:bodyPr/>
          <a:p/>
        </p:txBody>
      </p:sp>
      <p:sp>
        <p:nvSpPr>
          <p:cNvPr id="1028" name=""/>
          <p:cNvSpPr/>
          <p:nvPr/>
        </p:nvSpPr>
        <p:spPr>
          <a:xfrm rot="0" flipH="0" flipV="0">
            <a:off x="6781800" y="2514600"/>
            <a:ext cx="4743450" cy="257175"/>
          </a:xfrm>
          <a:custGeom>
            <a:pathLst>
              <a:path w="498" h="27">
                <a:moveTo>
                  <a:pt x="0" y="0"/>
                </a:moveTo>
                <a:lnTo>
                  <a:pt x="2" y="0"/>
                </a:lnTo>
                <a:lnTo>
                  <a:pt x="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2AD4EE">
              <a:alpha val="34000"/>
            </a:srgbClr>
          </a:solidFill>
          <a:ln/>
        </p:spPr>
        <p:txBody>
          <a:bodyPr/>
          <a:p/>
        </p:txBody>
      </p:sp>
      <p:sp>
        <p:nvSpPr>
          <p:cNvPr id="1029" name="" descr="{&quot;isTemplate&quot;:true,&quot;type&quot;:&quot;text&quot;}"/>
          <p:cNvSpPr txBox="1"/>
          <p:nvPr/>
        </p:nvSpPr>
        <p:spPr>
          <a:xfrm rot="0" flipH="0" flipV="0">
            <a:off x="6896100" y="258127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## Key Decisions</a:t>
            </a:r>
            <a:endParaRPr/>
          </a:p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8877300" y="2571750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做过哪些决定，为什么</a:t>
            </a:r>
            <a:endParaRPr/>
          </a:p>
        </p:txBody>
      </p:sp>
      <p:sp>
        <p:nvSpPr>
          <p:cNvPr id="1031" name=""/>
          <p:cNvSpPr/>
          <p:nvPr/>
        </p:nvSpPr>
        <p:spPr>
          <a:xfrm rot="0" flipH="0" flipV="0">
            <a:off x="6800850" y="2819400"/>
            <a:ext cx="4724400" cy="257175"/>
          </a:xfrm>
          <a:prstGeom prst="rect">
            <a:avLst/>
          </a:prstGeom>
          <a:solidFill>
            <a:srgbClr val="16233D">
              <a:alpha val="60000"/>
            </a:srgbClr>
          </a:solidFill>
          <a:ln/>
        </p:spPr>
        <p:txBody>
          <a:bodyPr/>
          <a:p/>
        </p:txBody>
      </p:sp>
      <p:sp>
        <p:nvSpPr>
          <p:cNvPr id="1032" name=""/>
          <p:cNvSpPr/>
          <p:nvPr/>
        </p:nvSpPr>
        <p:spPr>
          <a:xfrm rot="0" flipH="0" flipV="0">
            <a:off x="6781800" y="2819400"/>
            <a:ext cx="4743450" cy="257175"/>
          </a:xfrm>
          <a:custGeom>
            <a:pathLst>
              <a:path w="498" h="27">
                <a:moveTo>
                  <a:pt x="0" y="0"/>
                </a:moveTo>
                <a:lnTo>
                  <a:pt x="2" y="0"/>
                </a:lnTo>
                <a:lnTo>
                  <a:pt x="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2AD4EE">
              <a:alpha val="34000"/>
            </a:srgbClr>
          </a:solidFill>
          <a:ln/>
        </p:spPr>
        <p:txBody>
          <a:bodyPr/>
          <a:p/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6896100" y="288607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## Next Steps</a:t>
            </a:r>
            <a:endParaRPr/>
          </a:p>
        </p:txBody>
      </p:sp>
      <p:sp>
        <p:nvSpPr>
          <p:cNvPr id="1034" name="" descr="{&quot;isTemplate&quot;:true,&quot;type&quot;:&quot;text&quot;}"/>
          <p:cNvSpPr txBox="1"/>
          <p:nvPr/>
        </p:nvSpPr>
        <p:spPr>
          <a:xfrm rot="0" flipH="0" flipV="0">
            <a:off x="8877300" y="2876550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下一步该干什么</a:t>
            </a:r>
            <a:endParaRPr/>
          </a:p>
        </p:txBody>
      </p:sp>
      <p:sp>
        <p:nvSpPr>
          <p:cNvPr id="1035" name=""/>
          <p:cNvSpPr/>
          <p:nvPr/>
        </p:nvSpPr>
        <p:spPr>
          <a:xfrm rot="0" flipH="0" flipV="0">
            <a:off x="6800850" y="3124200"/>
            <a:ext cx="4724400" cy="257175"/>
          </a:xfrm>
          <a:prstGeom prst="rect">
            <a:avLst/>
          </a:prstGeom>
          <a:solidFill>
            <a:srgbClr val="16233D">
              <a:alpha val="60000"/>
            </a:srgbClr>
          </a:solidFill>
          <a:ln/>
        </p:spPr>
        <p:txBody>
          <a:bodyPr/>
          <a:p/>
        </p:txBody>
      </p:sp>
      <p:sp>
        <p:nvSpPr>
          <p:cNvPr id="1036" name=""/>
          <p:cNvSpPr/>
          <p:nvPr/>
        </p:nvSpPr>
        <p:spPr>
          <a:xfrm rot="0" flipH="0" flipV="0">
            <a:off x="6781800" y="3124200"/>
            <a:ext cx="4743450" cy="257175"/>
          </a:xfrm>
          <a:custGeom>
            <a:pathLst>
              <a:path w="498" h="27">
                <a:moveTo>
                  <a:pt x="0" y="0"/>
                </a:moveTo>
                <a:lnTo>
                  <a:pt x="2" y="0"/>
                </a:lnTo>
                <a:lnTo>
                  <a:pt x="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2AD4EE">
              <a:alpha val="34000"/>
            </a:srgbClr>
          </a:solidFill>
          <a:ln/>
        </p:spPr>
        <p:txBody>
          <a:bodyPr/>
          <a:p/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6896100" y="3190875"/>
            <a:ext cx="1981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## Critical Context</a:t>
            </a:r>
            <a:endParaRPr/>
          </a:p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8877300" y="3181350"/>
            <a:ext cx="2628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路径、函数名、报错原文</a:t>
            </a:r>
            <a:endParaRPr/>
          </a:p>
        </p:txBody>
      </p:sp>
      <p:sp>
        <p:nvSpPr>
          <p:cNvPr id="1039" name=""/>
          <p:cNvSpPr/>
          <p:nvPr/>
        </p:nvSpPr>
        <p:spPr>
          <a:xfrm rot="0" flipH="0" flipV="0">
            <a:off x="6781800" y="3495675"/>
            <a:ext cx="4724400" cy="2562225"/>
          </a:xfrm>
          <a:prstGeom prst="roundRect">
            <a:avLst>
              <a:gd name="adj" fmla="val 1115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6915150" y="3609975"/>
            <a:ext cx="4457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E8EEF9"/>
                </a:solidFill>
                <a:latin typeface="Source Han Sans SC"/>
                <a:ea typeface="Source Han Sans SC"/>
              </a:rPr>
              <a:t>增量合并，不滚雪球</a:t>
            </a:r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6915150" y="3810000"/>
            <a:ext cx="44577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已有旧摘要时走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UPDATE prompt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：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PRESERVE all existing information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，只把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In Progress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挪到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Done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、刷新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Next Steps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042" name="" descr="{&quot;isTemplate&quot;:true,&quot;type&quot;:&quot;text&quot;}"/>
          <p:cNvSpPr txBox="1"/>
          <p:nvPr/>
        </p:nvSpPr>
        <p:spPr>
          <a:xfrm rot="0" flipH="0" flipV="0">
            <a:off x="6915150" y="4352925"/>
            <a:ext cx="4457700" cy="238125"/>
          </a:xfrm>
          <a:prstGeom prst="rect"/>
        </p:spPr>
        <p:txBody>
          <a:bodyPr wrap="none" lIns="0" tIns="0" rIns="0" bIns="0"/>
          <a:p>
            <a:pPr>
              <a:lnSpc>
                <a:spcPct val="162000"/>
              </a:lnSpc>
            </a:pP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模板硬性要求保真：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Preserve exact file paths, function names, and error messages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043" name="" descr="{&quot;isTemplate&quot;:true,&quot;type&quot;:&quot;text&quot;}"/>
          <p:cNvSpPr txBox="1"/>
          <p:nvPr/>
        </p:nvSpPr>
        <p:spPr>
          <a:xfrm rot="0" flipH="0" flipV="0">
            <a:off x="6915150" y="4667250"/>
            <a:ext cx="44577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文件清单兜底：从历史工具调用提取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readFiles / modifiedFiles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，存进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entry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details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，下次压缩继承。</a:t>
            </a:r>
            <a:endParaRPr/>
          </a:p>
        </p:txBody>
      </p:sp>
      <p:sp>
        <p:nvSpPr>
          <p:cNvPr id="1044" name=""/>
          <p:cNvSpPr/>
          <p:nvPr/>
        </p:nvSpPr>
        <p:spPr>
          <a:xfrm rot="0" flipH="0" flipV="0">
            <a:off x="6915150" y="5648325"/>
            <a:ext cx="4457700" cy="304800"/>
          </a:xfrm>
          <a:custGeom>
            <a:pathLst>
              <a:path w="468" h="32">
                <a:moveTo>
                  <a:pt x="0" y="0"/>
                </a:moveTo>
                <a:lnTo>
                  <a:pt x="468" y="0"/>
                </a:lnTo>
                <a:lnTo>
                  <a:pt x="468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/>
        </p:txBody>
      </p:sp>
      <p:sp>
        <p:nvSpPr>
          <p:cNvPr id="1045" name="" descr="{&quot;isTemplate&quot;:true,&quot;type&quot;:&quot;text&quot;}"/>
          <p:cNvSpPr txBox="1"/>
          <p:nvPr/>
        </p:nvSpPr>
        <p:spPr>
          <a:xfrm rot="0" flipH="0" flipV="0">
            <a:off x="6915150" y="5734050"/>
            <a:ext cx="4457700" cy="209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63">
                <a:solidFill>
                  <a:srgbClr val="2AD4EE">
                    <a:alpha val="80000"/>
                  </a:srgbClr>
                </a:solidFill>
                <a:latin typeface="Source Han Sans SC"/>
                <a:ea typeface="Source Han Sans SC"/>
              </a:rPr>
              <a:t>摘要调用失败或</a:t>
            </a:r>
            <a:r>
              <a:rPr lang="en-US" sz="863">
                <a:solidFill>
                  <a:srgbClr val="2AD4EE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stopReason = error / length → </a:t>
            </a:r>
            <a:r>
              <a:rPr lang="zh-CN" sz="863">
                <a:solidFill>
                  <a:srgbClr val="2AD4EE">
                    <a:alpha val="80000"/>
                  </a:srgbClr>
                </a:solidFill>
                <a:latin typeface="Source Han Sans SC"/>
                <a:ea typeface="Source Han Sans SC"/>
              </a:rPr>
              <a:t>拒绝落盘。半截摘要当</a:t>
            </a:r>
            <a:r>
              <a:rPr lang="en-US" sz="863">
                <a:solidFill>
                  <a:srgbClr val="2AD4EE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checkpoint </a:t>
            </a:r>
            <a:r>
              <a:rPr lang="zh-CN" sz="863">
                <a:solidFill>
                  <a:srgbClr val="2AD4EE">
                    <a:alpha val="80000"/>
                  </a:srgbClr>
                </a:solidFill>
                <a:latin typeface="Source Han Sans SC"/>
                <a:ea typeface="Source Han Sans SC"/>
              </a:rPr>
              <a:t>是灾难。</a:t>
            </a:r>
            <a:endParaRPr/>
          </a:p>
        </p:txBody>
      </p:sp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04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29 / 46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077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Box style={{ flexDirection: 'row', alignItems: 'center', gap: 12 }}&gt;&#13;&#10;                &lt;Text style={{ fontSize: 13, color: '#2AD4EE', letterSpacing: 3, fontFamily: '&quot;JetBrains Mono&quot;, &quot;Cascadia Mono&quot;, Consolas, monospace' }}&gt;DESIGN POINT 03&lt;/Text&gt;&#13;&#10;                &lt;Text style={{ fontSize: 13, color: 'rgba(232,238,249,0.38)', letterSpacing: 2, fontFamily: '&quot;JetBrains Mono&quot;, &quot;Cascadia Mono&quot;, Consolas, monospace' }}&gt;· 对应 ③ 工具层&lt;/Text&gt;&#13;&#10;            &lt;/Box&gt;&#13;&#10;            &lt;Text style={{ marginTop: 6, fontSize: 34, fontWeight: 'bold', color: '#E8EEF9' }}&gt;工具系统：三种视角，四段流水&lt;/Text&gt;&#13;&#10;        &lt;/Box&gt;&#13;&#10;    &lt;/Box&gt;&#13;&#10;&#13;&#10;    {/* B 区 */}&#13;&#10;    &lt;Box style={{ height: 516, flexDirection: 'column' }}&gt;&#13;&#10;        &lt;Box style={{ height: 452, flexDirection: 'row', gap: 28 }}&gt;&#13;&#10;&#13;&#10;            {/* 左：类型与视角 */}&#13;&#10;            &lt;Box style={{ width: 470, flexDirection: 'column', paddingRight: 24, borderRight: '1px solid rgba(232,238,249,0.12)' }}&gt;&#13;&#10;                &lt;Text style={{ fontSize: 14, color: '#2AD4EE', letterSpacing: 2.5, fontFamily: '&quot;JetBrains Mono&quot;, &quot;Cascadia Mono&quot;, Consolas, monospace' }}&gt;AgentTool · 一个对象三种视角&lt;/Text&gt;&#13;&#10;&#13;&#10;                &lt;Box style={{ marginTop: 12, flexDirection: 'column', gap: 8 }}&gt;&#13;&#10;                    {[&#13;&#10;                        ['给模型', 'name · description · parameters', '模型靠这三样决定调不调。description 写得烂，模型 90% 会选错工具。', 'rgba(42,212,238,0.16)'],&#13;&#10;                        ['给人', 'label', '终端里显示的人类可读名，不影响模型决策。', 'rgba(42,212,238,0.09)'],&#13;&#10;                        ['给 UI / 扩展', 'details', '结构化细节，不进模型上下文，前端拿去渲染。', 'rgba(42,212,238,0.06)'],&#13;&#10;                    ].map((r, i) =&gt; (&#13;&#10;                        &lt;Box key={i} style={{ flexDirection: 'column', paddingTop: 10, paddingBottom: 10, paddingLeft: 13, paddingRight: 13, background: r[3], border: '1px solid rgba(42,212,238,0.20)', borderRadius: 3 }}&gt;&#13;&#10;                            &lt;Box style={{ flexDirection: 'row', alignItems: 'baseline', gap: 10 }}&gt;&#13;&#10;                                &lt;Text style={{ fontSize: 12.5, color: '#2AD4EE', fontWeight: 'bold' }}&gt;{r[0]}&lt;/Text&gt;&#13;&#10;                                &lt;Text style={{ fontSize: 11.5, color: 'rgba(232,238,249,0.82)', fontFamily: '&quot;JetBrains Mono&quot;, &quot;Cascadia Mono&quot;, Consolas, monospace' }}&gt;{r[1]}&lt;/Text&gt;&#13;&#10;                            &lt;/Box&gt;&#13;&#10;                            &lt;Text style={{ marginTop: 5, fontSize: 12, color: 'rgba(232,238,249,0.60)', lineHeight: 1.55 }}&gt;{r[2]}&lt;/Text&gt;&#13;&#10;                        &lt;/Box&gt;&#13;&#10;                    ))}&#13;&#10;                &lt;/Box&gt;&#13;&#10;&#13;&#10;                &lt;Text style={{ marginTop: 14, fontSize: 13, color: 'rgba(232,238,249,0.46)' }}&gt;返回值同样是分开的&lt;/Text&gt;&#13;&#10;                &lt;Box style={{ marginTop: 8, flexDirection: 'column', gap: 5 }}&gt;&#13;&#10;                    {[&#13;&#10;                        ['content', '给模型看，进上下文'],&#13;&#10;                        ['details', '给 UI 看，不进上下文'],&#13;&#10;                        ['terminate', '让整个 agent 直接停下'],&#13;&#10;                    ].map((r, i) =&gt; (&#13;&#10;                        &lt;Box key={i} style={{ flexDirection: 'row', alignItems: 'center', gap: 10 }}&gt;&#13;&#10;                            &lt;Text style={{ width: 78, fontSize: 12, color: '#2AD4EE', fontFamily: '&quot;JetBrains Mono&quot;, &quot;Cascadia Mono&quot;, Consolas, monospace' }}&gt;{r[0]}&lt;/Text&gt;&#13;&#10;                            &lt;Text style={{ flex: 1, fontSize: 12.5, color: 'rgba(232,238,249,0.66)' }}&gt;{r[1]}&lt;/Text&gt;&#13;&#10;                        &lt;/Box&gt;&#13;&#10;                    ))}&#13;&#10;                &lt;/Box&gt;&#13;&#10;&#13;&#10;                &lt;Box style={{ marginTop: 'auto', flexDirection: 'row', alignItems: 'center', gap: 14, paddingTop: 11, paddingBottom: 11, paddingLeft: 14, paddingRight: 14, background: 'rgba(22,35,61,0.72)', border: '1px solid rgba(232,238,249,0.10)', borderRadius: 3 }}&gt;&#13;&#10;                    &lt;Text style={{ fontSize: 34, fontWeight: 'bold', color: '#2AD4EE', fontFamily: '&quot;JetBrains Mono&quot;, &quot;Cascadia Mono&quot;, Consolas, monospace', lineHeight: 1 }}&gt;8&lt;/Text&gt;&#13;&#10;                    &lt;Text style={{ flex: 1, fontSize: 12.5, color: 'rgba(232,238,249,0.70)', lineHeight: 1.55 }}&gt;&#13;&#10;                        内置工具，默认只挂 4 个（read / bash / edit / write）。其余按白名单启用——工具越多，模型选错率越高。&#13;&#10;                    &lt;/Text&gt;&#13;&#10;                &lt;/Box&gt;&#13;&#10;            &lt;/Box&gt;&#13;&#10;&#13;&#10;            {/* 右：四阶段 */}&#13;&#10;            &lt;Box style={{ flex: 1, flexDirection: 'column' }}&gt;&#13;&#10;                &lt;Box style={{ flexDirection: 'row', alignItems: 'baseline', justifyContent: 'space-between' }}&gt;&#13;&#10;                    &lt;Text style={{ fontSize: 14, color: '#2AD4EE', letterSpacing: 2.5, fontFamily: '&quot;JetBrains Mono&quot;, &quot;Cascadia Mono&quot;, Consolas, monospace' }}&gt;PIPELINE · 四阶段&lt;/Text&gt;&#13;&#10;                    &lt;Text style={{ fontSize: 12.5, color: 'rgba(232,238,249,0.42)' }}&gt;包装在 execute 之外，不在工具内部&lt;/Text&gt;&#13;&#10;                &lt;/Box&gt;&#13;&#10;&#13;&#10;                &lt;Box style={{ marginTop: 10, flex: 1, flexDirection: 'column', gap: 7 }}&gt;&#13;&#10;                    {[&#13;&#10;                        { n: '①', t: 'Prepare', s: 'Schema 校验 + beforeToolCall', d: '钩子返回 { block: true, reason } → 不执行，reason 包成失败结果回喂模型。合法 ≠ 安全。', tag: '钩子 · 可拦截', c: 'rgba(42,212,238,0.11)' },&#13;&#10;                        { n: '②', t: 'Execute', s: 'tool.execute(...)', d: '唯一必须自己写的一段。signal 接 Esc 中止，onUpdate 报进度，长任务两个都要接。', tag: '业务 · 必写', c: 'rgba(22,35,61,0.72)' },&#13;&#10;                        { n: '③', t: 'Finalize', s: 'afterToolCall', d: '返回新 result 就覆盖原结果——脱敏、改写、补记账都在这。undefined 原样放行。', tag: '钩子 · 可改写', c: 'rgba(42,212,238,0.07)' },&#13;&#10;                        { n: '④', t: '截断保护', s: 'stopReason = length', d: '全部 tool call 直接标记失败，残缺参数绝不执行。', tag: '兜底 · 无干预点', c: 'rgba(22,35,61,0.50)' },&#13;&#10;                    ].map((r, i) =&gt; (&#13;&#10;                        &lt;Box key={i} style={{ flex: 1, flexDirection: 'row', alignItems: 'center', gap: 13, paddingTop: 7, paddingBottom: 7, paddingLeft: 14, paddingRight: 14, background: r.c, border: '1px solid rgba(42,212,238,0.16)', borderRadius: 3 }}&gt;&#13;&#10;                            &lt;Text style={{ fontSize: 22, color: 'rgba(42,212,238,0.72)', fontFamily: '&quot;JetBrains Mono&quot;, &quot;Cascadia Mono&quot;, Consolas, monospace', lineHeight: 1 }}&gt;{r.n}&lt;/Text&gt;&#13;&#10;                            &lt;Box style={{ flex: 1, flexDirection: 'column' }}&gt;&#13;&#10;                                &lt;Box style={{ flexDirection: 'row', alignItems: 'baseline', gap: 10 }}&gt;&#13;&#10;                                    &lt;Text style={{ fontSize: 15.5, fontWeight: 'bold', color: '#E8EEF9' }}&gt;{r.t}&lt;/Text&gt;&#13;&#10;                                    &lt;Text style={{ fontSize: 11, color: 'rgba(42,212,238,0.78)', fontFamily: '&quot;JetBrains Mono&quot;, &quot;Cascadia Mono&quot;, Consolas, monospace' }}&gt;{r.s}&lt;/Text&gt;&#13;&#10;                                &lt;/Box&gt;&#13;&#10;                                &lt;Text style={{ marginTop: 4, fontSize: 11.5, color: 'rgba(232,238,249,0.66)', lineHeight: 1.5 }}&gt;{r.d}&lt;/Text&gt;&#13;&#10;                            &lt;/Box&gt;&#13;&#10;                            &lt;Text style={{ width: 92, fontSize: 10.5, color: 'rgba(232,238,249,0.40)', textAlign: 'right', lineHeight: 1.4 }}&gt;{r.tag}&lt;/Text&gt;&#13;&#10;                        &lt;/Box&gt;&#13;&#10;                    ))}&#13;&#10;                &lt;/Box&gt;&#13;&#10;            &lt;/Box&gt;&#13;&#10;        &lt;/Box&gt;&#13;&#10;&#13;&#10;        {/* 底部：分界 */}&#13;&#10;        &lt;Box style={{ height: 64, flexDirection: 'row', alignItems: 'center', gap: 16, paddingLeft: 18, paddingRight: 18, background: 'rgba(42,212,238,0.07)', border: '1px solid rgba(42,212,238,0.22)', borderRadius: 4 }}&gt;&#13;&#10;            &lt;Text style={{ fontSize: 12.5, color: '#2AD4EE', letterSpacing: 2, fontFamily: '&quot;JetBrains Mono&quot;, &quot;Cascadia Mono&quot;, Consolas, monospace', lineHeight: 1.4 }}&gt;框架定机制&lt;br /&gt;开发者填策略&lt;/Text&gt;&#13;&#10;            &lt;Text style={{ flex: 1, fontSize: 13.5, color: 'rgba(232,238,249,0.86)', lineHeight: 1.55 }}&gt;&#13;&#10;                默认裸奔也能跑：不写钩子，校验和截断保护照样生效。拦截、审计、脱敏、终止是可选增强——一个钩子管住所有工具，插入点收敛了，但没有消失。&#13;&#10;            &lt;/Text&gt;&#13;&#10;            &lt;Text style={{ fontSize: 12, color: 'rgba(232,238,249,0.50)', lineHeight: 1.45, textAlign: 'right' }}&gt;&#13;&#10;                Operations 抽象&lt;br /&gt;本地 / 容器 / SSH 可换&#13;&#10;            &lt;/Text&gt;&#13;&#10;        &lt;/Box&gt;&#13;&#10;    &lt;/Box&gt;&#13;&#10;&#13;&#10;    {/* C 区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30 / 4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07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03</a:t>
            </a:r>
            <a:endParaRPr/>
          </a:p>
        </p:txBody>
      </p:sp>
      <p:sp>
        <p:nvSpPr>
          <p:cNvPr id="1081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③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工具层</a:t>
            </a:r>
            <a:endParaRPr/>
          </a:p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工具系统：三种视角，四段流水</a:t>
            </a:r>
            <a:endParaRPr/>
          </a:p>
        </p:txBody>
      </p:sp>
      <p:sp>
        <p:nvSpPr>
          <p:cNvPr id="1083" name=""/>
          <p:cNvSpPr/>
          <p:nvPr/>
        </p:nvSpPr>
        <p:spPr>
          <a:xfrm rot="0" flipH="0" flipV="0">
            <a:off x="685800" y="1143000"/>
            <a:ext cx="4476750" cy="4305300"/>
          </a:xfrm>
          <a:custGeom>
            <a:pathLst>
              <a:path w="470" h="452">
                <a:moveTo>
                  <a:pt x="469" y="0"/>
                </a:moveTo>
                <a:lnTo>
                  <a:pt x="470" y="0"/>
                </a:lnTo>
                <a:lnTo>
                  <a:pt x="470" y="452"/>
                </a:lnTo>
                <a:lnTo>
                  <a:pt x="469" y="45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08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423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AgentTool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一个对象三种视角</a:t>
            </a:r>
            <a:endParaRPr/>
          </a:p>
        </p:txBody>
      </p:sp>
      <p:sp>
        <p:nvSpPr>
          <p:cNvPr id="1085" name=""/>
          <p:cNvSpPr/>
          <p:nvPr/>
        </p:nvSpPr>
        <p:spPr>
          <a:xfrm rot="0" flipH="0" flipV="0">
            <a:off x="685800" y="1419225"/>
            <a:ext cx="4238625" cy="600075"/>
          </a:xfrm>
          <a:prstGeom prst="roundRect">
            <a:avLst>
              <a:gd name="adj" fmla="val 4762"/>
            </a:avLst>
          </a:prstGeom>
          <a:solidFill>
            <a:srgbClr val="2AD4EE">
              <a:alpha val="16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86" name="" descr="{&quot;isTemplate&quot;:true,&quot;type&quot;:&quot;text&quot;}"/>
          <p:cNvSpPr txBox="1"/>
          <p:nvPr/>
        </p:nvSpPr>
        <p:spPr>
          <a:xfrm rot="0" flipH="0" flipV="0">
            <a:off x="809625" y="151447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给模型</a:t>
            </a:r>
            <a:endParaRPr/>
          </a:p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1266825" y="1514475"/>
            <a:ext cx="1990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name · description · parameters</a:t>
            </a:r>
            <a:endParaRPr/>
          </a:p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809625" y="1704975"/>
            <a:ext cx="3990975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模型靠这三样决定调不调。</a:t>
            </a:r>
            <a:r>
              <a:rPr lang="en-US" sz="900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900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写得烂，模型</a:t>
            </a:r>
            <a:r>
              <a:rPr lang="en-US" sz="900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90% </a:t>
            </a:r>
            <a:r>
              <a:rPr lang="zh-CN" sz="900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会选错工具。</a:t>
            </a:r>
            <a:endParaRPr/>
          </a:p>
        </p:txBody>
      </p:sp>
      <p:sp>
        <p:nvSpPr>
          <p:cNvPr id="1089" name=""/>
          <p:cNvSpPr/>
          <p:nvPr/>
        </p:nvSpPr>
        <p:spPr>
          <a:xfrm rot="0" flipH="0" flipV="0">
            <a:off x="685800" y="2095500"/>
            <a:ext cx="4238625" cy="600075"/>
          </a:xfrm>
          <a:prstGeom prst="roundRect">
            <a:avLst>
              <a:gd name="adj" fmla="val 4762"/>
            </a:avLst>
          </a:prstGeom>
          <a:solidFill>
            <a:srgbClr val="2AD4EE">
              <a:alpha val="9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809625" y="2190750"/>
            <a:ext cx="238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给人</a:t>
            </a:r>
            <a:endParaRPr/>
          </a:p>
        </p:txBody>
      </p:sp>
      <p:sp>
        <p:nvSpPr>
          <p:cNvPr id="1091" name="" descr="{&quot;isTemplate&quot;:true,&quot;type&quot;:&quot;text&quot;}"/>
          <p:cNvSpPr txBox="1"/>
          <p:nvPr/>
        </p:nvSpPr>
        <p:spPr>
          <a:xfrm rot="0" flipH="0" flipV="0">
            <a:off x="1143000" y="2190750"/>
            <a:ext cx="323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label</a:t>
            </a:r>
            <a:endParaRPr/>
          </a:p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809625" y="2381250"/>
            <a:ext cx="3990975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终端里显示的人类可读名，不影响模型决策。</a:t>
            </a:r>
            <a:endParaRPr/>
          </a:p>
        </p:txBody>
      </p:sp>
      <p:sp>
        <p:nvSpPr>
          <p:cNvPr id="1093" name=""/>
          <p:cNvSpPr/>
          <p:nvPr/>
        </p:nvSpPr>
        <p:spPr>
          <a:xfrm rot="0" flipH="0" flipV="0">
            <a:off x="685800" y="2771775"/>
            <a:ext cx="4238625" cy="600075"/>
          </a:xfrm>
          <a:prstGeom prst="roundRect">
            <a:avLst>
              <a:gd name="adj" fmla="val 4762"/>
            </a:avLst>
          </a:prstGeom>
          <a:solidFill>
            <a:srgbClr val="2AD4EE">
              <a:alpha val="6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94" name="" descr="{&quot;isTemplate&quot;:true,&quot;type&quot;:&quot;text&quot;}"/>
          <p:cNvSpPr txBox="1"/>
          <p:nvPr/>
        </p:nvSpPr>
        <p:spPr>
          <a:xfrm rot="0" flipH="0" flipV="0">
            <a:off x="809625" y="2867025"/>
            <a:ext cx="60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给</a:t>
            </a:r>
            <a:r>
              <a:rPr lang="en-US" sz="938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UI / </a:t>
            </a: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扩展</a:t>
            </a:r>
            <a:endParaRPr/>
          </a:p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1504950" y="28670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details</a:t>
            </a:r>
            <a:endParaRPr/>
          </a:p>
        </p:txBody>
      </p:sp>
      <p:sp>
        <p:nvSpPr>
          <p:cNvPr id="1096" name="" descr="{&quot;isTemplate&quot;:true,&quot;type&quot;:&quot;text&quot;}"/>
          <p:cNvSpPr txBox="1"/>
          <p:nvPr/>
        </p:nvSpPr>
        <p:spPr>
          <a:xfrm rot="0" flipH="0" flipV="0">
            <a:off x="809625" y="3057525"/>
            <a:ext cx="3990975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结构化细节，不进模型上下文，前端拿去渲染。</a:t>
            </a:r>
            <a:endParaRPr/>
          </a:p>
        </p:txBody>
      </p:sp>
      <p:sp>
        <p:nvSpPr>
          <p:cNvPr id="1097" name="" descr="{&quot;isTemplate&quot;:true,&quot;type&quot;:&quot;text&quot;}"/>
          <p:cNvSpPr txBox="1"/>
          <p:nvPr/>
        </p:nvSpPr>
        <p:spPr>
          <a:xfrm rot="0" flipH="0" flipV="0">
            <a:off x="685800" y="3505200"/>
            <a:ext cx="4238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返回值同样是分开的</a:t>
            </a:r>
            <a:endParaRPr/>
          </a:p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685800" y="373380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content</a:t>
            </a:r>
            <a:endParaRPr/>
          </a:p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1524000" y="3733800"/>
            <a:ext cx="3400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给模型看，进上下文</a:t>
            </a:r>
            <a:endParaRPr/>
          </a:p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685800" y="392430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details</a:t>
            </a:r>
            <a:endParaRPr/>
          </a:p>
        </p:txBody>
      </p:sp>
      <p:sp>
        <p:nvSpPr>
          <p:cNvPr id="1101" name="" descr="{&quot;isTemplate&quot;:true,&quot;type&quot;:&quot;text&quot;}"/>
          <p:cNvSpPr txBox="1"/>
          <p:nvPr/>
        </p:nvSpPr>
        <p:spPr>
          <a:xfrm rot="0" flipH="0" flipV="0">
            <a:off x="1524000" y="3924300"/>
            <a:ext cx="3400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给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UI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看，不进上下文</a:t>
            </a:r>
            <a:endParaRPr/>
          </a:p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685800" y="4114800"/>
            <a:ext cx="742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terminate</a:t>
            </a:r>
            <a:endParaRPr/>
          </a:p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1524000" y="4114800"/>
            <a:ext cx="3400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让整个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直接停下</a:t>
            </a:r>
            <a:endParaRPr/>
          </a:p>
        </p:txBody>
      </p:sp>
      <p:sp>
        <p:nvSpPr>
          <p:cNvPr id="1104" name=""/>
          <p:cNvSpPr/>
          <p:nvPr/>
        </p:nvSpPr>
        <p:spPr>
          <a:xfrm rot="0" flipH="0" flipV="0">
            <a:off x="685800" y="4791075"/>
            <a:ext cx="4238625" cy="657225"/>
          </a:xfrm>
          <a:prstGeom prst="roundRect">
            <a:avLst>
              <a:gd name="adj" fmla="val 4348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819150" y="4924425"/>
            <a:ext cx="190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AD4EE"/>
                </a:solidFill>
                <a:latin typeface="JetBrains Mono"/>
                <a:ea typeface="JetBrains Mono"/>
              </a:rPr>
              <a:t>8</a:t>
            </a:r>
            <a:endParaRPr/>
          </a:p>
        </p:txBody>
      </p:sp>
      <p:sp>
        <p:nvSpPr>
          <p:cNvPr id="1106" name="" descr="{&quot;isTemplate&quot;:true,&quot;type&quot;:&quot;text&quot;}"/>
          <p:cNvSpPr txBox="1"/>
          <p:nvPr/>
        </p:nvSpPr>
        <p:spPr>
          <a:xfrm rot="0" flipH="0" flipV="0">
            <a:off x="1143000" y="4895850"/>
            <a:ext cx="36480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内置工具，默认只挂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个（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read / bash / edit / write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）。其余按白名单启用——工具越多，模型选错率越高。</a:t>
            </a:r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5429250" y="114300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PIPELINE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四阶段</a:t>
            </a:r>
            <a:endParaRPr/>
          </a:p>
        </p:txBody>
      </p:sp>
      <p:sp>
        <p:nvSpPr>
          <p:cNvPr id="1108" name="" descr="{&quot;isTemplate&quot;:true,&quot;type&quot;:&quot;text&quot;}"/>
          <p:cNvSpPr txBox="1"/>
          <p:nvPr/>
        </p:nvSpPr>
        <p:spPr>
          <a:xfrm rot="0" flipH="0" flipV="0">
            <a:off x="9620250" y="1143000"/>
            <a:ext cx="1885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包装在</a:t>
            </a:r>
            <a:r>
              <a:rPr lang="en-US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execute </a:t>
            </a: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之外，不在工具内部</a:t>
            </a:r>
            <a:endParaRPr/>
          </a:p>
        </p:txBody>
      </p:sp>
      <p:sp>
        <p:nvSpPr>
          <p:cNvPr id="1109" name=""/>
          <p:cNvSpPr/>
          <p:nvPr/>
        </p:nvSpPr>
        <p:spPr>
          <a:xfrm rot="0" flipH="0" flipV="0">
            <a:off x="5429250" y="1400175"/>
            <a:ext cx="6076950" cy="962025"/>
          </a:xfrm>
          <a:prstGeom prst="roundRect">
            <a:avLst>
              <a:gd name="adj" fmla="val 2970"/>
            </a:avLst>
          </a:prstGeom>
          <a:solidFill>
            <a:srgbClr val="2AD4EE">
              <a:alpha val="11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5562600" y="17526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5810250" y="1676400"/>
            <a:ext cx="5143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E8EEF9"/>
                </a:solidFill>
                <a:latin typeface="Source Han Sans SC"/>
                <a:ea typeface="Source Han Sans SC"/>
              </a:rPr>
              <a:t>Prepare</a:t>
            </a:r>
            <a:endParaRPr/>
          </a:p>
        </p:txBody>
      </p:sp>
      <p:sp>
        <p:nvSpPr>
          <p:cNvPr id="1112" name="" descr="{&quot;isTemplate&quot;:true,&quot;type&quot;:&quot;text&quot;}"/>
          <p:cNvSpPr txBox="1"/>
          <p:nvPr/>
        </p:nvSpPr>
        <p:spPr>
          <a:xfrm rot="0" flipH="0" flipV="0">
            <a:off x="6419850" y="1676400"/>
            <a:ext cx="16859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>
                    <a:alpha val="78000"/>
                  </a:srgbClr>
                </a:solidFill>
                <a:latin typeface="JetBrains Mono"/>
                <a:ea typeface="JetBrains Mono"/>
              </a:rPr>
              <a:t xml:space="preserve">Schema </a:t>
            </a:r>
            <a:r>
              <a:rPr lang="zh-CN" sz="825">
                <a:solidFill>
                  <a:srgbClr val="2AD4EE">
                    <a:alpha val="78000"/>
                  </a:srgbClr>
                </a:solidFill>
                <a:latin typeface="JetBrains Mono"/>
                <a:ea typeface="JetBrains Mono"/>
              </a:rPr>
              <a:t>校验</a:t>
            </a:r>
            <a:r>
              <a:rPr lang="en-US" sz="825">
                <a:solidFill>
                  <a:srgbClr val="2AD4EE">
                    <a:alpha val="78000"/>
                  </a:srgbClr>
                </a:solidFill>
                <a:latin typeface="JetBrains Mono"/>
                <a:ea typeface="JetBrains Mono"/>
              </a:rPr>
              <a:t xml:space="preserve"> + beforeToolCall</a:t>
            </a:r>
            <a:endParaRPr/>
          </a:p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5810250" y="1895475"/>
            <a:ext cx="45624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钩子返回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{ block: true, reason } →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不执行，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reason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包成失败结果回喂模型。合法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≠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安全。</a:t>
            </a:r>
            <a:endParaRPr/>
          </a:p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10496550" y="1800225"/>
            <a:ext cx="87630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钩子</a:t>
            </a:r>
            <a:r>
              <a:rPr lang="en-US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可拦截</a:t>
            </a:r>
            <a:endParaRPr/>
          </a:p>
        </p:txBody>
      </p:sp>
      <p:sp>
        <p:nvSpPr>
          <p:cNvPr id="1115" name=""/>
          <p:cNvSpPr/>
          <p:nvPr/>
        </p:nvSpPr>
        <p:spPr>
          <a:xfrm rot="0" flipH="0" flipV="0">
            <a:off x="5429250" y="2428875"/>
            <a:ext cx="6076950" cy="962025"/>
          </a:xfrm>
          <a:prstGeom prst="roundRect">
            <a:avLst>
              <a:gd name="adj" fmla="val 2970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5562600" y="27813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1117" name="" descr="{&quot;isTemplate&quot;:true,&quot;type&quot;:&quot;text&quot;}"/>
          <p:cNvSpPr txBox="1"/>
          <p:nvPr/>
        </p:nvSpPr>
        <p:spPr>
          <a:xfrm rot="0" flipH="0" flipV="0">
            <a:off x="5810250" y="2705100"/>
            <a:ext cx="5048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E8EEF9"/>
                </a:solidFill>
                <a:latin typeface="Source Han Sans SC"/>
                <a:ea typeface="Source Han Sans SC"/>
              </a:rPr>
              <a:t>Execute</a:t>
            </a:r>
            <a:endParaRPr/>
          </a:p>
        </p:txBody>
      </p:sp>
      <p:sp>
        <p:nvSpPr>
          <p:cNvPr id="1118" name="" descr="{&quot;isTemplate&quot;:true,&quot;type&quot;:&quot;text&quot;}"/>
          <p:cNvSpPr txBox="1"/>
          <p:nvPr/>
        </p:nvSpPr>
        <p:spPr>
          <a:xfrm rot="0" flipH="0" flipV="0">
            <a:off x="6410325" y="2705100"/>
            <a:ext cx="10477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>
                    <a:alpha val="78000"/>
                  </a:srgbClr>
                </a:solidFill>
                <a:latin typeface="JetBrains Mono"/>
                <a:ea typeface="JetBrains Mono"/>
              </a:rPr>
              <a:t>tool.execute(...)</a:t>
            </a:r>
            <a:endParaRPr/>
          </a:p>
        </p:txBody>
      </p:sp>
      <p:sp>
        <p:nvSpPr>
          <p:cNvPr id="1119" name="" descr="{&quot;isTemplate&quot;:true,&quot;type&quot;:&quot;text&quot;}"/>
          <p:cNvSpPr txBox="1"/>
          <p:nvPr/>
        </p:nvSpPr>
        <p:spPr>
          <a:xfrm rot="0" flipH="0" flipV="0">
            <a:off x="5810250" y="2924175"/>
            <a:ext cx="45624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唯一必须自己写的一段。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signal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接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Esc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中止，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onUpdate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报进度，长任务两个都要接。</a:t>
            </a:r>
            <a:endParaRPr/>
          </a:p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10496550" y="2828925"/>
            <a:ext cx="87630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业务</a:t>
            </a:r>
            <a:r>
              <a:rPr lang="en-US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必写</a:t>
            </a:r>
            <a:endParaRPr/>
          </a:p>
        </p:txBody>
      </p:sp>
      <p:sp>
        <p:nvSpPr>
          <p:cNvPr id="1121" name=""/>
          <p:cNvSpPr/>
          <p:nvPr/>
        </p:nvSpPr>
        <p:spPr>
          <a:xfrm rot="0" flipH="0" flipV="0">
            <a:off x="5429250" y="3457575"/>
            <a:ext cx="6076950" cy="962025"/>
          </a:xfrm>
          <a:prstGeom prst="roundRect">
            <a:avLst>
              <a:gd name="adj" fmla="val 2970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5562600" y="38100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1123" name="" descr="{&quot;isTemplate&quot;:true,&quot;type&quot;:&quot;text&quot;}"/>
          <p:cNvSpPr txBox="1"/>
          <p:nvPr/>
        </p:nvSpPr>
        <p:spPr>
          <a:xfrm rot="0" flipH="0" flipV="0">
            <a:off x="5810250" y="3733800"/>
            <a:ext cx="4953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E8EEF9"/>
                </a:solidFill>
                <a:latin typeface="Source Han Sans SC"/>
                <a:ea typeface="Source Han Sans SC"/>
              </a:rPr>
              <a:t>Finalize</a:t>
            </a:r>
            <a:endParaRPr/>
          </a:p>
        </p:txBody>
      </p:sp>
      <p:sp>
        <p:nvSpPr>
          <p:cNvPr id="1124" name="" descr="{&quot;isTemplate&quot;:true,&quot;type&quot;:&quot;text&quot;}"/>
          <p:cNvSpPr txBox="1"/>
          <p:nvPr/>
        </p:nvSpPr>
        <p:spPr>
          <a:xfrm rot="0" flipH="0" flipV="0">
            <a:off x="6400800" y="3733800"/>
            <a:ext cx="8001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>
                    <a:alpha val="78000"/>
                  </a:srgbClr>
                </a:solidFill>
                <a:latin typeface="JetBrains Mono"/>
                <a:ea typeface="JetBrains Mono"/>
              </a:rPr>
              <a:t>afterToolCall</a:t>
            </a:r>
            <a:endParaRPr/>
          </a:p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5810250" y="3952875"/>
            <a:ext cx="45624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返回新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result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就覆盖原结果——脱敏、改写、补记账都在这。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undefined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原样放行。</a:t>
            </a:r>
            <a:endParaRPr/>
          </a:p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10496550" y="3857625"/>
            <a:ext cx="87630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钩子</a:t>
            </a:r>
            <a:r>
              <a:rPr lang="en-US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可改写</a:t>
            </a:r>
            <a:endParaRPr/>
          </a:p>
        </p:txBody>
      </p:sp>
      <p:sp>
        <p:nvSpPr>
          <p:cNvPr id="1127" name=""/>
          <p:cNvSpPr/>
          <p:nvPr/>
        </p:nvSpPr>
        <p:spPr>
          <a:xfrm rot="0" flipH="0" flipV="0">
            <a:off x="5429250" y="4486275"/>
            <a:ext cx="6076950" cy="962025"/>
          </a:xfrm>
          <a:prstGeom prst="roundRect">
            <a:avLst>
              <a:gd name="adj" fmla="val 2970"/>
            </a:avLst>
          </a:prstGeom>
          <a:solidFill>
            <a:srgbClr val="16233D">
              <a:alpha val="50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28" name="" descr="{&quot;isTemplate&quot;:true,&quot;type&quot;:&quot;text&quot;}"/>
          <p:cNvSpPr txBox="1"/>
          <p:nvPr/>
        </p:nvSpPr>
        <p:spPr>
          <a:xfrm rot="0" flipH="0" flipV="0">
            <a:off x="5562600" y="483870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④</a:t>
            </a:r>
            <a:endParaRPr/>
          </a:p>
        </p:txBody>
      </p:sp>
      <p:sp>
        <p:nvSpPr>
          <p:cNvPr id="1129" name="" descr="{&quot;isTemplate&quot;:true,&quot;type&quot;:&quot;text&quot;}"/>
          <p:cNvSpPr txBox="1"/>
          <p:nvPr/>
        </p:nvSpPr>
        <p:spPr>
          <a:xfrm rot="0" flipH="0" flipV="0">
            <a:off x="5810250" y="4762500"/>
            <a:ext cx="5905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截断保护</a:t>
            </a:r>
            <a:endParaRPr/>
          </a:p>
        </p:txBody>
      </p:sp>
      <p:sp>
        <p:nvSpPr>
          <p:cNvPr id="1130" name="" descr="{&quot;isTemplate&quot;:true,&quot;type&quot;:&quot;text&quot;}"/>
          <p:cNvSpPr txBox="1"/>
          <p:nvPr/>
        </p:nvSpPr>
        <p:spPr>
          <a:xfrm rot="0" flipH="0" flipV="0">
            <a:off x="6496050" y="4762500"/>
            <a:ext cx="117157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>
                    <a:alpha val="78000"/>
                  </a:srgbClr>
                </a:solidFill>
                <a:latin typeface="JetBrains Mono"/>
                <a:ea typeface="JetBrains Mono"/>
              </a:rPr>
              <a:t>stopReason = length</a:t>
            </a:r>
            <a:endParaRPr/>
          </a:p>
        </p:txBody>
      </p:sp>
      <p:sp>
        <p:nvSpPr>
          <p:cNvPr id="1131" name="" descr="{&quot;isTemplate&quot;:true,&quot;type&quot;:&quot;text&quot;}"/>
          <p:cNvSpPr txBox="1"/>
          <p:nvPr/>
        </p:nvSpPr>
        <p:spPr>
          <a:xfrm rot="0" flipH="0" flipV="0">
            <a:off x="5810250" y="4981575"/>
            <a:ext cx="45624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全部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tool call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直接标记失败，残缺参数绝不执行。</a:t>
            </a:r>
            <a:endParaRPr/>
          </a:p>
        </p:txBody>
      </p:sp>
      <p:sp>
        <p:nvSpPr>
          <p:cNvPr id="1132" name="" descr="{&quot;isTemplate&quot;:true,&quot;type&quot;:&quot;text&quot;}"/>
          <p:cNvSpPr txBox="1"/>
          <p:nvPr/>
        </p:nvSpPr>
        <p:spPr>
          <a:xfrm rot="0" flipH="0" flipV="0">
            <a:off x="10496550" y="4886325"/>
            <a:ext cx="87630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40000"/>
              </a:lnSpc>
            </a:pP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兜底</a:t>
            </a:r>
            <a:r>
              <a:rPr lang="en-US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788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无干预点</a:t>
            </a:r>
            <a:endParaRPr/>
          </a:p>
        </p:txBody>
      </p:sp>
      <p:sp>
        <p:nvSpPr>
          <p:cNvPr id="1133" name=""/>
          <p:cNvSpPr/>
          <p:nvPr/>
        </p:nvSpPr>
        <p:spPr>
          <a:xfrm rot="0" flipH="0" flipV="0">
            <a:off x="685800" y="5448300"/>
            <a:ext cx="10820400" cy="609600"/>
          </a:xfrm>
          <a:prstGeom prst="roundRect">
            <a:avLst>
              <a:gd name="adj" fmla="val 6250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857250" y="5553075"/>
            <a:ext cx="828675" cy="4000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spc="150">
                <a:solidFill>
                  <a:srgbClr val="2AD4EE"/>
                </a:solidFill>
                <a:latin typeface="JetBrains Mono"/>
                <a:ea typeface="JetBrains Mono"/>
              </a:rPr>
              <a:t>框架定机制</a:t>
            </a:r>
            <a:endParaRPr/>
          </a:p>
          <a:p>
            <a:pPr>
              <a:lnSpc>
                <a:spcPct val="140000"/>
              </a:lnSpc>
            </a:pPr>
            <a:r>
              <a:rPr lang="zh-CN" sz="938" spc="150">
                <a:solidFill>
                  <a:srgbClr val="2AD4EE"/>
                </a:solidFill>
                <a:latin typeface="JetBrains Mono"/>
                <a:ea typeface="JetBrains Mono"/>
              </a:rPr>
              <a:t>开发者填策略</a:t>
            </a:r>
            <a:endParaRPr/>
          </a:p>
        </p:txBody>
      </p:sp>
      <p:sp>
        <p:nvSpPr>
          <p:cNvPr id="1135" name="" descr="{&quot;isTemplate&quot;:true,&quot;type&quot;:&quot;text&quot;}"/>
          <p:cNvSpPr txBox="1"/>
          <p:nvPr/>
        </p:nvSpPr>
        <p:spPr>
          <a:xfrm rot="0" flipH="0" flipV="0">
            <a:off x="1838325" y="5629275"/>
            <a:ext cx="822960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3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默认裸奔也能跑：不写钩子，校验和截断保护照样生效。拦截、审计、脱敏、终止是可选增强——一个钩子管住所有工具，插入点收敛了，但没有消失。</a:t>
            </a:r>
            <a:endParaRPr/>
          </a:p>
        </p:txBody>
      </p:sp>
      <p:sp>
        <p:nvSpPr>
          <p:cNvPr id="1136" name="" descr="{&quot;isTemplate&quot;:true,&quot;type&quot;:&quot;text&quot;}"/>
          <p:cNvSpPr txBox="1"/>
          <p:nvPr/>
        </p:nvSpPr>
        <p:spPr>
          <a:xfrm rot="0" flipH="0" flipV="0">
            <a:off x="10220325" y="5553075"/>
            <a:ext cx="1114425" cy="400050"/>
          </a:xfrm>
          <a:prstGeom prst="rect"/>
        </p:spPr>
        <p:txBody>
          <a:bodyPr wrap="none" lIns="0" tIns="0" rIns="0" bIns="0"/>
          <a:p>
            <a:pPr algn="r">
              <a:lnSpc>
                <a:spcPct val="145000"/>
              </a:lnSpc>
            </a:pPr>
            <a:r>
              <a:rPr lang="en-US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Operations </a:t>
            </a:r>
            <a:r>
              <a:rPr lang="zh-CN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抽象</a:t>
            </a:r>
            <a:endParaRPr/>
          </a:p>
          <a:p>
            <a:pPr algn="r">
              <a:lnSpc>
                <a:spcPct val="145000"/>
              </a:lnSpc>
            </a:pPr>
            <a:r>
              <a:rPr lang="zh-CN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本地</a:t>
            </a:r>
            <a:r>
              <a:rPr lang="en-US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容器</a:t>
            </a:r>
            <a:r>
              <a:rPr lang="en-US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/ SSH </a:t>
            </a:r>
            <a:r>
              <a:rPr lang="zh-CN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可换</a:t>
            </a:r>
            <a:endParaRPr/>
          </a:p>
        </p:txBody>
      </p:sp>
      <p:sp>
        <p:nvSpPr>
          <p:cNvPr id="1137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30 / 46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141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2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04</a:t>
            </a:r>
            <a:endParaRPr/>
          </a:p>
        </p:txBody>
      </p:sp>
      <p:sp>
        <p:nvSpPr>
          <p:cNvPr id="1143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④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记忆层</a:t>
            </a:r>
            <a:endParaRPr/>
          </a:p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会话系统：追加日志，树形分叉</a:t>
            </a:r>
            <a:endParaRPr/>
          </a:p>
        </p:txBody>
      </p:sp>
      <p:sp>
        <p:nvSpPr>
          <p:cNvPr id="1145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952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STORAGE · entry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追加</a:t>
            </a:r>
            <a:endParaRPr/>
          </a:p>
        </p:txBody>
      </p:sp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3867150" y="1143000"/>
            <a:ext cx="2800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用户消息</a:t>
            </a:r>
            <a:r>
              <a:rPr lang="en-US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助手消息</a:t>
            </a:r>
            <a:r>
              <a:rPr lang="en-US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工具结果</a:t>
            </a:r>
            <a:r>
              <a:rPr lang="en-US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压缩记录，都是一行</a:t>
            </a:r>
            <a:endParaRPr/>
          </a:p>
        </p:txBody>
      </p:sp>
      <p:sp>
        <p:nvSpPr>
          <p:cNvPr id="1147" name=""/>
          <p:cNvSpPr/>
          <p:nvPr/>
        </p:nvSpPr>
        <p:spPr>
          <a:xfrm rot="0" flipH="0" flipV="0">
            <a:off x="685800" y="4152900"/>
            <a:ext cx="381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819150" y="4086225"/>
            <a:ext cx="584835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38" b="1">
                <a:solidFill>
                  <a:srgbClr val="E8EEF9"/>
                </a:solidFill>
                <a:latin typeface="Source Han Sans SC"/>
                <a:ea typeface="Source Han Sans SC"/>
              </a:rPr>
              <a:t>追加</a:t>
            </a:r>
            <a:r>
              <a:rPr lang="en-US" sz="938" b="1">
                <a:solidFill>
                  <a:srgbClr val="E8EEF9"/>
                </a:solidFill>
                <a:latin typeface="Source Han Sans SC"/>
                <a:ea typeface="Source Han Sans SC"/>
              </a:rPr>
              <a:t>-only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好备份、好流式读取；不修改历史，只往后写</a:t>
            </a:r>
            <a:endParaRPr/>
          </a:p>
        </p:txBody>
      </p:sp>
      <p:sp>
        <p:nvSpPr>
          <p:cNvPr id="1149" name=""/>
          <p:cNvSpPr/>
          <p:nvPr/>
        </p:nvSpPr>
        <p:spPr>
          <a:xfrm rot="0" flipH="0" flipV="0">
            <a:off x="685800" y="4448175"/>
            <a:ext cx="381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0" name="" descr="{&quot;isTemplate&quot;:true,&quot;type&quot;:&quot;text&quot;}"/>
          <p:cNvSpPr txBox="1"/>
          <p:nvPr/>
        </p:nvSpPr>
        <p:spPr>
          <a:xfrm rot="0" flipH="0" flipV="0">
            <a:off x="819150" y="4381500"/>
            <a:ext cx="584835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parent </a:t>
            </a:r>
            <a:r>
              <a:rPr lang="zh-CN" sz="938" b="1">
                <a:solidFill>
                  <a:srgbClr val="E8EEF9"/>
                </a:solidFill>
                <a:latin typeface="Source Han Sans SC"/>
                <a:ea typeface="Source Han Sans SC"/>
              </a:rPr>
              <a:t>指针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每个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entry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记住父节点，树就自然长出来了</a:t>
            </a:r>
            <a:endParaRPr/>
          </a:p>
        </p:txBody>
      </p:sp>
      <p:sp>
        <p:nvSpPr>
          <p:cNvPr id="1151" name=""/>
          <p:cNvSpPr/>
          <p:nvPr/>
        </p:nvSpPr>
        <p:spPr>
          <a:xfrm rot="0" flipH="0" flipV="0">
            <a:off x="685800" y="4743450"/>
            <a:ext cx="381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2" name="" descr="{&quot;isTemplate&quot;:true,&quot;type&quot;:&quot;text&quot;}"/>
          <p:cNvSpPr txBox="1"/>
          <p:nvPr/>
        </p:nvSpPr>
        <p:spPr>
          <a:xfrm rot="0" flipH="0" flipV="0">
            <a:off x="819150" y="4676775"/>
            <a:ext cx="5848350" cy="2286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38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SQLite </a:t>
            </a:r>
            <a:r>
              <a:rPr lang="zh-CN" sz="938" b="1">
                <a:solidFill>
                  <a:srgbClr val="E8EEF9"/>
                </a:solidFill>
                <a:latin typeface="Source Han Sans SC"/>
                <a:ea typeface="Source Han Sans SC"/>
              </a:rPr>
              <a:t>可选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sessions / entries / branch_entries / writer_leases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，带</a:t>
            </a:r>
            <a:r>
              <a:rPr lang="en-US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FTS </a:t>
            </a:r>
            <a:r>
              <a:rPr lang="zh-CN" sz="938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全文搜索与写租约</a:t>
            </a:r>
            <a:endParaRPr/>
          </a:p>
        </p:txBody>
      </p:sp>
      <p:sp>
        <p:nvSpPr>
          <p:cNvPr id="1153" name=""/>
          <p:cNvSpPr/>
          <p:nvPr/>
        </p:nvSpPr>
        <p:spPr>
          <a:xfrm rot="0" flipH="0" flipV="0">
            <a:off x="685800" y="5067300"/>
            <a:ext cx="5981700" cy="457200"/>
          </a:xfrm>
          <a:prstGeom prst="roundRect">
            <a:avLst>
              <a:gd name="adj" fmla="val 6250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4" name="" descr="{&quot;isTemplate&quot;:true,&quot;type&quot;:&quot;text&quot;}"/>
          <p:cNvSpPr txBox="1"/>
          <p:nvPr/>
        </p:nvSpPr>
        <p:spPr>
          <a:xfrm rot="0" flipH="0" flipV="0">
            <a:off x="838200" y="5219700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价值</a:t>
            </a:r>
            <a:endParaRPr/>
          </a:p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1257300" y="5172075"/>
            <a:ext cx="5257800" cy="2476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13">
                <a:solidFill>
                  <a:srgbClr val="E8EEF9"/>
                </a:solidFill>
                <a:latin typeface="Source Han Sans SC"/>
                <a:ea typeface="Source Han Sans SC"/>
              </a:rPr>
              <a:t>线性会话出错只能重来；树形会话可以「回到岔路口」——不用重开会话、不用重述任务。</a:t>
            </a:r>
            <a:endParaRPr/>
          </a:p>
        </p:txBody>
      </p:sp>
      <p:sp>
        <p:nvSpPr>
          <p:cNvPr id="1156" name=""/>
          <p:cNvSpPr/>
          <p:nvPr/>
        </p:nvSpPr>
        <p:spPr>
          <a:xfrm rot="0" flipH="0" flipV="0">
            <a:off x="6915150" y="1143000"/>
            <a:ext cx="4591050" cy="1866900"/>
          </a:xfrm>
          <a:prstGeom prst="roundRect">
            <a:avLst>
              <a:gd name="adj" fmla="val 2041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7" name="" descr="{&quot;isTemplate&quot;:true,&quot;type&quot;:&quot;text&quot;}"/>
          <p:cNvSpPr txBox="1"/>
          <p:nvPr/>
        </p:nvSpPr>
        <p:spPr>
          <a:xfrm rot="0" flipH="0" flipV="0">
            <a:off x="7067550" y="1266825"/>
            <a:ext cx="428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SessionManager · </a:t>
            </a:r>
            <a:r>
              <a:rPr lang="zh-CN" sz="938" spc="150">
                <a:solidFill>
                  <a:srgbClr val="2AD4EE"/>
                </a:solidFill>
                <a:latin typeface="JetBrains Mono"/>
                <a:ea typeface="JetBrains Mono"/>
              </a:rPr>
              <a:t>五种姿势</a:t>
            </a:r>
            <a:endParaRPr/>
          </a:p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7067550" y="1495425"/>
            <a:ext cx="131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inMemory()</a:t>
            </a:r>
            <a:endParaRPr/>
          </a:p>
        </p:txBody>
      </p:sp>
      <p:sp>
        <p:nvSpPr>
          <p:cNvPr id="1159" name="" descr="{&quot;isTemplate&quot;:true,&quot;type&quot;:&quot;text&quot;}"/>
          <p:cNvSpPr txBox="1"/>
          <p:nvPr/>
        </p:nvSpPr>
        <p:spPr>
          <a:xfrm rot="0" flipH="0" flipV="0">
            <a:off x="8458200" y="1495425"/>
            <a:ext cx="2895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内存会话，测试用</a:t>
            </a:r>
            <a:endParaRPr/>
          </a:p>
        </p:txBody>
      </p:sp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7067550" y="1685925"/>
            <a:ext cx="131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create(cwd)</a:t>
            </a:r>
            <a:endParaRPr/>
          </a:p>
        </p:txBody>
      </p:sp>
      <p:sp>
        <p:nvSpPr>
          <p:cNvPr id="1161" name="" descr="{&quot;isTemplate&quot;:true,&quot;type&quot;:&quot;text&quot;}"/>
          <p:cNvSpPr txBox="1"/>
          <p:nvPr/>
        </p:nvSpPr>
        <p:spPr>
          <a:xfrm rot="0" flipH="0" flipV="0">
            <a:off x="8458200" y="1685925"/>
            <a:ext cx="2895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新建持久化会话</a:t>
            </a:r>
            <a:endParaRPr/>
          </a:p>
        </p:txBody>
      </p:sp>
      <p:sp>
        <p:nvSpPr>
          <p:cNvPr id="1162" name="" descr="{&quot;isTemplate&quot;:true,&quot;type&quot;:&quot;text&quot;}"/>
          <p:cNvSpPr txBox="1"/>
          <p:nvPr/>
        </p:nvSpPr>
        <p:spPr>
          <a:xfrm rot="0" flipH="0" flipV="0">
            <a:off x="7067550" y="1876425"/>
            <a:ext cx="131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continueRecent()</a:t>
            </a:r>
            <a:endParaRPr/>
          </a:p>
        </p:txBody>
      </p:sp>
      <p:sp>
        <p:nvSpPr>
          <p:cNvPr id="1163" name="" descr="{&quot;isTemplate&quot;:true,&quot;type&quot;:&quot;text&quot;}"/>
          <p:cNvSpPr txBox="1"/>
          <p:nvPr/>
        </p:nvSpPr>
        <p:spPr>
          <a:xfrm rot="0" flipH="0" flipV="0">
            <a:off x="8458200" y="1876425"/>
            <a:ext cx="2895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继续最近，没有则新建</a:t>
            </a:r>
            <a:endParaRPr/>
          </a:p>
        </p:txBody>
      </p:sp>
      <p:sp>
        <p:nvSpPr>
          <p:cNvPr id="1164" name="" descr="{&quot;isTemplate&quot;:true,&quot;type&quot;:&quot;text&quot;}"/>
          <p:cNvSpPr txBox="1"/>
          <p:nvPr/>
        </p:nvSpPr>
        <p:spPr>
          <a:xfrm rot="0" flipH="0" flipV="0">
            <a:off x="7067550" y="2066925"/>
            <a:ext cx="131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list(cwd)</a:t>
            </a:r>
            <a:endParaRPr/>
          </a:p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8458200" y="2066925"/>
            <a:ext cx="2895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列出全部（</a:t>
            </a:r>
            <a:r>
              <a:rPr lang="en-US" sz="900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id + </a:t>
            </a:r>
            <a:r>
              <a:rPr lang="zh-CN" sz="900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首条摘要）</a:t>
            </a:r>
            <a:endParaRPr/>
          </a:p>
        </p:txBody>
      </p:sp>
      <p:sp>
        <p:nvSpPr>
          <p:cNvPr id="1166" name="" descr="{&quot;isTemplate&quot;:true,&quot;type&quot;:&quot;text&quot;}"/>
          <p:cNvSpPr txBox="1"/>
          <p:nvPr/>
        </p:nvSpPr>
        <p:spPr>
          <a:xfrm rot="0" flipH="0" flipV="0">
            <a:off x="7067550" y="2257425"/>
            <a:ext cx="1314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open(path)</a:t>
            </a:r>
            <a:endParaRPr/>
          </a:p>
        </p:txBody>
      </p:sp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8458200" y="2257425"/>
            <a:ext cx="2895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打开指定会话文件</a:t>
            </a:r>
            <a:endParaRPr/>
          </a:p>
        </p:txBody>
      </p:sp>
      <p:sp>
        <p:nvSpPr>
          <p:cNvPr id="1168" name=""/>
          <p:cNvSpPr/>
          <p:nvPr/>
        </p:nvSpPr>
        <p:spPr>
          <a:xfrm rot="0" flipH="0" flipV="0">
            <a:off x="6915150" y="3124200"/>
            <a:ext cx="4591050" cy="1952625"/>
          </a:xfrm>
          <a:prstGeom prst="roundRect">
            <a:avLst>
              <a:gd name="adj" fmla="val 1951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9" name="" descr="{&quot;isTemplate&quot;:true,&quot;type&quot;:&quot;text&quot;}"/>
          <p:cNvSpPr txBox="1"/>
          <p:nvPr/>
        </p:nvSpPr>
        <p:spPr>
          <a:xfrm rot="0" flipH="0" flipV="0">
            <a:off x="7067550" y="3248025"/>
            <a:ext cx="428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Runtime · </a:t>
            </a:r>
            <a:r>
              <a:rPr lang="zh-CN" sz="938" spc="150">
                <a:solidFill>
                  <a:srgbClr val="2AD4EE"/>
                </a:solidFill>
                <a:latin typeface="JetBrains Mono"/>
                <a:ea typeface="JetBrains Mono"/>
              </a:rPr>
              <a:t>四条替换路径</a:t>
            </a:r>
            <a:endParaRPr/>
          </a:p>
        </p:txBody>
      </p:sp>
      <p:sp>
        <p:nvSpPr>
          <p:cNvPr id="1170" name=""/>
          <p:cNvSpPr/>
          <p:nvPr/>
        </p:nvSpPr>
        <p:spPr>
          <a:xfrm rot="0" flipH="0" flipV="0">
            <a:off x="7067550" y="3476625"/>
            <a:ext cx="857250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7143750" y="3514725"/>
            <a:ext cx="7048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2AD4EE"/>
                </a:solidFill>
                <a:latin typeface="JetBrains Mono"/>
                <a:ea typeface="JetBrains Mono"/>
              </a:rPr>
              <a:t>newSession()</a:t>
            </a:r>
            <a:endParaRPr/>
          </a:p>
        </p:txBody>
      </p:sp>
      <p:sp>
        <p:nvSpPr>
          <p:cNvPr id="1172" name=""/>
          <p:cNvSpPr/>
          <p:nvPr/>
        </p:nvSpPr>
        <p:spPr>
          <a:xfrm rot="0" flipH="0" flipV="0">
            <a:off x="8001000" y="3476625"/>
            <a:ext cx="1266825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73" name="" descr="{&quot;isTemplate&quot;:true,&quot;type&quot;:&quot;text&quot;}"/>
          <p:cNvSpPr txBox="1"/>
          <p:nvPr/>
        </p:nvSpPr>
        <p:spPr>
          <a:xfrm rot="0" flipH="0" flipV="0">
            <a:off x="8077200" y="3514725"/>
            <a:ext cx="1114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2AD4EE"/>
                </a:solidFill>
                <a:latin typeface="JetBrains Mono"/>
                <a:ea typeface="JetBrains Mono"/>
              </a:rPr>
              <a:t>switchSession(file)</a:t>
            </a:r>
            <a:endParaRPr/>
          </a:p>
        </p:txBody>
      </p:sp>
      <p:sp>
        <p:nvSpPr>
          <p:cNvPr id="1174" name=""/>
          <p:cNvSpPr/>
          <p:nvPr/>
        </p:nvSpPr>
        <p:spPr>
          <a:xfrm rot="0" flipH="0" flipV="0">
            <a:off x="9344025" y="3476625"/>
            <a:ext cx="504825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75" name="" descr="{&quot;isTemplate&quot;:true,&quot;type&quot;:&quot;text&quot;}"/>
          <p:cNvSpPr txBox="1"/>
          <p:nvPr/>
        </p:nvSpPr>
        <p:spPr>
          <a:xfrm rot="0" flipH="0" flipV="0">
            <a:off x="9420225" y="3514725"/>
            <a:ext cx="352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2AD4EE"/>
                </a:solidFill>
                <a:latin typeface="JetBrains Mono"/>
                <a:ea typeface="JetBrains Mono"/>
              </a:rPr>
              <a:t>fork()</a:t>
            </a:r>
            <a:endParaRPr/>
          </a:p>
        </p:txBody>
      </p:sp>
      <p:sp>
        <p:nvSpPr>
          <p:cNvPr id="1176" name=""/>
          <p:cNvSpPr/>
          <p:nvPr/>
        </p:nvSpPr>
        <p:spPr>
          <a:xfrm rot="0" flipH="0" flipV="0">
            <a:off x="9925050" y="3476625"/>
            <a:ext cx="1152525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77" name="" descr="{&quot;isTemplate&quot;:true,&quot;type&quot;:&quot;text&quot;}"/>
          <p:cNvSpPr txBox="1"/>
          <p:nvPr/>
        </p:nvSpPr>
        <p:spPr>
          <a:xfrm rot="0" flipH="0" flipV="0">
            <a:off x="10001250" y="3514725"/>
            <a:ext cx="10001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2AD4EE"/>
                </a:solidFill>
                <a:latin typeface="JetBrains Mono"/>
                <a:ea typeface="JetBrains Mono"/>
              </a:rPr>
              <a:t>importFromJsonl()</a:t>
            </a:r>
            <a:endParaRPr/>
          </a:p>
        </p:txBody>
      </p:sp>
      <p:sp>
        <p:nvSpPr>
          <p:cNvPr id="1178" name="" descr="{&quot;isTemplate&quot;:true,&quot;type&quot;:&quot;text&quot;}"/>
          <p:cNvSpPr txBox="1"/>
          <p:nvPr/>
        </p:nvSpPr>
        <p:spPr>
          <a:xfrm rot="0" flipH="0" flipV="0">
            <a:off x="7067550" y="3762375"/>
            <a:ext cx="42862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8000"/>
              </a:lnSpc>
            </a:pP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四条路都先触发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session_before_switch / session_before_fork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（可取消），再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teardown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当前会话。</a:t>
            </a:r>
            <a:endParaRPr/>
          </a:p>
        </p:txBody>
      </p:sp>
      <p:sp>
        <p:nvSpPr>
          <p:cNvPr id="1179" name="" descr="{&quot;isTemplate&quot;:true,&quot;type&quot;:&quot;text&quot;}"/>
          <p:cNvSpPr txBox="1"/>
          <p:nvPr/>
        </p:nvSpPr>
        <p:spPr>
          <a:xfrm rot="0" flipH="0" flipV="0">
            <a:off x="7067550" y="4267200"/>
            <a:ext cx="42862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2AD4EE">
                    <a:alpha val="78000"/>
                  </a:srgbClr>
                </a:solidFill>
                <a:latin typeface="Source Han Sans SC"/>
                <a:ea typeface="Source Han Sans SC"/>
              </a:rPr>
              <a:t>最容易漏的一步：替换后，所有会话级订阅与扩展绑定必须重新绑到</a:t>
            </a:r>
            <a:r>
              <a:rPr lang="en-US" sz="863">
                <a:solidFill>
                  <a:srgbClr val="2AD4EE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runtime.session</a:t>
            </a:r>
            <a:r>
              <a:rPr lang="zh-CN" sz="863">
                <a:solidFill>
                  <a:srgbClr val="2AD4EE">
                    <a:alpha val="78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180" name=""/>
          <p:cNvSpPr/>
          <p:nvPr/>
        </p:nvSpPr>
        <p:spPr>
          <a:xfrm rot="0" flipH="0" flipV="0">
            <a:off x="6915150" y="5191125"/>
            <a:ext cx="4591050" cy="333375"/>
          </a:xfrm>
          <a:prstGeom prst="roundRect">
            <a:avLst>
              <a:gd name="adj" fmla="val 11429"/>
            </a:avLst>
          </a:prstGeom>
          <a:solidFill>
            <a:srgbClr val="2AD4EE">
              <a:alpha val="6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1" name="" descr="{&quot;isTemplate&quot;:true,&quot;type&quot;:&quot;text&quot;}"/>
          <p:cNvSpPr txBox="1"/>
          <p:nvPr/>
        </p:nvSpPr>
        <p:spPr>
          <a:xfrm rot="0" flipH="0" flipV="0">
            <a:off x="7067550" y="52959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LEASE</a:t>
            </a:r>
            <a:endParaRPr/>
          </a:p>
        </p:txBody>
      </p:sp>
      <p:sp>
        <p:nvSpPr>
          <p:cNvPr id="1182" name="" descr="{&quot;isTemplate&quot;:true,&quot;type&quot;:&quot;text&quot;}"/>
          <p:cNvSpPr txBox="1"/>
          <p:nvPr/>
        </p:nvSpPr>
        <p:spPr>
          <a:xfrm rot="0" flipH="0" flipV="0">
            <a:off x="7505700" y="5286375"/>
            <a:ext cx="3848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exclusive </a:t>
            </a:r>
            <a:r>
              <a:rPr lang="zh-CN" sz="9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独占</a:t>
            </a:r>
            <a:r>
              <a:rPr lang="en-US" sz="9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/ shared </a:t>
            </a:r>
            <a:r>
              <a:rPr lang="zh-CN" sz="9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共享附着：多端看同一会话不打架。</a:t>
            </a:r>
            <a:endParaRPr/>
          </a:p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8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31 / 46</a:t>
            </a:r>
            <a:endParaRPr/>
          </a:p>
        </p:txBody>
      </p:sp>
      <p:sp>
        <p:nvSpPr>
          <p:cNvPr id="1185" name=""/>
          <p:cNvSpPr/>
          <p:nvPr/>
        </p:nvSpPr>
        <p:spPr>
          <a:xfrm rot="0" flipH="0" flipV="0">
            <a:off x="685800" y="1304925"/>
            <a:ext cx="5981700" cy="2667000"/>
          </a:xfrm>
          <a:prstGeom prst="roundRect">
            <a:avLst>
              <a:gd name="adj" fmla="val 2857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186" name=""/>
          <p:cNvSpPr txBox="1"/>
          <p:nvPr/>
        </p:nvSpPr>
        <p:spPr>
          <a:xfrm rot="0" flipH="0" flipV="0">
            <a:off x="838200" y="1438275"/>
            <a:ext cx="5676900" cy="2400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38">
                <a:solidFill>
                  <a:srgbClr val="6A737D"/>
                </a:solidFill>
                <a:latin typeface="Menlo"/>
                <a:ea typeface="Menlo"/>
              </a:rPr>
              <a:t># session.jsonl  --  append-only, one entry per line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e01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user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 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"把导出功能改成 CSV"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e02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assistant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tool_call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38">
                <a:solidFill>
                  <a:srgbClr val="79B8FF"/>
                </a:solidFill>
                <a:latin typeface="Menlo"/>
                <a:ea typeface="Menlo"/>
              </a:rPr>
              <a:t>read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,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{path: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"export.ts"}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e03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 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result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(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ok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)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e04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assistant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tool_call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edit,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{oldText: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"xlsx",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newText: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"csv"}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e05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assistant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"改好了，已用 CSV 重写导出"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6A737D"/>
                </a:solidFill>
                <a:latin typeface="Menlo"/>
                <a:ea typeface="Menlo"/>
              </a:rPr>
              <a:t># 任何一条历史消息上都能分叉，像 git branch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         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|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         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+--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navigateTree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e02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  -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&gt;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长出新分支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               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e06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assistant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tool_call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edit,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{流式写法}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               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e07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assistant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"换了个实现，行为一致"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187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Box style={{ flexDirection: 'row', alignItems: 'center', gap: 12 }}&gt;&#13;&#10;                &lt;Text style={{ fontSize: 13, color: '#2AD4EE', letterSpacing: 3, fontFamily: '&quot;JetBrains Mono&quot;, &quot;Cascadia Mono&quot;, Consolas, monospace' }}&gt;DESIGN POINT 05&lt;/Text&gt;&#13;&#10;                &lt;Text style={{ fontSize: 13, color: 'rgba(232,238,249,0.38)', letterSpacing: 2, fontFamily: '&quot;JetBrains Mono&quot;, &quot;Cascadia Mono&quot;, Consolas, monospace' }}&gt;· 对应 ⑤ 控制层&lt;/Text&gt;&#13;&#10;            &lt;/Box&gt;&#13;&#10;            &lt;Text style={{ marginTop: 6, fontSize: 34, fontWeight: 'bold', color: '#E8EEF9' }}&gt;Agent 循环：418 行，两层 while&lt;/Text&gt;&#13;&#10;        &lt;/Box&gt;&#13;&#10;    &lt;/Box&gt;&#13;&#10;&#13;&#10;    {/* B 区 */}&#13;&#10;    &lt;Box style={{ height: 516, flexDirection: 'column' }}&gt;&#13;&#10;        &lt;Box style={{ height: 444, flexDirection: 'row', gap: 24 }}&gt;&#13;&#10;&#13;&#10;            {/* 左：代码骨架 */}&#13;&#10;            &lt;Box style={{ width: 590, flexDirection: 'column' }}&gt;&#13;&#10;                &lt;Box style={{ flexDirection: 'row', alignItems: 'baseline', justifyContent: 'space-between' }}&gt;&#13;&#10;                    &lt;Text style={{ fontSize: 14, color: '#2AD4EE', letterSpacing: 2.5, fontFamily: '&quot;JetBrains Mono&quot;, &quot;Cascadia Mono&quot;, Consolas, monospace' }}&gt;agent-loop.ts · 结构还原&lt;/Text&gt;&#13;&#10;                    &lt;Text style={{ fontSize: 12.5, color: 'rgba(232,238,249,0.42)' }}&gt;注释编号对应右侧步骤&lt;/Text&gt;&#13;&#10;                &lt;/Box&gt;&#13;&#10;&#13;&#10;                &lt;CodeBlock&#13;&#10;                    code={`while (true) {                      // OUTER: keep the conversation going&#13;&#10;  while (true) {                    // INNER: one task, ReAct body&#13;&#10;    emit(&quot;turn_start&quot;);                              // (1)&#13;&#10;    messages.push(...queue.drain());                 // (2)&#13;&#10;    const a = await streamAssistantResponse();       // (3)&#13;&#10;    if (a.stopReason === &quot;toolUse&quot;) {                // (4)&#13;&#10;      for (const c of a.toolCalls) {&#13;&#10;        messages.push(await pipeline.execute(c));&#13;&#10;      }&#13;&#10;    }&#13;&#10;    emit(&quot;turn_end&quot;);&#13;&#10;    if (a.stopReason !== &quot;toolUse&quot;) break;           // (5a) model said stop&#13;&#10;    if (await hooks.shouldStopAfterTurn()) break;    // (5b) host says stop&#13;&#10;  }&#13;&#10;  if (!queue.hasFollowUp()) break;                   // nothing queued: end run&#13;&#10;}`}&#13;&#10;                    language='typescript'&#13;&#10;                    width={590}&#13;&#10;                    fontSize={10.5}&#13;&#10;                    theme='github-dark'&#13;&#10;                /&gt;&#13;&#10;&#13;&#10;                &lt;Box style={{ marginTop: 10, flexDirection: 'row', gap: 12, alignItems: 'flex-start' }}&gt;&#13;&#10;                    &lt;Box style={{ width: 4, height: 4, background: '#2AD4EE', marginTop: 7 }} /&gt;&#13;&#10;                    &lt;Text style={{ flex: 1, fontSize: 12, color: 'rgba(232,238,249,0.68)', lineHeight: 1.6 }}&gt;&#13;&#10;                        内层跑一个任务的工具循环（调模型 → 执行工具 → 结果拼回去），外层跑多轮续跑——单层 while 写不出「答完接着聊」。&#13;&#10;                    &lt;/Text&gt;&#13;&#10;                &lt;/Box&gt;&#13;&#10;            &lt;/Box&gt;&#13;&#10;&#13;&#10;            {/* 右：逐段说明 */}&#13;&#10;            &lt;Box style={{ flex: 1, flexDirection: 'column' }}&gt;&#13;&#10;                &lt;Text style={{ fontSize: 14, color: '#2AD4EE', letterSpacing: 2.5, fontFamily: '&quot;JetBrains Mono&quot;, &quot;Cascadia Mono&quot;, Consolas, monospace' }}&gt;每一段在做什么&lt;/Text&gt;&#13;&#10;&#13;&#10;                &lt;Box style={{ marginTop: 10, flex: 1, flexDirection: 'column', justifyContent: 'space-between' }}&gt;&#13;&#10;                    {[&#13;&#10;                        ['(3) Thought 不是一次 chat', 'transformContext（宿主改上下文）→ convertToLlm（AgentMessage 折叠成原生 Message）→ pi-ai 的 stream()。失败走 never-throw，循环里不用 try/catch。'],&#13;&#10;                        ['(4) Action → Observation', '只有 stopReason = toolUse 才执行；结果无条件拼回 messages，成败都一样（isError 标记）。错误即信息。'],&#13;&#10;                        ['(2) 插话的全部机制', '队列 drain 发生在 turn 边界，抢的是「两轮之间」，不抢正在生成的轮次。内层活着内层消费，内层退了外层消费。'],&#13;&#10;                        ['(5) 停止不是单一条件', 'stopReason（模型说停）+ shouldStopAfterTurn（宿主叫停）+ abort()（用户 Esc），三类原语组合。'],&#13;&#10;                    ].map((r, i) =&gt; (&#13;&#10;                        &lt;Box key={i} style={{ flexDirection: 'column', paddingTop: 8, paddingBottom: 8, paddingLeft: 12, borderLeft: '2px solid rgba(42,212,238,0.30)' }}&gt;&#13;&#10;                            &lt;Text style={{ fontSize: 12.5, fontWeight: 'bold', color: '#2AD4EE', fontFamily: '&quot;JetBrains Mono&quot;, &quot;Cascadia Mono&quot;, Consolas, monospace' }}&gt;{r[0]}&lt;/Text&gt;&#13;&#10;                            &lt;Text style={{ marginTop: 4, fontSize: 12.5, color: 'rgba(232,238,249,0.70)', lineHeight: 1.6 }}&gt;{r[1]}&lt;/Text&gt;&#13;&#10;                        &lt;/Box&gt;&#13;&#10;                    ))}&#13;&#10;                &lt;/Box&gt;&#13;&#10;            &lt;/Box&gt;&#13;&#10;        &lt;/Box&gt;&#13;&#10;&#13;&#10;        {/* 底部 */}&#13;&#10;        &lt;Box style={{ height: 60, flexDirection: 'row', alignItems: 'center', gap: 18, paddingLeft: 18, paddingRight: 18, background: 'rgba(42,212,238,0.07)', border: '1px solid rgba(42,212,238,0.22)', borderRadius: 4 }}&gt;&#13;&#10;            &lt;Text style={{ fontSize: 12.5, color: '#2AD4EE', letterSpacing: 2, fontFamily: '&quot;JetBrains Mono&quot;, &quot;Cascadia Mono&quot;, Consolas, monospace', lineHeight: 1.4 }}&gt;与教科书&lt;br /&gt;ReAct 的差异&lt;/Text&gt;&#13;&#10;            &lt;Box style={{ flex: 1, flexDirection: 'row', gap: 16 }}&gt;&#13;&#10;                {['单层变双层', '插话不打断', '停止原语化', '每一步都是事件'].map((t, i) =&gt; (&#13;&#10;                    &lt;Box key={i} style={{ flex: 1, flexDirection: 'row', alignItems: 'center', gap: 7 }}&gt;&#13;&#10;                        &lt;Text style={{ fontSize: 12, color: 'rgba(42,212,238,0.60)', fontFamily: '&quot;JetBrains Mono&quot;, &quot;Cascadia Mono&quot;, Consolas, monospace' }}&gt;0{i + 1}&lt;/Text&gt;&#13;&#10;                        &lt;Text style={{ fontSize: 13, color: '#E8EEF9' }}&gt;{t}&lt;/Text&gt;&#13;&#10;                    &lt;/Box&gt;&#13;&#10;                ))}&#13;&#10;            &lt;/Box&gt;&#13;&#10;        &lt;/Box&gt;&#13;&#10;    &lt;/Box&gt;&#13;&#10;&#13;&#10;    {/* C 区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32 / 4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18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19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05</a:t>
            </a:r>
            <a:endParaRPr/>
          </a:p>
        </p:txBody>
      </p:sp>
      <p:sp>
        <p:nvSpPr>
          <p:cNvPr id="1191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⑤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控制层</a:t>
            </a:r>
            <a:endParaRPr/>
          </a:p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4572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循环：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418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行，两层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while</a:t>
            </a:r>
            <a:endParaRPr/>
          </a:p>
        </p:txBody>
      </p:sp>
      <p:sp>
        <p:nvSpPr>
          <p:cNvPr id="119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agent-loop.ts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结构还原</a:t>
            </a:r>
            <a:endParaRPr/>
          </a:p>
        </p:txBody>
      </p:sp>
      <p:sp>
        <p:nvSpPr>
          <p:cNvPr id="1194" name="" descr="{&quot;isTemplate&quot;:true,&quot;type&quot;:&quot;text&quot;}"/>
          <p:cNvSpPr txBox="1"/>
          <p:nvPr/>
        </p:nvSpPr>
        <p:spPr>
          <a:xfrm rot="0" flipH="0" flipV="0">
            <a:off x="5114925" y="114300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注释编号对应右侧步骤</a:t>
            </a:r>
            <a:endParaRPr/>
          </a:p>
        </p:txBody>
      </p:sp>
      <p:sp>
        <p:nvSpPr>
          <p:cNvPr id="1195" name=""/>
          <p:cNvSpPr/>
          <p:nvPr/>
        </p:nvSpPr>
        <p:spPr>
          <a:xfrm rot="0" flipH="0" flipV="0">
            <a:off x="685800" y="4429125"/>
            <a:ext cx="381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196" name="" descr="{&quot;isTemplate&quot;:true,&quot;type&quot;:&quot;text&quot;}"/>
          <p:cNvSpPr txBox="1"/>
          <p:nvPr/>
        </p:nvSpPr>
        <p:spPr>
          <a:xfrm rot="0" flipH="0" flipV="0">
            <a:off x="838200" y="4362450"/>
            <a:ext cx="54673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内层跑一个任务的工具循环（调模型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执行工具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结果拼回去），外层跑多轮续跑——单层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写不出「答完接着聊」。</a:t>
            </a:r>
            <a:endParaRPr/>
          </a:p>
        </p:txBody>
      </p:sp>
      <p:sp>
        <p:nvSpPr>
          <p:cNvPr id="1197" name="" descr="{&quot;isTemplate&quot;:true,&quot;type&quot;:&quot;text&quot;}"/>
          <p:cNvSpPr txBox="1"/>
          <p:nvPr/>
        </p:nvSpPr>
        <p:spPr>
          <a:xfrm rot="0" flipH="0" flipV="0">
            <a:off x="6534150" y="1143000"/>
            <a:ext cx="497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每一段在做什么</a:t>
            </a:r>
            <a:endParaRPr/>
          </a:p>
        </p:txBody>
      </p:sp>
      <p:sp>
        <p:nvSpPr>
          <p:cNvPr id="1198" name=""/>
          <p:cNvSpPr/>
          <p:nvPr/>
        </p:nvSpPr>
        <p:spPr>
          <a:xfrm rot="0" flipH="0" flipV="0">
            <a:off x="6534150" y="1400175"/>
            <a:ext cx="4991100" cy="790575"/>
          </a:xfrm>
          <a:custGeom>
            <a:pathLst>
              <a:path w="524" h="83">
                <a:moveTo>
                  <a:pt x="0" y="0"/>
                </a:moveTo>
                <a:lnTo>
                  <a:pt x="2" y="0"/>
                </a:lnTo>
                <a:lnTo>
                  <a:pt x="2" y="83"/>
                </a:lnTo>
                <a:lnTo>
                  <a:pt x="0" y="83"/>
                </a:lnTo>
                <a:close/>
              </a:path>
            </a:pathLst>
          </a:custGeom>
          <a:solidFill>
            <a:srgbClr val="2AD4EE">
              <a:alpha val="30000"/>
            </a:srgbClr>
          </a:solidFill>
          <a:ln/>
        </p:spPr>
        <p:txBody>
          <a:bodyPr/>
          <a:p/>
        </p:txBody>
      </p:sp>
      <p:sp>
        <p:nvSpPr>
          <p:cNvPr id="1199" name="" descr="{&quot;isTemplate&quot;:true,&quot;type&quot;:&quot;text&quot;}"/>
          <p:cNvSpPr txBox="1"/>
          <p:nvPr/>
        </p:nvSpPr>
        <p:spPr>
          <a:xfrm rot="0" flipH="0" flipV="0">
            <a:off x="6667500" y="1476375"/>
            <a:ext cx="483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JetBrains Mono"/>
                <a:ea typeface="JetBrains Mono"/>
              </a:rPr>
              <a:t xml:space="preserve">(3) Thought </a:t>
            </a:r>
            <a:r>
              <a:rPr lang="zh-CN" sz="938" b="1">
                <a:solidFill>
                  <a:srgbClr val="2AD4EE"/>
                </a:solidFill>
                <a:latin typeface="JetBrains Mono"/>
                <a:ea typeface="JetBrains Mono"/>
              </a:rPr>
              <a:t>不是一次</a:t>
            </a:r>
            <a:r>
              <a:rPr lang="en-US" sz="938" b="1">
                <a:solidFill>
                  <a:srgbClr val="2AD4EE"/>
                </a:solidFill>
                <a:latin typeface="JetBrains Mono"/>
                <a:ea typeface="JetBrains Mono"/>
              </a:rPr>
              <a:t xml:space="preserve"> chat</a:t>
            </a:r>
            <a:endParaRPr/>
          </a:p>
        </p:txBody>
      </p:sp>
      <p:sp>
        <p:nvSpPr>
          <p:cNvPr id="1200" name="" descr="{&quot;isTemplate&quot;:true,&quot;type&quot;:&quot;text&quot;}"/>
          <p:cNvSpPr txBox="1"/>
          <p:nvPr/>
        </p:nvSpPr>
        <p:spPr>
          <a:xfrm rot="0" flipH="0" flipV="0">
            <a:off x="6667500" y="1657350"/>
            <a:ext cx="4838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transformContext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（宿主改上下文）→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convertToLlm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（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AgentMessage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折叠成原生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Message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）→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pi-ai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stream()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。失败走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never-throw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，循环里不用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try/catch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201" name=""/>
          <p:cNvSpPr/>
          <p:nvPr/>
        </p:nvSpPr>
        <p:spPr>
          <a:xfrm rot="0" flipH="0" flipV="0">
            <a:off x="6534150" y="2457450"/>
            <a:ext cx="4991100" cy="790575"/>
          </a:xfrm>
          <a:custGeom>
            <a:pathLst>
              <a:path w="524" h="83">
                <a:moveTo>
                  <a:pt x="0" y="0"/>
                </a:moveTo>
                <a:lnTo>
                  <a:pt x="2" y="0"/>
                </a:lnTo>
                <a:lnTo>
                  <a:pt x="2" y="83"/>
                </a:lnTo>
                <a:lnTo>
                  <a:pt x="0" y="83"/>
                </a:lnTo>
                <a:close/>
              </a:path>
            </a:pathLst>
          </a:custGeom>
          <a:solidFill>
            <a:srgbClr val="2AD4EE">
              <a:alpha val="30000"/>
            </a:srgbClr>
          </a:solidFill>
          <a:ln/>
        </p:spPr>
        <p:txBody>
          <a:bodyPr/>
          <a:p/>
        </p:txBody>
      </p:sp>
      <p:sp>
        <p:nvSpPr>
          <p:cNvPr id="1202" name="" descr="{&quot;isTemplate&quot;:true,&quot;type&quot;:&quot;text&quot;}"/>
          <p:cNvSpPr txBox="1"/>
          <p:nvPr/>
        </p:nvSpPr>
        <p:spPr>
          <a:xfrm rot="0" flipH="0" flipV="0">
            <a:off x="6667500" y="2533650"/>
            <a:ext cx="483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JetBrains Mono"/>
                <a:ea typeface="JetBrains Mono"/>
              </a:rPr>
              <a:t>(4) Action → Observation</a:t>
            </a:r>
            <a:endParaRPr/>
          </a:p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6667500" y="2714625"/>
            <a:ext cx="4838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只有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stopReason = toolUse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才执行；结果无条件拼回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，成败都一样（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isError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标记）。错误即信息。</a:t>
            </a:r>
            <a:endParaRPr/>
          </a:p>
        </p:txBody>
      </p:sp>
      <p:sp>
        <p:nvSpPr>
          <p:cNvPr id="1204" name=""/>
          <p:cNvSpPr/>
          <p:nvPr/>
        </p:nvSpPr>
        <p:spPr>
          <a:xfrm rot="0" flipH="0" flipV="0">
            <a:off x="6534150" y="3524250"/>
            <a:ext cx="4991100" cy="790575"/>
          </a:xfrm>
          <a:custGeom>
            <a:pathLst>
              <a:path w="524" h="83">
                <a:moveTo>
                  <a:pt x="0" y="0"/>
                </a:moveTo>
                <a:lnTo>
                  <a:pt x="2" y="0"/>
                </a:lnTo>
                <a:lnTo>
                  <a:pt x="2" y="83"/>
                </a:lnTo>
                <a:lnTo>
                  <a:pt x="0" y="83"/>
                </a:lnTo>
                <a:close/>
              </a:path>
            </a:pathLst>
          </a:custGeom>
          <a:solidFill>
            <a:srgbClr val="2AD4EE">
              <a:alpha val="30000"/>
            </a:srgbClr>
          </a:solidFill>
          <a:ln/>
        </p:spPr>
        <p:txBody>
          <a:bodyPr/>
          <a:p/>
        </p:txBody>
      </p:sp>
      <p:sp>
        <p:nvSpPr>
          <p:cNvPr id="1205" name="" descr="{&quot;isTemplate&quot;:true,&quot;type&quot;:&quot;text&quot;}"/>
          <p:cNvSpPr txBox="1"/>
          <p:nvPr/>
        </p:nvSpPr>
        <p:spPr>
          <a:xfrm rot="0" flipH="0" flipV="0">
            <a:off x="6667500" y="3600450"/>
            <a:ext cx="483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JetBrains Mono"/>
                <a:ea typeface="JetBrains Mono"/>
              </a:rPr>
              <a:t xml:space="preserve">(2) </a:t>
            </a:r>
            <a:r>
              <a:rPr lang="zh-CN" sz="938" b="1">
                <a:solidFill>
                  <a:srgbClr val="2AD4EE"/>
                </a:solidFill>
                <a:latin typeface="JetBrains Mono"/>
                <a:ea typeface="JetBrains Mono"/>
              </a:rPr>
              <a:t>插话的全部机制</a:t>
            </a:r>
            <a:endParaRPr/>
          </a:p>
        </p:txBody>
      </p:sp>
      <p:sp>
        <p:nvSpPr>
          <p:cNvPr id="1206" name="" descr="{&quot;isTemplate&quot;:true,&quot;type&quot;:&quot;text&quot;}"/>
          <p:cNvSpPr txBox="1"/>
          <p:nvPr/>
        </p:nvSpPr>
        <p:spPr>
          <a:xfrm rot="0" flipH="0" flipV="0">
            <a:off x="6667500" y="3781425"/>
            <a:ext cx="4838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队列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drain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发生在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turn 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边界，抢的是「两轮之间」，不抢正在生成的轮次。内层活着内层消费，内层退了外层消费。</a:t>
            </a:r>
            <a:endParaRPr/>
          </a:p>
        </p:txBody>
      </p:sp>
      <p:sp>
        <p:nvSpPr>
          <p:cNvPr id="1207" name=""/>
          <p:cNvSpPr/>
          <p:nvPr/>
        </p:nvSpPr>
        <p:spPr>
          <a:xfrm rot="0" flipH="0" flipV="0">
            <a:off x="6534150" y="4581525"/>
            <a:ext cx="4991100" cy="790575"/>
          </a:xfrm>
          <a:custGeom>
            <a:pathLst>
              <a:path w="524" h="83">
                <a:moveTo>
                  <a:pt x="0" y="0"/>
                </a:moveTo>
                <a:lnTo>
                  <a:pt x="2" y="0"/>
                </a:lnTo>
                <a:lnTo>
                  <a:pt x="2" y="83"/>
                </a:lnTo>
                <a:lnTo>
                  <a:pt x="0" y="83"/>
                </a:lnTo>
                <a:close/>
              </a:path>
            </a:pathLst>
          </a:custGeom>
          <a:solidFill>
            <a:srgbClr val="2AD4EE">
              <a:alpha val="30000"/>
            </a:srgbClr>
          </a:solidFill>
          <a:ln/>
        </p:spPr>
        <p:txBody>
          <a:bodyPr/>
          <a:p/>
        </p:txBody>
      </p:sp>
      <p:sp>
        <p:nvSpPr>
          <p:cNvPr id="1208" name="" descr="{&quot;isTemplate&quot;:true,&quot;type&quot;:&quot;text&quot;}"/>
          <p:cNvSpPr txBox="1"/>
          <p:nvPr/>
        </p:nvSpPr>
        <p:spPr>
          <a:xfrm rot="0" flipH="0" flipV="0">
            <a:off x="6667500" y="4657725"/>
            <a:ext cx="483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JetBrains Mono"/>
                <a:ea typeface="JetBrains Mono"/>
              </a:rPr>
              <a:t xml:space="preserve">(5) </a:t>
            </a:r>
            <a:r>
              <a:rPr lang="zh-CN" sz="938" b="1">
                <a:solidFill>
                  <a:srgbClr val="2AD4EE"/>
                </a:solidFill>
                <a:latin typeface="JetBrains Mono"/>
                <a:ea typeface="JetBrains Mono"/>
              </a:rPr>
              <a:t>停止不是单一条件</a:t>
            </a:r>
            <a:endParaRPr/>
          </a:p>
        </p:txBody>
      </p:sp>
      <p:sp>
        <p:nvSpPr>
          <p:cNvPr id="1209" name="" descr="{&quot;isTemplate&quot;:true,&quot;type&quot;:&quot;text&quot;}"/>
          <p:cNvSpPr txBox="1"/>
          <p:nvPr/>
        </p:nvSpPr>
        <p:spPr>
          <a:xfrm rot="0" flipH="0" flipV="0">
            <a:off x="6667500" y="4838700"/>
            <a:ext cx="4838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stopReason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（模型说停）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+ shouldStopAfterTurn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（宿主叫停）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+ abort()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（用户</a:t>
            </a:r>
            <a:r>
              <a:rPr lang="en-US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Esc</a:t>
            </a:r>
            <a:r>
              <a:rPr lang="zh-CN" sz="93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），三类原语组合。</a:t>
            </a:r>
            <a:endParaRPr/>
          </a:p>
        </p:txBody>
      </p:sp>
      <p:sp>
        <p:nvSpPr>
          <p:cNvPr id="1210" name=""/>
          <p:cNvSpPr/>
          <p:nvPr/>
        </p:nvSpPr>
        <p:spPr>
          <a:xfrm rot="0" flipH="0" flipV="0">
            <a:off x="685800" y="5372100"/>
            <a:ext cx="10820400" cy="571500"/>
          </a:xfrm>
          <a:prstGeom prst="roundRect">
            <a:avLst>
              <a:gd name="adj" fmla="val 6667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11" name="" descr="{&quot;isTemplate&quot;:true,&quot;type&quot;:&quot;text&quot;}"/>
          <p:cNvSpPr txBox="1"/>
          <p:nvPr/>
        </p:nvSpPr>
        <p:spPr>
          <a:xfrm rot="0" flipH="0" flipV="0">
            <a:off x="857250" y="5457825"/>
            <a:ext cx="952500" cy="4000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38" spc="150">
                <a:solidFill>
                  <a:srgbClr val="2AD4EE"/>
                </a:solidFill>
                <a:latin typeface="JetBrains Mono"/>
                <a:ea typeface="JetBrains Mono"/>
              </a:rPr>
              <a:t>与教科书</a:t>
            </a:r>
            <a:endParaRPr/>
          </a:p>
          <a:p>
            <a:pPr>
              <a:lnSpc>
                <a:spcPct val="140000"/>
              </a:lnSpc>
            </a:pPr>
            <a:r>
              <a:rPr lang="en-US" sz="938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ReAct </a:t>
            </a:r>
            <a:r>
              <a:rPr lang="zh-CN" sz="938" spc="150">
                <a:solidFill>
                  <a:srgbClr val="2AD4EE"/>
                </a:solidFill>
                <a:latin typeface="JetBrains Mono"/>
                <a:ea typeface="JetBrains Mono"/>
              </a:rPr>
              <a:t>的差异</a:t>
            </a:r>
            <a:endParaRPr/>
          </a:p>
        </p:txBody>
      </p:sp>
      <p:sp>
        <p:nvSpPr>
          <p:cNvPr id="1212" name="" descr="{&quot;isTemplate&quot;:true,&quot;type&quot;:&quot;text&quot;}"/>
          <p:cNvSpPr txBox="1"/>
          <p:nvPr/>
        </p:nvSpPr>
        <p:spPr>
          <a:xfrm rot="0" flipH="0" flipV="0">
            <a:off x="1981200" y="55911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0</a:t>
            </a: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213" name="" descr="{&quot;isTemplate&quot;:true,&quot;type&quot;:&quot;text&quot;}"/>
          <p:cNvSpPr txBox="1"/>
          <p:nvPr/>
        </p:nvSpPr>
        <p:spPr>
          <a:xfrm rot="0" flipH="0" flipV="0">
            <a:off x="2190750" y="5581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/>
                </a:solidFill>
                <a:latin typeface="Source Han Sans SC"/>
                <a:ea typeface="Source Han Sans SC"/>
              </a:rPr>
              <a:t>单层变双层</a:t>
            </a:r>
            <a:endParaRPr/>
          </a:p>
        </p:txBody>
      </p:sp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4362450" y="55911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0</a:t>
            </a: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215" name="" descr="{&quot;isTemplate&quot;:true,&quot;type&quot;:&quot;text&quot;}"/>
          <p:cNvSpPr txBox="1"/>
          <p:nvPr/>
        </p:nvSpPr>
        <p:spPr>
          <a:xfrm rot="0" flipH="0" flipV="0">
            <a:off x="4572000" y="5581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/>
                </a:solidFill>
                <a:latin typeface="Source Han Sans SC"/>
                <a:ea typeface="Source Han Sans SC"/>
              </a:rPr>
              <a:t>插话不打断</a:t>
            </a:r>
            <a:endParaRPr/>
          </a:p>
        </p:txBody>
      </p:sp>
      <p:sp>
        <p:nvSpPr>
          <p:cNvPr id="1216" name="" descr="{&quot;isTemplate&quot;:true,&quot;type&quot;:&quot;text&quot;}"/>
          <p:cNvSpPr txBox="1"/>
          <p:nvPr/>
        </p:nvSpPr>
        <p:spPr>
          <a:xfrm rot="0" flipH="0" flipV="0">
            <a:off x="6734175" y="55911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0</a:t>
            </a: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217" name="" descr="{&quot;isTemplate&quot;:true,&quot;type&quot;:&quot;text&quot;}"/>
          <p:cNvSpPr txBox="1"/>
          <p:nvPr/>
        </p:nvSpPr>
        <p:spPr>
          <a:xfrm rot="0" flipH="0" flipV="0">
            <a:off x="6943725" y="5581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/>
                </a:solidFill>
                <a:latin typeface="Source Han Sans SC"/>
                <a:ea typeface="Source Han Sans SC"/>
              </a:rPr>
              <a:t>停止原语化</a:t>
            </a:r>
            <a:endParaRPr/>
          </a:p>
        </p:txBody>
      </p:sp>
      <p:sp>
        <p:nvSpPr>
          <p:cNvPr id="1218" name="" descr="{&quot;isTemplate&quot;:true,&quot;type&quot;:&quot;text&quot;}"/>
          <p:cNvSpPr txBox="1"/>
          <p:nvPr/>
        </p:nvSpPr>
        <p:spPr>
          <a:xfrm rot="0" flipH="0" flipV="0">
            <a:off x="9115425" y="559117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0</a:t>
            </a:r>
            <a:r>
              <a:rPr lang="en-US" sz="900">
                <a:solidFill>
                  <a:srgbClr val="2AD4EE">
                    <a:alpha val="60000"/>
                  </a:srgbClr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9324975" y="558165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/>
                </a:solidFill>
                <a:latin typeface="Source Han Sans SC"/>
                <a:ea typeface="Source Han Sans SC"/>
              </a:rPr>
              <a:t>每一步都是事件</a:t>
            </a:r>
            <a:endParaRPr/>
          </a:p>
        </p:txBody>
      </p:sp>
      <p:sp>
        <p:nvSpPr>
          <p:cNvPr id="122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2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32 / 46</a:t>
            </a:r>
            <a:endParaRPr/>
          </a:p>
        </p:txBody>
      </p:sp>
      <p:sp>
        <p:nvSpPr>
          <p:cNvPr id="1222" name=""/>
          <p:cNvSpPr/>
          <p:nvPr/>
        </p:nvSpPr>
        <p:spPr>
          <a:xfrm rot="0" flipH="0" flipV="0">
            <a:off x="685800" y="1304925"/>
            <a:ext cx="5619750" cy="2962275"/>
          </a:xfrm>
          <a:prstGeom prst="roundRect">
            <a:avLst>
              <a:gd name="adj" fmla="val 2572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1223" name=""/>
          <p:cNvSpPr txBox="1"/>
          <p:nvPr/>
        </p:nvSpPr>
        <p:spPr>
          <a:xfrm rot="0" flipH="0" flipV="0">
            <a:off x="838200" y="1438275"/>
            <a:ext cx="5314950" cy="2695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while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788">
                <a:solidFill>
                  <a:srgbClr val="79B8FF"/>
                </a:solidFill>
                <a:latin typeface="Menlo"/>
                <a:ea typeface="Menlo"/>
              </a:rPr>
              <a:t>true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) {               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OUTER: keep the conversation going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while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788">
                <a:solidFill>
                  <a:srgbClr val="79B8FF"/>
                </a:solidFill>
                <a:latin typeface="Menlo"/>
                <a:ea typeface="Menlo"/>
              </a:rPr>
              <a:t>true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) {             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INNER: one task, ReAct body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emit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788">
                <a:solidFill>
                  <a:srgbClr val="9ECBFF"/>
                </a:solidFill>
                <a:latin typeface="Menlo"/>
                <a:ea typeface="Menlo"/>
              </a:rPr>
              <a:t>"turn_start"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);                       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(1)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messages.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push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...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queue.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drain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());          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(2)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79B8FF"/>
                </a:solidFill>
                <a:latin typeface="Menlo"/>
                <a:ea typeface="Menlo"/>
              </a:rPr>
              <a:t>a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await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streamAssistantResponse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();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(3)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(a.stopReason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===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9ECBFF"/>
                </a:solidFill>
                <a:latin typeface="Menlo"/>
                <a:ea typeface="Menlo"/>
              </a:rPr>
              <a:t>"toolUse"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) {         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(4)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 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79B8FF"/>
                </a:solidFill>
                <a:latin typeface="Menlo"/>
                <a:ea typeface="Menlo"/>
              </a:rPr>
              <a:t>c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of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a.toolCalls) {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    messages.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push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await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pipeline.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execute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(c));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  }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}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emit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788">
                <a:solidFill>
                  <a:srgbClr val="9ECBFF"/>
                </a:solidFill>
                <a:latin typeface="Menlo"/>
                <a:ea typeface="Menlo"/>
              </a:rPr>
              <a:t>"turn_end"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);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(a.stopReason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!==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788">
                <a:solidFill>
                  <a:srgbClr val="9ECBFF"/>
                </a:solidFill>
                <a:latin typeface="Menlo"/>
                <a:ea typeface="Menlo"/>
              </a:rPr>
              <a:t>"toolUse"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)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break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;    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(5a) model said stop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await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hooks.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shouldStopAfterTurn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())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break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;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(5b) host says stop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}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!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queue.</a:t>
            </a:r>
            <a:r>
              <a:rPr sz="788">
                <a:solidFill>
                  <a:srgbClr val="B392F0"/>
                </a:solidFill>
                <a:latin typeface="Menlo"/>
                <a:ea typeface="Menlo"/>
              </a:rPr>
              <a:t>hasFollowUp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()) </a:t>
            </a:r>
            <a:r>
              <a:rPr sz="788">
                <a:solidFill>
                  <a:srgbClr val="F97583"/>
                </a:solidFill>
                <a:latin typeface="Menlo"/>
                <a:ea typeface="Menlo"/>
              </a:rPr>
              <a:t>break</a:t>
            </a: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 xml:space="preserve">;                   </a:t>
            </a:r>
            <a:r>
              <a:rPr sz="788">
                <a:solidFill>
                  <a:srgbClr val="6A737D"/>
                </a:solidFill>
                <a:latin typeface="Menlo"/>
                <a:ea typeface="Menlo"/>
              </a:rPr>
              <a:t>// nothing queued: end run</a:t>
            </a:r>
            <a:endParaRPr/>
          </a:p>
          <a:p>
            <a:pPr>
              <a:lnSpc>
                <a:spcPct val="140000"/>
              </a:lnSpc>
            </a:pPr>
            <a:r>
              <a:rPr sz="788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2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2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DESIGN POINT 05 · </a:t>
            </a:r>
            <a:r>
              <a:rPr lang="zh-CN" sz="975" spc="225">
                <a:solidFill>
                  <a:srgbClr val="2AD4EE"/>
                </a:solidFill>
                <a:latin typeface="JetBrains Mono"/>
                <a:ea typeface="JetBrains Mono"/>
              </a:rPr>
              <a:t>续</a:t>
            </a:r>
            <a:endParaRPr/>
          </a:p>
        </p:txBody>
      </p:sp>
      <p:sp>
        <p:nvSpPr>
          <p:cNvPr id="1228" name="" descr="{&quot;isTemplate&quot;:true,&quot;type&quot;:&quot;text&quot;}"/>
          <p:cNvSpPr txBox="1"/>
          <p:nvPr/>
        </p:nvSpPr>
        <p:spPr>
          <a:xfrm rot="0" flipH="0" flipV="0">
            <a:off x="2971800" y="247650"/>
            <a:ext cx="904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插话与停止</a:t>
            </a:r>
            <a:endParaRPr/>
          </a:p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插话不打断，停止靠原语</a:t>
            </a:r>
            <a:endParaRPr/>
          </a:p>
        </p:txBody>
      </p:sp>
      <p:sp>
        <p:nvSpPr>
          <p:cNvPr id="123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6096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PendingMessageQueue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两种姿势</a:t>
            </a:r>
            <a:endParaRPr/>
          </a:p>
        </p:txBody>
      </p:sp>
      <p:sp>
        <p:nvSpPr>
          <p:cNvPr id="1231" name=""/>
          <p:cNvSpPr/>
          <p:nvPr/>
        </p:nvSpPr>
        <p:spPr>
          <a:xfrm rot="0" flipH="0" flipV="0">
            <a:off x="685800" y="1400175"/>
            <a:ext cx="6096000" cy="209550"/>
          </a:xfrm>
          <a:custGeom>
            <a:pathLst>
              <a:path w="640" h="22">
                <a:moveTo>
                  <a:pt x="0" y="21"/>
                </a:moveTo>
                <a:lnTo>
                  <a:pt x="640" y="21"/>
                </a:lnTo>
                <a:lnTo>
                  <a:pt x="640" y="22"/>
                </a:lnTo>
                <a:lnTo>
                  <a:pt x="0" y="22"/>
                </a:lnTo>
                <a:close/>
              </a:path>
            </a:pathLst>
          </a:custGeom>
          <a:solidFill>
            <a:srgbClr val="E8EEF9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32" name="" descr="{&quot;isTemplate&quot;:true,&quot;type&quot;:&quot;text&quot;}"/>
          <p:cNvSpPr txBox="1"/>
          <p:nvPr/>
        </p:nvSpPr>
        <p:spPr>
          <a:xfrm rot="0" flipH="0" flipV="0">
            <a:off x="685800" y="1400175"/>
            <a:ext cx="1028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维度</a:t>
            </a:r>
            <a:endParaRPr/>
          </a:p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1714500" y="1400175"/>
            <a:ext cx="1905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steer </a:t>
            </a:r>
            <a:r>
              <a:rPr lang="zh-CN" sz="863" spc="75">
                <a:solidFill>
                  <a:srgbClr val="2AD4EE"/>
                </a:solidFill>
                <a:latin typeface="Source Han Sans SC"/>
                <a:ea typeface="Source Han Sans SC"/>
              </a:rPr>
              <a:t>转向</a:t>
            </a:r>
            <a:endParaRPr/>
          </a:p>
        </p:txBody>
      </p:sp>
      <p:sp>
        <p:nvSpPr>
          <p:cNvPr id="1234" name="" descr="{&quot;isTemplate&quot;:true,&quot;type&quot;:&quot;text&quot;}"/>
          <p:cNvSpPr txBox="1"/>
          <p:nvPr/>
        </p:nvSpPr>
        <p:spPr>
          <a:xfrm rot="0" flipH="0" flipV="0">
            <a:off x="3619500" y="1400175"/>
            <a:ext cx="3162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followUp </a:t>
            </a:r>
            <a:r>
              <a:rPr lang="zh-CN" sz="863" spc="75">
                <a:solidFill>
                  <a:srgbClr val="2AD4EE"/>
                </a:solidFill>
                <a:latin typeface="Source Han Sans SC"/>
                <a:ea typeface="Source Han Sans SC"/>
              </a:rPr>
              <a:t>追问</a:t>
            </a:r>
            <a:endParaRPr/>
          </a:p>
        </p:txBody>
      </p:sp>
      <p:sp>
        <p:nvSpPr>
          <p:cNvPr id="1235" name=""/>
          <p:cNvSpPr/>
          <p:nvPr/>
        </p:nvSpPr>
        <p:spPr>
          <a:xfrm rot="0" flipH="0" flipV="0">
            <a:off x="685800" y="1600200"/>
            <a:ext cx="6096000" cy="295275"/>
          </a:xfrm>
          <a:custGeom>
            <a:pathLst>
              <a:path w="640" h="31">
                <a:moveTo>
                  <a:pt x="0" y="30"/>
                </a:moveTo>
                <a:lnTo>
                  <a:pt x="640" y="30"/>
                </a:lnTo>
                <a:lnTo>
                  <a:pt x="640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36" name="" descr="{&quot;isTemplate&quot;:true,&quot;type&quot;:&quot;text&quot;}"/>
          <p:cNvSpPr txBox="1"/>
          <p:nvPr/>
        </p:nvSpPr>
        <p:spPr>
          <a:xfrm rot="0" flipH="0" flipV="0">
            <a:off x="685800" y="166687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进队时机</a:t>
            </a:r>
            <a:endParaRPr/>
          </a:p>
        </p:txBody>
      </p:sp>
      <p:sp>
        <p:nvSpPr>
          <p:cNvPr id="1237" name="" descr="{&quot;isTemplate&quot;:true,&quot;type&quot;:&quot;text&quot;}"/>
          <p:cNvSpPr txBox="1"/>
          <p:nvPr/>
        </p:nvSpPr>
        <p:spPr>
          <a:xfrm rot="0" flipH="0" flipV="0">
            <a:off x="1714500" y="1666875"/>
            <a:ext cx="1905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正在跑</a:t>
            </a:r>
            <a:endParaRPr/>
          </a:p>
        </p:txBody>
      </p:sp>
      <p:sp>
        <p:nvSpPr>
          <p:cNvPr id="1238" name="" descr="{&quot;isTemplate&quot;:true,&quot;type&quot;:&quot;text&quot;}"/>
          <p:cNvSpPr txBox="1"/>
          <p:nvPr/>
        </p:nvSpPr>
        <p:spPr>
          <a:xfrm rot="0" flipH="0" flipV="0">
            <a:off x="3619500" y="1666875"/>
            <a:ext cx="3162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空闲</a:t>
            </a:r>
            <a:r>
              <a:rPr lang="en-US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 xml:space="preserve"> / run </a:t>
            </a: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尾声</a:t>
            </a:r>
            <a:endParaRPr/>
          </a:p>
        </p:txBody>
      </p:sp>
      <p:sp>
        <p:nvSpPr>
          <p:cNvPr id="1239" name=""/>
          <p:cNvSpPr/>
          <p:nvPr/>
        </p:nvSpPr>
        <p:spPr>
          <a:xfrm rot="0" flipH="0" flipV="0">
            <a:off x="685800" y="1885950"/>
            <a:ext cx="6096000" cy="295275"/>
          </a:xfrm>
          <a:custGeom>
            <a:pathLst>
              <a:path w="640" h="31">
                <a:moveTo>
                  <a:pt x="0" y="30"/>
                </a:moveTo>
                <a:lnTo>
                  <a:pt x="640" y="30"/>
                </a:lnTo>
                <a:lnTo>
                  <a:pt x="640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40" name="" descr="{&quot;isTemplate&quot;:true,&quot;type&quot;:&quot;text&quot;}"/>
          <p:cNvSpPr txBox="1"/>
          <p:nvPr/>
        </p:nvSpPr>
        <p:spPr>
          <a:xfrm rot="0" flipH="0" flipV="0">
            <a:off x="685800" y="19526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语义</a:t>
            </a:r>
            <a:endParaRPr/>
          </a:p>
        </p:txBody>
      </p:sp>
      <p:sp>
        <p:nvSpPr>
          <p:cNvPr id="1241" name="" descr="{&quot;isTemplate&quot;:true,&quot;type&quot;:&quot;text&quot;}"/>
          <p:cNvSpPr txBox="1"/>
          <p:nvPr/>
        </p:nvSpPr>
        <p:spPr>
          <a:xfrm rot="0" flipH="0" flipV="0">
            <a:off x="1714500" y="1952625"/>
            <a:ext cx="1905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纠偏当前任务：别用方案</a:t>
            </a:r>
            <a:r>
              <a:rPr lang="en-US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 xml:space="preserve"> A</a:t>
            </a: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，改用</a:t>
            </a:r>
            <a:r>
              <a:rPr lang="en-US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 xml:space="preserve"> B</a:t>
            </a:r>
            <a:endParaRPr/>
          </a:p>
        </p:txBody>
      </p:sp>
      <p:sp>
        <p:nvSpPr>
          <p:cNvPr id="1242" name="" descr="{&quot;isTemplate&quot;:true,&quot;type&quot;:&quot;text&quot;}"/>
          <p:cNvSpPr txBox="1"/>
          <p:nvPr/>
        </p:nvSpPr>
        <p:spPr>
          <a:xfrm rot="0" flipH="0" flipV="0">
            <a:off x="3619500" y="1952625"/>
            <a:ext cx="3162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追问或接续：好，那再加测试</a:t>
            </a:r>
            <a:endParaRPr/>
          </a:p>
        </p:txBody>
      </p:sp>
      <p:sp>
        <p:nvSpPr>
          <p:cNvPr id="1243" name=""/>
          <p:cNvSpPr/>
          <p:nvPr/>
        </p:nvSpPr>
        <p:spPr>
          <a:xfrm rot="0" flipH="0" flipV="0">
            <a:off x="685800" y="2171700"/>
            <a:ext cx="6096000" cy="295275"/>
          </a:xfrm>
          <a:custGeom>
            <a:pathLst>
              <a:path w="640" h="31">
                <a:moveTo>
                  <a:pt x="0" y="30"/>
                </a:moveTo>
                <a:lnTo>
                  <a:pt x="640" y="30"/>
                </a:lnTo>
                <a:lnTo>
                  <a:pt x="640" y="31"/>
                </a:lnTo>
                <a:lnTo>
                  <a:pt x="0" y="31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44" name="" descr="{&quot;isTemplate&quot;:true,&quot;type&quot;:&quot;text&quot;}"/>
          <p:cNvSpPr txBox="1"/>
          <p:nvPr/>
        </p:nvSpPr>
        <p:spPr>
          <a:xfrm rot="0" flipH="0" flipV="0">
            <a:off x="685800" y="223837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UI</a:t>
            </a:r>
            <a:endParaRPr/>
          </a:p>
        </p:txBody>
      </p:sp>
      <p:sp>
        <p:nvSpPr>
          <p:cNvPr id="1245" name="" descr="{&quot;isTemplate&quot;:true,&quot;type&quot;:&quot;text&quot;}"/>
          <p:cNvSpPr txBox="1"/>
          <p:nvPr/>
        </p:nvSpPr>
        <p:spPr>
          <a:xfrm rot="0" flipH="0" flipV="0">
            <a:off x="1714500" y="2238375"/>
            <a:ext cx="1905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 xml:space="preserve">/steer </a:t>
            </a: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命令，或输入框直接打字</a:t>
            </a:r>
            <a:endParaRPr/>
          </a:p>
        </p:txBody>
      </p:sp>
      <p:sp>
        <p:nvSpPr>
          <p:cNvPr id="1246" name="" descr="{&quot;isTemplate&quot;:true,&quot;type&quot;:&quot;text&quot;}"/>
          <p:cNvSpPr txBox="1"/>
          <p:nvPr/>
        </p:nvSpPr>
        <p:spPr>
          <a:xfrm rot="0" flipH="0" flipV="0">
            <a:off x="3619500" y="2238375"/>
            <a:ext cx="3162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84000"/>
                  </a:srgbClr>
                </a:solidFill>
                <a:latin typeface="Source Han Sans SC"/>
                <a:ea typeface="Source Han Sans SC"/>
              </a:rPr>
              <a:t>输入框直接打字</a:t>
            </a:r>
            <a:endParaRPr/>
          </a:p>
        </p:txBody>
      </p:sp>
      <p:sp>
        <p:nvSpPr>
          <p:cNvPr id="1247" name="" descr="{&quot;isTemplate&quot;:true,&quot;type&quot;:&quot;text&quot;}"/>
          <p:cNvSpPr txBox="1"/>
          <p:nvPr/>
        </p:nvSpPr>
        <p:spPr>
          <a:xfrm rot="0" flipH="0" flipV="0">
            <a:off x="685800" y="2609850"/>
            <a:ext cx="6096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生效方式只取决于「消息进队时</a:t>
            </a:r>
            <a:r>
              <a:rPr lang="en-US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,</a:t>
            </a: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循环还活着没有」</a:t>
            </a:r>
            <a:endParaRPr/>
          </a:p>
        </p:txBody>
      </p:sp>
      <p:sp>
        <p:nvSpPr>
          <p:cNvPr id="1248" name=""/>
          <p:cNvSpPr/>
          <p:nvPr/>
        </p:nvSpPr>
        <p:spPr>
          <a:xfrm rot="0" flipH="0" flipV="0">
            <a:off x="685800" y="2838450"/>
            <a:ext cx="6096000" cy="381000"/>
          </a:xfrm>
          <a:prstGeom prst="roundRect">
            <a:avLst>
              <a:gd name="adj" fmla="val 7500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2AD4EE">
                <a:alpha val="1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9" name="" descr="{&quot;isTemplate&quot;:true,&quot;type&quot;:&quot;text&quot;}"/>
          <p:cNvSpPr txBox="1"/>
          <p:nvPr/>
        </p:nvSpPr>
        <p:spPr>
          <a:xfrm rot="0" flipH="0" flipV="0">
            <a:off x="800100" y="296227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内层在跑</a:t>
            </a:r>
            <a:r>
              <a:rPr lang="en-US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· steer</a:t>
            </a:r>
            <a:endParaRPr/>
          </a:p>
        </p:txBody>
      </p:sp>
      <p:sp>
        <p:nvSpPr>
          <p:cNvPr id="1250" name="" descr="{&quot;isTemplate&quot;:true,&quot;type&quot;:&quot;text&quot;}"/>
          <p:cNvSpPr txBox="1"/>
          <p:nvPr/>
        </p:nvSpPr>
        <p:spPr>
          <a:xfrm rot="0" flipH="0" flipV="0">
            <a:off x="3009900" y="2962275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内层消费</a:t>
            </a:r>
            <a:endParaRPr/>
          </a:p>
        </p:txBody>
      </p:sp>
      <p:sp>
        <p:nvSpPr>
          <p:cNvPr id="1251" name="" descr="{&quot;isTemplate&quot;:true,&quot;type&quot;:&quot;text&quot;}"/>
          <p:cNvSpPr txBox="1"/>
          <p:nvPr/>
        </p:nvSpPr>
        <p:spPr>
          <a:xfrm rot="0" flipH="0" flipV="0">
            <a:off x="3733800" y="2924175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当前这轮说完，下一个</a:t>
            </a:r>
            <a:r>
              <a:rPr lang="en-US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turn </a:t>
            </a:r>
            <a:r>
              <a:rPr lang="zh-CN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边界注入，任务继续</a:t>
            </a:r>
            <a:endParaRPr/>
          </a:p>
        </p:txBody>
      </p:sp>
      <p:sp>
        <p:nvSpPr>
          <p:cNvPr id="1252" name=""/>
          <p:cNvSpPr/>
          <p:nvPr/>
        </p:nvSpPr>
        <p:spPr>
          <a:xfrm rot="0" flipH="0" flipV="0">
            <a:off x="685800" y="3286125"/>
            <a:ext cx="6096000" cy="381000"/>
          </a:xfrm>
          <a:prstGeom prst="roundRect">
            <a:avLst>
              <a:gd name="adj" fmla="val 7500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2AD4EE">
                <a:alpha val="1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3" name="" descr="{&quot;isTemplate&quot;:true,&quot;type&quot;:&quot;text&quot;}"/>
          <p:cNvSpPr txBox="1"/>
          <p:nvPr/>
        </p:nvSpPr>
        <p:spPr>
          <a:xfrm rot="0" flipH="0" flipV="0">
            <a:off x="800100" y="340995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内层在跑</a:t>
            </a:r>
            <a:r>
              <a:rPr lang="en-US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· run </a:t>
            </a:r>
            <a:r>
              <a:rPr lang="zh-CN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尾声的</a:t>
            </a:r>
            <a:r>
              <a:rPr lang="en-US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followUp</a:t>
            </a:r>
            <a:endParaRPr/>
          </a:p>
        </p:txBody>
      </p:sp>
      <p:sp>
        <p:nvSpPr>
          <p:cNvPr id="1254" name="" descr="{&quot;isTemplate&quot;:true,&quot;type&quot;:&quot;text&quot;}"/>
          <p:cNvSpPr txBox="1"/>
          <p:nvPr/>
        </p:nvSpPr>
        <p:spPr>
          <a:xfrm rot="0" flipH="0" flipV="0">
            <a:off x="3009900" y="3409950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内层消费</a:t>
            </a:r>
            <a:endParaRPr/>
          </a:p>
        </p:txBody>
      </p:sp>
      <p:sp>
        <p:nvSpPr>
          <p:cNvPr id="1255" name="" descr="{&quot;isTemplate&quot;:true,&quot;type&quot;:&quot;text&quot;}"/>
          <p:cNvSpPr txBox="1"/>
          <p:nvPr/>
        </p:nvSpPr>
        <p:spPr>
          <a:xfrm rot="0" flipH="0" flipV="0">
            <a:off x="3733800" y="3371850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同样在</a:t>
            </a:r>
            <a:r>
              <a:rPr lang="en-US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turn </a:t>
            </a:r>
            <a:r>
              <a:rPr lang="zh-CN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边界注入</a:t>
            </a:r>
            <a:r>
              <a:rPr lang="en-US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—— run </a:t>
            </a:r>
            <a:r>
              <a:rPr lang="zh-CN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并不会结束</a:t>
            </a:r>
            <a:endParaRPr/>
          </a:p>
        </p:txBody>
      </p:sp>
      <p:sp>
        <p:nvSpPr>
          <p:cNvPr id="1256" name=""/>
          <p:cNvSpPr/>
          <p:nvPr/>
        </p:nvSpPr>
        <p:spPr>
          <a:xfrm rot="0" flipH="0" flipV="0">
            <a:off x="685800" y="3733800"/>
            <a:ext cx="6096000" cy="381000"/>
          </a:xfrm>
          <a:prstGeom prst="roundRect">
            <a:avLst>
              <a:gd name="adj" fmla="val 7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14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7" name="" descr="{&quot;isTemplate&quot;:true,&quot;type&quot;:&quot;text&quot;}"/>
          <p:cNvSpPr txBox="1"/>
          <p:nvPr/>
        </p:nvSpPr>
        <p:spPr>
          <a:xfrm rot="0" flipH="0" flipV="0">
            <a:off x="800100" y="3857625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内层已退出</a:t>
            </a:r>
            <a:r>
              <a:rPr lang="en-US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空闲期的</a:t>
            </a:r>
            <a:r>
              <a:rPr lang="en-US" sz="900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followUp</a:t>
            </a:r>
            <a:endParaRPr/>
          </a:p>
        </p:txBody>
      </p:sp>
      <p:sp>
        <p:nvSpPr>
          <p:cNvPr id="1258" name="" descr="{&quot;isTemplate&quot;:true,&quot;type&quot;:&quot;text&quot;}"/>
          <p:cNvSpPr txBox="1"/>
          <p:nvPr/>
        </p:nvSpPr>
        <p:spPr>
          <a:xfrm rot="0" flipH="0" flipV="0">
            <a:off x="3009900" y="3857625"/>
            <a:ext cx="723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2AD4EE"/>
                </a:solidFill>
                <a:latin typeface="JetBrains Mono"/>
                <a:ea typeface="JetBrains Mono"/>
              </a:rPr>
              <a:t>外层消费</a:t>
            </a:r>
            <a:endParaRPr/>
          </a:p>
        </p:txBody>
      </p:sp>
      <p:sp>
        <p:nvSpPr>
          <p:cNvPr id="1259" name="" descr="{&quot;isTemplate&quot;:true,&quot;type&quot;:&quot;text&quot;}"/>
          <p:cNvSpPr txBox="1"/>
          <p:nvPr/>
        </p:nvSpPr>
        <p:spPr>
          <a:xfrm rot="0" flipH="0" flipV="0">
            <a:off x="3733800" y="3819525"/>
            <a:ext cx="293370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作为新输入续跑，这就是「答完接着聊」</a:t>
            </a:r>
            <a:endParaRPr/>
          </a:p>
        </p:txBody>
      </p:sp>
      <p:sp>
        <p:nvSpPr>
          <p:cNvPr id="1260" name="" descr="{&quot;isTemplate&quot;:true,&quot;type&quot;:&quot;text&quot;}"/>
          <p:cNvSpPr txBox="1"/>
          <p:nvPr/>
        </p:nvSpPr>
        <p:spPr>
          <a:xfrm rot="0" flipH="0" flipV="0">
            <a:off x="685800" y="5019675"/>
            <a:ext cx="60960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两种姿势的区别只在进队时机与语义标签，生效机制完全相同：都是往</a:t>
            </a:r>
            <a:r>
              <a:rPr lang="en-US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messages </a:t>
            </a:r>
            <a:r>
              <a:rPr lang="zh-CN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里加一条</a:t>
            </a:r>
            <a:r>
              <a:rPr lang="en-US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UserMessage</a:t>
            </a:r>
            <a:r>
              <a:rPr lang="zh-CN" sz="900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，模型只看到「上下文里多了你的话」。</a:t>
            </a:r>
            <a:endParaRPr/>
          </a:p>
        </p:txBody>
      </p:sp>
      <p:sp>
        <p:nvSpPr>
          <p:cNvPr id="1261" name="" descr="{&quot;isTemplate&quot;:true,&quot;type&quot;:&quot;text&quot;}"/>
          <p:cNvSpPr txBox="1"/>
          <p:nvPr/>
        </p:nvSpPr>
        <p:spPr>
          <a:xfrm rot="0" flipH="0" flipV="0">
            <a:off x="7048500" y="1143000"/>
            <a:ext cx="445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四类停止原语</a:t>
            </a:r>
            <a:endParaRPr/>
          </a:p>
        </p:txBody>
      </p:sp>
      <p:sp>
        <p:nvSpPr>
          <p:cNvPr id="1262" name=""/>
          <p:cNvSpPr/>
          <p:nvPr/>
        </p:nvSpPr>
        <p:spPr>
          <a:xfrm rot="0" flipH="0" flipV="0">
            <a:off x="7048500" y="1400175"/>
            <a:ext cx="4457700" cy="876300"/>
          </a:xfrm>
          <a:prstGeom prst="roundRect">
            <a:avLst>
              <a:gd name="adj" fmla="val 3261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3" name="" descr="{&quot;isTemplate&quot;:true,&quot;type&quot;:&quot;text&quot;}"/>
          <p:cNvSpPr txBox="1"/>
          <p:nvPr/>
        </p:nvSpPr>
        <p:spPr>
          <a:xfrm rot="0" flipH="0" flipV="0">
            <a:off x="7172325" y="1485900"/>
            <a:ext cx="7048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stopReason</a:t>
            </a:r>
            <a:endParaRPr/>
          </a:p>
        </p:txBody>
      </p:sp>
      <p:sp>
        <p:nvSpPr>
          <p:cNvPr id="1264" name="" descr="{&quot;isTemplate&quot;:true,&quot;type&quot;:&quot;text&quot;}"/>
          <p:cNvSpPr txBox="1"/>
          <p:nvPr/>
        </p:nvSpPr>
        <p:spPr>
          <a:xfrm rot="0" flipH="0" flipV="0">
            <a:off x="11182350" y="1485900"/>
            <a:ext cx="200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1265" name="" descr="{&quot;isTemplate&quot;:true,&quot;type&quot;:&quot;text&quot;}"/>
          <p:cNvSpPr txBox="1"/>
          <p:nvPr/>
        </p:nvSpPr>
        <p:spPr>
          <a:xfrm rot="0" flipH="0" flipV="0">
            <a:off x="7172325" y="1666875"/>
            <a:ext cx="421005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模型自己说停：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stop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说完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length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到长度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toolUse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要调工具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error / aborted / deferred</a:t>
            </a:r>
            <a:endParaRPr/>
          </a:p>
        </p:txBody>
      </p:sp>
      <p:sp>
        <p:nvSpPr>
          <p:cNvPr id="1266" name=""/>
          <p:cNvSpPr/>
          <p:nvPr/>
        </p:nvSpPr>
        <p:spPr>
          <a:xfrm rot="0" flipH="0" flipV="0">
            <a:off x="7048500" y="2352675"/>
            <a:ext cx="4457700" cy="666750"/>
          </a:xfrm>
          <a:prstGeom prst="roundRect">
            <a:avLst>
              <a:gd name="adj" fmla="val 4286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7172325" y="2438400"/>
            <a:ext cx="133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shouldStopAfterTurn</a:t>
            </a:r>
            <a:endParaRPr/>
          </a:p>
        </p:txBody>
      </p:sp>
      <p:sp>
        <p:nvSpPr>
          <p:cNvPr id="1268" name="" descr="{&quot;isTemplate&quot;:true,&quot;type&quot;:&quot;text&quot;}"/>
          <p:cNvSpPr txBox="1"/>
          <p:nvPr/>
        </p:nvSpPr>
        <p:spPr>
          <a:xfrm rot="0" flipH="0" flipV="0">
            <a:off x="11182350" y="2438400"/>
            <a:ext cx="200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宿主</a:t>
            </a:r>
            <a:endParaRPr/>
          </a:p>
        </p:txBody>
      </p:sp>
      <p:sp>
        <p:nvSpPr>
          <p:cNvPr id="1269" name="" descr="{&quot;isTemplate&quot;:true,&quot;type&quot;:&quot;text&quot;}"/>
          <p:cNvSpPr txBox="1"/>
          <p:nvPr/>
        </p:nvSpPr>
        <p:spPr>
          <a:xfrm rot="0" flipH="0" flipV="0">
            <a:off x="7172325" y="2619375"/>
            <a:ext cx="42100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每个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turn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结束问一次宿主「还要继续吗」——预算、时间、外部信号都在这叫停</a:t>
            </a:r>
            <a:endParaRPr/>
          </a:p>
        </p:txBody>
      </p:sp>
      <p:sp>
        <p:nvSpPr>
          <p:cNvPr id="1270" name=""/>
          <p:cNvSpPr/>
          <p:nvPr/>
        </p:nvSpPr>
        <p:spPr>
          <a:xfrm rot="0" flipH="0" flipV="0">
            <a:off x="7048500" y="3095625"/>
            <a:ext cx="4457700" cy="657225"/>
          </a:xfrm>
          <a:prstGeom prst="roundRect">
            <a:avLst>
              <a:gd name="adj" fmla="val 4348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7172325" y="3181350"/>
            <a:ext cx="49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abort()</a:t>
            </a:r>
            <a:endParaRPr/>
          </a:p>
        </p:txBody>
      </p:sp>
      <p:sp>
        <p:nvSpPr>
          <p:cNvPr id="1272" name="" descr="{&quot;isTemplate&quot;:true,&quot;type&quot;:&quot;text&quot;}"/>
          <p:cNvSpPr txBox="1"/>
          <p:nvPr/>
        </p:nvSpPr>
        <p:spPr>
          <a:xfrm rot="0" flipH="0" flipV="0">
            <a:off x="11182350" y="3181350"/>
            <a:ext cx="200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用户</a:t>
            </a:r>
            <a:endParaRPr/>
          </a:p>
        </p:txBody>
      </p:sp>
      <p:sp>
        <p:nvSpPr>
          <p:cNvPr id="1273" name="" descr="{&quot;isTemplate&quot;:true,&quot;type&quot;:&quot;text&quot;}"/>
          <p:cNvSpPr txBox="1"/>
          <p:nvPr/>
        </p:nvSpPr>
        <p:spPr>
          <a:xfrm rot="0" flipH="0" flipV="0">
            <a:off x="7172325" y="3362325"/>
            <a:ext cx="42100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硬中断当前运行（用户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Esc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）；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waitForIdle()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等运行与监听器全部沉淀后收尾</a:t>
            </a:r>
            <a:endParaRPr/>
          </a:p>
        </p:txBody>
      </p:sp>
      <p:sp>
        <p:nvSpPr>
          <p:cNvPr id="1274" name=""/>
          <p:cNvSpPr/>
          <p:nvPr/>
        </p:nvSpPr>
        <p:spPr>
          <a:xfrm rot="0" flipH="0" flipV="0">
            <a:off x="7048500" y="3829050"/>
            <a:ext cx="4457700" cy="666750"/>
          </a:xfrm>
          <a:prstGeom prst="roundRect">
            <a:avLst>
              <a:gd name="adj" fmla="val 4286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5" name="" descr="{&quot;isTemplate&quot;:true,&quot;type&quot;:&quot;text&quot;}"/>
          <p:cNvSpPr txBox="1"/>
          <p:nvPr/>
        </p:nvSpPr>
        <p:spPr>
          <a:xfrm rot="0" flipH="0" flipV="0">
            <a:off x="7172325" y="391477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JetBrains Mono"/>
                <a:ea typeface="JetBrains Mono"/>
              </a:rPr>
              <a:t>截断保护</a:t>
            </a:r>
            <a:endParaRPr/>
          </a:p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11182350" y="3914775"/>
            <a:ext cx="200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兜底</a:t>
            </a:r>
            <a:endParaRPr/>
          </a:p>
        </p:txBody>
      </p:sp>
      <p:sp>
        <p:nvSpPr>
          <p:cNvPr id="1277" name="" descr="{&quot;isTemplate&quot;:true,&quot;type&quot;:&quot;text&quot;}"/>
          <p:cNvSpPr txBox="1"/>
          <p:nvPr/>
        </p:nvSpPr>
        <p:spPr>
          <a:xfrm rot="0" flipH="0" flipV="0">
            <a:off x="7172325" y="4095750"/>
            <a:ext cx="42100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stopReason = length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时，全部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tool call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直接标记失败，绝不执行半截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JSON</a:t>
            </a:r>
            <a:endParaRPr/>
          </a:p>
        </p:txBody>
      </p:sp>
      <p:sp>
        <p:nvSpPr>
          <p:cNvPr id="1278" name=""/>
          <p:cNvSpPr/>
          <p:nvPr/>
        </p:nvSpPr>
        <p:spPr>
          <a:xfrm rot="0" flipH="0" flipV="0">
            <a:off x="7077075" y="4591050"/>
            <a:ext cx="4457700" cy="8572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79" name=""/>
          <p:cNvSpPr/>
          <p:nvPr/>
        </p:nvSpPr>
        <p:spPr>
          <a:xfrm rot="0" flipH="0" flipV="0">
            <a:off x="7048500" y="4591050"/>
            <a:ext cx="4486275" cy="857250"/>
          </a:xfrm>
          <a:custGeom>
            <a:pathLst>
              <a:path w="471" h="90">
                <a:moveTo>
                  <a:pt x="0" y="0"/>
                </a:moveTo>
                <a:lnTo>
                  <a:pt x="3" y="0"/>
                </a:lnTo>
                <a:lnTo>
                  <a:pt x="3" y="90"/>
                </a:lnTo>
                <a:lnTo>
                  <a:pt x="0" y="9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7200900" y="4686300"/>
            <a:ext cx="41814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工具层默认不重试：失败返回</a:t>
            </a:r>
            <a:r>
              <a:rPr lang="en-US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isError </a:t>
            </a:r>
            <a:r>
              <a:rPr lang="zh-CN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回喂模型，下一步由模型决定。要给外部</a:t>
            </a:r>
            <a:r>
              <a:rPr lang="en-US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加</a:t>
            </a:r>
            <a:r>
              <a:rPr lang="en-US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500 </a:t>
            </a:r>
            <a:r>
              <a:rPr lang="zh-CN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重试，在</a:t>
            </a:r>
            <a:r>
              <a:rPr lang="en-US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execute </a:t>
            </a:r>
            <a:r>
              <a:rPr lang="zh-CN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内做退避（记得接</a:t>
            </a:r>
            <a:r>
              <a:rPr lang="en-US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signal</a:t>
            </a:r>
            <a:r>
              <a:rPr lang="zh-CN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），或用</a:t>
            </a:r>
            <a:r>
              <a:rPr lang="en-US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tool_result </a:t>
            </a:r>
            <a:r>
              <a:rPr lang="zh-CN" sz="900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钩子改写错误引导重试。</a:t>
            </a:r>
            <a:endParaRPr/>
          </a:p>
        </p:txBody>
      </p:sp>
      <p:sp>
        <p:nvSpPr>
          <p:cNvPr id="1281" name=""/>
          <p:cNvSpPr/>
          <p:nvPr/>
        </p:nvSpPr>
        <p:spPr>
          <a:xfrm rot="0" flipH="0" flipV="0">
            <a:off x="685800" y="5448300"/>
            <a:ext cx="10820400" cy="495300"/>
          </a:xfrm>
          <a:prstGeom prst="roundRect">
            <a:avLst>
              <a:gd name="adj" fmla="val 769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2" name="" descr="{&quot;isTemplate&quot;:true,&quot;type&quot;:&quot;text&quot;}"/>
          <p:cNvSpPr txBox="1"/>
          <p:nvPr/>
        </p:nvSpPr>
        <p:spPr>
          <a:xfrm rot="0" flipH="0" flipV="0">
            <a:off x="857250" y="5619750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1276350" y="5572125"/>
            <a:ext cx="10058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「打断」不是杀死进程，而是把话塞进队列——上下文不断裂，不需要任何恢复逻辑。想真停就用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abort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，语义彻底分开。</a:t>
            </a:r>
            <a:endParaRPr/>
          </a:p>
        </p:txBody>
      </p:sp>
      <p:sp>
        <p:nvSpPr>
          <p:cNvPr id="128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8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33 / 46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286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Box style={{ flexDirection: 'row', alignItems: 'center', gap: 12 }}&gt;&#13;&#10;                &lt;Text style={{ fontSize: 13, color: '#2AD4EE', letterSpacing: 3, fontFamily: '&quot;JetBrains Mono&quot;, &quot;Cascadia Mono&quot;, Consolas, monospace' }}&gt;DESIGN POINT 06&lt;/Text&gt;&#13;&#10;                &lt;Text style={{ fontSize: 13, color: 'rgba(232,238,249,0.38)', letterSpacing: 2, fontFamily: '&quot;JetBrains Mono&quot;, &quot;Cascadia Mono&quot;, Consolas, monospace' }}&gt;· 对应 ⑥ 护栏层&lt;/Text&gt;&#13;&#10;            &lt;/Box&gt;&#13;&#10;            &lt;Text style={{ marginTop: 6, fontSize: 34, fontWeight: 'bold', color: '#E8EEF9' }}&gt;扩展系统：一个函数，一张虚拟模块表&lt;/Text&gt;&#13;&#10;        &lt;/Box&gt;&#13;&#10;    &lt;/Box&gt;&#13;&#10;&#13;&#10;    {/* B 区 */}&#13;&#10;    &lt;Box style={{ height: 516, flexDirection: 'column' }}&gt;&#13;&#10;        &lt;Box style={{ height: 452, flexDirection: 'row', gap: 26 }}&gt;&#13;&#10;&#13;&#10;            {/* 左：形态与 API */}&#13;&#10;            &lt;Box style={{ width: 512, flexDirection: 'column', paddingRight: 24, borderRight: '1px solid rgba(232,238,249,0.12)' }}&gt;&#13;&#10;                &lt;Text style={{ fontSize: 14, color: '#2AD4EE', letterSpacing: 2.5, fontFamily: '&quot;JetBrains Mono&quot;, &quot;Cascadia Mono&quot;, Consolas, monospace' }}&gt;EXTENSION · 一个函数&lt;/Text&gt;&#13;&#10;&#13;&#10;                &lt;CodeBlock&#13;&#10;                    code={`export default function (pi: ExtensionAPI) {&#13;&#10;  pi.on(&quot;tool_call&quot;, async (e) =&gt; {&#13;&#10;    if (isDangerous(e)) return { block: true, reason: &quot;blocked&quot; };&#13;&#10;  });&#13;&#10;  pi.registerTool({ name: &quot;my_tool&quot;, ... });&#13;&#10;  pi.registerCommand(&quot;mycommand&quot;, { handler });&#13;&#10;}`}&#13;&#10;                    language='typescript'&#13;&#10;                    width={488}&#13;&#10;                    fontSize={12}&#13;&#10;                    theme='github-dark'&#13;&#10;                /&gt;&#13;&#10;&#13;&#10;                &lt;Text style={{ marginTop: 12, fontSize: 13, color: 'rgba(232,238,249,0.46)' }}&gt;自动发现位置 · 不用注册&lt;/Text&gt;&#13;&#10;                &lt;Box style={{ marginTop: 7, flexDirection: 'column', gap: 4 }}&gt;&#13;&#10;                    {[&#13;&#10;                        ['~/.pi/agent/extensions/', '全局，个人偏好'],&#13;&#10;                        ['&lt;cwd&gt;/.pi/extensions/', '项目级，随 git 走'],&#13;&#10;                        ['settings.json', 'extensions 数组指定路径'],&#13;&#10;                        ['pi install &lt;pkg&gt;', '社区包，一条命令'],&#13;&#10;                    ].map((r, i) =&gt; (&#13;&#10;                        &lt;Box key={i} style={{ flexDirection: 'row', gap: 8 }}&gt;&#13;&#10;                            &lt;Text style={{ width: 218, fontSize: 11.5, color: '#2AD4EE', fontFamily: '&quot;JetBrains Mono&quot;, &quot;Cascadia Mono&quot;, Consolas, monospace' }}&gt;{r[0]}&lt;/Text&gt;&#13;&#10;                            &lt;Text style={{ flex: 1, fontSize: 11.5, color: 'rgba(232,238,249,0.58)' }}&gt;{r[1]}&lt;/Text&gt;&#13;&#10;                        &lt;/Box&gt;&#13;&#10;                    ))}&#13;&#10;                &lt;/Box&gt;&#13;&#10;&#13;&#10;                &lt;Text style={{ marginTop: 10, fontSize: 12, color: 'rgba(232,238,249,0.46)' }}&gt;可订阅事件 · 覆盖全生命周期（还能注册 CLI flags 与 UI 组件）&lt;/Text&gt;&#13;&#10;                &lt;Box style={{ marginTop: 6, flexDirection: 'row', gap: 5, flexWrap: 'wrap' }}&gt;&#13;&#10;                    {['session_*', 'agent_*', 'before_agent_start', 'before_provider_request', 'tool_call', 'tool_result', 'turn_*', 'message_*', 'input', 'context'].map((t, i) =&gt; (&#13;&#10;                        &lt;Box key={i} style={{ paddingTop: 3, paddingBottom: 3, paddingLeft: 7, paddingRight: 7, background: 'rgba(42,212,238,0.07)', borderRadius: 2 }}&gt;&#13;&#10;                            &lt;Text style={{ fontSize: 10, color: 'rgba(232,238,249,0.66)', fontFamily: '&quot;JetBrains Mono&quot;, &quot;Cascadia Mono&quot;, Consolas, monospace' }}&gt;{t}&lt;/Text&gt;&#13;&#10;                        &lt;/Box&gt;&#13;&#10;                    ))}&#13;&#10;                &lt;/Box&gt;&#13;&#10;&#13;&#10;                &lt;Box style={{ marginTop: 'auto', paddingTop: 11, paddingBottom: 11, paddingLeft: 14, paddingRight: 14, background: 'rgba(42,212,238,0.07)', border: '1px solid rgba(42,212,238,0.20)', borderRadius: 3 }}&gt;&#13;&#10;                    &lt;Text style={{ fontSize: 12.5, color: 'rgba(232,238,249,0.82)', lineHeight: 1.6 }}&gt;&#13;&#10;                        内核刻意不做 MCP、子代理、权限弹窗——它们全是扩展。&#13;&#10;                        &lt;span style={{ color: '#2AD4EE' }}&gt;内核极小 + 扩展面全开&lt;/span&gt;&#13;&#10;                        ，是同一枚硬币的两面。&#13;&#10;                    &lt;/Text&gt;&#13;&#10;                &lt;/Box&gt;&#13;&#10;            &lt;/Box&gt;&#13;&#10;&#13;&#10;            {/* 右：virtual modules */}&#13;&#10;            &lt;Box style={{ flex: 1, flexDirection: 'column' }}&gt;&#13;&#10;                &lt;Box style={{ flexDirection: 'row', alignItems: 'baseline', justifyContent: 'space-between' }}&gt;&#13;&#10;                    &lt;Text style={{ fontSize: 14, color: '#2AD4EE', letterSpacing: 2.5, fontFamily: '&quot;JetBrains Mono&quot;, &quot;Cascadia Mono&quot;, Consolas, monospace' }}&gt;VIRTUAL MODULES · 依赖注入&lt;/Text&gt;&#13;&#10;                    &lt;Text style={{ fontSize: 12, color: 'rgba(232,238,249,0.42)' }}&gt;jiti + 一张映射表&lt;/Text&gt;&#13;&#10;                &lt;/Box&gt;&#13;&#10;&#13;&#10;                &lt;Text style={{ marginTop: 8, fontSize: 12.5, color: 'rgba(232,238,249,0.56)', lineHeight: 1.55 }}&gt;&#13;&#10;                    扩展是运行时才加载的裸 .ts 文件，没有 node_modules。按 Node 规则，第一行 import 就会 MODULE_NOT_FOUND。&#13;&#10;                &lt;/Text&gt;&#13;&#10;&#13;&#10;                &lt;Box style={{ marginTop: 10, flexDirection: 'row', gap: 9 }}&gt;&#13;&#10;                    &lt;Box style={{ flex: 1, paddingTop: 9, paddingBottom: 9, paddingLeft: 11, paddingRight: 11, background: 'rgba(22,35,61,0.60)', border: '1px solid rgba(232,238,249,0.08)', borderRadius: 3 }}&gt;&#13;&#10;                        &lt;Text style={{ fontSize: 11, color: 'rgba(232,238,249,0.44)' }}&gt;方案 A · peerDependencies&lt;/Text&gt;&#13;&#10;                        &lt;Text style={{ marginTop: 4, fontSize: 11.5, color: 'rgba(232,238,249,0.60)', lineHeight: 1.5 }}&gt;用户自己装、版本要自己对齐。依赖地狱。&lt;/Text&gt;&#13;&#10;                    &lt;/Box&gt;&#13;&#10;                    &lt;Box style={{ flex: 1.2, paddingTop: 9, paddingBottom: 9, paddingLeft: 11, paddingRight: 11, background: 'rgba(255,120,120,0.05)', border: '1px solid rgba(255,140,140,0.22)', borderRadius: 3 }}&gt;&#13;&#10;                        &lt;Text style={{ fontSize: 11, color: 'rgba(255,160,160,0.72)' }}&gt;方案 B · 扩展自带一份&lt;/Text&gt;&#13;&#10;                        &lt;Text style={{ marginTop: 4, fontSize: 11.5, color: 'rgba(232,238,249,0.60)', lineHeight: 1.5 }}&gt;&#13;&#10;                            双实例灾难：两个事件总线、两个工具表。扩展手里的工具表，宿主循环看不见，拦截静默失效。&#13;&#10;                        &lt;/Text&gt;&#13;&#10;                    &lt;/Box&gt;&#13;&#10;                    &lt;Box style={{ flex: 1, paddingTop: 9, paddingBottom: 9, paddingLeft: 11, paddingRight: 11, background: 'rgba(42,212,238,0.10)', border: '1px solid rgba(42,212,238,0.30)', borderRadius: 3 }}&gt;&#13;&#10;                        &lt;Text style={{ fontSize: 11, color: '#2AD4EE' }}&gt;方案 C · virtual modules&lt;/Text&gt;&#13;&#10;                        &lt;Text style={{ marginTop: 4, fontSize: 11.5, color: 'rgba(232,238,249,0.76)', lineHeight: 1.5 }}&gt;宿主把自己正在运行的模块实例直接递过去。&lt;/Text&gt;&#13;&#10;                    &lt;/Box&gt;&#13;&#10;                &lt;/Box&gt;&#13;&#10;&#13;&#10;                &lt;Box style={{ marginTop: 9 }}&gt;&#13;&#10;                    &lt;CodeBlock&#13;&#10;                        code={`const VIRTUAL_MODULES = {&#13;&#10;  typebox:                       bundledTypebox,&#13;&#10;  &quot;@earendil-works/pi-ai&quot;:       bundledPiAiCompat,&#13;&#10;  &quot;@earendil-works/pi-agent-core&quot;: bundledPiAgentCore,&#13;&#10;  &quot;@earendil-works/pi-coding-agent&quot;: bundledPiCodingAgent,&#13;&#10;};&#13;&#10;// jiti 解析 import 先查这张表，命中就不碰磁盘`}&#13;&#10;                        language='typescript'&#13;&#10;                        width={668}&#13;&#10;                        fontSize={11}&#13;&#10;                        theme='github-dark'&#13;&#10;                    /&gt;&#13;&#10;                &lt;/Box&gt;&#13;&#10;&#13;&#10;                &lt;Box style={{ marginTop: 9, flexDirection: 'row', gap: 8, flexWrap: 'wrap' }}&gt;&#13;&#10;                    {['单文件二进制: virtualModules', '源码运行: + tsconfigPaths', 'dist 安装: alias 到同一文件'].map((t, i) =&gt; (&#13;&#10;                        &lt;Box key={i} style={{ paddingTop: 4, paddingBottom: 4, paddingLeft: 8, paddingRight: 8, background: 'rgba(232,238,249,0.05)', borderRadius: 2 }}&gt;&#13;&#10;                            &lt;Text style={{ fontSize: 10.5, color: 'rgba(232,238,249,0.60)' }}&gt;{t}&lt;/Text&gt;&#13;&#10;                        &lt;/Box&gt;&#13;&#10;                    ))}&#13;&#10;                &lt;/Box&gt;&#13;&#10;&#13;&#10;                &lt;Text style={{ marginTop: 'auto', fontSize: 11.5, color: 'rgba(232,238,249,0.52)', lineHeight: 1.5 }}&gt;&#13;&#10;                    代价：注入粒度从实例升到模块，时机从构造提前到 import 解析。&#13;&#10;                &lt;/Text&gt;&#13;&#10;            &lt;/Box&gt;&#13;&#10;        &lt;/Box&gt;&#13;&#10;&#13;&#10;        {/* 底部 */}&#13;&#10;        &lt;Box style={{ height: 52, marginTop: 8, flexDirection: 'row', alignItems: 'center', gap: 14, paddingLeft: 18, paddingRight: 18, background: 'rgba(42,212,238,0.08)', border: '1px solid rgba(42,212,238,0.22)', borderRadius: 4 }}&gt;&#13;&#10;            &lt;Text style={{ fontSize: 13, color: '#2AD4EE', letterSpacing: 2, fontFamily: '&quot;JetBrains Mono&quot;, &quot;Cascadia Mono&quot;, Consolas, monospace' }}&gt;要点&lt;/Text&gt;&#13;&#10;            &lt;Text style={{ flex: 1, fontSize: 15, color: '#E8EEF9', lineHeight: 1.5 }}&gt;&#13;&#10;                插件与宿主要共享的不是「同一个版本号」，而是&lt;span style={{ color: '#2AD4EE' }}&gt;同一个对象&lt;/span&gt;——否则 instanceof 失效、拦截静默丢失。&#13;&#10;            &lt;/Text&gt;&#13;&#10;        &lt;/Box&gt;&#13;&#10;    &lt;/Box&gt;&#13;&#10;&#13;&#10;    {/* C 区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34 / 4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28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28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06</a:t>
            </a:r>
            <a:endParaRPr/>
          </a:p>
        </p:txBody>
      </p:sp>
      <p:sp>
        <p:nvSpPr>
          <p:cNvPr id="1290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⑥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护栏层</a:t>
            </a:r>
            <a:endParaRPr/>
          </a:p>
        </p:txBody>
      </p:sp>
      <p:sp>
        <p:nvSpPr>
          <p:cNvPr id="1291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扩展系统：一个函数，一张虚拟模块表</a:t>
            </a:r>
            <a:endParaRPr/>
          </a:p>
        </p:txBody>
      </p:sp>
      <p:sp>
        <p:nvSpPr>
          <p:cNvPr id="1292" name=""/>
          <p:cNvSpPr/>
          <p:nvPr/>
        </p:nvSpPr>
        <p:spPr>
          <a:xfrm rot="0" flipH="0" flipV="0">
            <a:off x="685800" y="1143000"/>
            <a:ext cx="4876800" cy="4305300"/>
          </a:xfrm>
          <a:custGeom>
            <a:pathLst>
              <a:path w="512" h="452">
                <a:moveTo>
                  <a:pt x="511" y="0"/>
                </a:moveTo>
                <a:lnTo>
                  <a:pt x="512" y="0"/>
                </a:lnTo>
                <a:lnTo>
                  <a:pt x="512" y="452"/>
                </a:lnTo>
                <a:lnTo>
                  <a:pt x="511" y="45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29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4638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EXTENSION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一个函数</a:t>
            </a:r>
            <a:endParaRPr/>
          </a:p>
        </p:txBody>
      </p:sp>
      <p:sp>
        <p:nvSpPr>
          <p:cNvPr id="1294" name="" descr="{&quot;isTemplate&quot;:true,&quot;type&quot;:&quot;text&quot;}"/>
          <p:cNvSpPr txBox="1"/>
          <p:nvPr/>
        </p:nvSpPr>
        <p:spPr>
          <a:xfrm rot="0" flipH="0" flipV="0">
            <a:off x="685800" y="3038475"/>
            <a:ext cx="463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自动发现位置</a:t>
            </a:r>
            <a:r>
              <a:rPr lang="en-US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不用注册</a:t>
            </a:r>
            <a:endParaRPr/>
          </a:p>
        </p:txBody>
      </p:sp>
      <p:sp>
        <p:nvSpPr>
          <p:cNvPr id="1295" name="" descr="{&quot;isTemplate&quot;:true,&quot;type&quot;:&quot;text&quot;}"/>
          <p:cNvSpPr txBox="1"/>
          <p:nvPr/>
        </p:nvSpPr>
        <p:spPr>
          <a:xfrm rot="0" flipH="0" flipV="0">
            <a:off x="685800" y="3257550"/>
            <a:ext cx="2076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~/.pi/agent/extensions/</a:t>
            </a:r>
            <a:endParaRPr/>
          </a:p>
        </p:txBody>
      </p:sp>
      <p:sp>
        <p:nvSpPr>
          <p:cNvPr id="1296" name="" descr="{&quot;isTemplate&quot;:true,&quot;type&quot;:&quot;text&quot;}"/>
          <p:cNvSpPr txBox="1"/>
          <p:nvPr/>
        </p:nvSpPr>
        <p:spPr>
          <a:xfrm rot="0" flipH="0" flipV="0">
            <a:off x="2838450" y="3257550"/>
            <a:ext cx="2486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全局，个人偏好</a:t>
            </a:r>
            <a:endParaRPr/>
          </a:p>
        </p:txBody>
      </p:sp>
      <p:sp>
        <p:nvSpPr>
          <p:cNvPr id="1297" name="" descr="{&quot;isTemplate&quot;:true,&quot;type&quot;:&quot;text&quot;}"/>
          <p:cNvSpPr txBox="1"/>
          <p:nvPr/>
        </p:nvSpPr>
        <p:spPr>
          <a:xfrm rot="0" flipH="0" flipV="0">
            <a:off x="685800" y="3429000"/>
            <a:ext cx="2076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&lt;cwd&gt;/.pi/extensions/</a:t>
            </a:r>
            <a:endParaRPr/>
          </a:p>
        </p:txBody>
      </p:sp>
      <p:sp>
        <p:nvSpPr>
          <p:cNvPr id="1298" name="" descr="{&quot;isTemplate&quot;:true,&quot;type&quot;:&quot;text&quot;}"/>
          <p:cNvSpPr txBox="1"/>
          <p:nvPr/>
        </p:nvSpPr>
        <p:spPr>
          <a:xfrm rot="0" flipH="0" flipV="0">
            <a:off x="2838450" y="3429000"/>
            <a:ext cx="2486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项目级，随</a:t>
            </a:r>
            <a:r>
              <a:rPr lang="en-US" sz="863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git </a:t>
            </a:r>
            <a:r>
              <a:rPr lang="zh-CN" sz="863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走</a:t>
            </a:r>
            <a:endParaRPr/>
          </a:p>
        </p:txBody>
      </p:sp>
      <p:sp>
        <p:nvSpPr>
          <p:cNvPr id="1299" name="" descr="{&quot;isTemplate&quot;:true,&quot;type&quot;:&quot;text&quot;}"/>
          <p:cNvSpPr txBox="1"/>
          <p:nvPr/>
        </p:nvSpPr>
        <p:spPr>
          <a:xfrm rot="0" flipH="0" flipV="0">
            <a:off x="685800" y="3600450"/>
            <a:ext cx="2076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settings.json</a:t>
            </a:r>
            <a:endParaRPr/>
          </a:p>
        </p:txBody>
      </p:sp>
      <p:sp>
        <p:nvSpPr>
          <p:cNvPr id="1300" name="" descr="{&quot;isTemplate&quot;:true,&quot;type&quot;:&quot;text&quot;}"/>
          <p:cNvSpPr txBox="1"/>
          <p:nvPr/>
        </p:nvSpPr>
        <p:spPr>
          <a:xfrm rot="0" flipH="0" flipV="0">
            <a:off x="2838450" y="3600450"/>
            <a:ext cx="2486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extensions </a:t>
            </a:r>
            <a:r>
              <a:rPr lang="zh-CN" sz="863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数组指定路径</a:t>
            </a:r>
            <a:endParaRPr/>
          </a:p>
        </p:txBody>
      </p:sp>
      <p:sp>
        <p:nvSpPr>
          <p:cNvPr id="1301" name="" descr="{&quot;isTemplate&quot;:true,&quot;type&quot;:&quot;text&quot;}"/>
          <p:cNvSpPr txBox="1"/>
          <p:nvPr/>
        </p:nvSpPr>
        <p:spPr>
          <a:xfrm rot="0" flipH="0" flipV="0">
            <a:off x="685800" y="3771900"/>
            <a:ext cx="20764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/>
                </a:solidFill>
                <a:latin typeface="JetBrains Mono"/>
                <a:ea typeface="JetBrains Mono"/>
              </a:rPr>
              <a:t>pi install &lt;pkg&gt;</a:t>
            </a:r>
            <a:endParaRPr/>
          </a:p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2838450" y="3771900"/>
            <a:ext cx="2486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社区包，一条命令</a:t>
            </a:r>
            <a:endParaRPr/>
          </a:p>
        </p:txBody>
      </p:sp>
      <p:sp>
        <p:nvSpPr>
          <p:cNvPr id="1303" name="" descr="{&quot;isTemplate&quot;:true,&quot;type&quot;:&quot;text&quot;}"/>
          <p:cNvSpPr txBox="1"/>
          <p:nvPr/>
        </p:nvSpPr>
        <p:spPr>
          <a:xfrm rot="0" flipH="0" flipV="0">
            <a:off x="685800" y="4000500"/>
            <a:ext cx="4638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可订阅事件</a:t>
            </a:r>
            <a:r>
              <a:rPr lang="en-US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覆盖全生命周期（还能注册</a:t>
            </a:r>
            <a:r>
              <a:rPr lang="en-US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CLI flags </a:t>
            </a:r>
            <a:r>
              <a:rPr lang="zh-CN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与</a:t>
            </a:r>
            <a:r>
              <a:rPr lang="en-US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 xml:space="preserve"> UI </a:t>
            </a:r>
            <a:r>
              <a:rPr lang="zh-CN" sz="900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组件）</a:t>
            </a:r>
            <a:endParaRPr/>
          </a:p>
        </p:txBody>
      </p:sp>
      <p:sp>
        <p:nvSpPr>
          <p:cNvPr id="1304" name=""/>
          <p:cNvSpPr/>
          <p:nvPr/>
        </p:nvSpPr>
        <p:spPr>
          <a:xfrm rot="0" flipH="0" flipV="0">
            <a:off x="685800" y="4200525"/>
            <a:ext cx="638175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305" name="" descr="{&quot;isTemplate&quot;:true,&quot;type&quot;:&quot;text&quot;}"/>
          <p:cNvSpPr txBox="1"/>
          <p:nvPr/>
        </p:nvSpPr>
        <p:spPr>
          <a:xfrm rot="0" flipH="0" flipV="0">
            <a:off x="752475" y="4229100"/>
            <a:ext cx="504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session_*</a:t>
            </a:r>
            <a:endParaRPr/>
          </a:p>
        </p:txBody>
      </p:sp>
      <p:sp>
        <p:nvSpPr>
          <p:cNvPr id="1306" name=""/>
          <p:cNvSpPr/>
          <p:nvPr/>
        </p:nvSpPr>
        <p:spPr>
          <a:xfrm rot="0" flipH="0" flipV="0">
            <a:off x="1371600" y="4200525"/>
            <a:ext cx="533400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307" name="" descr="{&quot;isTemplate&quot;:true,&quot;type&quot;:&quot;text&quot;}"/>
          <p:cNvSpPr txBox="1"/>
          <p:nvPr/>
        </p:nvSpPr>
        <p:spPr>
          <a:xfrm rot="0" flipH="0" flipV="0">
            <a:off x="1438275" y="4229100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agent_*</a:t>
            </a:r>
            <a:endParaRPr/>
          </a:p>
        </p:txBody>
      </p:sp>
      <p:sp>
        <p:nvSpPr>
          <p:cNvPr id="1308" name=""/>
          <p:cNvSpPr/>
          <p:nvPr/>
        </p:nvSpPr>
        <p:spPr>
          <a:xfrm rot="0" flipH="0" flipV="0">
            <a:off x="1952625" y="4200525"/>
            <a:ext cx="1143000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309" name="" descr="{&quot;isTemplate&quot;:true,&quot;type&quot;:&quot;text&quot;}"/>
          <p:cNvSpPr txBox="1"/>
          <p:nvPr/>
        </p:nvSpPr>
        <p:spPr>
          <a:xfrm rot="0" flipH="0" flipV="0">
            <a:off x="2019300" y="4229100"/>
            <a:ext cx="10096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before_agent_start</a:t>
            </a:r>
            <a:endParaRPr/>
          </a:p>
        </p:txBody>
      </p:sp>
      <p:sp>
        <p:nvSpPr>
          <p:cNvPr id="1310" name=""/>
          <p:cNvSpPr/>
          <p:nvPr/>
        </p:nvSpPr>
        <p:spPr>
          <a:xfrm rot="0" flipH="0" flipV="0">
            <a:off x="3143250" y="4200525"/>
            <a:ext cx="1419225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311" name="" descr="{&quot;isTemplate&quot;:true,&quot;type&quot;:&quot;text&quot;}"/>
          <p:cNvSpPr txBox="1"/>
          <p:nvPr/>
        </p:nvSpPr>
        <p:spPr>
          <a:xfrm rot="0" flipH="0" flipV="0">
            <a:off x="3209925" y="4229100"/>
            <a:ext cx="1285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before_provider_request</a:t>
            </a:r>
            <a:endParaRPr/>
          </a:p>
        </p:txBody>
      </p:sp>
      <p:sp>
        <p:nvSpPr>
          <p:cNvPr id="1312" name=""/>
          <p:cNvSpPr/>
          <p:nvPr/>
        </p:nvSpPr>
        <p:spPr>
          <a:xfrm rot="0" flipH="0" flipV="0">
            <a:off x="4610100" y="4200525"/>
            <a:ext cx="638175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313" name="" descr="{&quot;isTemplate&quot;:true,&quot;type&quot;:&quot;text&quot;}"/>
          <p:cNvSpPr txBox="1"/>
          <p:nvPr/>
        </p:nvSpPr>
        <p:spPr>
          <a:xfrm rot="0" flipH="0" flipV="0">
            <a:off x="4676775" y="4229100"/>
            <a:ext cx="504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tool_call</a:t>
            </a:r>
            <a:endParaRPr/>
          </a:p>
        </p:txBody>
      </p:sp>
      <p:sp>
        <p:nvSpPr>
          <p:cNvPr id="1314" name=""/>
          <p:cNvSpPr/>
          <p:nvPr/>
        </p:nvSpPr>
        <p:spPr>
          <a:xfrm rot="0" flipH="0" flipV="0">
            <a:off x="685800" y="4419600"/>
            <a:ext cx="752475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315" name="" descr="{&quot;isTemplate&quot;:true,&quot;type&quot;:&quot;text&quot;}"/>
          <p:cNvSpPr txBox="1"/>
          <p:nvPr/>
        </p:nvSpPr>
        <p:spPr>
          <a:xfrm rot="0" flipH="0" flipV="0">
            <a:off x="752475" y="4448175"/>
            <a:ext cx="6191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tool_result</a:t>
            </a:r>
            <a:endParaRPr/>
          </a:p>
        </p:txBody>
      </p:sp>
      <p:sp>
        <p:nvSpPr>
          <p:cNvPr id="1316" name=""/>
          <p:cNvSpPr/>
          <p:nvPr/>
        </p:nvSpPr>
        <p:spPr>
          <a:xfrm rot="0" flipH="0" flipV="0">
            <a:off x="1485900" y="4419600"/>
            <a:ext cx="476250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317" name="" descr="{&quot;isTemplate&quot;:true,&quot;type&quot;:&quot;text&quot;}"/>
          <p:cNvSpPr txBox="1"/>
          <p:nvPr/>
        </p:nvSpPr>
        <p:spPr>
          <a:xfrm rot="0" flipH="0" flipV="0">
            <a:off x="1552575" y="4448175"/>
            <a:ext cx="3429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turn_*</a:t>
            </a:r>
            <a:endParaRPr/>
          </a:p>
        </p:txBody>
      </p:sp>
      <p:sp>
        <p:nvSpPr>
          <p:cNvPr id="1318" name=""/>
          <p:cNvSpPr/>
          <p:nvPr/>
        </p:nvSpPr>
        <p:spPr>
          <a:xfrm rot="0" flipH="0" flipV="0">
            <a:off x="2009775" y="4419600"/>
            <a:ext cx="638175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319" name="" descr="{&quot;isTemplate&quot;:true,&quot;type&quot;:&quot;text&quot;}"/>
          <p:cNvSpPr txBox="1"/>
          <p:nvPr/>
        </p:nvSpPr>
        <p:spPr>
          <a:xfrm rot="0" flipH="0" flipV="0">
            <a:off x="2076450" y="4448175"/>
            <a:ext cx="5048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message_*</a:t>
            </a:r>
            <a:endParaRPr/>
          </a:p>
        </p:txBody>
      </p:sp>
      <p:sp>
        <p:nvSpPr>
          <p:cNvPr id="1320" name=""/>
          <p:cNvSpPr/>
          <p:nvPr/>
        </p:nvSpPr>
        <p:spPr>
          <a:xfrm rot="0" flipH="0" flipV="0">
            <a:off x="2695575" y="4419600"/>
            <a:ext cx="419100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321" name="" descr="{&quot;isTemplate&quot;:true,&quot;type&quot;:&quot;text&quot;}"/>
          <p:cNvSpPr txBox="1"/>
          <p:nvPr/>
        </p:nvSpPr>
        <p:spPr>
          <a:xfrm rot="0" flipH="0" flipV="0">
            <a:off x="2762250" y="444817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input</a:t>
            </a:r>
            <a:endParaRPr/>
          </a:p>
        </p:txBody>
      </p:sp>
      <p:sp>
        <p:nvSpPr>
          <p:cNvPr id="1322" name=""/>
          <p:cNvSpPr/>
          <p:nvPr/>
        </p:nvSpPr>
        <p:spPr>
          <a:xfrm rot="0" flipH="0" flipV="0">
            <a:off x="3162300" y="4419600"/>
            <a:ext cx="533400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323" name="" descr="{&quot;isTemplate&quot;:true,&quot;type&quot;:&quot;text&quot;}"/>
          <p:cNvSpPr txBox="1"/>
          <p:nvPr/>
        </p:nvSpPr>
        <p:spPr>
          <a:xfrm rot="0" flipH="0" flipV="0">
            <a:off x="3228975" y="4448175"/>
            <a:ext cx="4000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66000"/>
                  </a:srgbClr>
                </a:solidFill>
                <a:latin typeface="JetBrains Mono"/>
                <a:ea typeface="JetBrains Mono"/>
              </a:rPr>
              <a:t>context</a:t>
            </a:r>
            <a:endParaRPr/>
          </a:p>
        </p:txBody>
      </p:sp>
      <p:sp>
        <p:nvSpPr>
          <p:cNvPr id="1324" name=""/>
          <p:cNvSpPr/>
          <p:nvPr/>
        </p:nvSpPr>
        <p:spPr>
          <a:xfrm rot="0" flipH="0" flipV="0">
            <a:off x="685800" y="4781550"/>
            <a:ext cx="4638675" cy="666750"/>
          </a:xfrm>
          <a:prstGeom prst="roundRect">
            <a:avLst>
              <a:gd name="adj" fmla="val 4286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25" name="" descr="{&quot;isTemplate&quot;:true,&quot;type&quot;:&quot;text&quot;}"/>
          <p:cNvSpPr txBox="1"/>
          <p:nvPr/>
        </p:nvSpPr>
        <p:spPr>
          <a:xfrm rot="0" flipH="0" flipV="0">
            <a:off x="819150" y="4886325"/>
            <a:ext cx="437197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内核刻意不做</a:t>
            </a:r>
            <a:r>
              <a:rPr lang="en-US" sz="938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MCP</a:t>
            </a:r>
            <a:r>
              <a:rPr lang="zh-CN" sz="938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、子代理、权限弹窗——它们全是扩展。</a:t>
            </a: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内核极小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扩展面全开</a:t>
            </a:r>
            <a:r>
              <a:rPr lang="zh-CN" sz="938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，是同一枚硬币的两面。</a:t>
            </a:r>
            <a:endParaRPr/>
          </a:p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5810250" y="1143000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VIRTUAL MODULES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依赖注入</a:t>
            </a:r>
            <a:endParaRPr/>
          </a:p>
        </p:txBody>
      </p:sp>
      <p:sp>
        <p:nvSpPr>
          <p:cNvPr id="1327" name="" descr="{&quot;isTemplate&quot;:true,&quot;type&quot;:&quot;text&quot;}"/>
          <p:cNvSpPr txBox="1"/>
          <p:nvPr/>
        </p:nvSpPr>
        <p:spPr>
          <a:xfrm rot="0" flipH="0" flipV="0">
            <a:off x="10696575" y="1143000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jiti + </a:t>
            </a:r>
            <a:r>
              <a:rPr lang="zh-CN" sz="9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一张映射表</a:t>
            </a:r>
            <a:endParaRPr/>
          </a:p>
        </p:txBody>
      </p:sp>
      <p:sp>
        <p:nvSpPr>
          <p:cNvPr id="1328" name="" descr="{&quot;isTemplate&quot;:true,&quot;type&quot;:&quot;text&quot;}"/>
          <p:cNvSpPr txBox="1"/>
          <p:nvPr/>
        </p:nvSpPr>
        <p:spPr>
          <a:xfrm rot="0" flipH="0" flipV="0">
            <a:off x="5810250" y="1381125"/>
            <a:ext cx="56959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扩展是运行时才加载的裸</a:t>
            </a: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.ts 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文件，没有</a:t>
            </a: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node_modules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。按</a:t>
            </a: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Node 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规则，第一行</a:t>
            </a: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就会</a:t>
            </a:r>
            <a:r>
              <a:rPr lang="en-US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MODULE_NOT_FOUND</a:t>
            </a:r>
            <a:r>
              <a:rPr lang="zh-CN" sz="938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329" name=""/>
          <p:cNvSpPr/>
          <p:nvPr/>
        </p:nvSpPr>
        <p:spPr>
          <a:xfrm rot="0" flipH="0" flipV="0">
            <a:off x="5810250" y="1924050"/>
            <a:ext cx="1724025" cy="942975"/>
          </a:xfrm>
          <a:prstGeom prst="roundRect">
            <a:avLst>
              <a:gd name="adj" fmla="val 3030"/>
            </a:avLst>
          </a:prstGeom>
          <a:solidFill>
            <a:srgbClr val="16233D">
              <a:alpha val="60000"/>
            </a:srgbClr>
          </a:solidFill>
          <a:ln w="12700">
            <a:solidFill>
              <a:srgbClr val="E8EEF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30" name="" descr="{&quot;isTemplate&quot;:true,&quot;type&quot;:&quot;text&quot;}"/>
          <p:cNvSpPr txBox="1"/>
          <p:nvPr/>
        </p:nvSpPr>
        <p:spPr>
          <a:xfrm rot="0" flipH="0" flipV="0">
            <a:off x="5915025" y="2009775"/>
            <a:ext cx="15144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>方案</a:t>
            </a:r>
            <a:r>
              <a:rPr lang="en-US" sz="825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 xml:space="preserve"> A · peerDependencies</a:t>
            </a:r>
            <a:endParaRPr/>
          </a:p>
        </p:txBody>
      </p:sp>
      <p:sp>
        <p:nvSpPr>
          <p:cNvPr id="1331" name="" descr="{&quot;isTemplate&quot;:true,&quot;type&quot;:&quot;text&quot;}"/>
          <p:cNvSpPr txBox="1"/>
          <p:nvPr/>
        </p:nvSpPr>
        <p:spPr>
          <a:xfrm rot="0" flipH="0" flipV="0">
            <a:off x="5915025" y="2181225"/>
            <a:ext cx="15144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用户自己装、版本要自己对齐。依赖地狱。</a:t>
            </a:r>
            <a:endParaRPr/>
          </a:p>
        </p:txBody>
      </p:sp>
      <p:sp>
        <p:nvSpPr>
          <p:cNvPr id="1332" name=""/>
          <p:cNvSpPr/>
          <p:nvPr/>
        </p:nvSpPr>
        <p:spPr>
          <a:xfrm rot="0" flipH="0" flipV="0">
            <a:off x="7620000" y="1924050"/>
            <a:ext cx="2076450" cy="942975"/>
          </a:xfrm>
          <a:prstGeom prst="roundRect">
            <a:avLst>
              <a:gd name="adj" fmla="val 3030"/>
            </a:avLst>
          </a:prstGeom>
          <a:solidFill>
            <a:srgbClr val="FF7878">
              <a:alpha val="5000"/>
            </a:srgbClr>
          </a:solidFill>
          <a:ln w="12700">
            <a:solidFill>
              <a:srgbClr val="FF8C8C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33" name="" descr="{&quot;isTemplate&quot;:true,&quot;type&quot;:&quot;text&quot;}"/>
          <p:cNvSpPr txBox="1"/>
          <p:nvPr/>
        </p:nvSpPr>
        <p:spPr>
          <a:xfrm rot="0" flipH="0" flipV="0">
            <a:off x="7724775" y="2009775"/>
            <a:ext cx="1866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FA0A0">
                    <a:alpha val="72000"/>
                  </a:srgbClr>
                </a:solidFill>
                <a:latin typeface="Source Han Sans SC"/>
                <a:ea typeface="Source Han Sans SC"/>
              </a:rPr>
              <a:t>方案</a:t>
            </a:r>
            <a:r>
              <a:rPr lang="en-US" sz="825">
                <a:solidFill>
                  <a:srgbClr val="FFA0A0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B · </a:t>
            </a:r>
            <a:r>
              <a:rPr lang="zh-CN" sz="825">
                <a:solidFill>
                  <a:srgbClr val="FFA0A0">
                    <a:alpha val="72000"/>
                  </a:srgbClr>
                </a:solidFill>
                <a:latin typeface="Source Han Sans SC"/>
                <a:ea typeface="Source Han Sans SC"/>
              </a:rPr>
              <a:t>扩展自带一份</a:t>
            </a:r>
            <a:endParaRPr/>
          </a:p>
        </p:txBody>
      </p:sp>
      <p:sp>
        <p:nvSpPr>
          <p:cNvPr id="1334" name="" descr="{&quot;isTemplate&quot;:true,&quot;type&quot;:&quot;text&quot;}"/>
          <p:cNvSpPr txBox="1"/>
          <p:nvPr/>
        </p:nvSpPr>
        <p:spPr>
          <a:xfrm rot="0" flipH="0" flipV="0">
            <a:off x="7724775" y="2181225"/>
            <a:ext cx="18669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双实例灾难：两个事件总线、两个工具表。扩展手里的工具表，宿主循环看不见，拦截静默失效。</a:t>
            </a:r>
            <a:endParaRPr/>
          </a:p>
        </p:txBody>
      </p:sp>
      <p:sp>
        <p:nvSpPr>
          <p:cNvPr id="1335" name=""/>
          <p:cNvSpPr/>
          <p:nvPr/>
        </p:nvSpPr>
        <p:spPr>
          <a:xfrm rot="0" flipH="0" flipV="0">
            <a:off x="9782175" y="1924050"/>
            <a:ext cx="1724025" cy="942975"/>
          </a:xfrm>
          <a:prstGeom prst="roundRect">
            <a:avLst>
              <a:gd name="adj" fmla="val 303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36" name="" descr="{&quot;isTemplate&quot;:true,&quot;type&quot;:&quot;text&quot;}"/>
          <p:cNvSpPr txBox="1"/>
          <p:nvPr/>
        </p:nvSpPr>
        <p:spPr>
          <a:xfrm rot="0" flipH="0" flipV="0">
            <a:off x="9886950" y="2009775"/>
            <a:ext cx="15144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AD4EE"/>
                </a:solidFill>
                <a:latin typeface="Source Han Sans SC"/>
                <a:ea typeface="Source Han Sans SC"/>
              </a:rPr>
              <a:t>方案</a:t>
            </a:r>
            <a:r>
              <a:rPr lang="en-US" sz="82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C · virtual modules</a:t>
            </a:r>
            <a:endParaRPr/>
          </a:p>
        </p:txBody>
      </p:sp>
      <p:sp>
        <p:nvSpPr>
          <p:cNvPr id="1337" name="" descr="{&quot;isTemplate&quot;:true,&quot;type&quot;:&quot;text&quot;}"/>
          <p:cNvSpPr txBox="1"/>
          <p:nvPr/>
        </p:nvSpPr>
        <p:spPr>
          <a:xfrm rot="0" flipH="0" flipV="0">
            <a:off x="9886950" y="2181225"/>
            <a:ext cx="1514475" cy="400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宿主把自己正在运行的模块实例直接递过去。</a:t>
            </a:r>
            <a:endParaRPr/>
          </a:p>
        </p:txBody>
      </p:sp>
      <p:sp>
        <p:nvSpPr>
          <p:cNvPr id="1338" name=""/>
          <p:cNvSpPr/>
          <p:nvPr/>
        </p:nvSpPr>
        <p:spPr>
          <a:xfrm rot="0" flipH="0" flipV="0">
            <a:off x="5810250" y="4543425"/>
            <a:ext cx="1447800" cy="200025"/>
          </a:xfrm>
          <a:prstGeom prst="roundRect">
            <a:avLst>
              <a:gd name="adj" fmla="val 9524"/>
            </a:avLst>
          </a:prstGeom>
          <a:solidFill>
            <a:srgbClr val="E8EEF9">
              <a:alpha val="5000"/>
            </a:srgbClr>
          </a:solidFill>
          <a:ln/>
        </p:spPr>
        <p:txBody>
          <a:bodyPr/>
          <a:p/>
        </p:txBody>
      </p:sp>
      <p:sp>
        <p:nvSpPr>
          <p:cNvPr id="1339" name="" descr="{&quot;isTemplate&quot;:true,&quot;type&quot;:&quot;text&quot;}"/>
          <p:cNvSpPr txBox="1"/>
          <p:nvPr/>
        </p:nvSpPr>
        <p:spPr>
          <a:xfrm rot="0" flipH="0" flipV="0">
            <a:off x="5886450" y="4581525"/>
            <a:ext cx="12954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单文件二进制</a:t>
            </a:r>
            <a:r>
              <a:rPr lang="en-US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: virtualModules</a:t>
            </a:r>
            <a:endParaRPr/>
          </a:p>
        </p:txBody>
      </p:sp>
      <p:sp>
        <p:nvSpPr>
          <p:cNvPr id="1340" name=""/>
          <p:cNvSpPr/>
          <p:nvPr/>
        </p:nvSpPr>
        <p:spPr>
          <a:xfrm rot="0" flipH="0" flipV="0">
            <a:off x="7334250" y="4543425"/>
            <a:ext cx="1266825" cy="200025"/>
          </a:xfrm>
          <a:prstGeom prst="roundRect">
            <a:avLst>
              <a:gd name="adj" fmla="val 9524"/>
            </a:avLst>
          </a:prstGeom>
          <a:solidFill>
            <a:srgbClr val="E8EEF9">
              <a:alpha val="5000"/>
            </a:srgbClr>
          </a:solidFill>
          <a:ln/>
        </p:spPr>
        <p:txBody>
          <a:bodyPr/>
          <a:p/>
        </p:txBody>
      </p:sp>
      <p:sp>
        <p:nvSpPr>
          <p:cNvPr id="1341" name="" descr="{&quot;isTemplate&quot;:true,&quot;type&quot;:&quot;text&quot;}"/>
          <p:cNvSpPr txBox="1"/>
          <p:nvPr/>
        </p:nvSpPr>
        <p:spPr>
          <a:xfrm rot="0" flipH="0" flipV="0">
            <a:off x="7410450" y="4581525"/>
            <a:ext cx="11144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源码运行</a:t>
            </a:r>
            <a:r>
              <a:rPr lang="en-US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: + tsconfigPaths</a:t>
            </a:r>
            <a:endParaRPr/>
          </a:p>
        </p:txBody>
      </p:sp>
      <p:sp>
        <p:nvSpPr>
          <p:cNvPr id="1342" name=""/>
          <p:cNvSpPr/>
          <p:nvPr/>
        </p:nvSpPr>
        <p:spPr>
          <a:xfrm rot="0" flipH="0" flipV="0">
            <a:off x="8677275" y="4543425"/>
            <a:ext cx="1304925" cy="200025"/>
          </a:xfrm>
          <a:prstGeom prst="roundRect">
            <a:avLst>
              <a:gd name="adj" fmla="val 9524"/>
            </a:avLst>
          </a:prstGeom>
          <a:solidFill>
            <a:srgbClr val="E8EEF9">
              <a:alpha val="5000"/>
            </a:srgbClr>
          </a:solidFill>
          <a:ln/>
        </p:spPr>
        <p:txBody>
          <a:bodyPr/>
          <a:p/>
        </p:txBody>
      </p:sp>
      <p:sp>
        <p:nvSpPr>
          <p:cNvPr id="1343" name="" descr="{&quot;isTemplate&quot;:true,&quot;type&quot;:&quot;text&quot;}"/>
          <p:cNvSpPr txBox="1"/>
          <p:nvPr/>
        </p:nvSpPr>
        <p:spPr>
          <a:xfrm rot="0" flipH="0" flipV="0">
            <a:off x="8753475" y="4581525"/>
            <a:ext cx="11525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dist </a:t>
            </a:r>
            <a:r>
              <a:rPr lang="zh-CN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安装</a:t>
            </a:r>
            <a:r>
              <a:rPr lang="en-US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: alias </a:t>
            </a:r>
            <a:r>
              <a:rPr lang="zh-CN" sz="788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到同一文件</a:t>
            </a:r>
            <a:endParaRPr/>
          </a:p>
        </p:txBody>
      </p:sp>
      <p:sp>
        <p:nvSpPr>
          <p:cNvPr id="1344" name="" descr="{&quot;isTemplate&quot;:true,&quot;type&quot;:&quot;text&quot;}"/>
          <p:cNvSpPr txBox="1"/>
          <p:nvPr/>
        </p:nvSpPr>
        <p:spPr>
          <a:xfrm rot="0" flipH="0" flipV="0">
            <a:off x="5810250" y="5248275"/>
            <a:ext cx="56959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代价：注入粒度从实例升到模块，时机从构造提前到</a:t>
            </a:r>
            <a:r>
              <a:rPr lang="en-US" sz="863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863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解析。</a:t>
            </a:r>
            <a:endParaRPr/>
          </a:p>
        </p:txBody>
      </p:sp>
      <p:sp>
        <p:nvSpPr>
          <p:cNvPr id="1345" name=""/>
          <p:cNvSpPr/>
          <p:nvPr/>
        </p:nvSpPr>
        <p:spPr>
          <a:xfrm rot="0" flipH="0" flipV="0">
            <a:off x="685800" y="5524500"/>
            <a:ext cx="10820400" cy="495300"/>
          </a:xfrm>
          <a:prstGeom prst="roundRect">
            <a:avLst>
              <a:gd name="adj" fmla="val 769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46" name="" descr="{&quot;isTemplate&quot;:true,&quot;type&quot;:&quot;text&quot;}"/>
          <p:cNvSpPr txBox="1"/>
          <p:nvPr/>
        </p:nvSpPr>
        <p:spPr>
          <a:xfrm rot="0" flipH="0" flipV="0">
            <a:off x="857250" y="5695950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要点</a:t>
            </a:r>
            <a:endParaRPr/>
          </a:p>
        </p:txBody>
      </p:sp>
      <p:sp>
        <p:nvSpPr>
          <p:cNvPr id="1347" name="" descr="{&quot;isTemplate&quot;:true,&quot;type&quot;:&quot;text&quot;}"/>
          <p:cNvSpPr txBox="1"/>
          <p:nvPr/>
        </p:nvSpPr>
        <p:spPr>
          <a:xfrm rot="0" flipH="0" flipV="0">
            <a:off x="1276350" y="5648325"/>
            <a:ext cx="10058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插件与宿主要共享的不是「同一个版本号」，而是</a:t>
            </a:r>
            <a:r>
              <a:rPr lang="zh-CN" sz="1125">
                <a:solidFill>
                  <a:srgbClr val="2AD4EE"/>
                </a:solidFill>
                <a:latin typeface="Source Han Sans SC"/>
                <a:ea typeface="Source Han Sans SC"/>
              </a:rPr>
              <a:t>同一个对象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——否则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instanceof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失效、拦截静默丢失。</a:t>
            </a:r>
            <a:endParaRPr/>
          </a:p>
        </p:txBody>
      </p:sp>
      <p:sp>
        <p:nvSpPr>
          <p:cNvPr id="1348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349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34 / 46</a:t>
            </a:r>
            <a:endParaRPr/>
          </a:p>
        </p:txBody>
      </p:sp>
      <p:sp>
        <p:nvSpPr>
          <p:cNvPr id="1350" name=""/>
          <p:cNvSpPr/>
          <p:nvPr/>
        </p:nvSpPr>
        <p:spPr>
          <a:xfrm rot="0" flipH="0" flipV="0">
            <a:off x="685800" y="1304925"/>
            <a:ext cx="4638675" cy="1619250"/>
          </a:xfrm>
          <a:prstGeom prst="roundRect">
            <a:avLst>
              <a:gd name="adj" fmla="val 4706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1351" name=""/>
          <p:cNvSpPr txBox="1"/>
          <p:nvPr/>
        </p:nvSpPr>
        <p:spPr>
          <a:xfrm rot="0" flipH="0" flipV="0">
            <a:off x="838200" y="1438275"/>
            <a:ext cx="4333875" cy="1352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default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function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00">
                <a:solidFill>
                  <a:srgbClr val="FFAB70"/>
                </a:solidFill>
                <a:latin typeface="Menlo"/>
                <a:ea typeface="Menlo"/>
              </a:rPr>
              <a:t>pi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ExtensionAPI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pi.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on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"tool_call"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async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00">
                <a:solidFill>
                  <a:srgbClr val="FFAB70"/>
                </a:solidFill>
                <a:latin typeface="Menlo"/>
                <a:ea typeface="Menlo"/>
              </a:rPr>
              <a:t>e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)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=&gt;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isDangerous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(e))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{ block: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true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, reason: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"blocked"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};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});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pi.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registerTool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({ name: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"my_tool"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...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});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pi.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registerCommand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"mycommand"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{ handler });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  <p:sp>
        <p:nvSpPr>
          <p:cNvPr id="1352" name=""/>
          <p:cNvSpPr/>
          <p:nvPr/>
        </p:nvSpPr>
        <p:spPr>
          <a:xfrm rot="0" flipH="0" flipV="0">
            <a:off x="5810250" y="2952750"/>
            <a:ext cx="5695950" cy="1504950"/>
          </a:xfrm>
          <a:prstGeom prst="roundRect">
            <a:avLst>
              <a:gd name="adj" fmla="val 5063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1353" name=""/>
          <p:cNvSpPr txBox="1"/>
          <p:nvPr/>
        </p:nvSpPr>
        <p:spPr>
          <a:xfrm rot="0" flipH="0" flipV="0">
            <a:off x="5962650" y="3086100"/>
            <a:ext cx="5391150" cy="1238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825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825">
                <a:solidFill>
                  <a:srgbClr val="79B8FF"/>
                </a:solidFill>
                <a:latin typeface="Menlo"/>
                <a:ea typeface="Menlo"/>
              </a:rPr>
              <a:t>VIRTUAL_MODULES</a:t>
            </a: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825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 xml:space="preserve"> {</a:t>
            </a:r>
            <a:endParaRPr/>
          </a:p>
          <a:p>
            <a:pPr>
              <a:lnSpc>
                <a:spcPct val="140000"/>
              </a:lnSpc>
            </a:pP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 xml:space="preserve">  typebox:                       bundledTypebox,</a:t>
            </a:r>
            <a:endParaRPr/>
          </a:p>
          <a:p>
            <a:pPr>
              <a:lnSpc>
                <a:spcPct val="140000"/>
              </a:lnSpc>
            </a:pP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825">
                <a:solidFill>
                  <a:srgbClr val="9ECBFF"/>
                </a:solidFill>
                <a:latin typeface="Menlo"/>
                <a:ea typeface="Menlo"/>
              </a:rPr>
              <a:t>"@earendil-works/pi-ai"</a:t>
            </a: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>:       bundledPiAiCompat,</a:t>
            </a:r>
            <a:endParaRPr/>
          </a:p>
          <a:p>
            <a:pPr>
              <a:lnSpc>
                <a:spcPct val="140000"/>
              </a:lnSpc>
            </a:pP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825">
                <a:solidFill>
                  <a:srgbClr val="9ECBFF"/>
                </a:solidFill>
                <a:latin typeface="Menlo"/>
                <a:ea typeface="Menlo"/>
              </a:rPr>
              <a:t>"@earendil-works/pi-agent-core"</a:t>
            </a: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>: bundledPiAgentCore,</a:t>
            </a:r>
            <a:endParaRPr/>
          </a:p>
          <a:p>
            <a:pPr>
              <a:lnSpc>
                <a:spcPct val="140000"/>
              </a:lnSpc>
            </a:pP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825">
                <a:solidFill>
                  <a:srgbClr val="9ECBFF"/>
                </a:solidFill>
                <a:latin typeface="Menlo"/>
                <a:ea typeface="Menlo"/>
              </a:rPr>
              <a:t>"@earendil-works/pi-coding-agent"</a:t>
            </a: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>: bundledPiCodingAgent,</a:t>
            </a:r>
            <a:endParaRPr/>
          </a:p>
          <a:p>
            <a:pPr>
              <a:lnSpc>
                <a:spcPct val="140000"/>
              </a:lnSpc>
            </a:pPr>
            <a:r>
              <a:rPr sz="825">
                <a:solidFill>
                  <a:srgbClr val="E1E4E8"/>
                </a:solidFill>
                <a:latin typeface="Menlo"/>
                <a:ea typeface="Menlo"/>
              </a:rPr>
              <a:t>};</a:t>
            </a:r>
            <a:endParaRPr/>
          </a:p>
          <a:p>
            <a:pPr>
              <a:lnSpc>
                <a:spcPct val="140000"/>
              </a:lnSpc>
            </a:pPr>
            <a:r>
              <a:rPr sz="825">
                <a:solidFill>
                  <a:srgbClr val="6A737D"/>
                </a:solidFill>
                <a:latin typeface="Menlo"/>
                <a:ea typeface="Menlo"/>
              </a:rPr>
              <a:t>// jiti 解析 import 先查这张表，命中就不碰磁盘</a:t>
            </a:r>
            <a:endParaRPr/>
          </a:p>
        </p:txBody>
      </p:sp>
    </p:spTree>
  </p:cSld>
</p:sld>
</file>

<file path=ppt/slides/slide35.xml><?xml version="1.0" encoding="utf-8"?>
<p:sld xmlns:p="http://schemas.openxmlformats.org/presentationml/2006/main" xmlns:a="http://schemas.openxmlformats.org/drawingml/2006/main">
  <p:cSld>
    <p:spTree>
      <p:nvGrpSpPr>
        <p:cNvPr id="1354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Box style={{ flexDirection: 'row', alignItems: 'center', gap: 12 }}&gt;&#13;&#10;                &lt;Text style={{ fontSize: 13, color: '#2AD4EE', letterSpacing: 3, fontFamily: '&quot;JetBrains Mono&quot;, &quot;Cascadia Mono&quot;, Consolas, monospace' }}&gt;DESIGN POINT 07&lt;/Text&gt;&#13;&#10;                &lt;Text style={{ fontSize: 13, color: 'rgba(232,238,249,0.38)', letterSpacing: 2, fontFamily: '&quot;JetBrains Mono&quot;, &quot;Cascadia Mono&quot;, Consolas, monospace' }}&gt;· 对应 ⑦ 运营层&lt;/Text&gt;&#13;&#10;            &lt;/Box&gt;&#13;&#10;            &lt;Text style={{ marginTop: 6, fontSize: 34, fontWeight: 'bold', color: '#E8EEF9' }}&gt;事件系统：两套事件，四档粒度&lt;/Text&gt;&#13;&#10;        &lt;/Box&gt;&#13;&#10;    &lt;/Box&gt;&#13;&#10;&#13;&#10;    {/* B 区 */}&#13;&#10;    &lt;Box style={{ height: 516, flexDirection: 'column' }}&gt;&#13;&#10;        &lt;Box style={{ height: 452, flexDirection: 'row', gap: 26 }}&gt;&#13;&#10;&#13;&#10;            {/* 左：四档 */}&#13;&#10;            &lt;Box style={{ width: 620, flexDirection: 'column', paddingRight: 24, borderRight: '1px solid rgba(232,238,249,0.12)' }}&gt;&#13;&#10;                &lt;Box style={{ flexDirection: 'row', alignItems: 'baseline', justifyContent: 'space-between' }}&gt;&#13;&#10;                    &lt;Text style={{ fontSize: 14, color: '#2AD4EE', letterSpacing: 2.5, fontFamily: '&quot;JetBrains Mono&quot;, &quot;Cascadia Mono&quot;, Consolas, monospace' }}&gt;AgentEvent · 10 种&lt;/Text&gt;&#13;&#10;                    &lt;Text style={{ fontSize: 12, color: 'rgba(232,238,249,0.42)' }}&gt;pi-agent-core 的稳定契约&lt;/Text&gt;&#13;&#10;                &lt;/Box&gt;&#13;&#10;&#13;&#10;                &lt;Box style={{ marginTop: 10, flex: 1, flexDirection: 'column', justifyContent: 'space-between' }}&gt;&#13;&#10;                    {[&#13;&#10;                        { tag: 'RUN', d: '一次任务的首尾', list: ['agent_start', 'agent_end'] },&#13;&#10;                        { tag: 'TURN', d: '每一轮的首尾', list: ['turn_start', 'turn_end'] },&#13;&#10;                        { tag: 'MESSAGE', d: '一条助手消息 · 流式最小粒度', list: ['message_start', 'message_update', 'message_end'] },&#13;&#10;                        { tag: 'EXECUTION', d: '每个工具调用 · 成败都发', list: ['tool_execution_start', 'tool_execution_update', 'tool_execution_end'] },&#13;&#10;                    ].map((r, i) =&gt; (&#13;&#10;                        &lt;Box key={i} style={{ flexDirection: 'row', alignItems: 'center', paddingTop: 10, paddingBottom: 10, borderTop: '1px solid rgba(232,238,249,0.09)' }}&gt;&#13;&#10;                            &lt;Box style={{ width: 116, flexDirection: 'column' }}&gt;&#13;&#10;                                &lt;Text style={{ fontSize: 12.5, color: '#2AD4EE', fontFamily: '&quot;JetBrains Mono&quot;, &quot;Cascadia Mono&quot;, Consolas, monospace' }}&gt;{r.tag}&lt;/Text&gt;&#13;&#10;                                &lt;Text style={{ marginTop: 2, fontSize: 10.5, color: 'rgba(232,238,249,0.38)' }}&gt;{r.list.length} 种&lt;/Text&gt;&#13;&#10;                            &lt;/Box&gt;&#13;&#10;                            &lt;Box style={{ flex: 1, flexDirection: 'column', gap: 4 }}&gt;&#13;&#10;                                {r.list.map((e, j) =&gt; (&#13;&#10;                                    &lt;Text key={j} style={{ fontSize: 11.5, color: '#E8EEF9', fontFamily: '&quot;JetBrains Mono&quot;, &quot;Cascadia Mono&quot;, Consolas, monospace' }}&gt;{e}&lt;/Text&gt;&#13;&#10;                                ))}&#13;&#10;                            &lt;/Box&gt;&#13;&#10;                            &lt;Text style={{ width: 178, fontSize: 11.5, color: 'rgba(232,238,249,0.50)', textAlign: 'right', lineHeight: 1.45 }}&gt;{r.d}&lt;/Text&gt;&#13;&#10;                        &lt;/Box&gt;&#13;&#10;                    ))}&#13;&#10;                &lt;/Box&gt;&#13;&#10;&#13;&#10;                &lt;Box style={{ paddingTop: 10, paddingBottom: 10, paddingLeft: 12, paddingRight: 12, background: 'rgba(22,35,61,0.62)', border: '1px solid rgba(232,238,249,0.08)', borderRadius: 3 }}&gt;&#13;&#10;                    &lt;Text style={{ fontSize: 11.5, color: 'rgba(232,238,249,0.62)', lineHeight: 1.55 }}&gt;&#13;&#10;                        &lt;span style={{ color: '#2AD4EE' }}&gt;产品层再叠一层：&lt;/span&gt;&#13;&#10;                        queue_update · compaction_start / end · auto_retry_start / end · agent_settled · entry_appended · session_info_changed&#13;&#10;                    &lt;/Text&gt;&#13;&#10;                &lt;/Box&gt;&#13;&#10;            &lt;/Box&gt;&#13;&#10;&#13;&#10;            {/* 右：两套事件的关系 */}&#13;&#10;            &lt;Box style={{ flex: 1, flexDirection: 'column' }}&gt;&#13;&#10;                &lt;Text style={{ fontSize: 14, color: '#2AD4EE', letterSpacing: 2.5, fontFamily: '&quot;JetBrains Mono&quot;, &quot;Cascadia Mono&quot;, Consolas, monospace' }}&gt;原料流 vs 产品流&lt;/Text&gt;&#13;&#10;&#13;&#10;                &lt;Box style={{ marginTop: 10, flexDirection: 'column', gap: 6 }}&gt;&#13;&#10;                    {[&#13;&#10;                        ['{ type: &quot;start&quot; }', 'message_start'],&#13;&#10;                        ['{ type: &quot;text_delta&quot; }', 'message_update  { assistantMessageEvent: ↑ }'],&#13;&#10;                        ['{ type: &quot;toolcall_delta&quot; }', 'message_update  { assistantMessageEvent: ↑ }'],&#13;&#10;                        ['{ type: &quot;done&quot; }', 'message_end'],&#13;&#10;                    ].map((r, i) =&gt; (&#13;&#10;                        &lt;Box key={i} style={{ flexDirection: 'row', alignItems: 'center', gap: 8 }}&gt;&#13;&#10;                            &lt;Text style={{ flex: 1, fontSize: 11, color: 'rgba(232,238,249,0.60)', fontFamily: '&quot;JetBrains Mono&quot;, &quot;Cascadia Mono&quot;, Consolas, monospace' }}&gt;{r[0]}&lt;/Text&gt;&#13;&#10;                            &lt;Text style={{ fontSize: 12, color: 'rgba(42,212,238,0.55)' }}&gt;→&lt;/Text&gt;&#13;&#10;                            &lt;Text style={{ flex: 1.15, fontSize: 11, color: '#2AD4EE', fontFamily: '&quot;JetBrains Mono&quot;, &quot;Cascadia Mono&quot;, Consolas, monospace' }}&gt;{r[1]}&lt;/Text&gt;&#13;&#10;                        &lt;/Box&gt;&#13;&#10;                    ))}&#13;&#10;                &lt;/Box&gt;&#13;&#10;&#13;&#10;                &lt;Text style={{ marginTop: 8, fontSize: 11.5, color: 'rgba(232,238,249,0.48)', lineHeight: 1.55 }}&gt;&#13;&#10;                    左侧是 pi-ai 的 AssistantMessageEvent（一条消息一份），右侧是 AgentEvent（一个 run 一份）。message_* 三件套只是它的信封，agent 层不改写内容。&#13;&#10;                &lt;/Text&gt;&#13;&#10;&#13;&#10;                &lt;Text style={{ marginTop: 12, fontSize: 13, color: 'rgba(232,238,249,0.46)' }}&gt;一个广播，六个订阅者&lt;/Text&gt;&#13;&#10;                &lt;Box style={{ marginTop: 7, flexDirection: 'row', gap: 6, flexWrap: 'wrap' }}&gt;&#13;&#10;                    {['TUI 逐字渲染', 'RPC 转发 delta', '扩展拦截', '会话落盘', '成本记账', '服务器快照'].map((t, i) =&gt; (&#13;&#10;                        &lt;Box key={i} style={{ paddingTop: 4, paddingBottom: 4, paddingLeft: 8, paddingRight: 8, background: 'rgba(42,212,238,0.08)', border: '1px solid rgba(42,212,238,0.18)', borderRadius: 2 }}&gt;&#13;&#10;                            &lt;Text style={{ fontSize: 10.5, color: 'rgba(232,238,249,0.74)' }}&gt;{t}&lt;/Text&gt;&#13;&#10;                        &lt;/Box&gt;&#13;&#10;                    ))}&#13;&#10;                &lt;/Box&gt;&#13;&#10;&#13;&#10;                &lt;Box style={{ marginTop: 10, paddingTop: 9, paddingBottom: 9, paddingLeft: 12, paddingRight: 12, background: 'rgba(22,35,61,0.62)', border: '1px solid rgba(42,212,238,0.16)', borderRadius: 3 }}&gt;&#13;&#10;                    &lt;Text style={{ fontSize: 11.5, color: '#2AD4EE', fontWeight: 'bold' }}&gt;钩子不是事件&lt;/Text&gt;&#13;&#10;                    &lt;Box style={{ marginTop: 6, flexDirection: 'column', gap: 5 }}&gt;&#13;&#10;                        &lt;Box style={{ flexDirection: 'row', gap: 8 }}&gt;&#13;&#10;                            &lt;Text style={{ width: 48, fontSize: 10.5, color: 'rgba(232,238,249,0.44)' }}&gt;事件&lt;/Text&gt;&#13;&#10;                            &lt;Text style={{ flex: 1, fontSize: 11, color: 'rgba(232,238,249,0.68)' }}&gt;fire-and-forget，发完继续走 —— 给旁观者&lt;/Text&gt;&#13;&#10;                        &lt;/Box&gt;&#13;&#10;                        &lt;Box style={{ flexDirection: 'row', gap: 8 }}&gt;&#13;&#10;                            &lt;Text style={{ width: 48, fontSize: 10.5, color: 'rgba(232,238,249,0.44)' }}&gt;钩子&lt;/Text&gt;&#13;&#10;                            &lt;Text style={{ flex: 1, fontSize: 11, color: 'rgba(232,238,249,0.68)' }}&gt;循环停下来 await 返回值 —— 给参与者&lt;/Text&gt;&#13;&#10;                        &lt;/Box&gt;&#13;&#10;                    &lt;/Box&gt;&#13;&#10;                &lt;/Box&gt;&#13;&#10;&#13;&#10;                &lt;Box style={{ marginTop: 'auto', paddingTop: 9, paddingBottom: 9, paddingLeft: 12, paddingRight: 12, borderLeft: '3px solid rgba(255,180,120,0.55)', background: 'rgba(255,180,120,0.05)' }}&gt;&#13;&#10;                    &lt;Text style={{ fontSize: 11.5, color: 'rgba(232,238,249,0.70)', lineHeight: 1.55 }}&gt;&#13;&#10;                        两个容易混的点：toolcall_delta 是「模型在输出参数」，tool_execution_* 是「框架真的在执行」，两者没有对应关系；钩子是「停下等返回值」，事件是 fire-and-forget。&#13;&#10;                    &lt;/Text&gt;&#13;&#10;                &lt;/Box&gt;&#13;&#10;            &lt;/Box&gt;&#13;&#10;        &lt;/Box&gt;&#13;&#10;&#13;&#10;        {/* 底部 */}&#13;&#10;        &lt;Box style={{ height: 52, marginTop: 8, flexDirection: 'row', alignItems: 'center', gap: 14, paddingLeft: 18, paddingRight: 18, background: 'rgba(42,212,238,0.08)', border: '1px solid rgba(42,212,238,0.22)', borderRadius: 4 }}&gt;&#13;&#10;            &lt;Text style={{ fontSize: 13, color: '#2AD4EE', letterSpacing: 2, fontFamily: '&quot;JetBrains Mono&quot;, &quot;Cascadia Mono&quot;, Consolas, monospace' }}&gt;所以&lt;/Text&gt;&#13;&#10;            &lt;Text style={{ flex: 1, fontSize: 15, color: '#E8EEF9', lineHeight: 1.5 }}&gt;&#13;&#10;                内核不认识任何一个消费者。加一个功能不用改循环——可观测、拦截、记账，都是「订阅」而不是「埋点」。&#13;&#10;            &lt;/Text&gt;&#13;&#10;        &lt;/Box&gt;&#13;&#10;    &lt;/Box&gt;&#13;&#10;&#13;&#10;    {/* C 区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35 / 4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35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35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07</a:t>
            </a:r>
            <a:endParaRPr/>
          </a:p>
        </p:txBody>
      </p:sp>
      <p:sp>
        <p:nvSpPr>
          <p:cNvPr id="1358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⑦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运营层</a:t>
            </a:r>
            <a:endParaRPr/>
          </a:p>
        </p:txBody>
      </p:sp>
      <p:sp>
        <p:nvSpPr>
          <p:cNvPr id="1359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事件系统：两套事件，四档粒度</a:t>
            </a:r>
            <a:endParaRPr/>
          </a:p>
        </p:txBody>
      </p:sp>
      <p:sp>
        <p:nvSpPr>
          <p:cNvPr id="1360" name=""/>
          <p:cNvSpPr/>
          <p:nvPr/>
        </p:nvSpPr>
        <p:spPr>
          <a:xfrm rot="0" flipH="0" flipV="0">
            <a:off x="685800" y="1143000"/>
            <a:ext cx="5905500" cy="4305300"/>
          </a:xfrm>
          <a:custGeom>
            <a:pathLst>
              <a:path w="620" h="452">
                <a:moveTo>
                  <a:pt x="619" y="0"/>
                </a:moveTo>
                <a:lnTo>
                  <a:pt x="620" y="0"/>
                </a:lnTo>
                <a:lnTo>
                  <a:pt x="620" y="452"/>
                </a:lnTo>
                <a:lnTo>
                  <a:pt x="619" y="45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36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79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AgentEvent · 10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种</a:t>
            </a:r>
            <a:endParaRPr/>
          </a:p>
        </p:txBody>
      </p:sp>
      <p:sp>
        <p:nvSpPr>
          <p:cNvPr id="1362" name="" descr="{&quot;isTemplate&quot;:true,&quot;type&quot;:&quot;text&quot;}"/>
          <p:cNvSpPr txBox="1"/>
          <p:nvPr/>
        </p:nvSpPr>
        <p:spPr>
          <a:xfrm rot="0" flipH="0" flipV="0">
            <a:off x="5076825" y="1143000"/>
            <a:ext cx="1276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pi-agent-core </a:t>
            </a:r>
            <a:r>
              <a:rPr lang="zh-CN" sz="9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的稳定契约</a:t>
            </a:r>
            <a:endParaRPr/>
          </a:p>
        </p:txBody>
      </p:sp>
      <p:sp>
        <p:nvSpPr>
          <p:cNvPr id="1363" name=""/>
          <p:cNvSpPr/>
          <p:nvPr/>
        </p:nvSpPr>
        <p:spPr>
          <a:xfrm rot="0" flipH="0" flipV="0">
            <a:off x="685800" y="1400175"/>
            <a:ext cx="5667375" cy="514350"/>
          </a:xfrm>
          <a:custGeom>
            <a:pathLst>
              <a:path w="595" h="54">
                <a:moveTo>
                  <a:pt x="0" y="0"/>
                </a:moveTo>
                <a:lnTo>
                  <a:pt x="595" y="0"/>
                </a:lnTo>
                <a:lnTo>
                  <a:pt x="59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9000"/>
            </a:srgbClr>
          </a:solidFill>
          <a:ln/>
        </p:spPr>
        <p:txBody>
          <a:bodyPr/>
          <a:p/>
        </p:txBody>
      </p:sp>
      <p:sp>
        <p:nvSpPr>
          <p:cNvPr id="1364" name="" descr="{&quot;isTemplate&quot;:true,&quot;type&quot;:&quot;text&quot;}"/>
          <p:cNvSpPr txBox="1"/>
          <p:nvPr/>
        </p:nvSpPr>
        <p:spPr>
          <a:xfrm rot="0" flipH="0" flipV="0">
            <a:off x="685800" y="1514475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RUN</a:t>
            </a:r>
            <a:endParaRPr/>
          </a:p>
        </p:txBody>
      </p:sp>
      <p:sp>
        <p:nvSpPr>
          <p:cNvPr id="1365" name="" descr="{&quot;isTemplate&quot;:true,&quot;type&quot;:&quot;text&quot;}"/>
          <p:cNvSpPr txBox="1"/>
          <p:nvPr/>
        </p:nvSpPr>
        <p:spPr>
          <a:xfrm rot="0" flipH="0" flipV="0">
            <a:off x="685800" y="1676400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2</a:t>
            </a: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种</a:t>
            </a:r>
            <a:endParaRPr/>
          </a:p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1790700" y="1504950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agent_start</a:t>
            </a:r>
            <a:endParaRPr/>
          </a:p>
        </p:txBody>
      </p:sp>
      <p:sp>
        <p:nvSpPr>
          <p:cNvPr id="1367" name="" descr="{&quot;isTemplate&quot;:true,&quot;type&quot;:&quot;text&quot;}"/>
          <p:cNvSpPr txBox="1"/>
          <p:nvPr/>
        </p:nvSpPr>
        <p:spPr>
          <a:xfrm rot="0" flipH="0" flipV="0">
            <a:off x="1790700" y="1676400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agent_end</a:t>
            </a:r>
            <a:endParaRPr/>
          </a:p>
        </p:txBody>
      </p:sp>
      <p:sp>
        <p:nvSpPr>
          <p:cNvPr id="1368" name="" descr="{&quot;isTemplate&quot;:true,&quot;type&quot;:&quot;text&quot;}"/>
          <p:cNvSpPr txBox="1"/>
          <p:nvPr/>
        </p:nvSpPr>
        <p:spPr>
          <a:xfrm rot="0" flipH="0" flipV="0">
            <a:off x="4657725" y="1562100"/>
            <a:ext cx="16954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45000"/>
              </a:lnSpc>
            </a:pP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一次任务的首尾</a:t>
            </a:r>
            <a:endParaRPr/>
          </a:p>
        </p:txBody>
      </p:sp>
      <p:sp>
        <p:nvSpPr>
          <p:cNvPr id="1369" name=""/>
          <p:cNvSpPr/>
          <p:nvPr/>
        </p:nvSpPr>
        <p:spPr>
          <a:xfrm rot="0" flipH="0" flipV="0">
            <a:off x="685800" y="2266950"/>
            <a:ext cx="5667375" cy="514350"/>
          </a:xfrm>
          <a:custGeom>
            <a:pathLst>
              <a:path w="595" h="54">
                <a:moveTo>
                  <a:pt x="0" y="0"/>
                </a:moveTo>
                <a:lnTo>
                  <a:pt x="595" y="0"/>
                </a:lnTo>
                <a:lnTo>
                  <a:pt x="59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9000"/>
            </a:srgbClr>
          </a:solidFill>
          <a:ln/>
        </p:spPr>
        <p:txBody>
          <a:bodyPr/>
          <a:p/>
        </p:txBody>
      </p:sp>
      <p:sp>
        <p:nvSpPr>
          <p:cNvPr id="1370" name="" descr="{&quot;isTemplate&quot;:true,&quot;type&quot;:&quot;text&quot;}"/>
          <p:cNvSpPr txBox="1"/>
          <p:nvPr/>
        </p:nvSpPr>
        <p:spPr>
          <a:xfrm rot="0" flipH="0" flipV="0">
            <a:off x="685800" y="2381250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TURN</a:t>
            </a:r>
            <a:endParaRPr/>
          </a:p>
        </p:txBody>
      </p:sp>
      <p:sp>
        <p:nvSpPr>
          <p:cNvPr id="1371" name="" descr="{&quot;isTemplate&quot;:true,&quot;type&quot;:&quot;text&quot;}"/>
          <p:cNvSpPr txBox="1"/>
          <p:nvPr/>
        </p:nvSpPr>
        <p:spPr>
          <a:xfrm rot="0" flipH="0" flipV="0">
            <a:off x="685800" y="2543175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2</a:t>
            </a: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种</a:t>
            </a:r>
            <a:endParaRPr/>
          </a:p>
        </p:txBody>
      </p:sp>
      <p:sp>
        <p:nvSpPr>
          <p:cNvPr id="1372" name="" descr="{&quot;isTemplate&quot;:true,&quot;type&quot;:&quot;text&quot;}"/>
          <p:cNvSpPr txBox="1"/>
          <p:nvPr/>
        </p:nvSpPr>
        <p:spPr>
          <a:xfrm rot="0" flipH="0" flipV="0">
            <a:off x="1790700" y="2371725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turn_start</a:t>
            </a:r>
            <a:endParaRPr/>
          </a:p>
        </p:txBody>
      </p:sp>
      <p:sp>
        <p:nvSpPr>
          <p:cNvPr id="1373" name="" descr="{&quot;isTemplate&quot;:true,&quot;type&quot;:&quot;text&quot;}"/>
          <p:cNvSpPr txBox="1"/>
          <p:nvPr/>
        </p:nvSpPr>
        <p:spPr>
          <a:xfrm rot="0" flipH="0" flipV="0">
            <a:off x="1790700" y="2543175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turn_end</a:t>
            </a:r>
            <a:endParaRPr/>
          </a:p>
        </p:txBody>
      </p:sp>
      <p:sp>
        <p:nvSpPr>
          <p:cNvPr id="1374" name="" descr="{&quot;isTemplate&quot;:true,&quot;type&quot;:&quot;text&quot;}"/>
          <p:cNvSpPr txBox="1"/>
          <p:nvPr/>
        </p:nvSpPr>
        <p:spPr>
          <a:xfrm rot="0" flipH="0" flipV="0">
            <a:off x="4657725" y="2428875"/>
            <a:ext cx="16954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45000"/>
              </a:lnSpc>
            </a:pP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每一轮的首尾</a:t>
            </a:r>
            <a:endParaRPr/>
          </a:p>
        </p:txBody>
      </p:sp>
      <p:sp>
        <p:nvSpPr>
          <p:cNvPr id="1375" name=""/>
          <p:cNvSpPr/>
          <p:nvPr/>
        </p:nvSpPr>
        <p:spPr>
          <a:xfrm rot="0" flipH="0" flipV="0">
            <a:off x="685800" y="3133725"/>
            <a:ext cx="5667375" cy="685800"/>
          </a:xfrm>
          <a:custGeom>
            <a:pathLst>
              <a:path w="595" h="72">
                <a:moveTo>
                  <a:pt x="0" y="0"/>
                </a:moveTo>
                <a:lnTo>
                  <a:pt x="595" y="0"/>
                </a:lnTo>
                <a:lnTo>
                  <a:pt x="59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9000"/>
            </a:srgbClr>
          </a:solidFill>
          <a:ln/>
        </p:spPr>
        <p:txBody>
          <a:bodyPr/>
          <a:p/>
        </p:txBody>
      </p:sp>
      <p:sp>
        <p:nvSpPr>
          <p:cNvPr id="1376" name="" descr="{&quot;isTemplate&quot;:true,&quot;type&quot;:&quot;text&quot;}"/>
          <p:cNvSpPr txBox="1"/>
          <p:nvPr/>
        </p:nvSpPr>
        <p:spPr>
          <a:xfrm rot="0" flipH="0" flipV="0">
            <a:off x="685800" y="3333750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MESSAGE</a:t>
            </a:r>
            <a:endParaRPr/>
          </a:p>
        </p:txBody>
      </p:sp>
      <p:sp>
        <p:nvSpPr>
          <p:cNvPr id="1377" name="" descr="{&quot;isTemplate&quot;:true,&quot;type&quot;:&quot;text&quot;}"/>
          <p:cNvSpPr txBox="1"/>
          <p:nvPr/>
        </p:nvSpPr>
        <p:spPr>
          <a:xfrm rot="0" flipH="0" flipV="0">
            <a:off x="685800" y="3495675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3</a:t>
            </a: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种</a:t>
            </a:r>
            <a:endParaRPr/>
          </a:p>
        </p:txBody>
      </p:sp>
      <p:sp>
        <p:nvSpPr>
          <p:cNvPr id="1378" name="" descr="{&quot;isTemplate&quot;:true,&quot;type&quot;:&quot;text&quot;}"/>
          <p:cNvSpPr txBox="1"/>
          <p:nvPr/>
        </p:nvSpPr>
        <p:spPr>
          <a:xfrm rot="0" flipH="0" flipV="0">
            <a:off x="1790700" y="3238500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message_start</a:t>
            </a:r>
            <a:endParaRPr/>
          </a:p>
        </p:txBody>
      </p:sp>
      <p:sp>
        <p:nvSpPr>
          <p:cNvPr id="1379" name="" descr="{&quot;isTemplate&quot;:true,&quot;type&quot;:&quot;text&quot;}"/>
          <p:cNvSpPr txBox="1"/>
          <p:nvPr/>
        </p:nvSpPr>
        <p:spPr>
          <a:xfrm rot="0" flipH="0" flipV="0">
            <a:off x="1790700" y="3409950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message_update</a:t>
            </a:r>
            <a:endParaRPr/>
          </a:p>
        </p:txBody>
      </p:sp>
      <p:sp>
        <p:nvSpPr>
          <p:cNvPr id="1380" name="" descr="{&quot;isTemplate&quot;:true,&quot;type&quot;:&quot;text&quot;}"/>
          <p:cNvSpPr txBox="1"/>
          <p:nvPr/>
        </p:nvSpPr>
        <p:spPr>
          <a:xfrm rot="0" flipH="0" flipV="0">
            <a:off x="1790700" y="3581400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message_end</a:t>
            </a:r>
            <a:endParaRPr/>
          </a:p>
        </p:txBody>
      </p:sp>
      <p:sp>
        <p:nvSpPr>
          <p:cNvPr id="1381" name="" descr="{&quot;isTemplate&quot;:true,&quot;type&quot;:&quot;text&quot;}"/>
          <p:cNvSpPr txBox="1"/>
          <p:nvPr/>
        </p:nvSpPr>
        <p:spPr>
          <a:xfrm rot="0" flipH="0" flipV="0">
            <a:off x="4657725" y="3381375"/>
            <a:ext cx="16954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45000"/>
              </a:lnSpc>
            </a:pP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一条助手消息</a:t>
            </a:r>
            <a:r>
              <a:rPr lang="en-US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流式最小粒度</a:t>
            </a:r>
            <a:endParaRPr/>
          </a:p>
        </p:txBody>
      </p:sp>
      <p:sp>
        <p:nvSpPr>
          <p:cNvPr id="1382" name=""/>
          <p:cNvSpPr/>
          <p:nvPr/>
        </p:nvSpPr>
        <p:spPr>
          <a:xfrm rot="0" flipH="0" flipV="0">
            <a:off x="685800" y="4171950"/>
            <a:ext cx="5667375" cy="685800"/>
          </a:xfrm>
          <a:custGeom>
            <a:pathLst>
              <a:path w="595" h="72">
                <a:moveTo>
                  <a:pt x="0" y="0"/>
                </a:moveTo>
                <a:lnTo>
                  <a:pt x="595" y="0"/>
                </a:lnTo>
                <a:lnTo>
                  <a:pt x="595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9000"/>
            </a:srgbClr>
          </a:solidFill>
          <a:ln/>
        </p:spPr>
        <p:txBody>
          <a:bodyPr/>
          <a:p/>
        </p:txBody>
      </p:sp>
      <p:sp>
        <p:nvSpPr>
          <p:cNvPr id="1383" name="" descr="{&quot;isTemplate&quot;:true,&quot;type&quot;:&quot;text&quot;}"/>
          <p:cNvSpPr txBox="1"/>
          <p:nvPr/>
        </p:nvSpPr>
        <p:spPr>
          <a:xfrm rot="0" flipH="0" flipV="0">
            <a:off x="685800" y="4371975"/>
            <a:ext cx="1104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EXECUTION</a:t>
            </a:r>
            <a:endParaRPr/>
          </a:p>
        </p:txBody>
      </p:sp>
      <p:sp>
        <p:nvSpPr>
          <p:cNvPr id="1384" name="" descr="{&quot;isTemplate&quot;:true,&quot;type&quot;:&quot;text&quot;}"/>
          <p:cNvSpPr txBox="1"/>
          <p:nvPr/>
        </p:nvSpPr>
        <p:spPr>
          <a:xfrm rot="0" flipH="0" flipV="0">
            <a:off x="685800" y="4533900"/>
            <a:ext cx="1104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3</a:t>
            </a:r>
            <a:r>
              <a:rPr lang="en-US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788">
                <a:solidFill>
                  <a:srgbClr val="E8EEF9">
                    <a:alpha val="38000"/>
                  </a:srgbClr>
                </a:solidFill>
                <a:latin typeface="Source Han Sans SC"/>
                <a:ea typeface="Source Han Sans SC"/>
              </a:rPr>
              <a:t>种</a:t>
            </a:r>
            <a:endParaRPr/>
          </a:p>
        </p:txBody>
      </p:sp>
      <p:sp>
        <p:nvSpPr>
          <p:cNvPr id="1385" name="" descr="{&quot;isTemplate&quot;:true,&quot;type&quot;:&quot;text&quot;}"/>
          <p:cNvSpPr txBox="1"/>
          <p:nvPr/>
        </p:nvSpPr>
        <p:spPr>
          <a:xfrm rot="0" flipH="0" flipV="0">
            <a:off x="1790700" y="4276725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tool_execution_start</a:t>
            </a:r>
            <a:endParaRPr/>
          </a:p>
        </p:txBody>
      </p:sp>
      <p:sp>
        <p:nvSpPr>
          <p:cNvPr id="1386" name="" descr="{&quot;isTemplate&quot;:true,&quot;type&quot;:&quot;text&quot;}"/>
          <p:cNvSpPr txBox="1"/>
          <p:nvPr/>
        </p:nvSpPr>
        <p:spPr>
          <a:xfrm rot="0" flipH="0" flipV="0">
            <a:off x="1790700" y="4448175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tool_execution_update</a:t>
            </a:r>
            <a:endParaRPr/>
          </a:p>
        </p:txBody>
      </p:sp>
      <p:sp>
        <p:nvSpPr>
          <p:cNvPr id="1387" name="" descr="{&quot;isTemplate&quot;:true,&quot;type&quot;:&quot;text&quot;}"/>
          <p:cNvSpPr txBox="1"/>
          <p:nvPr/>
        </p:nvSpPr>
        <p:spPr>
          <a:xfrm rot="0" flipH="0" flipV="0">
            <a:off x="1790700" y="4619625"/>
            <a:ext cx="2867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tool_execution_end</a:t>
            </a:r>
            <a:endParaRPr/>
          </a:p>
        </p:txBody>
      </p:sp>
      <p:sp>
        <p:nvSpPr>
          <p:cNvPr id="1388" name="" descr="{&quot;isTemplate&quot;:true,&quot;type&quot;:&quot;text&quot;}"/>
          <p:cNvSpPr txBox="1"/>
          <p:nvPr/>
        </p:nvSpPr>
        <p:spPr>
          <a:xfrm rot="0" flipH="0" flipV="0">
            <a:off x="4657725" y="4419600"/>
            <a:ext cx="1695450" cy="200025"/>
          </a:xfrm>
          <a:prstGeom prst="rect"/>
        </p:spPr>
        <p:txBody>
          <a:bodyPr wrap="none" lIns="0" tIns="0" rIns="0" bIns="0"/>
          <a:p>
            <a:pPr algn="r">
              <a:lnSpc>
                <a:spcPct val="145000"/>
              </a:lnSpc>
            </a:pP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每个工具调用</a:t>
            </a:r>
            <a:r>
              <a:rPr lang="en-US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成败都发</a:t>
            </a:r>
            <a:endParaRPr/>
          </a:p>
        </p:txBody>
      </p:sp>
      <p:sp>
        <p:nvSpPr>
          <p:cNvPr id="1389" name=""/>
          <p:cNvSpPr/>
          <p:nvPr/>
        </p:nvSpPr>
        <p:spPr>
          <a:xfrm rot="0" flipH="0" flipV="0">
            <a:off x="685800" y="4848225"/>
            <a:ext cx="5667375" cy="600075"/>
          </a:xfrm>
          <a:prstGeom prst="roundRect">
            <a:avLst>
              <a:gd name="adj" fmla="val 4762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E8EEF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90" name="" descr="{&quot;isTemplate&quot;:true,&quot;type&quot;:&quot;text&quot;}"/>
          <p:cNvSpPr txBox="1"/>
          <p:nvPr/>
        </p:nvSpPr>
        <p:spPr>
          <a:xfrm rot="0" flipH="0" flipV="0">
            <a:off x="800100" y="4943475"/>
            <a:ext cx="54387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2AD4EE"/>
                </a:solidFill>
                <a:latin typeface="Source Han Sans SC"/>
                <a:ea typeface="Source Han Sans SC"/>
              </a:rPr>
              <a:t>产品层再叠一层：</a:t>
            </a: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queue_update · compaction_start / end · auto_retry_start / end · agent_settled · entry_appended · session_info_changed</a:t>
            </a:r>
            <a:endParaRPr/>
          </a:p>
        </p:txBody>
      </p:sp>
      <p:sp>
        <p:nvSpPr>
          <p:cNvPr id="1391" name="" descr="{&quot;isTemplate&quot;:true,&quot;type&quot;:&quot;text&quot;}"/>
          <p:cNvSpPr txBox="1"/>
          <p:nvPr/>
        </p:nvSpPr>
        <p:spPr>
          <a:xfrm rot="0" flipH="0" flipV="0">
            <a:off x="6838950" y="1143000"/>
            <a:ext cx="4667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原料流</a:t>
            </a: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 vs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产品流</a:t>
            </a:r>
            <a:endParaRPr/>
          </a:p>
        </p:txBody>
      </p:sp>
      <p:sp>
        <p:nvSpPr>
          <p:cNvPr id="1392" name="" descr="{&quot;isTemplate&quot;:true,&quot;type&quot;:&quot;text&quot;}"/>
          <p:cNvSpPr txBox="1"/>
          <p:nvPr/>
        </p:nvSpPr>
        <p:spPr>
          <a:xfrm rot="0" flipH="0" flipV="0">
            <a:off x="6838950" y="1409700"/>
            <a:ext cx="2047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8EEF9">
                    <a:alpha val="60000"/>
                  </a:srgbClr>
                </a:solidFill>
                <a:latin typeface="JetBrains Mono"/>
                <a:ea typeface="JetBrains Mono"/>
              </a:rPr>
              <a:t>{ type: "start" }</a:t>
            </a:r>
            <a:endParaRPr/>
          </a:p>
        </p:txBody>
      </p:sp>
      <p:sp>
        <p:nvSpPr>
          <p:cNvPr id="1393" name="" descr="{&quot;isTemplate&quot;:true,&quot;type&quot;:&quot;text&quot;}"/>
          <p:cNvSpPr txBox="1"/>
          <p:nvPr/>
        </p:nvSpPr>
        <p:spPr>
          <a:xfrm rot="0" flipH="0" flipV="0">
            <a:off x="8963025" y="140017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2AD4EE">
                    <a:alpha val="55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394" name="" descr="{&quot;isTemplate&quot;:true,&quot;type&quot;:&quot;text&quot;}"/>
          <p:cNvSpPr txBox="1"/>
          <p:nvPr/>
        </p:nvSpPr>
        <p:spPr>
          <a:xfrm rot="0" flipH="0" flipV="0">
            <a:off x="9153525" y="1409700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/>
                </a:solidFill>
                <a:latin typeface="JetBrains Mono"/>
                <a:ea typeface="JetBrains Mono"/>
              </a:rPr>
              <a:t>message_start</a:t>
            </a:r>
            <a:endParaRPr/>
          </a:p>
        </p:txBody>
      </p:sp>
      <p:sp>
        <p:nvSpPr>
          <p:cNvPr id="1395" name="" descr="{&quot;isTemplate&quot;:true,&quot;type&quot;:&quot;text&quot;}"/>
          <p:cNvSpPr txBox="1"/>
          <p:nvPr/>
        </p:nvSpPr>
        <p:spPr>
          <a:xfrm rot="0" flipH="0" flipV="0">
            <a:off x="6838950" y="1666875"/>
            <a:ext cx="2047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8EEF9">
                    <a:alpha val="60000"/>
                  </a:srgbClr>
                </a:solidFill>
                <a:latin typeface="JetBrains Mono"/>
                <a:ea typeface="JetBrains Mono"/>
              </a:rPr>
              <a:t>{ type: "text_delta" }</a:t>
            </a:r>
            <a:endParaRPr/>
          </a:p>
        </p:txBody>
      </p:sp>
      <p:sp>
        <p:nvSpPr>
          <p:cNvPr id="1396" name="" descr="{&quot;isTemplate&quot;:true,&quot;type&quot;:&quot;text&quot;}"/>
          <p:cNvSpPr txBox="1"/>
          <p:nvPr/>
        </p:nvSpPr>
        <p:spPr>
          <a:xfrm rot="0" flipH="0" flipV="0">
            <a:off x="8963025" y="165735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2AD4EE">
                    <a:alpha val="55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397" name="" descr="{&quot;isTemplate&quot;:true,&quot;type&quot;:&quot;text&quot;}"/>
          <p:cNvSpPr txBox="1"/>
          <p:nvPr/>
        </p:nvSpPr>
        <p:spPr>
          <a:xfrm rot="0" flipH="0" flipV="0">
            <a:off x="9153525" y="1600200"/>
            <a:ext cx="2352675" cy="257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/>
                </a:solidFill>
                <a:latin typeface="JetBrains Mono"/>
                <a:ea typeface="JetBrains Mono"/>
              </a:rPr>
              <a:t>message_update  { assistantMessageEvent: ↑ }</a:t>
            </a:r>
            <a:endParaRPr/>
          </a:p>
        </p:txBody>
      </p:sp>
      <p:sp>
        <p:nvSpPr>
          <p:cNvPr id="1398" name="" descr="{&quot;isTemplate&quot;:true,&quot;type&quot;:&quot;text&quot;}"/>
          <p:cNvSpPr txBox="1"/>
          <p:nvPr/>
        </p:nvSpPr>
        <p:spPr>
          <a:xfrm rot="0" flipH="0" flipV="0">
            <a:off x="6838950" y="1981200"/>
            <a:ext cx="2047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8EEF9">
                    <a:alpha val="60000"/>
                  </a:srgbClr>
                </a:solidFill>
                <a:latin typeface="JetBrains Mono"/>
                <a:ea typeface="JetBrains Mono"/>
              </a:rPr>
              <a:t>{ type: "toolcall_delta" }</a:t>
            </a:r>
            <a:endParaRPr/>
          </a:p>
        </p:txBody>
      </p:sp>
      <p:sp>
        <p:nvSpPr>
          <p:cNvPr id="1399" name="" descr="{&quot;isTemplate&quot;:true,&quot;type&quot;:&quot;text&quot;}"/>
          <p:cNvSpPr txBox="1"/>
          <p:nvPr/>
        </p:nvSpPr>
        <p:spPr>
          <a:xfrm rot="0" flipH="0" flipV="0">
            <a:off x="8963025" y="1971675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2AD4EE">
                    <a:alpha val="55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400" name="" descr="{&quot;isTemplate&quot;:true,&quot;type&quot;:&quot;text&quot;}"/>
          <p:cNvSpPr txBox="1"/>
          <p:nvPr/>
        </p:nvSpPr>
        <p:spPr>
          <a:xfrm rot="0" flipH="0" flipV="0">
            <a:off x="9153525" y="1914525"/>
            <a:ext cx="2352675" cy="257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/>
                </a:solidFill>
                <a:latin typeface="JetBrains Mono"/>
                <a:ea typeface="JetBrains Mono"/>
              </a:rPr>
              <a:t>message_update  { assistantMessageEvent: ↑ }</a:t>
            </a:r>
            <a:endParaRPr/>
          </a:p>
        </p:txBody>
      </p:sp>
      <p:sp>
        <p:nvSpPr>
          <p:cNvPr id="1401" name="" descr="{&quot;isTemplate&quot;:true,&quot;type&quot;:&quot;text&quot;}"/>
          <p:cNvSpPr txBox="1"/>
          <p:nvPr/>
        </p:nvSpPr>
        <p:spPr>
          <a:xfrm rot="0" flipH="0" flipV="0">
            <a:off x="6838950" y="2238375"/>
            <a:ext cx="20478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8EEF9">
                    <a:alpha val="60000"/>
                  </a:srgbClr>
                </a:solidFill>
                <a:latin typeface="JetBrains Mono"/>
                <a:ea typeface="JetBrains Mono"/>
              </a:rPr>
              <a:t>{ type: "done" }</a:t>
            </a:r>
            <a:endParaRPr/>
          </a:p>
        </p:txBody>
      </p:sp>
      <p:sp>
        <p:nvSpPr>
          <p:cNvPr id="1402" name="" descr="{&quot;isTemplate&quot;:true,&quot;type&quot;:&quot;text&quot;}"/>
          <p:cNvSpPr txBox="1"/>
          <p:nvPr/>
        </p:nvSpPr>
        <p:spPr>
          <a:xfrm rot="0" flipH="0" flipV="0">
            <a:off x="8963025" y="2228850"/>
            <a:ext cx="114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2AD4EE">
                    <a:alpha val="55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403" name="" descr="{&quot;isTemplate&quot;:true,&quot;type&quot;:&quot;text&quot;}"/>
          <p:cNvSpPr txBox="1"/>
          <p:nvPr/>
        </p:nvSpPr>
        <p:spPr>
          <a:xfrm rot="0" flipH="0" flipV="0">
            <a:off x="9153525" y="2238375"/>
            <a:ext cx="2352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/>
                </a:solidFill>
                <a:latin typeface="JetBrains Mono"/>
                <a:ea typeface="JetBrains Mono"/>
              </a:rPr>
              <a:t>message_end</a:t>
            </a:r>
            <a:endParaRPr/>
          </a:p>
        </p:txBody>
      </p:sp>
      <p:sp>
        <p:nvSpPr>
          <p:cNvPr id="1404" name="" descr="{&quot;isTemplate&quot;:true,&quot;type&quot;:&quot;text&quot;}"/>
          <p:cNvSpPr txBox="1"/>
          <p:nvPr/>
        </p:nvSpPr>
        <p:spPr>
          <a:xfrm rot="0" flipH="0" flipV="0">
            <a:off x="6838950" y="2447925"/>
            <a:ext cx="46672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>左侧是</a:t>
            </a:r>
            <a:r>
              <a:rPr lang="en-US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 xml:space="preserve"> pi-ai </a:t>
            </a:r>
            <a:r>
              <a:rPr lang="zh-CN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 xml:space="preserve"> AssistantMessageEvent</a:t>
            </a:r>
            <a:r>
              <a:rPr lang="zh-CN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>（一条消息一份），右侧是</a:t>
            </a:r>
            <a:r>
              <a:rPr lang="en-US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 xml:space="preserve"> AgentEvent</a:t>
            </a:r>
            <a:r>
              <a:rPr lang="zh-CN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>（一个</a:t>
            </a:r>
            <a:r>
              <a:rPr lang="en-US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 xml:space="preserve"> run </a:t>
            </a:r>
            <a:r>
              <a:rPr lang="zh-CN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>一份）。</a:t>
            </a:r>
            <a:r>
              <a:rPr lang="en-US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 xml:space="preserve">message_* </a:t>
            </a:r>
            <a:r>
              <a:rPr lang="zh-CN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>三件套只是它的信封，</a:t>
            </a:r>
            <a:r>
              <a:rPr lang="en-US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863">
                <a:solidFill>
                  <a:srgbClr val="E8EEF9">
                    <a:alpha val="48000"/>
                  </a:srgbClr>
                </a:solidFill>
                <a:latin typeface="Source Han Sans SC"/>
                <a:ea typeface="Source Han Sans SC"/>
              </a:rPr>
              <a:t>层不改写内容。</a:t>
            </a:r>
            <a:endParaRPr/>
          </a:p>
        </p:txBody>
      </p:sp>
      <p:sp>
        <p:nvSpPr>
          <p:cNvPr id="1405" name="" descr="{&quot;isTemplate&quot;:true,&quot;type&quot;:&quot;text&quot;}"/>
          <p:cNvSpPr txBox="1"/>
          <p:nvPr/>
        </p:nvSpPr>
        <p:spPr>
          <a:xfrm rot="0" flipH="0" flipV="0">
            <a:off x="6838950" y="2971800"/>
            <a:ext cx="466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一个广播，六个订阅者</a:t>
            </a:r>
            <a:endParaRPr/>
          </a:p>
        </p:txBody>
      </p:sp>
      <p:sp>
        <p:nvSpPr>
          <p:cNvPr id="1406" name=""/>
          <p:cNvSpPr/>
          <p:nvPr/>
        </p:nvSpPr>
        <p:spPr>
          <a:xfrm rot="0" flipH="0" flipV="0">
            <a:off x="6838950" y="3190875"/>
            <a:ext cx="733425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07" name="" descr="{&quot;isTemplate&quot;:true,&quot;type&quot;:&quot;text&quot;}"/>
          <p:cNvSpPr txBox="1"/>
          <p:nvPr/>
        </p:nvSpPr>
        <p:spPr>
          <a:xfrm rot="0" flipH="0" flipV="0">
            <a:off x="6915150" y="3228975"/>
            <a:ext cx="581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TUI </a:t>
            </a:r>
            <a:r>
              <a:rPr lang="zh-CN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逐字渲染</a:t>
            </a:r>
            <a:endParaRPr/>
          </a:p>
        </p:txBody>
      </p:sp>
      <p:sp>
        <p:nvSpPr>
          <p:cNvPr id="1408" name=""/>
          <p:cNvSpPr/>
          <p:nvPr/>
        </p:nvSpPr>
        <p:spPr>
          <a:xfrm rot="0" flipH="0" flipV="0">
            <a:off x="7629525" y="3190875"/>
            <a:ext cx="800100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09" name="" descr="{&quot;isTemplate&quot;:true,&quot;type&quot;:&quot;text&quot;}"/>
          <p:cNvSpPr txBox="1"/>
          <p:nvPr/>
        </p:nvSpPr>
        <p:spPr>
          <a:xfrm rot="0" flipH="0" flipV="0">
            <a:off x="7705725" y="3228975"/>
            <a:ext cx="6477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RPC </a:t>
            </a:r>
            <a:r>
              <a:rPr lang="zh-CN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转发</a:t>
            </a:r>
            <a:r>
              <a:rPr lang="en-US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delta</a:t>
            </a:r>
            <a:endParaRPr/>
          </a:p>
        </p:txBody>
      </p:sp>
      <p:sp>
        <p:nvSpPr>
          <p:cNvPr id="1410" name=""/>
          <p:cNvSpPr/>
          <p:nvPr/>
        </p:nvSpPr>
        <p:spPr>
          <a:xfrm rot="0" flipH="0" flipV="0">
            <a:off x="8486775" y="3190875"/>
            <a:ext cx="552450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11" name="" descr="{&quot;isTemplate&quot;:true,&quot;type&quot;:&quot;text&quot;}"/>
          <p:cNvSpPr txBox="1"/>
          <p:nvPr/>
        </p:nvSpPr>
        <p:spPr>
          <a:xfrm rot="0" flipH="0" flipV="0">
            <a:off x="8562975" y="32289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扩展拦截</a:t>
            </a:r>
            <a:endParaRPr/>
          </a:p>
        </p:txBody>
      </p:sp>
      <p:sp>
        <p:nvSpPr>
          <p:cNvPr id="1412" name=""/>
          <p:cNvSpPr/>
          <p:nvPr/>
        </p:nvSpPr>
        <p:spPr>
          <a:xfrm rot="0" flipH="0" flipV="0">
            <a:off x="9096375" y="3190875"/>
            <a:ext cx="552450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13" name="" descr="{&quot;isTemplate&quot;:true,&quot;type&quot;:&quot;text&quot;}"/>
          <p:cNvSpPr txBox="1"/>
          <p:nvPr/>
        </p:nvSpPr>
        <p:spPr>
          <a:xfrm rot="0" flipH="0" flipV="0">
            <a:off x="9172575" y="32289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会话落盘</a:t>
            </a:r>
            <a:endParaRPr/>
          </a:p>
        </p:txBody>
      </p:sp>
      <p:sp>
        <p:nvSpPr>
          <p:cNvPr id="1414" name=""/>
          <p:cNvSpPr/>
          <p:nvPr/>
        </p:nvSpPr>
        <p:spPr>
          <a:xfrm rot="0" flipH="0" flipV="0">
            <a:off x="9705975" y="3190875"/>
            <a:ext cx="552450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15" name="" descr="{&quot;isTemplate&quot;:true,&quot;type&quot;:&quot;text&quot;}"/>
          <p:cNvSpPr txBox="1"/>
          <p:nvPr/>
        </p:nvSpPr>
        <p:spPr>
          <a:xfrm rot="0" flipH="0" flipV="0">
            <a:off x="9782175" y="322897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成本记账</a:t>
            </a:r>
            <a:endParaRPr/>
          </a:p>
        </p:txBody>
      </p:sp>
      <p:sp>
        <p:nvSpPr>
          <p:cNvPr id="1416" name=""/>
          <p:cNvSpPr/>
          <p:nvPr/>
        </p:nvSpPr>
        <p:spPr>
          <a:xfrm rot="0" flipH="0" flipV="0">
            <a:off x="10315575" y="3190875"/>
            <a:ext cx="657225" cy="200025"/>
          </a:xfrm>
          <a:prstGeom prst="roundRect">
            <a:avLst>
              <a:gd name="adj" fmla="val 9524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17" name="" descr="{&quot;isTemplate&quot;:true,&quot;type&quot;:&quot;text&quot;}"/>
          <p:cNvSpPr txBox="1"/>
          <p:nvPr/>
        </p:nvSpPr>
        <p:spPr>
          <a:xfrm rot="0" flipH="0" flipV="0">
            <a:off x="10391775" y="3228975"/>
            <a:ext cx="5048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服务器快照</a:t>
            </a:r>
            <a:endParaRPr/>
          </a:p>
        </p:txBody>
      </p:sp>
      <p:sp>
        <p:nvSpPr>
          <p:cNvPr id="1418" name=""/>
          <p:cNvSpPr/>
          <p:nvPr/>
        </p:nvSpPr>
        <p:spPr>
          <a:xfrm rot="0" flipH="0" flipV="0">
            <a:off x="6838950" y="3486150"/>
            <a:ext cx="4667250" cy="676275"/>
          </a:xfrm>
          <a:prstGeom prst="roundRect">
            <a:avLst>
              <a:gd name="adj" fmla="val 4225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19" name="" descr="{&quot;isTemplate&quot;:true,&quot;type&quot;:&quot;text&quot;}"/>
          <p:cNvSpPr txBox="1"/>
          <p:nvPr/>
        </p:nvSpPr>
        <p:spPr>
          <a:xfrm rot="0" flipH="0" flipV="0">
            <a:off x="6953250" y="3571875"/>
            <a:ext cx="4438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2AD4EE"/>
                </a:solidFill>
                <a:latin typeface="Source Han Sans SC"/>
                <a:ea typeface="Source Han Sans SC"/>
              </a:rPr>
              <a:t>钩子不是事件</a:t>
            </a:r>
            <a:endParaRPr/>
          </a:p>
        </p:txBody>
      </p:sp>
      <p:sp>
        <p:nvSpPr>
          <p:cNvPr id="1420" name="" descr="{&quot;isTemplate&quot;:true,&quot;type&quot;:&quot;text&quot;}"/>
          <p:cNvSpPr txBox="1"/>
          <p:nvPr/>
        </p:nvSpPr>
        <p:spPr>
          <a:xfrm rot="0" flipH="0" flipV="0">
            <a:off x="6953250" y="3762375"/>
            <a:ext cx="457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>事件</a:t>
            </a:r>
            <a:endParaRPr/>
          </a:p>
        </p:txBody>
      </p:sp>
      <p:sp>
        <p:nvSpPr>
          <p:cNvPr id="1421" name="" descr="{&quot;isTemplate&quot;:true,&quot;type&quot;:&quot;text&quot;}"/>
          <p:cNvSpPr txBox="1"/>
          <p:nvPr/>
        </p:nvSpPr>
        <p:spPr>
          <a:xfrm rot="0" flipH="0" flipV="0">
            <a:off x="7486650" y="3762375"/>
            <a:ext cx="3905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fire-and-forget</a:t>
            </a:r>
            <a:r>
              <a:rPr lang="zh-CN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，发完继续走</a:t>
            </a:r>
            <a:r>
              <a:rPr lang="en-US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给旁观者</a:t>
            </a:r>
            <a:endParaRPr/>
          </a:p>
        </p:txBody>
      </p:sp>
      <p:sp>
        <p:nvSpPr>
          <p:cNvPr id="1422" name="" descr="{&quot;isTemplate&quot;:true,&quot;type&quot;:&quot;text&quot;}"/>
          <p:cNvSpPr txBox="1"/>
          <p:nvPr/>
        </p:nvSpPr>
        <p:spPr>
          <a:xfrm rot="0" flipH="0" flipV="0">
            <a:off x="6953250" y="3943350"/>
            <a:ext cx="457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E8EEF9">
                    <a:alpha val="44000"/>
                  </a:srgbClr>
                </a:solidFill>
                <a:latin typeface="Source Han Sans SC"/>
                <a:ea typeface="Source Han Sans SC"/>
              </a:rPr>
              <a:t>钩子</a:t>
            </a:r>
            <a:endParaRPr/>
          </a:p>
        </p:txBody>
      </p:sp>
      <p:sp>
        <p:nvSpPr>
          <p:cNvPr id="1423" name="" descr="{&quot;isTemplate&quot;:true,&quot;type&quot;:&quot;text&quot;}"/>
          <p:cNvSpPr txBox="1"/>
          <p:nvPr/>
        </p:nvSpPr>
        <p:spPr>
          <a:xfrm rot="0" flipH="0" flipV="0">
            <a:off x="7486650" y="3943350"/>
            <a:ext cx="3905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循环停下来</a:t>
            </a:r>
            <a:r>
              <a:rPr lang="en-US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await </a:t>
            </a:r>
            <a:r>
              <a:rPr lang="zh-CN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返回值</a:t>
            </a:r>
            <a:r>
              <a:rPr lang="en-US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8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给参与者</a:t>
            </a:r>
            <a:endParaRPr/>
          </a:p>
        </p:txBody>
      </p:sp>
      <p:sp>
        <p:nvSpPr>
          <p:cNvPr id="1424" name=""/>
          <p:cNvSpPr/>
          <p:nvPr/>
        </p:nvSpPr>
        <p:spPr>
          <a:xfrm rot="0" flipH="0" flipV="0">
            <a:off x="6867525" y="4867275"/>
            <a:ext cx="4667250" cy="581025"/>
          </a:xfrm>
          <a:prstGeom prst="rect">
            <a:avLst/>
          </a:prstGeom>
          <a:solidFill>
            <a:srgbClr val="FFB478">
              <a:alpha val="5000"/>
            </a:srgbClr>
          </a:solidFill>
          <a:ln/>
        </p:spPr>
        <p:txBody>
          <a:bodyPr/>
          <a:p/>
        </p:txBody>
      </p:sp>
      <p:sp>
        <p:nvSpPr>
          <p:cNvPr id="1425" name=""/>
          <p:cNvSpPr/>
          <p:nvPr/>
        </p:nvSpPr>
        <p:spPr>
          <a:xfrm rot="0" flipH="0" flipV="0">
            <a:off x="6838950" y="4867275"/>
            <a:ext cx="4695825" cy="581025"/>
          </a:xfrm>
          <a:custGeom>
            <a:pathLst>
              <a:path w="493" h="61">
                <a:moveTo>
                  <a:pt x="0" y="0"/>
                </a:moveTo>
                <a:lnTo>
                  <a:pt x="3" y="0"/>
                </a:lnTo>
                <a:lnTo>
                  <a:pt x="3" y="61"/>
                </a:lnTo>
                <a:lnTo>
                  <a:pt x="0" y="61"/>
                </a:lnTo>
                <a:close/>
              </a:path>
            </a:pathLst>
          </a:custGeom>
          <a:solidFill>
            <a:srgbClr val="FFB478">
              <a:alpha val="55000"/>
            </a:srgbClr>
          </a:solidFill>
          <a:ln/>
        </p:spPr>
        <p:txBody>
          <a:bodyPr/>
          <a:p/>
        </p:txBody>
      </p:sp>
      <p:sp>
        <p:nvSpPr>
          <p:cNvPr id="1426" name="" descr="{&quot;isTemplate&quot;:true,&quot;type&quot;:&quot;text&quot;}"/>
          <p:cNvSpPr txBox="1"/>
          <p:nvPr/>
        </p:nvSpPr>
        <p:spPr>
          <a:xfrm rot="0" flipH="0" flipV="0">
            <a:off x="6981825" y="4953000"/>
            <a:ext cx="4410075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两个容易混的点：</a:t>
            </a:r>
            <a:r>
              <a:rPr lang="en-US" sz="8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toolcall_delta </a:t>
            </a:r>
            <a:r>
              <a:rPr lang="zh-CN" sz="8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是「模型在输出参数」，</a:t>
            </a:r>
            <a:r>
              <a:rPr lang="en-US" sz="8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tool_execution_* </a:t>
            </a:r>
            <a:r>
              <a:rPr lang="zh-CN" sz="8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是「框架真的在执行」，两者没有对应关系；钩子是「停下等返回值」，事件是</a:t>
            </a:r>
            <a:r>
              <a:rPr lang="en-US" sz="8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fire-and-forget</a:t>
            </a:r>
            <a:r>
              <a:rPr lang="zh-CN" sz="8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427" name=""/>
          <p:cNvSpPr/>
          <p:nvPr/>
        </p:nvSpPr>
        <p:spPr>
          <a:xfrm rot="0" flipH="0" flipV="0">
            <a:off x="685800" y="5524500"/>
            <a:ext cx="10820400" cy="495300"/>
          </a:xfrm>
          <a:prstGeom prst="roundRect">
            <a:avLst>
              <a:gd name="adj" fmla="val 769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28" name="" descr="{&quot;isTemplate&quot;:true,&quot;type&quot;:&quot;text&quot;}"/>
          <p:cNvSpPr txBox="1"/>
          <p:nvPr/>
        </p:nvSpPr>
        <p:spPr>
          <a:xfrm rot="0" flipH="0" flipV="0">
            <a:off x="857250" y="5695950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429" name="" descr="{&quot;isTemplate&quot;:true,&quot;type&quot;:&quot;text&quot;}"/>
          <p:cNvSpPr txBox="1"/>
          <p:nvPr/>
        </p:nvSpPr>
        <p:spPr>
          <a:xfrm rot="0" flipH="0" flipV="0">
            <a:off x="1276350" y="5648325"/>
            <a:ext cx="10058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内核不认识任何一个消费者。加一个功能不用改循环——可观测、拦截、记账，都是「订阅」而不是「埋点」。</a:t>
            </a:r>
            <a:endParaRPr/>
          </a:p>
        </p:txBody>
      </p:sp>
      <p:sp>
        <p:nvSpPr>
          <p:cNvPr id="143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43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35 / 46</a:t>
            </a:r>
            <a:endParaRPr/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4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43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43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08</a:t>
            </a:r>
            <a:endParaRPr/>
          </a:p>
        </p:txBody>
      </p:sp>
      <p:sp>
        <p:nvSpPr>
          <p:cNvPr id="1436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009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对应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⑥ + ⑦</a:t>
            </a:r>
            <a:endParaRPr/>
          </a:p>
        </p:txBody>
      </p:sp>
      <p:sp>
        <p:nvSpPr>
          <p:cNvPr id="1437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安全外置：三道防线，一本账</a:t>
            </a:r>
            <a:endParaRPr/>
          </a:p>
        </p:txBody>
      </p:sp>
      <p:sp>
        <p:nvSpPr>
          <p:cNvPr id="1438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600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PHILOSOPHY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没有权限弹窗</a:t>
            </a:r>
            <a:endParaRPr/>
          </a:p>
        </p:txBody>
      </p:sp>
      <p:sp>
        <p:nvSpPr>
          <p:cNvPr id="1439" name=""/>
          <p:cNvSpPr/>
          <p:nvPr/>
        </p:nvSpPr>
        <p:spPr>
          <a:xfrm rot="0" flipH="0" flipV="0">
            <a:off x="685800" y="1381125"/>
            <a:ext cx="6000750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40" name="" descr="{&quot;isTemplate&quot;:true,&quot;type&quot;:&quot;text&quot;}"/>
          <p:cNvSpPr txBox="1"/>
          <p:nvPr/>
        </p:nvSpPr>
        <p:spPr>
          <a:xfrm rot="0" flipH="0" flipV="0">
            <a:off x="819150" y="1485900"/>
            <a:ext cx="57340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「没有权限确认弹窗</a:t>
            </a: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—— </a:t>
            </a:r>
            <a:r>
              <a:rPr lang="zh-CN" sz="1088">
                <a:solidFill>
                  <a:srgbClr val="2AD4EE"/>
                </a:solidFill>
                <a:latin typeface="Source Han Sans SC"/>
                <a:ea typeface="Source Han Sans SC"/>
              </a:rPr>
              <a:t>跑在容器里就好</a:t>
            </a: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。」</a:t>
            </a:r>
            <a:endParaRPr/>
          </a:p>
        </p:txBody>
      </p:sp>
      <p:sp>
        <p:nvSpPr>
          <p:cNvPr id="1441" name="" descr="{&quot;isTemplate&quot;:true,&quot;type&quot;:&quot;text&quot;}"/>
          <p:cNvSpPr txBox="1"/>
          <p:nvPr/>
        </p:nvSpPr>
        <p:spPr>
          <a:xfrm rot="0" flipH="0" flipV="0">
            <a:off x="819150" y="1819275"/>
            <a:ext cx="18192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1</a:t>
            </a: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. </a:t>
            </a:r>
            <a:r>
              <a:rPr lang="zh-CN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内核做权限</a:t>
            </a: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复杂度爆炸</a:t>
            </a:r>
            <a:endParaRPr/>
          </a:p>
        </p:txBody>
      </p:sp>
      <p:sp>
        <p:nvSpPr>
          <p:cNvPr id="1442" name="" descr="{&quot;isTemplate&quot;:true,&quot;type&quot;:&quot;text&quot;}"/>
          <p:cNvSpPr txBox="1"/>
          <p:nvPr/>
        </p:nvSpPr>
        <p:spPr>
          <a:xfrm rot="0" flipH="0" flipV="0">
            <a:off x="2771775" y="1819275"/>
            <a:ext cx="18288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2</a:t>
            </a: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. </a:t>
            </a:r>
            <a:r>
              <a:rPr lang="zh-CN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容器是更硬的隔离</a:t>
            </a:r>
            <a:endParaRPr/>
          </a:p>
        </p:txBody>
      </p:sp>
      <p:sp>
        <p:nvSpPr>
          <p:cNvPr id="1443" name="" descr="{&quot;isTemplate&quot;:true,&quot;type&quot;:&quot;text&quot;}"/>
          <p:cNvSpPr txBox="1"/>
          <p:nvPr/>
        </p:nvSpPr>
        <p:spPr>
          <a:xfrm rot="0" flipH="0" flipV="0">
            <a:off x="4733925" y="1819275"/>
            <a:ext cx="1819275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3</a:t>
            </a:r>
            <a:r>
              <a:rPr lang="en-US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. </a:t>
            </a:r>
            <a:r>
              <a:rPr lang="zh-CN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钩子已给了完全拦截能力</a:t>
            </a:r>
            <a:endParaRPr/>
          </a:p>
        </p:txBody>
      </p:sp>
      <p:sp>
        <p:nvSpPr>
          <p:cNvPr id="1444" name="" descr="{&quot;isTemplate&quot;:true,&quot;type&quot;:&quot;text&quot;}"/>
          <p:cNvSpPr txBox="1"/>
          <p:nvPr/>
        </p:nvSpPr>
        <p:spPr>
          <a:xfrm rot="0" flipH="0" flipV="0">
            <a:off x="685800" y="2276475"/>
            <a:ext cx="600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三道防线</a:t>
            </a: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一道不能少</a:t>
            </a:r>
            <a:endParaRPr/>
          </a:p>
        </p:txBody>
      </p:sp>
      <p:sp>
        <p:nvSpPr>
          <p:cNvPr id="1445" name=""/>
          <p:cNvSpPr/>
          <p:nvPr/>
        </p:nvSpPr>
        <p:spPr>
          <a:xfrm rot="0" flipH="0" flipV="0">
            <a:off x="685800" y="2524125"/>
            <a:ext cx="6000750" cy="828675"/>
          </a:xfrm>
          <a:prstGeom prst="roundRect">
            <a:avLst>
              <a:gd name="adj" fmla="val 3448"/>
            </a:avLst>
          </a:prstGeom>
          <a:solidFill>
            <a:srgbClr val="2AD4EE">
              <a:alpha val="13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46" name="" descr="{&quot;isTemplate&quot;:true,&quot;type&quot;:&quot;text&quot;}"/>
          <p:cNvSpPr txBox="1"/>
          <p:nvPr/>
        </p:nvSpPr>
        <p:spPr>
          <a:xfrm rot="0" flipH="0" flipV="0">
            <a:off x="828675" y="2790825"/>
            <a:ext cx="152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AD4EE">
                    <a:alpha val="66000"/>
                  </a:srgbClr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447" name="" descr="{&quot;isTemplate&quot;:true,&quot;type&quot;:&quot;text&quot;}"/>
          <p:cNvSpPr txBox="1"/>
          <p:nvPr/>
        </p:nvSpPr>
        <p:spPr>
          <a:xfrm rot="0" flipH="0" flipV="0">
            <a:off x="1114425" y="27241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环境隔离</a:t>
            </a:r>
            <a:endParaRPr/>
          </a:p>
        </p:txBody>
      </p:sp>
      <p:sp>
        <p:nvSpPr>
          <p:cNvPr id="1448" name="" descr="{&quot;isTemplate&quot;:true,&quot;type&quot;:&quot;text&quot;}"/>
          <p:cNvSpPr txBox="1"/>
          <p:nvPr/>
        </p:nvSpPr>
        <p:spPr>
          <a:xfrm rot="0" flipH="0" flipV="0">
            <a:off x="1762125" y="2724150"/>
            <a:ext cx="209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AD4EE">
                    <a:alpha val="72000"/>
                  </a:srgbClr>
                </a:solidFill>
                <a:latin typeface="Source Han Sans SC"/>
                <a:ea typeface="Source Han Sans SC"/>
              </a:rPr>
              <a:t>最硬</a:t>
            </a:r>
            <a:endParaRPr/>
          </a:p>
        </p:txBody>
      </p:sp>
      <p:sp>
        <p:nvSpPr>
          <p:cNvPr id="1449" name="" descr="{&quot;isTemplate&quot;:true,&quot;type&quot;:&quot;text&quot;}"/>
          <p:cNvSpPr txBox="1"/>
          <p:nvPr/>
        </p:nvSpPr>
        <p:spPr>
          <a:xfrm rot="0" flipH="0" flipV="0">
            <a:off x="1114425" y="2933700"/>
            <a:ext cx="54292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容器化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Docker /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权限最小化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网络策略。应用层弹窗防不住提示注入，操作系统级隔离防得住。</a:t>
            </a:r>
            <a:endParaRPr/>
          </a:p>
        </p:txBody>
      </p:sp>
      <p:sp>
        <p:nvSpPr>
          <p:cNvPr id="1450" name=""/>
          <p:cNvSpPr/>
          <p:nvPr/>
        </p:nvSpPr>
        <p:spPr>
          <a:xfrm rot="0" flipH="0" flipV="0">
            <a:off x="685800" y="3429000"/>
            <a:ext cx="6000750" cy="828675"/>
          </a:xfrm>
          <a:prstGeom prst="roundRect">
            <a:avLst>
              <a:gd name="adj" fmla="val 344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51" name="" descr="{&quot;isTemplate&quot;:true,&quot;type&quot;:&quot;text&quot;}"/>
          <p:cNvSpPr txBox="1"/>
          <p:nvPr/>
        </p:nvSpPr>
        <p:spPr>
          <a:xfrm rot="0" flipH="0" flipV="0">
            <a:off x="828675" y="3695700"/>
            <a:ext cx="152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AD4EE">
                    <a:alpha val="66000"/>
                  </a:srgbClr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452" name="" descr="{&quot;isTemplate&quot;:true,&quot;type&quot;:&quot;text&quot;}"/>
          <p:cNvSpPr txBox="1"/>
          <p:nvPr/>
        </p:nvSpPr>
        <p:spPr>
          <a:xfrm rot="0" flipH="0" flipV="0">
            <a:off x="1114425" y="36290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钩子拦截</a:t>
            </a:r>
            <a:endParaRPr/>
          </a:p>
        </p:txBody>
      </p:sp>
      <p:sp>
        <p:nvSpPr>
          <p:cNvPr id="1453" name="" descr="{&quot;isTemplate&quot;:true,&quot;type&quot;:&quot;text&quot;}"/>
          <p:cNvSpPr txBox="1"/>
          <p:nvPr/>
        </p:nvSpPr>
        <p:spPr>
          <a:xfrm rot="0" flipH="0" flipV="0">
            <a:off x="1762125" y="3629025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AD4EE">
                    <a:alpha val="72000"/>
                  </a:srgbClr>
                </a:solidFill>
                <a:latin typeface="Source Han Sans SC"/>
                <a:ea typeface="Source Han Sans SC"/>
              </a:rPr>
              <a:t>最灵活</a:t>
            </a:r>
            <a:endParaRPr/>
          </a:p>
        </p:txBody>
      </p:sp>
      <p:sp>
        <p:nvSpPr>
          <p:cNvPr id="1454" name="" descr="{&quot;isTemplate&quot;:true,&quot;type&quot;:&quot;text&quot;}"/>
          <p:cNvSpPr txBox="1"/>
          <p:nvPr/>
        </p:nvSpPr>
        <p:spPr>
          <a:xfrm rot="0" flipH="0" flipV="0">
            <a:off x="1114425" y="3838575"/>
            <a:ext cx="54292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tool_call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钩子：危险命令返回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block + reason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reason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回喂模型；同时写审计日志。</a:t>
            </a:r>
            <a:endParaRPr/>
          </a:p>
        </p:txBody>
      </p:sp>
      <p:sp>
        <p:nvSpPr>
          <p:cNvPr id="1455" name=""/>
          <p:cNvSpPr/>
          <p:nvPr/>
        </p:nvSpPr>
        <p:spPr>
          <a:xfrm rot="0" flipH="0" flipV="0">
            <a:off x="685800" y="4333875"/>
            <a:ext cx="6000750" cy="828675"/>
          </a:xfrm>
          <a:prstGeom prst="roundRect">
            <a:avLst>
              <a:gd name="adj" fmla="val 3448"/>
            </a:avLst>
          </a:prstGeom>
          <a:solidFill>
            <a:srgbClr val="16233D">
              <a:alpha val="62000"/>
            </a:srgbClr>
          </a:solidFill>
          <a:ln w="12700">
            <a:solidFill>
              <a:srgbClr val="2AD4EE">
                <a:alpha val="16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56" name="" descr="{&quot;isTemplate&quot;:true,&quot;type&quot;:&quot;text&quot;}"/>
          <p:cNvSpPr txBox="1"/>
          <p:nvPr/>
        </p:nvSpPr>
        <p:spPr>
          <a:xfrm rot="0" flipH="0" flipV="0">
            <a:off x="828675" y="4600575"/>
            <a:ext cx="152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AD4EE">
                    <a:alpha val="66000"/>
                  </a:srgbClr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457" name="" descr="{&quot;isTemplate&quot;:true,&quot;type&quot;:&quot;text&quot;}"/>
          <p:cNvSpPr txBox="1"/>
          <p:nvPr/>
        </p:nvSpPr>
        <p:spPr>
          <a:xfrm rot="0" flipH="0" flipV="0">
            <a:off x="1114425" y="4533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工具白名单</a:t>
            </a:r>
            <a:endParaRPr/>
          </a:p>
        </p:txBody>
      </p:sp>
      <p:sp>
        <p:nvSpPr>
          <p:cNvPr id="1458" name="" descr="{&quot;isTemplate&quot;:true,&quot;type&quot;:&quot;text&quot;}"/>
          <p:cNvSpPr txBox="1"/>
          <p:nvPr/>
        </p:nvSpPr>
        <p:spPr>
          <a:xfrm rot="0" flipH="0" flipV="0">
            <a:off x="1905000" y="4533900"/>
            <a:ext cx="314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2AD4EE">
                    <a:alpha val="72000"/>
                  </a:srgbClr>
                </a:solidFill>
                <a:latin typeface="Source Han Sans SC"/>
                <a:ea typeface="Source Han Sans SC"/>
              </a:rPr>
              <a:t>最简单</a:t>
            </a:r>
            <a:endParaRPr/>
          </a:p>
        </p:txBody>
      </p:sp>
      <p:sp>
        <p:nvSpPr>
          <p:cNvPr id="1459" name="" descr="{&quot;isTemplate&quot;:true,&quot;type&quot;:&quot;text&quot;}"/>
          <p:cNvSpPr txBox="1"/>
          <p:nvPr/>
        </p:nvSpPr>
        <p:spPr>
          <a:xfrm rot="0" flipH="0" flipV="0">
            <a:off x="1114425" y="4743450"/>
            <a:ext cx="54292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只读模式只挂</a:t>
            </a:r>
            <a:r>
              <a:rPr lang="en-US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read / grep / find / ls —— </a:t>
            </a:r>
            <a:r>
              <a:rPr lang="zh-CN" sz="9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模型根本看不见写工具。</a:t>
            </a:r>
            <a:endParaRPr/>
          </a:p>
        </p:txBody>
      </p:sp>
      <p:sp>
        <p:nvSpPr>
          <p:cNvPr id="1460" name="" descr="{&quot;isTemplate&quot;:true,&quot;type&quot;:&quot;text&quot;}"/>
          <p:cNvSpPr txBox="1"/>
          <p:nvPr/>
        </p:nvSpPr>
        <p:spPr>
          <a:xfrm rot="0" flipH="0" flipV="0">
            <a:off x="685800" y="5248275"/>
            <a:ext cx="60007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>代价：不懂容器化的用户直接裸奔有真实风险。所以上生产必须三道都走。</a:t>
            </a:r>
            <a:endParaRPr/>
          </a:p>
        </p:txBody>
      </p:sp>
      <p:sp>
        <p:nvSpPr>
          <p:cNvPr id="1461" name="" descr="{&quot;isTemplate&quot;:true,&quot;type&quot;:&quot;text&quot;}"/>
          <p:cNvSpPr txBox="1"/>
          <p:nvPr/>
        </p:nvSpPr>
        <p:spPr>
          <a:xfrm rot="0" flipH="0" flipV="0">
            <a:off x="6953250" y="1143000"/>
            <a:ext cx="455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OBSERVABILITY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记账免费</a:t>
            </a:r>
            <a:endParaRPr/>
          </a:p>
        </p:txBody>
      </p:sp>
      <p:sp>
        <p:nvSpPr>
          <p:cNvPr id="1462" name=""/>
          <p:cNvSpPr/>
          <p:nvPr/>
        </p:nvSpPr>
        <p:spPr>
          <a:xfrm rot="0" flipH="0" flipV="0">
            <a:off x="6953250" y="1390650"/>
            <a:ext cx="4552950" cy="1066800"/>
          </a:xfrm>
          <a:prstGeom prst="roundRect">
            <a:avLst>
              <a:gd name="adj" fmla="val 2679"/>
            </a:avLst>
          </a:prstGeom>
          <a:solidFill>
            <a:srgbClr val="2AD4EE">
              <a:alpha val="7000"/>
            </a:srgbClr>
          </a:solidFill>
          <a:ln w="12700">
            <a:solidFill>
              <a:srgbClr val="2AD4EE">
                <a:alpha val="2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63" name="" descr="{&quot;isTemplate&quot;:true,&quot;type&quot;:&quot;text&quot;}"/>
          <p:cNvSpPr txBox="1"/>
          <p:nvPr/>
        </p:nvSpPr>
        <p:spPr>
          <a:xfrm rot="0" flipH="0" flipV="0">
            <a:off x="7077075" y="1495425"/>
            <a:ext cx="430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usage </a:t>
            </a: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挂在每条助手消息上</a:t>
            </a:r>
            <a:endParaRPr/>
          </a:p>
        </p:txBody>
      </p:sp>
      <p:sp>
        <p:nvSpPr>
          <p:cNvPr id="1464" name="" descr="{&quot;isTemplate&quot;:true,&quot;type&quot;:&quot;text&quot;}"/>
          <p:cNvSpPr txBox="1"/>
          <p:nvPr/>
        </p:nvSpPr>
        <p:spPr>
          <a:xfrm rot="0" flipH="0" flipV="0">
            <a:off x="7077075" y="1685925"/>
            <a:ext cx="43053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825">
                <a:solidFill>
                  <a:srgbClr val="E8EEF9">
                    <a:alpha val="72000"/>
                  </a:srgbClr>
                </a:solidFill>
                <a:latin typeface="JetBrains Mono"/>
                <a:ea typeface="JetBrains Mono"/>
              </a:rPr>
              <a:t>input · output · cacheRead · cacheWrite · reasoning · totalTokens · cost</a:t>
            </a:r>
            <a:endParaRPr/>
          </a:p>
        </p:txBody>
      </p:sp>
      <p:sp>
        <p:nvSpPr>
          <p:cNvPr id="1465" name="" descr="{&quot;isTemplate&quot;:true,&quot;type&quot;:&quot;text&quot;}"/>
          <p:cNvSpPr txBox="1"/>
          <p:nvPr/>
        </p:nvSpPr>
        <p:spPr>
          <a:xfrm rot="0" flipH="0" flipV="0">
            <a:off x="7077075" y="2152650"/>
            <a:ext cx="43053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不需要额外埋点，订阅事件流就能建面板。放进消息结构而不是日志——这是关键差别。</a:t>
            </a:r>
            <a:endParaRPr/>
          </a:p>
        </p:txBody>
      </p:sp>
      <p:sp>
        <p:nvSpPr>
          <p:cNvPr id="1466" name=""/>
          <p:cNvSpPr/>
          <p:nvPr/>
        </p:nvSpPr>
        <p:spPr>
          <a:xfrm rot="0" flipH="0" flipV="0">
            <a:off x="6953250" y="2543175"/>
            <a:ext cx="4552950" cy="809625"/>
          </a:xfrm>
          <a:prstGeom prst="roundRect">
            <a:avLst>
              <a:gd name="adj" fmla="val 3529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67" name="" descr="{&quot;isTemplate&quot;:true,&quot;type&quot;:&quot;text&quot;}"/>
          <p:cNvSpPr txBox="1"/>
          <p:nvPr/>
        </p:nvSpPr>
        <p:spPr>
          <a:xfrm rot="0" flipH="0" flipV="0">
            <a:off x="7077075" y="2647950"/>
            <a:ext cx="430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telemetry </a:t>
            </a: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包</a:t>
            </a:r>
            <a:endParaRPr/>
          </a:p>
        </p:txBody>
      </p:sp>
      <p:sp>
        <p:nvSpPr>
          <p:cNvPr id="1468" name="" descr="{&quot;isTemplate&quot;:true,&quot;type&quot;:&quot;text&quot;}"/>
          <p:cNvSpPr txBox="1"/>
          <p:nvPr/>
        </p:nvSpPr>
        <p:spPr>
          <a:xfrm rot="0" flipH="0" flipV="0">
            <a:off x="7077075" y="2838450"/>
            <a:ext cx="43053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TelemetryContext / TelemetrySpan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抽象（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span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带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attributes / events / status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），厂商中立，可以接自己的观测后端。</a:t>
            </a:r>
            <a:endParaRPr/>
          </a:p>
        </p:txBody>
      </p:sp>
      <p:sp>
        <p:nvSpPr>
          <p:cNvPr id="1469" name=""/>
          <p:cNvSpPr/>
          <p:nvPr/>
        </p:nvSpPr>
        <p:spPr>
          <a:xfrm rot="0" flipH="0" flipV="0">
            <a:off x="6953250" y="3438525"/>
            <a:ext cx="4552950" cy="809625"/>
          </a:xfrm>
          <a:prstGeom prst="roundRect">
            <a:avLst>
              <a:gd name="adj" fmla="val 3529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70" name="" descr="{&quot;isTemplate&quot;:true,&quot;type&quot;:&quot;text&quot;}"/>
          <p:cNvSpPr txBox="1"/>
          <p:nvPr/>
        </p:nvSpPr>
        <p:spPr>
          <a:xfrm rot="0" flipH="0" flipV="0">
            <a:off x="7077075" y="3543300"/>
            <a:ext cx="4305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evals · Agent </a:t>
            </a:r>
            <a:r>
              <a:rPr lang="zh-CN" sz="938" b="1">
                <a:solidFill>
                  <a:srgbClr val="2AD4EE"/>
                </a:solidFill>
                <a:latin typeface="Source Han Sans SC"/>
                <a:ea typeface="Source Han Sans SC"/>
              </a:rPr>
              <a:t>的回归测试</a:t>
            </a:r>
            <a:endParaRPr/>
          </a:p>
        </p:txBody>
      </p:sp>
      <p:sp>
        <p:nvSpPr>
          <p:cNvPr id="1471" name="" descr="{&quot;isTemplate&quot;:true,&quot;type&quot;:&quot;text&quot;}"/>
          <p:cNvSpPr txBox="1"/>
          <p:nvPr/>
        </p:nvSpPr>
        <p:spPr>
          <a:xfrm rot="0" flipH="0" flipV="0">
            <a:off x="7077075" y="3733800"/>
            <a:ext cx="430530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隔离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workspace +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固定任务集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收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transcript / token /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成本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→ baseline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candidate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对比。改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、换模型、升版本前后各跑一遍。</a:t>
            </a:r>
            <a:endParaRPr/>
          </a:p>
        </p:txBody>
      </p:sp>
      <p:sp>
        <p:nvSpPr>
          <p:cNvPr id="1472" name=""/>
          <p:cNvSpPr/>
          <p:nvPr/>
        </p:nvSpPr>
        <p:spPr>
          <a:xfrm rot="0" flipH="0" flipV="0">
            <a:off x="6953250" y="4829175"/>
            <a:ext cx="4581525" cy="619125"/>
          </a:xfrm>
          <a:custGeom>
            <a:pathLst>
              <a:path w="481" h="65">
                <a:moveTo>
                  <a:pt x="0" y="0"/>
                </a:moveTo>
                <a:lnTo>
                  <a:pt x="3" y="0"/>
                </a:lnTo>
                <a:lnTo>
                  <a:pt x="3" y="65"/>
                </a:lnTo>
                <a:lnTo>
                  <a:pt x="0" y="65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73" name="" descr="{&quot;isTemplate&quot;:true,&quot;type&quot;:&quot;text&quot;}"/>
          <p:cNvSpPr txBox="1"/>
          <p:nvPr/>
        </p:nvSpPr>
        <p:spPr>
          <a:xfrm rot="0" flipH="0" flipV="0">
            <a:off x="7105650" y="4924425"/>
            <a:ext cx="4276725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企业架构四决策：模型路由（敏感用本地）·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安全边界（容器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钩子二次拦截）·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会话资产（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JSONL +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树，可复盘）·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上下文工程（</a:t>
            </a:r>
            <a:r>
              <a:rPr lang="en-US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AGENTS.md + compact + Skills</a:t>
            </a:r>
            <a:r>
              <a:rPr lang="zh-CN" sz="86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1474" name=""/>
          <p:cNvSpPr/>
          <p:nvPr/>
        </p:nvSpPr>
        <p:spPr>
          <a:xfrm rot="0" flipH="0" flipV="0">
            <a:off x="685800" y="5448300"/>
            <a:ext cx="10820400" cy="495300"/>
          </a:xfrm>
          <a:prstGeom prst="roundRect">
            <a:avLst>
              <a:gd name="adj" fmla="val 769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75" name="" descr="{&quot;isTemplate&quot;:true,&quot;type&quot;:&quot;text&quot;}"/>
          <p:cNvSpPr txBox="1"/>
          <p:nvPr/>
        </p:nvSpPr>
        <p:spPr>
          <a:xfrm rot="0" flipH="0" flipV="0">
            <a:off x="857250" y="5619750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476" name="" descr="{&quot;isTemplate&quot;:true,&quot;type&quot;:&quot;text&quot;}"/>
          <p:cNvSpPr txBox="1"/>
          <p:nvPr/>
        </p:nvSpPr>
        <p:spPr>
          <a:xfrm rot="0" flipH="0" flipV="0">
            <a:off x="1276350" y="5572125"/>
            <a:ext cx="10058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「安全外置」不等于「安全不做」——能力一项不缺，只是把组装权交给你。你的用户没这个能力，就得内置。</a:t>
            </a:r>
            <a:endParaRPr/>
          </a:p>
        </p:txBody>
      </p:sp>
      <p:sp>
        <p:nvSpPr>
          <p:cNvPr id="1477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478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36 / 46</a:t>
            </a:r>
            <a:endParaRPr/>
          </a:p>
        </p:txBody>
      </p:sp>
    </p:spTree>
  </p:cSld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1479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3;&#10;    {/* A 区 */}&#13;&#10;    &lt;Box style={{ height: 100, flexDirection: 'row', gap: 16, alignItems: 'flex-start', paddingTop: 6 }}&gt;&#13;&#10;        &lt;Box style={{ width: 4, height: 36, background: '#2AD4EE', marginTop: 5 }} /&gt;&#13;&#10;        &lt;Box style={{ flexDirection: 'column' }}&gt;&#13;&#10;            &lt;Box style={{ flexDirection: 'row', alignItems: 'center', gap: 12 }}&gt;&#13;&#10;                &lt;Text style={{ fontSize: 13, color: '#2AD4EE', letterSpacing: 3, fontFamily: '&quot;JetBrains Mono&quot;, &quot;Cascadia Mono&quot;, Consolas, monospace' }}&gt;DESIGN POINT 09&lt;/Text&gt;&#13;&#10;                &lt;Text style={{ fontSize: 13, color: 'rgba(232,238,249,0.38)', letterSpacing: 2, fontFamily: '&quot;JetBrains Mono&quot;, &quot;Cascadia Mono&quot;, Consolas, monospace' }}&gt;· 七层之外 · 可选&lt;/Text&gt;&#13;&#10;            &lt;/Box&gt;&#13;&#10;            &lt;Text style={{ marginTop: 6, fontSize: 34, fontWeight: 'bold', color: '#E8EEF9' }}&gt;远程会话栈：同一套 Agent，换个壳&lt;/Text&gt;&#13;&#10;        &lt;/Box&gt;&#13;&#10;    &lt;/Box&gt;&#13;&#10;&#13;&#10;    {/* B 区 */}&#13;&#10;    &lt;Box style={{ height: 516, flexDirection: 'column' }}&gt;&#13;&#10;        &lt;Box style={{ height: 452, flexDirection: 'row', gap: 28 }}&gt;&#13;&#10;&#13;&#10;            {/* 左：协议 */}&#13;&#10;            &lt;Box style={{ width: 646, flexDirection: 'column' }}&gt;&#13;&#10;                &lt;Text style={{ fontSize: 14, color: '#2AD4EE', letterSpacing: 2.5, fontFamily: '&quot;JetBrains Mono&quot;, &quot;Cascadia Mono&quot;, Consolas, monospace' }}&gt;PROTOCOL · 三个包&lt;/Text&gt;&#13;&#10;&#13;&#10;                &lt;Box style={{ marginTop: 9, flexDirection: 'column', gap: 6 }}&gt;&#13;&#10;                    {[&#13;&#10;                        ['pi-protocol', 'CBOR schema（typebox 定义）+ framing + codec：只做字节 ↔ 消息，不含任何业务逻辑'],&#13;&#10;                        ['pi-client', '传输无关客户端；ByteTransport 是任意传输的插入点（send/close + onData/onClose/onError）'],&#13;&#10;                        ['pi-server', '接入字节连接、帧解码、sessionId 多路分发、命令调度'],&#13;&#10;                    ].map((r, i) =&gt; (&#13;&#10;                        &lt;Box key={i} style={{ flexDirection: 'row', gap: 12, alignItems: 'flex-start', paddingTop: 7, paddingBottom: 7, borderTop: i === 0 ? 'none' : '1px solid rgba(232,238,249,0.07)' }}&gt;&#13;&#10;                            &lt;Text style={{ width: 112, fontSize: 12, color: '#2AD4EE', fontFamily: '&quot;JetBrains Mono&quot;, &quot;Cascadia Mono&quot;, Consolas, monospace' }}&gt;{r[0]}&lt;/Text&gt;&#13;&#10;                            &lt;Text style={{ flex: 1, fontSize: 12, color: 'rgba(232,238,249,0.68)', lineHeight: 1.55 }}&gt;{r[1]}&lt;/Text&gt;&#13;&#10;                        &lt;/Box&gt;&#13;&#10;                    ))}&#13;&#10;                &lt;/Box&gt;&#13;&#10;&#13;&#10;                &lt;Text style={{ marginTop: 12, fontSize: 13, color: 'rgba(232,238,249,0.46)' }}&gt;线格式与握手&lt;/Text&gt;&#13;&#10;                &lt;CodeBlock&#13;&#10;                    code={`frame  :=  uint32_be(len) + cbor(payload)     // 4-byte big-endian length prefix&#13;&#10;frameDecoder: 任意分块进 -&gt; 完整帧出（带最大帧长校验）&#13;&#10;&#13;&#10;client -&gt; { type: &quot;hello&quot;, version }&#13;&#10;server -&gt; ServerHello { serverId, sessions, models, snapshot }&#13;&#10;       |  hello_error&#13;&#10;// CBOR: smaller than JSON; schema-validated in codec, not a raw WS message`}&#13;&#10;                    language='typescript'&#13;&#10;                    width={646}&#13;&#10;                    fontSize={11.5}&#13;&#10;                    theme='github-dark'&#13;&#10;                /&gt;&#13;&#10;&#13;&#10;                &lt;Text style={{ marginTop: 10, fontSize: 13, color: 'rgba(232,238,249,0.46)' }}&gt;协议条目：远端只理解协议，不理解内核类型&lt;/Text&gt;&#13;&#10;                &lt;Box style={{ marginTop: 6, flexDirection: 'row', gap: 6, flexWrap: 'wrap' }}&gt;&#13;&#10;                    {['UserTranscriptItem', 'AssistantTranscriptItem', 'ToolTranscriptItem', 'item_started', 'assistant_delta', 'item_finished', 'SessionSnapshot', 'prompt / steer / abort'].map((t, i) =&gt; (&#13;&#10;                        &lt;Box key={i} style={{ paddingTop: 3, paddingBottom: 3, paddingLeft: 7, paddingRight: 7, background: 'rgba(42,212,238,0.07)', borderRadius: 2 }}&gt;&#13;&#10;                            &lt;Text style={{ fontSize: 10, color: 'rgba(232,238,249,0.70)', fontFamily: '&quot;JetBrains Mono&quot;, &quot;Cascadia Mono&quot;, Consolas, monospace' }}&gt;{t}&lt;/Text&gt;&#13;&#10;                        &lt;/Box&gt;&#13;&#10;                    ))}&#13;&#10;                &lt;/Box&gt;&#13;&#10;                &lt;Text style={{ marginTop: 7, fontSize: 11.5, color: 'rgba(232,238,249,0.50)', lineHeight: 1.5 }}&gt;&#13;&#10;                    assistant 带 status：streaming / complete / error / aborted —— 远端 UI 靠 status 渲染，不靠猜。&#13;&#10;                &lt;/Text&gt;&#13;&#10;            &lt;/Box&gt;&#13;&#10;&#13;&#10;            {/* 右：五层 + 租约 */}&#13;&#10;            &lt;Box style={{ flex: 1, flexDirection: 'column' }}&gt;&#13;&#10;                &lt;Text style={{ fontSize: 14, color: '#2AD4EE', letterSpacing: 2.5, fontFamily: '&quot;JetBrains Mono&quot;, &quot;Cascadia Mono&quot;, Consolas, monospace' }}&gt;五层 · server 不重写循环&lt;/Text&gt;&#13;&#10;&#13;&#10;                &lt;Box style={{ marginTop: 10, flexDirection: 'column', gap: 4 }}&gt;&#13;&#10;                    {[&#13;&#10;                        ['L5', 'pi-client', '传输无关 CBOR 客户端', 'rgba(42,212,238,0.15)'],&#13;&#10;                        ['L4', 'pi-server', '帧解码 · 多路分发 · 命令调度', 'rgba(42,212,238,0.11)'],&#13;&#10;                        ['L3', 'pi-coding-agent', '产品运行时 · 扩展 · 工具 · 会话', 'rgba(42,212,238,0.08)'],&#13;&#10;                        ['L2', 'pi-agent-core', '循环 · 事件 · 工具编排', 'rgba(42,212,238,0.06)'],&#13;&#10;                        ['L1', 'pi-ai', '统一 LLM provider', 'rgba(232,238,249,0.04)'],&#13;&#10;                    ].map((r, i) =&gt; (&#13;&#10;                        &lt;Box key={i} style={{ flexDirection: 'row', alignItems: 'center', gap: 10, paddingTop: 8, paddingBottom: 8, paddingLeft: 12, paddingRight: 12, background: r[3], border: '1px solid rgba(42,212,238,0.14)', borderRadius: 2 }}&gt;&#13;&#10;                            &lt;Text style={{ width: 26, fontSize: 11, color: 'rgba(42,212,238,0.72)', fontFamily: '&quot;JetBrains Mono&quot;, &quot;Cascadia Mono&quot;, Consolas, monospace' }}&gt;{r[0]}&lt;/Text&gt;&#13;&#10;                            &lt;Text style={{ width: 128, fontSize: 11.5, color: '#E8EEF9', fontFamily: '&quot;JetBrains Mono&quot;, &quot;Cascadia Mono&quot;, Consolas, monospace' }}&gt;{r[1]}&lt;/Text&gt;&#13;&#10;                            &lt;Text style={{ flex: 1, fontSize: 11, color: 'rgba(232,238,249,0.56)' }}&gt;{r[2]}&lt;/Text&gt;&#13;&#10;                        &lt;/Box&gt;&#13;&#10;                    ))}&#13;&#10;                &lt;/Box&gt;&#13;&#10;&#13;&#10;                &lt;Text style={{ marginTop: 10, fontSize: 11.5, color: 'rgba(232,238,249,0.52)', lineHeight: 1.55 }}&gt;&#13;&#10;                    远程只是换个壳：server 内部复用的还是 createAgentSession / AgentSession，行为和本地完全一致。&#13;&#10;                &lt;/Text&gt;&#13;&#10;&#13;&#10;                &lt;Box style={{ marginTop: 10, paddingTop: 10, paddingBottom: 10, paddingLeft: 12, paddingRight: 12, background: 'rgba(22,35,61,0.72)', border: '1px solid rgba(232,238,249,0.10)', borderRadius: 3 }}&gt;&#13;&#10;                    &lt;Text style={{ fontSize: 12, color: '#2AD4EE', fontWeight: 'bold' }}&gt;租约：多端不打架&lt;/Text&gt;&#13;&#10;                    &lt;Text style={{ marginTop: 5, fontSize: 11.5, color: 'rgba(232,238,249,0.64)', lineHeight: 1.55 }}&gt;&#13;&#10;                        exclusive 独占（创建者持有）/ shared 共享附着；支持 generation 失效与清理 reconciliation。零连接 + 零操作 + idle 的会话会被自动 dispose。&#13;&#10;                    &lt;/Text&gt;&#13;&#10;                &lt;/Box&gt;&#13;&#10;&#13;&#10;                &lt;Box style={{ marginTop: 'auto', marginBottom: 6, paddingTop: 8 }}&gt;&#13;&#10;                    &lt;Text style={{ fontSize: 11, color: 'rgba(255,180,120,0.72)', lineHeight: 1.5 }}&gt;&#13;&#10;                        注意：CBOR 栈只有字节流 transport，不原生支持 SSE。要接 HTTP，得自己做网关（POST 控制 + SSE 推帧）。&#13;&#10;                    &lt;/Text&gt;&#13;&#10;                &lt;/Box&gt;&#13;&#10;            &lt;/Box&gt;&#13;&#10;        &lt;/Box&gt;&#13;&#10;&#13;&#10;        {/* 底部 */}&#13;&#10;        &lt;Box style={{ height: 52, marginTop: 8, flexDirection: 'row', alignItems: 'center', gap: 14, paddingLeft: 18, paddingRight: 18, background: 'rgba(42,212,238,0.08)', border: '1px solid rgba(42,212,238,0.22)', borderRadius: 4 }}&gt;&#13;&#10;            &lt;Text style={{ fontSize: 13, color: '#2AD4EE', letterSpacing: 2, fontFamily: '&quot;JetBrains Mono&quot;, &quot;Cascadia Mono&quot;, Consolas, monospace' }}&gt;取舍&lt;/Text&gt;&#13;&#10;            &lt;Text style={{ flex: 1, fontSize: 15, color: '#E8EEF9', lineHeight: 1.5 }}&gt;&#13;&#10;                只是本地进程间通信，stdio RPC（JSON 行协议）就够了。这套栈是为「跨进程、跨机器、多端附着」准备的。&#13;&#10;            &lt;/Text&gt;&#13;&#10;        &lt;/Box&gt;&#13;&#10;    &lt;/Box&gt;&#13;&#10;&#13;&#10;    {/* C 区 */}&#13;&#10;    &lt;Box style={{ height: 40, flexDirection: 'row', alignItems: 'flex-end', justifyContent: 'space-between' }}&gt;&#13;&#10;        &lt;Text style={{ fontSize: 14, color: 'rgba(232,238,249,0.42)' }}&gt;从 LLM 到 Agent 再到 Pi Agent&lt;/Text&gt;&#13;&#10;        &lt;Text style={{ fontSize: 14, color: 'rgba(232,238,249,0.42)', fontFamily: '&quot;JetBrains Mono&quot;, &quot;Cascadia Mono&quot;, Consolas, monospace' }}&gt;37 / 4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481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482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2AD4EE"/>
                </a:solidFill>
                <a:latin typeface="JetBrains Mono"/>
                <a:ea typeface="JetBrains Mono"/>
              </a:rPr>
              <a:t>DESIGN POINT 09</a:t>
            </a:r>
            <a:endParaRPr/>
          </a:p>
        </p:txBody>
      </p:sp>
      <p:sp>
        <p:nvSpPr>
          <p:cNvPr id="1483" name="" descr="{&quot;isTemplate&quot;:true,&quot;type&quot;:&quot;text&quot;}"/>
          <p:cNvSpPr txBox="1"/>
          <p:nvPr/>
        </p:nvSpPr>
        <p:spPr>
          <a:xfrm rot="0" flipH="0" flipV="0">
            <a:off x="2514600" y="247650"/>
            <a:ext cx="1323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七层之外</a:t>
            </a: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可选</a:t>
            </a:r>
            <a:endParaRPr/>
          </a:p>
        </p:txBody>
      </p:sp>
      <p:sp>
        <p:nvSpPr>
          <p:cNvPr id="1484" name="" descr="{&quot;isTemplate&quot;:true,&quot;type&quot;:&quot;text&quot;}"/>
          <p:cNvSpPr txBox="1"/>
          <p:nvPr/>
        </p:nvSpPr>
        <p:spPr>
          <a:xfrm rot="0" flipH="0" flipV="0">
            <a:off x="876300" y="457200"/>
            <a:ext cx="510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远程会话栈：同一套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，换个壳</a:t>
            </a:r>
            <a:endParaRPr/>
          </a:p>
        </p:txBody>
      </p:sp>
      <p:sp>
        <p:nvSpPr>
          <p:cNvPr id="1485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615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PROTOCOL ·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三个包</a:t>
            </a:r>
            <a:endParaRPr/>
          </a:p>
        </p:txBody>
      </p:sp>
      <p:sp>
        <p:nvSpPr>
          <p:cNvPr id="1486" name="" descr="{&quot;isTemplate&quot;:true,&quot;type&quot;:&quot;text&quot;}"/>
          <p:cNvSpPr txBox="1"/>
          <p:nvPr/>
        </p:nvSpPr>
        <p:spPr>
          <a:xfrm rot="0" flipH="0" flipV="0">
            <a:off x="685800" y="1457325"/>
            <a:ext cx="1066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pi-protocol</a:t>
            </a:r>
            <a:endParaRPr/>
          </a:p>
        </p:txBody>
      </p:sp>
      <p:sp>
        <p:nvSpPr>
          <p:cNvPr id="1487" name="" descr="{&quot;isTemplate&quot;:true,&quot;type&quot;:&quot;text&quot;}"/>
          <p:cNvSpPr txBox="1"/>
          <p:nvPr/>
        </p:nvSpPr>
        <p:spPr>
          <a:xfrm rot="0" flipH="0" flipV="0">
            <a:off x="1866900" y="1457325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CBOR schema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（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typebox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定义）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+ framing + codec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：只做字节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↔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消息，不含任何业务逻辑</a:t>
            </a:r>
            <a:endParaRPr/>
          </a:p>
        </p:txBody>
      </p:sp>
      <p:sp>
        <p:nvSpPr>
          <p:cNvPr id="1488" name=""/>
          <p:cNvSpPr/>
          <p:nvPr/>
        </p:nvSpPr>
        <p:spPr>
          <a:xfrm rot="0" flipH="0" flipV="0">
            <a:off x="685800" y="1800225"/>
            <a:ext cx="6153150" cy="371475"/>
          </a:xfrm>
          <a:custGeom>
            <a:pathLst>
              <a:path w="646" h="39">
                <a:moveTo>
                  <a:pt x="0" y="0"/>
                </a:moveTo>
                <a:lnTo>
                  <a:pt x="646" y="0"/>
                </a:lnTo>
                <a:lnTo>
                  <a:pt x="6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/>
        </p:txBody>
      </p:sp>
      <p:sp>
        <p:nvSpPr>
          <p:cNvPr id="1489" name="" descr="{&quot;isTemplate&quot;:true,&quot;type&quot;:&quot;text&quot;}"/>
          <p:cNvSpPr txBox="1"/>
          <p:nvPr/>
        </p:nvSpPr>
        <p:spPr>
          <a:xfrm rot="0" flipH="0" flipV="0">
            <a:off x="685800" y="1876425"/>
            <a:ext cx="1066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pi-client</a:t>
            </a:r>
            <a:endParaRPr/>
          </a:p>
        </p:txBody>
      </p:sp>
      <p:sp>
        <p:nvSpPr>
          <p:cNvPr id="1490" name="" descr="{&quot;isTemplate&quot;:true,&quot;type&quot;:&quot;text&quot;}"/>
          <p:cNvSpPr txBox="1"/>
          <p:nvPr/>
        </p:nvSpPr>
        <p:spPr>
          <a:xfrm rot="0" flipH="0" flipV="0">
            <a:off x="1866900" y="1876425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传输无关客户端；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ByteTransport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是任意传输的插入点（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send/close + onData/onClose/onError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491" name=""/>
          <p:cNvSpPr/>
          <p:nvPr/>
        </p:nvSpPr>
        <p:spPr>
          <a:xfrm rot="0" flipH="0" flipV="0">
            <a:off x="685800" y="2219325"/>
            <a:ext cx="6153150" cy="371475"/>
          </a:xfrm>
          <a:custGeom>
            <a:pathLst>
              <a:path w="646" h="39">
                <a:moveTo>
                  <a:pt x="0" y="0"/>
                </a:moveTo>
                <a:lnTo>
                  <a:pt x="646" y="0"/>
                </a:lnTo>
                <a:lnTo>
                  <a:pt x="6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7000"/>
            </a:srgbClr>
          </a:solidFill>
          <a:ln/>
        </p:spPr>
        <p:txBody>
          <a:bodyPr/>
          <a:p/>
        </p:txBody>
      </p:sp>
      <p:sp>
        <p:nvSpPr>
          <p:cNvPr id="1492" name="" descr="{&quot;isTemplate&quot;:true,&quot;type&quot;:&quot;text&quot;}"/>
          <p:cNvSpPr txBox="1"/>
          <p:nvPr/>
        </p:nvSpPr>
        <p:spPr>
          <a:xfrm rot="0" flipH="0" flipV="0">
            <a:off x="685800" y="2295525"/>
            <a:ext cx="1066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pi-server</a:t>
            </a:r>
            <a:endParaRPr/>
          </a:p>
        </p:txBody>
      </p:sp>
      <p:sp>
        <p:nvSpPr>
          <p:cNvPr id="1493" name="" descr="{&quot;isTemplate&quot;:true,&quot;type&quot;:&quot;text&quot;}"/>
          <p:cNvSpPr txBox="1"/>
          <p:nvPr/>
        </p:nvSpPr>
        <p:spPr>
          <a:xfrm rot="0" flipH="0" flipV="0">
            <a:off x="1866900" y="2295525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接入字节连接、帧解码、</a:t>
            </a:r>
            <a:r>
              <a:rPr lang="en-US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sessionId </a:t>
            </a:r>
            <a:r>
              <a:rPr lang="zh-CN" sz="9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多路分发、命令调度</a:t>
            </a:r>
            <a:endParaRPr/>
          </a:p>
        </p:txBody>
      </p:sp>
      <p:sp>
        <p:nvSpPr>
          <p:cNvPr id="1494" name="" descr="{&quot;isTemplate&quot;:true,&quot;type&quot;:&quot;text&quot;}"/>
          <p:cNvSpPr txBox="1"/>
          <p:nvPr/>
        </p:nvSpPr>
        <p:spPr>
          <a:xfrm rot="0" flipH="0" flipV="0">
            <a:off x="685800" y="2695575"/>
            <a:ext cx="6153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线格式与握手</a:t>
            </a:r>
            <a:endParaRPr/>
          </a:p>
        </p:txBody>
      </p:sp>
      <p:sp>
        <p:nvSpPr>
          <p:cNvPr id="1495" name="" descr="{&quot;isTemplate&quot;:true,&quot;type&quot;:&quot;text&quot;}"/>
          <p:cNvSpPr txBox="1"/>
          <p:nvPr/>
        </p:nvSpPr>
        <p:spPr>
          <a:xfrm rot="0" flipH="0" flipV="0">
            <a:off x="685800" y="4505325"/>
            <a:ext cx="6153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6000"/>
                  </a:srgbClr>
                </a:solidFill>
                <a:latin typeface="Source Han Sans SC"/>
                <a:ea typeface="Source Han Sans SC"/>
              </a:rPr>
              <a:t>协议条目：远端只理解协议，不理解内核类型</a:t>
            </a:r>
            <a:endParaRPr/>
          </a:p>
        </p:txBody>
      </p:sp>
      <p:sp>
        <p:nvSpPr>
          <p:cNvPr id="1496" name=""/>
          <p:cNvSpPr/>
          <p:nvPr/>
        </p:nvSpPr>
        <p:spPr>
          <a:xfrm rot="0" flipH="0" flipV="0">
            <a:off x="685800" y="4714875"/>
            <a:ext cx="1143000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497" name="" descr="{&quot;isTemplate&quot;:true,&quot;type&quot;:&quot;text&quot;}"/>
          <p:cNvSpPr txBox="1"/>
          <p:nvPr/>
        </p:nvSpPr>
        <p:spPr>
          <a:xfrm rot="0" flipH="0" flipV="0">
            <a:off x="752475" y="4743450"/>
            <a:ext cx="10096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70000"/>
                  </a:srgbClr>
                </a:solidFill>
                <a:latin typeface="JetBrains Mono"/>
                <a:ea typeface="JetBrains Mono"/>
              </a:rPr>
              <a:t>UserTranscriptItem</a:t>
            </a:r>
            <a:endParaRPr/>
          </a:p>
        </p:txBody>
      </p:sp>
      <p:sp>
        <p:nvSpPr>
          <p:cNvPr id="1498" name=""/>
          <p:cNvSpPr/>
          <p:nvPr/>
        </p:nvSpPr>
        <p:spPr>
          <a:xfrm rot="0" flipH="0" flipV="0">
            <a:off x="1885950" y="4714875"/>
            <a:ext cx="1419225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499" name="" descr="{&quot;isTemplate&quot;:true,&quot;type&quot;:&quot;text&quot;}"/>
          <p:cNvSpPr txBox="1"/>
          <p:nvPr/>
        </p:nvSpPr>
        <p:spPr>
          <a:xfrm rot="0" flipH="0" flipV="0">
            <a:off x="1952625" y="4743450"/>
            <a:ext cx="12858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70000"/>
                  </a:srgbClr>
                </a:solidFill>
                <a:latin typeface="JetBrains Mono"/>
                <a:ea typeface="JetBrains Mono"/>
              </a:rPr>
              <a:t>AssistantTranscriptItem</a:t>
            </a:r>
            <a:endParaRPr/>
          </a:p>
        </p:txBody>
      </p:sp>
      <p:sp>
        <p:nvSpPr>
          <p:cNvPr id="1500" name=""/>
          <p:cNvSpPr/>
          <p:nvPr/>
        </p:nvSpPr>
        <p:spPr>
          <a:xfrm rot="0" flipH="0" flipV="0">
            <a:off x="3362325" y="4714875"/>
            <a:ext cx="1143000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501" name="" descr="{&quot;isTemplate&quot;:true,&quot;type&quot;:&quot;text&quot;}"/>
          <p:cNvSpPr txBox="1"/>
          <p:nvPr/>
        </p:nvSpPr>
        <p:spPr>
          <a:xfrm rot="0" flipH="0" flipV="0">
            <a:off x="3429000" y="4743450"/>
            <a:ext cx="10096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70000"/>
                  </a:srgbClr>
                </a:solidFill>
                <a:latin typeface="JetBrains Mono"/>
                <a:ea typeface="JetBrains Mono"/>
              </a:rPr>
              <a:t>ToolTranscriptItem</a:t>
            </a:r>
            <a:endParaRPr/>
          </a:p>
        </p:txBody>
      </p:sp>
      <p:sp>
        <p:nvSpPr>
          <p:cNvPr id="1502" name=""/>
          <p:cNvSpPr/>
          <p:nvPr/>
        </p:nvSpPr>
        <p:spPr>
          <a:xfrm rot="0" flipH="0" flipV="0">
            <a:off x="4562475" y="4714875"/>
            <a:ext cx="809625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503" name="" descr="{&quot;isTemplate&quot;:true,&quot;type&quot;:&quot;text&quot;}"/>
          <p:cNvSpPr txBox="1"/>
          <p:nvPr/>
        </p:nvSpPr>
        <p:spPr>
          <a:xfrm rot="0" flipH="0" flipV="0">
            <a:off x="4629150" y="4743450"/>
            <a:ext cx="6762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70000"/>
                  </a:srgbClr>
                </a:solidFill>
                <a:latin typeface="JetBrains Mono"/>
                <a:ea typeface="JetBrains Mono"/>
              </a:rPr>
              <a:t>item_started</a:t>
            </a:r>
            <a:endParaRPr/>
          </a:p>
        </p:txBody>
      </p:sp>
      <p:sp>
        <p:nvSpPr>
          <p:cNvPr id="1504" name=""/>
          <p:cNvSpPr/>
          <p:nvPr/>
        </p:nvSpPr>
        <p:spPr>
          <a:xfrm rot="0" flipH="0" flipV="0">
            <a:off x="5429250" y="4714875"/>
            <a:ext cx="971550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505" name="" descr="{&quot;isTemplate&quot;:true,&quot;type&quot;:&quot;text&quot;}"/>
          <p:cNvSpPr txBox="1"/>
          <p:nvPr/>
        </p:nvSpPr>
        <p:spPr>
          <a:xfrm rot="0" flipH="0" flipV="0">
            <a:off x="5495925" y="4743450"/>
            <a:ext cx="8382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70000"/>
                  </a:srgbClr>
                </a:solidFill>
                <a:latin typeface="JetBrains Mono"/>
                <a:ea typeface="JetBrains Mono"/>
              </a:rPr>
              <a:t>assistant_delta</a:t>
            </a:r>
            <a:endParaRPr/>
          </a:p>
        </p:txBody>
      </p:sp>
      <p:sp>
        <p:nvSpPr>
          <p:cNvPr id="1506" name=""/>
          <p:cNvSpPr/>
          <p:nvPr/>
        </p:nvSpPr>
        <p:spPr>
          <a:xfrm rot="0" flipH="0" flipV="0">
            <a:off x="685800" y="4943475"/>
            <a:ext cx="866775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507" name="" descr="{&quot;isTemplate&quot;:true,&quot;type&quot;:&quot;text&quot;}"/>
          <p:cNvSpPr txBox="1"/>
          <p:nvPr/>
        </p:nvSpPr>
        <p:spPr>
          <a:xfrm rot="0" flipH="0" flipV="0">
            <a:off x="752475" y="4972050"/>
            <a:ext cx="7334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70000"/>
                  </a:srgbClr>
                </a:solidFill>
                <a:latin typeface="JetBrains Mono"/>
                <a:ea typeface="JetBrains Mono"/>
              </a:rPr>
              <a:t>item_finished</a:t>
            </a:r>
            <a:endParaRPr/>
          </a:p>
        </p:txBody>
      </p:sp>
      <p:sp>
        <p:nvSpPr>
          <p:cNvPr id="1508" name=""/>
          <p:cNvSpPr/>
          <p:nvPr/>
        </p:nvSpPr>
        <p:spPr>
          <a:xfrm rot="0" flipH="0" flipV="0">
            <a:off x="1609725" y="4943475"/>
            <a:ext cx="971550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509" name="" descr="{&quot;isTemplate&quot;:true,&quot;type&quot;:&quot;text&quot;}"/>
          <p:cNvSpPr txBox="1"/>
          <p:nvPr/>
        </p:nvSpPr>
        <p:spPr>
          <a:xfrm rot="0" flipH="0" flipV="0">
            <a:off x="1676400" y="4972050"/>
            <a:ext cx="8382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70000"/>
                  </a:srgbClr>
                </a:solidFill>
                <a:latin typeface="JetBrains Mono"/>
                <a:ea typeface="JetBrains Mono"/>
              </a:rPr>
              <a:t>SessionSnapshot</a:t>
            </a:r>
            <a:endParaRPr/>
          </a:p>
        </p:txBody>
      </p:sp>
      <p:sp>
        <p:nvSpPr>
          <p:cNvPr id="1510" name=""/>
          <p:cNvSpPr/>
          <p:nvPr/>
        </p:nvSpPr>
        <p:spPr>
          <a:xfrm rot="0" flipH="0" flipV="0">
            <a:off x="2638425" y="4943475"/>
            <a:ext cx="1362075" cy="171450"/>
          </a:xfrm>
          <a:prstGeom prst="roundRect">
            <a:avLst>
              <a:gd name="adj" fmla="val 11111"/>
            </a:avLst>
          </a:prstGeom>
          <a:solidFill>
            <a:srgbClr val="2AD4EE">
              <a:alpha val="7000"/>
            </a:srgbClr>
          </a:solidFill>
          <a:ln/>
        </p:spPr>
        <p:txBody>
          <a:bodyPr/>
          <a:p/>
        </p:txBody>
      </p:sp>
      <p:sp>
        <p:nvSpPr>
          <p:cNvPr id="1511" name="" descr="{&quot;isTemplate&quot;:true,&quot;type&quot;:&quot;text&quot;}"/>
          <p:cNvSpPr txBox="1"/>
          <p:nvPr/>
        </p:nvSpPr>
        <p:spPr>
          <a:xfrm rot="0" flipH="0" flipV="0">
            <a:off x="2705100" y="4972050"/>
            <a:ext cx="12287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50">
                <a:solidFill>
                  <a:srgbClr val="E8EEF9">
                    <a:alpha val="70000"/>
                  </a:srgbClr>
                </a:solidFill>
                <a:latin typeface="JetBrains Mono"/>
                <a:ea typeface="JetBrains Mono"/>
              </a:rPr>
              <a:t>prompt / steer / abort</a:t>
            </a:r>
            <a:endParaRPr/>
          </a:p>
        </p:txBody>
      </p:sp>
      <p:sp>
        <p:nvSpPr>
          <p:cNvPr id="1512" name="" descr="{&quot;isTemplate&quot;:true,&quot;type&quot;:&quot;text&quot;}"/>
          <p:cNvSpPr txBox="1"/>
          <p:nvPr/>
        </p:nvSpPr>
        <p:spPr>
          <a:xfrm rot="0" flipH="0" flipV="0">
            <a:off x="685800" y="5181600"/>
            <a:ext cx="615315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assistant </a:t>
            </a: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带</a:t>
            </a:r>
            <a:r>
              <a:rPr lang="en-US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status</a:t>
            </a: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：</a:t>
            </a:r>
            <a:r>
              <a:rPr lang="en-US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streaming / complete / error / aborted —— </a:t>
            </a: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远端</a:t>
            </a:r>
            <a:r>
              <a:rPr lang="en-US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UI </a:t>
            </a: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靠</a:t>
            </a:r>
            <a:r>
              <a:rPr lang="en-US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status </a:t>
            </a:r>
            <a:r>
              <a:rPr lang="zh-CN" sz="86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渲染，不靠猜。</a:t>
            </a:r>
            <a:endParaRPr/>
          </a:p>
        </p:txBody>
      </p:sp>
      <p:sp>
        <p:nvSpPr>
          <p:cNvPr id="1513" name="" descr="{&quot;isTemplate&quot;:true,&quot;type&quot;:&quot;text&quot;}"/>
          <p:cNvSpPr txBox="1"/>
          <p:nvPr/>
        </p:nvSpPr>
        <p:spPr>
          <a:xfrm rot="0" flipH="0" flipV="0">
            <a:off x="7105650" y="1143000"/>
            <a:ext cx="440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五层</a:t>
            </a:r>
            <a:r>
              <a:rPr lang="en-US" sz="1050" spc="188">
                <a:solidFill>
                  <a:srgbClr val="2AD4EE"/>
                </a:solidFill>
                <a:latin typeface="JetBrains Mono"/>
                <a:ea typeface="JetBrains Mono"/>
              </a:rPr>
              <a:t xml:space="preserve"> · server </a:t>
            </a:r>
            <a:r>
              <a:rPr lang="zh-CN" sz="1050" spc="188">
                <a:solidFill>
                  <a:srgbClr val="2AD4EE"/>
                </a:solidFill>
                <a:latin typeface="JetBrains Mono"/>
                <a:ea typeface="JetBrains Mono"/>
              </a:rPr>
              <a:t>不重写循环</a:t>
            </a:r>
            <a:endParaRPr/>
          </a:p>
        </p:txBody>
      </p:sp>
      <p:sp>
        <p:nvSpPr>
          <p:cNvPr id="1514" name=""/>
          <p:cNvSpPr/>
          <p:nvPr/>
        </p:nvSpPr>
        <p:spPr>
          <a:xfrm rot="0" flipH="0" flipV="0">
            <a:off x="7105650" y="1400175"/>
            <a:ext cx="4400550" cy="285750"/>
          </a:xfrm>
          <a:prstGeom prst="roundRect">
            <a:avLst>
              <a:gd name="adj" fmla="val 6667"/>
            </a:avLst>
          </a:prstGeom>
          <a:solidFill>
            <a:srgbClr val="2AD4EE">
              <a:alpha val="15000"/>
            </a:srgbClr>
          </a:solidFill>
          <a:ln w="12700">
            <a:solidFill>
              <a:srgbClr val="2AD4EE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15" name="" descr="{&quot;isTemplate&quot;:true,&quot;type&quot;:&quot;text&quot;}"/>
          <p:cNvSpPr txBox="1"/>
          <p:nvPr/>
        </p:nvSpPr>
        <p:spPr>
          <a:xfrm rot="0" flipH="0" flipV="0">
            <a:off x="7219950" y="1476375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L5</a:t>
            </a:r>
            <a:endParaRPr/>
          </a:p>
        </p:txBody>
      </p:sp>
      <p:sp>
        <p:nvSpPr>
          <p:cNvPr id="1516" name="" descr="{&quot;isTemplate&quot;:true,&quot;type&quot;:&quot;text&quot;}"/>
          <p:cNvSpPr txBox="1"/>
          <p:nvPr/>
        </p:nvSpPr>
        <p:spPr>
          <a:xfrm rot="0" flipH="0" flipV="0">
            <a:off x="7562850" y="1476375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pi-client</a:t>
            </a:r>
            <a:endParaRPr/>
          </a:p>
        </p:txBody>
      </p:sp>
      <p:sp>
        <p:nvSpPr>
          <p:cNvPr id="1517" name="" descr="{&quot;isTemplate&quot;:true,&quot;type&quot;:&quot;text&quot;}"/>
          <p:cNvSpPr txBox="1"/>
          <p:nvPr/>
        </p:nvSpPr>
        <p:spPr>
          <a:xfrm rot="0" flipH="0" flipV="0">
            <a:off x="8877300" y="1476375"/>
            <a:ext cx="2514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传输无关</a:t>
            </a:r>
            <a:r>
              <a:rPr lang="en-US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CBOR </a:t>
            </a:r>
            <a:r>
              <a:rPr lang="zh-CN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客户端</a:t>
            </a:r>
            <a:endParaRPr/>
          </a:p>
        </p:txBody>
      </p:sp>
      <p:sp>
        <p:nvSpPr>
          <p:cNvPr id="1518" name=""/>
          <p:cNvSpPr/>
          <p:nvPr/>
        </p:nvSpPr>
        <p:spPr>
          <a:xfrm rot="0" flipH="0" flipV="0">
            <a:off x="7105650" y="1724025"/>
            <a:ext cx="4400550" cy="285750"/>
          </a:xfrm>
          <a:prstGeom prst="roundRect">
            <a:avLst>
              <a:gd name="adj" fmla="val 6667"/>
            </a:avLst>
          </a:prstGeom>
          <a:solidFill>
            <a:srgbClr val="2AD4EE">
              <a:alpha val="11000"/>
            </a:srgbClr>
          </a:solidFill>
          <a:ln w="12700">
            <a:solidFill>
              <a:srgbClr val="2AD4EE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19" name="" descr="{&quot;isTemplate&quot;:true,&quot;type&quot;:&quot;text&quot;}"/>
          <p:cNvSpPr txBox="1"/>
          <p:nvPr/>
        </p:nvSpPr>
        <p:spPr>
          <a:xfrm rot="0" flipH="0" flipV="0">
            <a:off x="7219950" y="1800225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L4</a:t>
            </a:r>
            <a:endParaRPr/>
          </a:p>
        </p:txBody>
      </p:sp>
      <p:sp>
        <p:nvSpPr>
          <p:cNvPr id="1520" name="" descr="{&quot;isTemplate&quot;:true,&quot;type&quot;:&quot;text&quot;}"/>
          <p:cNvSpPr txBox="1"/>
          <p:nvPr/>
        </p:nvSpPr>
        <p:spPr>
          <a:xfrm rot="0" flipH="0" flipV="0">
            <a:off x="7562850" y="1800225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pi-server</a:t>
            </a:r>
            <a:endParaRPr/>
          </a:p>
        </p:txBody>
      </p:sp>
      <p:sp>
        <p:nvSpPr>
          <p:cNvPr id="1521" name="" descr="{&quot;isTemplate&quot;:true,&quot;type&quot;:&quot;text&quot;}"/>
          <p:cNvSpPr txBox="1"/>
          <p:nvPr/>
        </p:nvSpPr>
        <p:spPr>
          <a:xfrm rot="0" flipH="0" flipV="0">
            <a:off x="8877300" y="1800225"/>
            <a:ext cx="2514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帧解码</a:t>
            </a:r>
            <a:r>
              <a:rPr lang="en-US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多路分发</a:t>
            </a:r>
            <a:r>
              <a:rPr lang="en-US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命令调度</a:t>
            </a:r>
            <a:endParaRPr/>
          </a:p>
        </p:txBody>
      </p:sp>
      <p:sp>
        <p:nvSpPr>
          <p:cNvPr id="1522" name=""/>
          <p:cNvSpPr/>
          <p:nvPr/>
        </p:nvSpPr>
        <p:spPr>
          <a:xfrm rot="0" flipH="0" flipV="0">
            <a:off x="7105650" y="2047875"/>
            <a:ext cx="4400550" cy="285750"/>
          </a:xfrm>
          <a:prstGeom prst="roundRect">
            <a:avLst>
              <a:gd name="adj" fmla="val 666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23" name="" descr="{&quot;isTemplate&quot;:true,&quot;type&quot;:&quot;text&quot;}"/>
          <p:cNvSpPr txBox="1"/>
          <p:nvPr/>
        </p:nvSpPr>
        <p:spPr>
          <a:xfrm rot="0" flipH="0" flipV="0">
            <a:off x="7219950" y="2124075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L3</a:t>
            </a:r>
            <a:endParaRPr/>
          </a:p>
        </p:txBody>
      </p:sp>
      <p:sp>
        <p:nvSpPr>
          <p:cNvPr id="1524" name="" descr="{&quot;isTemplate&quot;:true,&quot;type&quot;:&quot;text&quot;}"/>
          <p:cNvSpPr txBox="1"/>
          <p:nvPr/>
        </p:nvSpPr>
        <p:spPr>
          <a:xfrm rot="0" flipH="0" flipV="0">
            <a:off x="7562850" y="2124075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pi-coding-agent</a:t>
            </a:r>
            <a:endParaRPr/>
          </a:p>
        </p:txBody>
      </p:sp>
      <p:sp>
        <p:nvSpPr>
          <p:cNvPr id="1525" name="" descr="{&quot;isTemplate&quot;:true,&quot;type&quot;:&quot;text&quot;}"/>
          <p:cNvSpPr txBox="1"/>
          <p:nvPr/>
        </p:nvSpPr>
        <p:spPr>
          <a:xfrm rot="0" flipH="0" flipV="0">
            <a:off x="8877300" y="2124075"/>
            <a:ext cx="2514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产品运行时</a:t>
            </a:r>
            <a:r>
              <a:rPr lang="en-US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扩展</a:t>
            </a:r>
            <a:r>
              <a:rPr lang="en-US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会话</a:t>
            </a:r>
            <a:endParaRPr/>
          </a:p>
        </p:txBody>
      </p:sp>
      <p:sp>
        <p:nvSpPr>
          <p:cNvPr id="1526" name=""/>
          <p:cNvSpPr/>
          <p:nvPr/>
        </p:nvSpPr>
        <p:spPr>
          <a:xfrm rot="0" flipH="0" flipV="0">
            <a:off x="7105650" y="2371725"/>
            <a:ext cx="4400550" cy="285750"/>
          </a:xfrm>
          <a:prstGeom prst="roundRect">
            <a:avLst>
              <a:gd name="adj" fmla="val 6667"/>
            </a:avLst>
          </a:prstGeom>
          <a:solidFill>
            <a:srgbClr val="2AD4EE">
              <a:alpha val="6000"/>
            </a:srgbClr>
          </a:solidFill>
          <a:ln w="12700">
            <a:solidFill>
              <a:srgbClr val="2AD4EE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27" name="" descr="{&quot;isTemplate&quot;:true,&quot;type&quot;:&quot;text&quot;}"/>
          <p:cNvSpPr txBox="1"/>
          <p:nvPr/>
        </p:nvSpPr>
        <p:spPr>
          <a:xfrm rot="0" flipH="0" flipV="0">
            <a:off x="7219950" y="2447925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L2</a:t>
            </a:r>
            <a:endParaRPr/>
          </a:p>
        </p:txBody>
      </p:sp>
      <p:sp>
        <p:nvSpPr>
          <p:cNvPr id="1528" name="" descr="{&quot;isTemplate&quot;:true,&quot;type&quot;:&quot;text&quot;}"/>
          <p:cNvSpPr txBox="1"/>
          <p:nvPr/>
        </p:nvSpPr>
        <p:spPr>
          <a:xfrm rot="0" flipH="0" flipV="0">
            <a:off x="7562850" y="2447925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pi-agent-core</a:t>
            </a:r>
            <a:endParaRPr/>
          </a:p>
        </p:txBody>
      </p:sp>
      <p:sp>
        <p:nvSpPr>
          <p:cNvPr id="1529" name="" descr="{&quot;isTemplate&quot;:true,&quot;type&quot;:&quot;text&quot;}"/>
          <p:cNvSpPr txBox="1"/>
          <p:nvPr/>
        </p:nvSpPr>
        <p:spPr>
          <a:xfrm rot="0" flipH="0" flipV="0">
            <a:off x="8877300" y="2447925"/>
            <a:ext cx="2514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循环</a:t>
            </a:r>
            <a:r>
              <a:rPr lang="en-US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事件</a:t>
            </a:r>
            <a:r>
              <a:rPr lang="en-US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工具编排</a:t>
            </a:r>
            <a:endParaRPr/>
          </a:p>
        </p:txBody>
      </p:sp>
      <p:sp>
        <p:nvSpPr>
          <p:cNvPr id="1530" name=""/>
          <p:cNvSpPr/>
          <p:nvPr/>
        </p:nvSpPr>
        <p:spPr>
          <a:xfrm rot="0" flipH="0" flipV="0">
            <a:off x="7105650" y="2695575"/>
            <a:ext cx="4400550" cy="285750"/>
          </a:xfrm>
          <a:prstGeom prst="roundRect">
            <a:avLst>
              <a:gd name="adj" fmla="val 6667"/>
            </a:avLst>
          </a:prstGeom>
          <a:solidFill>
            <a:srgbClr val="E8EEF9">
              <a:alpha val="4000"/>
            </a:srgbClr>
          </a:solidFill>
          <a:ln w="12700">
            <a:solidFill>
              <a:srgbClr val="2AD4EE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31" name="" descr="{&quot;isTemplate&quot;:true,&quot;type&quot;:&quot;text&quot;}"/>
          <p:cNvSpPr txBox="1"/>
          <p:nvPr/>
        </p:nvSpPr>
        <p:spPr>
          <a:xfrm rot="0" flipH="0" flipV="0">
            <a:off x="7219950" y="2771775"/>
            <a:ext cx="247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L1</a:t>
            </a:r>
            <a:endParaRPr/>
          </a:p>
        </p:txBody>
      </p:sp>
      <p:sp>
        <p:nvSpPr>
          <p:cNvPr id="1532" name="" descr="{&quot;isTemplate&quot;:true,&quot;type&quot;:&quot;text&quot;}"/>
          <p:cNvSpPr txBox="1"/>
          <p:nvPr/>
        </p:nvSpPr>
        <p:spPr>
          <a:xfrm rot="0" flipH="0" flipV="0">
            <a:off x="7562850" y="2771775"/>
            <a:ext cx="1219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E8EEF9"/>
                </a:solidFill>
                <a:latin typeface="JetBrains Mono"/>
                <a:ea typeface="JetBrains Mono"/>
              </a:rPr>
              <a:t>pi-ai</a:t>
            </a:r>
            <a:endParaRPr/>
          </a:p>
        </p:txBody>
      </p:sp>
      <p:sp>
        <p:nvSpPr>
          <p:cNvPr id="1533" name="" descr="{&quot;isTemplate&quot;:true,&quot;type&quot;:&quot;text&quot;}"/>
          <p:cNvSpPr txBox="1"/>
          <p:nvPr/>
        </p:nvSpPr>
        <p:spPr>
          <a:xfrm rot="0" flipH="0" flipV="0">
            <a:off x="8877300" y="2771775"/>
            <a:ext cx="25146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>统一</a:t>
            </a:r>
            <a:r>
              <a:rPr lang="en-US" sz="825">
                <a:solidFill>
                  <a:srgbClr val="E8EEF9">
                    <a:alpha val="56000"/>
                  </a:srgbClr>
                </a:solidFill>
                <a:latin typeface="Source Han Sans SC"/>
                <a:ea typeface="Source Han Sans SC"/>
              </a:rPr>
              <a:t xml:space="preserve"> LLM provider</a:t>
            </a:r>
            <a:endParaRPr/>
          </a:p>
        </p:txBody>
      </p:sp>
      <p:sp>
        <p:nvSpPr>
          <p:cNvPr id="1534" name="" descr="{&quot;isTemplate&quot;:true,&quot;type&quot;:&quot;text&quot;}"/>
          <p:cNvSpPr txBox="1"/>
          <p:nvPr/>
        </p:nvSpPr>
        <p:spPr>
          <a:xfrm rot="0" flipH="0" flipV="0">
            <a:off x="7105650" y="3076575"/>
            <a:ext cx="44005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863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远程只是换个壳：</a:t>
            </a:r>
            <a:r>
              <a:rPr lang="en-US" sz="863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server </a:t>
            </a:r>
            <a:r>
              <a:rPr lang="zh-CN" sz="863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内部复用的还是</a:t>
            </a:r>
            <a:r>
              <a:rPr lang="en-US" sz="863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createAgentSession / AgentSession</a:t>
            </a:r>
            <a:r>
              <a:rPr lang="zh-CN" sz="863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，行为和本地完全一致。</a:t>
            </a:r>
            <a:endParaRPr/>
          </a:p>
        </p:txBody>
      </p:sp>
      <p:sp>
        <p:nvSpPr>
          <p:cNvPr id="1535" name=""/>
          <p:cNvSpPr/>
          <p:nvPr/>
        </p:nvSpPr>
        <p:spPr>
          <a:xfrm rot="0" flipH="0" flipV="0">
            <a:off x="7105650" y="3581400"/>
            <a:ext cx="4400550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7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36" name="" descr="{&quot;isTemplate&quot;:true,&quot;type&quot;:&quot;text&quot;}"/>
          <p:cNvSpPr txBox="1"/>
          <p:nvPr/>
        </p:nvSpPr>
        <p:spPr>
          <a:xfrm rot="0" flipH="0" flipV="0">
            <a:off x="7219950" y="3676650"/>
            <a:ext cx="417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2AD4EE"/>
                </a:solidFill>
                <a:latin typeface="Source Han Sans SC"/>
                <a:ea typeface="Source Han Sans SC"/>
              </a:rPr>
              <a:t>租约：多端不打架</a:t>
            </a:r>
            <a:endParaRPr/>
          </a:p>
        </p:txBody>
      </p:sp>
      <p:sp>
        <p:nvSpPr>
          <p:cNvPr id="1537" name="" descr="{&quot;isTemplate&quot;:true,&quot;type&quot;:&quot;text&quot;}"/>
          <p:cNvSpPr txBox="1"/>
          <p:nvPr/>
        </p:nvSpPr>
        <p:spPr>
          <a:xfrm rot="0" flipH="0" flipV="0">
            <a:off x="7219950" y="3867150"/>
            <a:ext cx="4171950" cy="409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863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exclusive </a:t>
            </a:r>
            <a:r>
              <a:rPr lang="zh-CN" sz="863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独占（创建者持有）</a:t>
            </a:r>
            <a:r>
              <a:rPr lang="en-US" sz="863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/ shared </a:t>
            </a:r>
            <a:r>
              <a:rPr lang="zh-CN" sz="863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共享附着；支持</a:t>
            </a:r>
            <a:r>
              <a:rPr lang="en-US" sz="863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generation </a:t>
            </a:r>
            <a:r>
              <a:rPr lang="zh-CN" sz="863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失效与清理</a:t>
            </a:r>
            <a:r>
              <a:rPr lang="en-US" sz="863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reconciliation</a:t>
            </a:r>
            <a:r>
              <a:rPr lang="zh-CN" sz="863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。零连接</a:t>
            </a:r>
            <a:r>
              <a:rPr lang="en-US" sz="863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863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零操作</a:t>
            </a:r>
            <a:r>
              <a:rPr lang="en-US" sz="863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+ idle </a:t>
            </a:r>
            <a:r>
              <a:rPr lang="zh-CN" sz="863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的会话会被自动</a:t>
            </a:r>
            <a:r>
              <a:rPr lang="en-US" sz="863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dispose</a:t>
            </a:r>
            <a:r>
              <a:rPr lang="zh-CN" sz="863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538" name="" descr="{&quot;isTemplate&quot;:true,&quot;type&quot;:&quot;text&quot;}"/>
          <p:cNvSpPr txBox="1"/>
          <p:nvPr/>
        </p:nvSpPr>
        <p:spPr>
          <a:xfrm rot="0" flipH="0" flipV="0">
            <a:off x="7105650" y="5010150"/>
            <a:ext cx="4400550" cy="381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825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>注意：</a:t>
            </a:r>
            <a:r>
              <a:rPr lang="en-US" sz="825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CBOR </a:t>
            </a:r>
            <a:r>
              <a:rPr lang="zh-CN" sz="825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>栈只有字节流</a:t>
            </a:r>
            <a:r>
              <a:rPr lang="en-US" sz="825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transport</a:t>
            </a:r>
            <a:r>
              <a:rPr lang="zh-CN" sz="825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>，不原生支持</a:t>
            </a:r>
            <a:r>
              <a:rPr lang="en-US" sz="825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SSE</a:t>
            </a:r>
            <a:r>
              <a:rPr lang="zh-CN" sz="825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>。要接</a:t>
            </a:r>
            <a:r>
              <a:rPr lang="en-US" sz="825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HTTP</a:t>
            </a:r>
            <a:r>
              <a:rPr lang="zh-CN" sz="825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>，得自己做网关（</a:t>
            </a:r>
            <a:r>
              <a:rPr lang="en-US" sz="825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POST </a:t>
            </a:r>
            <a:r>
              <a:rPr lang="zh-CN" sz="825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>控制</a:t>
            </a:r>
            <a:r>
              <a:rPr lang="en-US" sz="825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SSE </a:t>
            </a:r>
            <a:r>
              <a:rPr lang="zh-CN" sz="825">
                <a:solidFill>
                  <a:srgbClr val="FFB478">
                    <a:alpha val="72000"/>
                  </a:srgbClr>
                </a:solidFill>
                <a:latin typeface="Source Han Sans SC"/>
                <a:ea typeface="Source Han Sans SC"/>
              </a:rPr>
              <a:t>推帧）。</a:t>
            </a:r>
            <a:endParaRPr/>
          </a:p>
        </p:txBody>
      </p:sp>
      <p:sp>
        <p:nvSpPr>
          <p:cNvPr id="1539" name=""/>
          <p:cNvSpPr/>
          <p:nvPr/>
        </p:nvSpPr>
        <p:spPr>
          <a:xfrm rot="0" flipH="0" flipV="0">
            <a:off x="685800" y="5524500"/>
            <a:ext cx="10820400" cy="495300"/>
          </a:xfrm>
          <a:prstGeom prst="roundRect">
            <a:avLst>
              <a:gd name="adj" fmla="val 769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40" name="" descr="{&quot;isTemplate&quot;:true,&quot;type&quot;:&quot;text&quot;}"/>
          <p:cNvSpPr txBox="1"/>
          <p:nvPr/>
        </p:nvSpPr>
        <p:spPr>
          <a:xfrm rot="0" flipH="0" flipV="0">
            <a:off x="857250" y="5695950"/>
            <a:ext cx="285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取舍</a:t>
            </a:r>
            <a:endParaRPr/>
          </a:p>
        </p:txBody>
      </p:sp>
      <p:sp>
        <p:nvSpPr>
          <p:cNvPr id="1541" name="" descr="{&quot;isTemplate&quot;:true,&quot;type&quot;:&quot;text&quot;}"/>
          <p:cNvSpPr txBox="1"/>
          <p:nvPr/>
        </p:nvSpPr>
        <p:spPr>
          <a:xfrm rot="0" flipH="0" flipV="0">
            <a:off x="1276350" y="5648325"/>
            <a:ext cx="10058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只是本地进程间通信，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>stdio RPC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（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JSON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行协议）就够了。这套栈是为「跨进程、跨机器、多端附着」准备的。</a:t>
            </a:r>
            <a:endParaRPr/>
          </a:p>
        </p:txBody>
      </p:sp>
      <p:sp>
        <p:nvSpPr>
          <p:cNvPr id="154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54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37 / 46</a:t>
            </a:r>
            <a:endParaRPr/>
          </a:p>
        </p:txBody>
      </p:sp>
      <p:sp>
        <p:nvSpPr>
          <p:cNvPr id="1544" name=""/>
          <p:cNvSpPr/>
          <p:nvPr/>
        </p:nvSpPr>
        <p:spPr>
          <a:xfrm rot="0" flipH="0" flipV="0">
            <a:off x="685800" y="2847975"/>
            <a:ext cx="6153150" cy="1562100"/>
          </a:xfrm>
          <a:prstGeom prst="roundRect">
            <a:avLst>
              <a:gd name="adj" fmla="val 4878"/>
            </a:avLst>
          </a:prstGeom>
          <a:solidFill>
            <a:srgbClr val="0E1116"/>
          </a:solidFill>
          <a:ln/>
        </p:spPr>
        <p:txBody>
          <a:bodyPr/>
          <a:p/>
        </p:txBody>
      </p:sp>
      <p:sp>
        <p:nvSpPr>
          <p:cNvPr id="1545" name=""/>
          <p:cNvSpPr txBox="1"/>
          <p:nvPr/>
        </p:nvSpPr>
        <p:spPr>
          <a:xfrm rot="0" flipH="0" flipV="0">
            <a:off x="838200" y="2981325"/>
            <a:ext cx="5848350" cy="1295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863">
                <a:solidFill>
                  <a:srgbClr val="B392F0"/>
                </a:solidFill>
                <a:latin typeface="Menlo"/>
                <a:ea typeface="Menlo"/>
              </a:rPr>
              <a:t>frame</a:t>
            </a:r>
            <a:r>
              <a:rPr sz="863">
                <a:solidFill>
                  <a:srgbClr val="E1E4E8"/>
                </a:solidFill>
                <a:latin typeface="Menlo"/>
                <a:ea typeface="Menlo"/>
              </a:rPr>
              <a:t xml:space="preserve">  :</a:t>
            </a:r>
            <a:r>
              <a:rPr sz="863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863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863">
                <a:solidFill>
                  <a:srgbClr val="B392F0"/>
                </a:solidFill>
                <a:latin typeface="Menlo"/>
                <a:ea typeface="Menlo"/>
              </a:rPr>
              <a:t>uint32_be</a:t>
            </a:r>
            <a:r>
              <a:rPr sz="863">
                <a:solidFill>
                  <a:srgbClr val="E1E4E8"/>
                </a:solidFill>
                <a:latin typeface="Menlo"/>
                <a:ea typeface="Menlo"/>
              </a:rPr>
              <a:t xml:space="preserve">(len) </a:t>
            </a:r>
            <a:r>
              <a:rPr sz="863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863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863">
                <a:solidFill>
                  <a:srgbClr val="B392F0"/>
                </a:solidFill>
                <a:latin typeface="Menlo"/>
                <a:ea typeface="Menlo"/>
              </a:rPr>
              <a:t>cbor</a:t>
            </a:r>
            <a:r>
              <a:rPr sz="863">
                <a:solidFill>
                  <a:srgbClr val="E1E4E8"/>
                </a:solidFill>
                <a:latin typeface="Menlo"/>
                <a:ea typeface="Menlo"/>
              </a:rPr>
              <a:t xml:space="preserve">(payload)     </a:t>
            </a:r>
            <a:r>
              <a:rPr sz="863">
                <a:solidFill>
                  <a:srgbClr val="6A737D"/>
                </a:solidFill>
                <a:latin typeface="Menlo"/>
                <a:ea typeface="Menlo"/>
              </a:rPr>
              <a:t>// 4-byte big-endian length prefix</a:t>
            </a:r>
            <a:endParaRPr/>
          </a:p>
          <a:p>
            <a:pPr>
              <a:lnSpc>
                <a:spcPct val="140000"/>
              </a:lnSpc>
            </a:pPr>
            <a:r>
              <a:rPr sz="863">
                <a:solidFill>
                  <a:srgbClr val="B392F0"/>
                </a:solidFill>
                <a:latin typeface="Menlo"/>
                <a:ea typeface="Menlo"/>
              </a:rPr>
              <a:t>frameDecoder</a:t>
            </a:r>
            <a:r>
              <a:rPr sz="863">
                <a:solidFill>
                  <a:srgbClr val="E1E4E8"/>
                </a:solidFill>
                <a:latin typeface="Menlo"/>
                <a:ea typeface="Menlo"/>
              </a:rPr>
              <a:t xml:space="preserve">: 任意分块进 </a:t>
            </a:r>
            <a:r>
              <a:rPr sz="863">
                <a:solidFill>
                  <a:srgbClr val="F97583"/>
                </a:solidFill>
                <a:latin typeface="Menlo"/>
                <a:ea typeface="Menlo"/>
              </a:rPr>
              <a:t>-&gt;</a:t>
            </a:r>
            <a:r>
              <a:rPr sz="863">
                <a:solidFill>
                  <a:srgbClr val="E1E4E8"/>
                </a:solidFill>
                <a:latin typeface="Menlo"/>
                <a:ea typeface="Menlo"/>
              </a:rPr>
              <a:t xml:space="preserve"> 完整帧出（带最大帧长校验）</a:t>
            </a:r>
            <a:endParaRPr/>
          </a:p>
          <a:p>
            <a:pPr>
              <a:lnSpc>
                <a:spcPct val="140000"/>
              </a:lnSpc>
            </a:pPr>
            <a:r>
              <a:rPr sz="863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863">
                <a:solidFill>
                  <a:srgbClr val="E1E4E8"/>
                </a:solidFill>
                <a:latin typeface="Menlo"/>
                <a:ea typeface="Menlo"/>
              </a:rPr>
              <a:t xml:space="preserve">client </a:t>
            </a:r>
            <a:r>
              <a:rPr sz="863">
                <a:solidFill>
                  <a:srgbClr val="F97583"/>
                </a:solidFill>
                <a:latin typeface="Menlo"/>
                <a:ea typeface="Menlo"/>
              </a:rPr>
              <a:t>-&gt;</a:t>
            </a:r>
            <a:r>
              <a:rPr sz="863">
                <a:solidFill>
                  <a:srgbClr val="E1E4E8"/>
                </a:solidFill>
                <a:latin typeface="Menlo"/>
                <a:ea typeface="Menlo"/>
              </a:rPr>
              <a:t xml:space="preserve"> { type: </a:t>
            </a:r>
            <a:r>
              <a:rPr sz="863">
                <a:solidFill>
                  <a:srgbClr val="9ECBFF"/>
                </a:solidFill>
                <a:latin typeface="Menlo"/>
                <a:ea typeface="Menlo"/>
              </a:rPr>
              <a:t>"hello"</a:t>
            </a:r>
            <a:r>
              <a:rPr sz="863">
                <a:solidFill>
                  <a:srgbClr val="E1E4E8"/>
                </a:solidFill>
                <a:latin typeface="Menlo"/>
                <a:ea typeface="Menlo"/>
              </a:rPr>
              <a:t>, version }</a:t>
            </a:r>
            <a:endParaRPr/>
          </a:p>
          <a:p>
            <a:pPr>
              <a:lnSpc>
                <a:spcPct val="140000"/>
              </a:lnSpc>
            </a:pPr>
            <a:r>
              <a:rPr sz="863">
                <a:solidFill>
                  <a:srgbClr val="E1E4E8"/>
                </a:solidFill>
                <a:latin typeface="Menlo"/>
                <a:ea typeface="Menlo"/>
              </a:rPr>
              <a:t xml:space="preserve">server </a:t>
            </a:r>
            <a:r>
              <a:rPr sz="863">
                <a:solidFill>
                  <a:srgbClr val="F97583"/>
                </a:solidFill>
                <a:latin typeface="Menlo"/>
                <a:ea typeface="Menlo"/>
              </a:rPr>
              <a:t>-&gt;</a:t>
            </a:r>
            <a:r>
              <a:rPr sz="863">
                <a:solidFill>
                  <a:srgbClr val="E1E4E8"/>
                </a:solidFill>
                <a:latin typeface="Menlo"/>
                <a:ea typeface="Menlo"/>
              </a:rPr>
              <a:t xml:space="preserve"> ServerHello { serverId, sessions, models, snapshot }</a:t>
            </a:r>
            <a:endParaRPr/>
          </a:p>
          <a:p>
            <a:pPr>
              <a:lnSpc>
                <a:spcPct val="140000"/>
              </a:lnSpc>
            </a:pPr>
            <a:r>
              <a:rPr sz="863">
                <a:solidFill>
                  <a:srgbClr val="E1E4E8"/>
                </a:solidFill>
                <a:latin typeface="Menlo"/>
                <a:ea typeface="Menlo"/>
              </a:rPr>
              <a:t xml:space="preserve">       </a:t>
            </a:r>
            <a:r>
              <a:rPr sz="863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863">
                <a:solidFill>
                  <a:srgbClr val="E1E4E8"/>
                </a:solidFill>
                <a:latin typeface="Menlo"/>
                <a:ea typeface="Menlo"/>
              </a:rPr>
              <a:t xml:space="preserve">  hello_error</a:t>
            </a:r>
            <a:endParaRPr/>
          </a:p>
          <a:p>
            <a:pPr>
              <a:lnSpc>
                <a:spcPct val="140000"/>
              </a:lnSpc>
            </a:pPr>
            <a:r>
              <a:rPr sz="863">
                <a:solidFill>
                  <a:srgbClr val="6A737D"/>
                </a:solidFill>
                <a:latin typeface="Menlo"/>
                <a:ea typeface="Menlo"/>
              </a:rPr>
              <a:t>// CBOR: smaller than JSON; schema-validated in codec, not a raw WS message</a:t>
            </a:r>
            <a:endParaRPr/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54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54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752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三层定制能力</a:t>
            </a:r>
            <a:endParaRPr/>
          </a:p>
        </p:txBody>
      </p:sp>
      <p:sp>
        <p:nvSpPr>
          <p:cNvPr id="155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投入成本从小时级到周级，按需选路线</a:t>
            </a:r>
            <a:endParaRPr/>
          </a:p>
        </p:txBody>
      </p:sp>
      <p:sp>
        <p:nvSpPr>
          <p:cNvPr id="1551" name=""/>
          <p:cNvSpPr/>
          <p:nvPr/>
        </p:nvSpPr>
        <p:spPr>
          <a:xfrm rot="0" flipH="0" flipV="0">
            <a:off x="685800" y="1143000"/>
            <a:ext cx="6315075" cy="4914900"/>
          </a:xfrm>
          <a:custGeom>
            <a:pathLst>
              <a:path w="663" h="516">
                <a:moveTo>
                  <a:pt x="662" y="0"/>
                </a:moveTo>
                <a:lnTo>
                  <a:pt x="663" y="0"/>
                </a:lnTo>
                <a:lnTo>
                  <a:pt x="663" y="516"/>
                </a:lnTo>
                <a:lnTo>
                  <a:pt x="662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5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35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THREE ROUTES</a:t>
            </a:r>
            <a:endParaRPr/>
          </a:p>
        </p:txBody>
      </p:sp>
      <p:sp>
        <p:nvSpPr>
          <p:cNvPr id="1553" name="" descr="{&quot;isTemplate&quot;:true,&quot;type&quot;:&quot;text&quot;}"/>
          <p:cNvSpPr txBox="1"/>
          <p:nvPr/>
        </p:nvSpPr>
        <p:spPr>
          <a:xfrm rot="0" flipH="0" flipV="0">
            <a:off x="5086350" y="1152525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越往下，改动越深、成本越高</a:t>
            </a:r>
            <a:endParaRPr/>
          </a:p>
        </p:txBody>
      </p:sp>
      <p:sp>
        <p:nvSpPr>
          <p:cNvPr id="1554" name=""/>
          <p:cNvSpPr/>
          <p:nvPr/>
        </p:nvSpPr>
        <p:spPr>
          <a:xfrm rot="0" flipH="0" flipV="0">
            <a:off x="714375" y="142875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55" name=""/>
          <p:cNvSpPr/>
          <p:nvPr/>
        </p:nvSpPr>
        <p:spPr>
          <a:xfrm rot="0" flipH="0" flipV="0">
            <a:off x="714375" y="142875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56" name=""/>
          <p:cNvSpPr/>
          <p:nvPr/>
        </p:nvSpPr>
        <p:spPr>
          <a:xfrm rot="0" flipH="0" flipV="0">
            <a:off x="866775" y="20002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5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2114550"/>
            <a:ext cx="180975" cy="180975"/>
          </a:xfrm>
          <a:prstGeom prst="rect">
            <a:avLst/>
          </a:prstGeom>
          <a:ln/>
        </p:spPr>
      </p:pic>
      <p:sp>
        <p:nvSpPr>
          <p:cNvPr id="1558" name="" descr="{&quot;isTemplate&quot;:true,&quot;type&quot;:&quot;text&quot;}"/>
          <p:cNvSpPr txBox="1"/>
          <p:nvPr/>
        </p:nvSpPr>
        <p:spPr>
          <a:xfrm rot="0" flipH="0" flipV="0">
            <a:off x="1419225" y="16668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1</a:t>
            </a:r>
            <a:endParaRPr/>
          </a:p>
        </p:txBody>
      </p:sp>
      <p:sp>
        <p:nvSpPr>
          <p:cNvPr id="1559" name="" descr="{&quot;isTemplate&quot;:true,&quot;type&quot;:&quot;text&quot;}"/>
          <p:cNvSpPr txBox="1"/>
          <p:nvPr/>
        </p:nvSpPr>
        <p:spPr>
          <a:xfrm rot="0" flipH="0" flipV="0">
            <a:off x="1914525" y="1666875"/>
            <a:ext cx="457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Skills</a:t>
            </a:r>
            <a:endParaRPr/>
          </a:p>
        </p:txBody>
      </p:sp>
      <p:sp>
        <p:nvSpPr>
          <p:cNvPr id="1560" name="" descr="{&quot;isTemplate&quot;:true,&quot;type&quot;:&quot;text&quot;}"/>
          <p:cNvSpPr txBox="1"/>
          <p:nvPr/>
        </p:nvSpPr>
        <p:spPr>
          <a:xfrm rot="0" flipH="0" flipV="0">
            <a:off x="2466975" y="1666875"/>
            <a:ext cx="495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提示词层</a:t>
            </a:r>
            <a:endParaRPr/>
          </a:p>
        </p:txBody>
      </p:sp>
      <p:sp>
        <p:nvSpPr>
          <p:cNvPr id="1561" name="" descr="{&quot;isTemplate&quot;:true,&quot;type&quot;:&quot;text&quot;}"/>
          <p:cNvSpPr txBox="1"/>
          <p:nvPr/>
        </p:nvSpPr>
        <p:spPr>
          <a:xfrm rot="0" flipH="0" flipV="0">
            <a:off x="1419225" y="1990725"/>
            <a:ext cx="44100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一个遵循开放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Agent Skills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标准的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Markdown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文件夹，描述「遇到某类任务该怎么做」。模型按需自动加载，不占常驻上下文。</a:t>
            </a:r>
            <a:endParaRPr/>
          </a:p>
        </p:txBody>
      </p:sp>
      <p:sp>
        <p:nvSpPr>
          <p:cNvPr id="1562" name="" descr="{&quot;isTemplate&quot;:true,&quot;type&quot;:&quot;text&quot;}"/>
          <p:cNvSpPr txBox="1"/>
          <p:nvPr/>
        </p:nvSpPr>
        <p:spPr>
          <a:xfrm rot="0" flipH="0" flipV="0">
            <a:off x="1419225" y="2590800"/>
            <a:ext cx="441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.pi/skills/release-checklist/SKILL.md</a:t>
            </a:r>
            <a:endParaRPr/>
          </a:p>
        </p:txBody>
      </p:sp>
      <p:sp>
        <p:nvSpPr>
          <p:cNvPr id="1563" name=""/>
          <p:cNvSpPr/>
          <p:nvPr/>
        </p:nvSpPr>
        <p:spPr>
          <a:xfrm rot="0" flipH="0" flipV="0">
            <a:off x="5981700" y="2085975"/>
            <a:ext cx="561975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64" name="" descr="{&quot;isTemplate&quot;:true,&quot;type&quot;:&quot;text&quot;}"/>
          <p:cNvSpPr txBox="1"/>
          <p:nvPr/>
        </p:nvSpPr>
        <p:spPr>
          <a:xfrm rot="0" flipH="0" flipV="0">
            <a:off x="6076950" y="21240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小时级</a:t>
            </a:r>
            <a:endParaRPr/>
          </a:p>
        </p:txBody>
      </p:sp>
      <p:sp>
        <p:nvSpPr>
          <p:cNvPr id="1565" name=""/>
          <p:cNvSpPr/>
          <p:nvPr/>
        </p:nvSpPr>
        <p:spPr>
          <a:xfrm rot="0" flipH="0" flipV="0">
            <a:off x="714375" y="297180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66" name=""/>
          <p:cNvSpPr/>
          <p:nvPr/>
        </p:nvSpPr>
        <p:spPr>
          <a:xfrm rot="0" flipH="0" flipV="0">
            <a:off x="714375" y="297180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67" name=""/>
          <p:cNvSpPr/>
          <p:nvPr/>
        </p:nvSpPr>
        <p:spPr>
          <a:xfrm rot="0" flipH="0" flipV="0">
            <a:off x="866775" y="354330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5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3657600"/>
            <a:ext cx="180975" cy="180975"/>
          </a:xfrm>
          <a:prstGeom prst="rect">
            <a:avLst/>
          </a:prstGeom>
          <a:ln/>
        </p:spPr>
      </p:pic>
      <p:sp>
        <p:nvSpPr>
          <p:cNvPr id="1569" name="" descr="{&quot;isTemplate&quot;:true,&quot;type&quot;:&quot;text&quot;}"/>
          <p:cNvSpPr txBox="1"/>
          <p:nvPr/>
        </p:nvSpPr>
        <p:spPr>
          <a:xfrm rot="0" flipH="0" flipV="0">
            <a:off x="1419225" y="320992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2</a:t>
            </a:r>
            <a:endParaRPr/>
          </a:p>
        </p:txBody>
      </p:sp>
      <p:sp>
        <p:nvSpPr>
          <p:cNvPr id="1570" name="" descr="{&quot;isTemplate&quot;:true,&quot;type&quot;:&quot;text&quot;}"/>
          <p:cNvSpPr txBox="1"/>
          <p:nvPr/>
        </p:nvSpPr>
        <p:spPr>
          <a:xfrm rot="0" flipH="0" flipV="0">
            <a:off x="1914525" y="32099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Extensions</a:t>
            </a:r>
            <a:endParaRPr/>
          </a:p>
        </p:txBody>
      </p:sp>
      <p:sp>
        <p:nvSpPr>
          <p:cNvPr id="1571" name="" descr="{&quot;isTemplate&quot;:true,&quot;type&quot;:&quot;text&quot;}"/>
          <p:cNvSpPr txBox="1"/>
          <p:nvPr/>
        </p:nvSpPr>
        <p:spPr>
          <a:xfrm rot="0" flipH="0" flipV="0">
            <a:off x="2952750" y="3209925"/>
            <a:ext cx="495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运行时层</a:t>
            </a:r>
            <a:endParaRPr/>
          </a:p>
        </p:txBody>
      </p:sp>
      <p:sp>
        <p:nvSpPr>
          <p:cNvPr id="1572" name="" descr="{&quot;isTemplate&quot;:true,&quot;type&quot;:&quot;text&quot;}"/>
          <p:cNvSpPr txBox="1"/>
          <p:nvPr/>
        </p:nvSpPr>
        <p:spPr>
          <a:xfrm rot="0" flipH="0" flipV="0">
            <a:off x="1419225" y="3533775"/>
            <a:ext cx="4533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用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TypeScript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写扩展：给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加自定义工具，或修改运行时行为——在工具调用前后插入自己的校验与拦截。</a:t>
            </a:r>
            <a:endParaRPr/>
          </a:p>
        </p:txBody>
      </p:sp>
      <p:sp>
        <p:nvSpPr>
          <p:cNvPr id="1573" name="" descr="{&quot;isTemplate&quot;:true,&quot;type&quot;:&quot;text&quot;}"/>
          <p:cNvSpPr txBox="1"/>
          <p:nvPr/>
        </p:nvSpPr>
        <p:spPr>
          <a:xfrm rot="0" flipH="0" flipV="0">
            <a:off x="1419225" y="4133850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.pi/extensions/*.ts</a:t>
            </a:r>
            <a:endParaRPr/>
          </a:p>
        </p:txBody>
      </p:sp>
      <p:sp>
        <p:nvSpPr>
          <p:cNvPr id="1574" name=""/>
          <p:cNvSpPr/>
          <p:nvPr/>
        </p:nvSpPr>
        <p:spPr>
          <a:xfrm rot="0" flipH="0" flipV="0">
            <a:off x="6105525" y="3629025"/>
            <a:ext cx="4381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75" name="" descr="{&quot;isTemplate&quot;:true,&quot;type&quot;:&quot;text&quot;}"/>
          <p:cNvSpPr txBox="1"/>
          <p:nvPr/>
        </p:nvSpPr>
        <p:spPr>
          <a:xfrm rot="0" flipH="0" flipV="0">
            <a:off x="6200775" y="36671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天级</a:t>
            </a:r>
            <a:endParaRPr/>
          </a:p>
        </p:txBody>
      </p:sp>
      <p:sp>
        <p:nvSpPr>
          <p:cNvPr id="1576" name=""/>
          <p:cNvSpPr/>
          <p:nvPr/>
        </p:nvSpPr>
        <p:spPr>
          <a:xfrm rot="0" flipH="0" flipV="0">
            <a:off x="714375" y="451485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77" name=""/>
          <p:cNvSpPr/>
          <p:nvPr/>
        </p:nvSpPr>
        <p:spPr>
          <a:xfrm rot="0" flipH="0" flipV="0">
            <a:off x="714375" y="451485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78" name=""/>
          <p:cNvSpPr/>
          <p:nvPr/>
        </p:nvSpPr>
        <p:spPr>
          <a:xfrm rot="0" flipH="0" flipV="0">
            <a:off x="866775" y="50863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5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81075" y="5200650"/>
            <a:ext cx="180975" cy="180975"/>
          </a:xfrm>
          <a:prstGeom prst="rect">
            <a:avLst/>
          </a:prstGeom>
          <a:ln/>
        </p:spPr>
      </p:pic>
      <p:sp>
        <p:nvSpPr>
          <p:cNvPr id="1580" name="" descr="{&quot;isTemplate&quot;:true,&quot;type&quot;:&quot;text&quot;}"/>
          <p:cNvSpPr txBox="1"/>
          <p:nvPr/>
        </p:nvSpPr>
        <p:spPr>
          <a:xfrm rot="0" flipH="0" flipV="0">
            <a:off x="1419225" y="47529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3</a:t>
            </a:r>
            <a:endParaRPr/>
          </a:p>
        </p:txBody>
      </p:sp>
      <p:sp>
        <p:nvSpPr>
          <p:cNvPr id="1581" name="" descr="{&quot;isTemplate&quot;:true,&quot;type&quot;:&quot;text&quot;}"/>
          <p:cNvSpPr txBox="1"/>
          <p:nvPr/>
        </p:nvSpPr>
        <p:spPr>
          <a:xfrm rot="0" flipH="0" flipV="0">
            <a:off x="1914525" y="4752975"/>
            <a:ext cx="3714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SDK</a:t>
            </a:r>
            <a:endParaRPr/>
          </a:p>
        </p:txBody>
      </p:sp>
      <p:sp>
        <p:nvSpPr>
          <p:cNvPr id="1582" name="" descr="{&quot;isTemplate&quot;:true,&quot;type&quot;:&quot;text&quot;}"/>
          <p:cNvSpPr txBox="1"/>
          <p:nvPr/>
        </p:nvSpPr>
        <p:spPr>
          <a:xfrm rot="0" flipH="0" flipV="0">
            <a:off x="2381250" y="4752975"/>
            <a:ext cx="619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进程内嵌层</a:t>
            </a:r>
            <a:endParaRPr/>
          </a:p>
        </p:txBody>
      </p:sp>
      <p:sp>
        <p:nvSpPr>
          <p:cNvPr id="1583" name="" descr="{&quot;isTemplate&quot;:true,&quot;type&quot;:&quot;text&quot;}"/>
          <p:cNvSpPr txBox="1"/>
          <p:nvPr/>
        </p:nvSpPr>
        <p:spPr>
          <a:xfrm rot="0" flipH="0" flipV="0">
            <a:off x="1419225" y="5076825"/>
            <a:ext cx="4533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createAgentSession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在调用方进程内构建完整会话，可注入存储、配置、认证、模型注册表与工具。</a:t>
            </a:r>
            <a:endParaRPr/>
          </a:p>
        </p:txBody>
      </p:sp>
      <p:sp>
        <p:nvSpPr>
          <p:cNvPr id="1584" name="" descr="{&quot;isTemplate&quot;:true,&quot;type&quot;:&quot;text&quot;}"/>
          <p:cNvSpPr txBox="1"/>
          <p:nvPr/>
        </p:nvSpPr>
        <p:spPr>
          <a:xfrm rot="0" flipH="0" flipV="0">
            <a:off x="1419225" y="5676900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无桥接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无子进程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socket</a:t>
            </a:r>
            <a:endParaRPr/>
          </a:p>
        </p:txBody>
      </p:sp>
      <p:sp>
        <p:nvSpPr>
          <p:cNvPr id="1585" name=""/>
          <p:cNvSpPr/>
          <p:nvPr/>
        </p:nvSpPr>
        <p:spPr>
          <a:xfrm rot="0" flipH="0" flipV="0">
            <a:off x="6105525" y="5172075"/>
            <a:ext cx="4381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86" name="" descr="{&quot;isTemplate&quot;:true,&quot;type&quot;:&quot;text&quot;}"/>
          <p:cNvSpPr txBox="1"/>
          <p:nvPr/>
        </p:nvSpPr>
        <p:spPr>
          <a:xfrm rot="0" flipH="0" flipV="0">
            <a:off x="6200775" y="52101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周级</a:t>
            </a:r>
            <a:endParaRPr/>
          </a:p>
        </p:txBody>
      </p:sp>
      <p:sp>
        <p:nvSpPr>
          <p:cNvPr id="1587" name="" descr="{&quot;isTemplate&quot;:true,&quot;type&quot;:&quot;text&quot;}"/>
          <p:cNvSpPr txBox="1"/>
          <p:nvPr/>
        </p:nvSpPr>
        <p:spPr>
          <a:xfrm rot="0" flipH="0" flipV="0">
            <a:off x="7296150" y="1143000"/>
            <a:ext cx="421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COST LADDER</a:t>
            </a:r>
            <a:endParaRPr/>
          </a:p>
        </p:txBody>
      </p:sp>
      <p:sp>
        <p:nvSpPr>
          <p:cNvPr id="1588" name="" descr="{&quot;isTemplate&quot;:true,&quot;type&quot;:&quot;text&quot;}"/>
          <p:cNvSpPr txBox="1"/>
          <p:nvPr/>
        </p:nvSpPr>
        <p:spPr>
          <a:xfrm rot="0" flipH="0" flipV="0">
            <a:off x="7296150" y="1466850"/>
            <a:ext cx="504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Skills</a:t>
            </a:r>
            <a:endParaRPr/>
          </a:p>
        </p:txBody>
      </p:sp>
      <p:sp>
        <p:nvSpPr>
          <p:cNvPr id="1589" name="" descr="{&quot;isTemplate&quot;:true,&quot;type&quot;:&quot;text&quot;}"/>
          <p:cNvSpPr txBox="1"/>
          <p:nvPr/>
        </p:nvSpPr>
        <p:spPr>
          <a:xfrm rot="0" flipH="0" flipV="0">
            <a:off x="11106150" y="14668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小时级</a:t>
            </a:r>
            <a:endParaRPr/>
          </a:p>
        </p:txBody>
      </p:sp>
      <p:sp>
        <p:nvSpPr>
          <p:cNvPr id="1590" name=""/>
          <p:cNvSpPr/>
          <p:nvPr/>
        </p:nvSpPr>
        <p:spPr>
          <a:xfrm rot="0" flipH="0" flipV="0">
            <a:off x="7296150" y="1704975"/>
            <a:ext cx="142875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591" name="" descr="{&quot;isTemplate&quot;:true,&quot;type&quot;:&quot;text&quot;}"/>
          <p:cNvSpPr txBox="1"/>
          <p:nvPr/>
        </p:nvSpPr>
        <p:spPr>
          <a:xfrm rot="0" flipH="0" flipV="0">
            <a:off x="7296150" y="1943100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Extensions</a:t>
            </a:r>
            <a:endParaRPr/>
          </a:p>
        </p:txBody>
      </p:sp>
      <p:sp>
        <p:nvSpPr>
          <p:cNvPr id="1592" name="" descr="{&quot;isTemplate&quot;:true,&quot;type&quot;:&quot;text&quot;}"/>
          <p:cNvSpPr txBox="1"/>
          <p:nvPr/>
        </p:nvSpPr>
        <p:spPr>
          <a:xfrm rot="0" flipH="0" flipV="0">
            <a:off x="11239500" y="194310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天级</a:t>
            </a:r>
            <a:endParaRPr/>
          </a:p>
        </p:txBody>
      </p:sp>
      <p:sp>
        <p:nvSpPr>
          <p:cNvPr id="1593" name=""/>
          <p:cNvSpPr/>
          <p:nvPr/>
        </p:nvSpPr>
        <p:spPr>
          <a:xfrm rot="0" flipH="0" flipV="0">
            <a:off x="7296150" y="2181225"/>
            <a:ext cx="278130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594" name="" descr="{&quot;isTemplate&quot;:true,&quot;type&quot;:&quot;text&quot;}"/>
          <p:cNvSpPr txBox="1"/>
          <p:nvPr/>
        </p:nvSpPr>
        <p:spPr>
          <a:xfrm rot="0" flipH="0" flipV="0">
            <a:off x="7296150" y="2419350"/>
            <a:ext cx="25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SDK</a:t>
            </a:r>
            <a:endParaRPr/>
          </a:p>
        </p:txBody>
      </p:sp>
      <p:sp>
        <p:nvSpPr>
          <p:cNvPr id="1595" name="" descr="{&quot;isTemplate&quot;:true,&quot;type&quot;:&quot;text&quot;}"/>
          <p:cNvSpPr txBox="1"/>
          <p:nvPr/>
        </p:nvSpPr>
        <p:spPr>
          <a:xfrm rot="0" flipH="0" flipV="0">
            <a:off x="11239500" y="241935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周级</a:t>
            </a:r>
            <a:endParaRPr/>
          </a:p>
        </p:txBody>
      </p:sp>
      <p:sp>
        <p:nvSpPr>
          <p:cNvPr id="1596" name=""/>
          <p:cNvSpPr/>
          <p:nvPr/>
        </p:nvSpPr>
        <p:spPr>
          <a:xfrm rot="0" flipH="0" flipV="0">
            <a:off x="7296150" y="2657475"/>
            <a:ext cx="421005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597" name=""/>
          <p:cNvSpPr/>
          <p:nvPr/>
        </p:nvSpPr>
        <p:spPr>
          <a:xfrm rot="0" flipH="0" flipV="0">
            <a:off x="7296150" y="2971800"/>
            <a:ext cx="4210050" cy="1171575"/>
          </a:xfrm>
          <a:prstGeom prst="roundRect">
            <a:avLst>
              <a:gd name="adj" fmla="val 3252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98" name="" descr="{&quot;isTemplate&quot;:true,&quot;type&quot;:&quot;text&quot;}"/>
          <p:cNvSpPr txBox="1"/>
          <p:nvPr/>
        </p:nvSpPr>
        <p:spPr>
          <a:xfrm rot="0" flipH="0" flipV="0">
            <a:off x="7448550" y="3124200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ASK FIRST</a:t>
            </a:r>
            <a:endParaRPr/>
          </a:p>
        </p:txBody>
      </p:sp>
      <p:sp>
        <p:nvSpPr>
          <p:cNvPr id="1599" name="" descr="{&quot;isTemplate&quot;:true,&quot;type&quot;:&quot;text&quot;}"/>
          <p:cNvSpPr txBox="1"/>
          <p:nvPr/>
        </p:nvSpPr>
        <p:spPr>
          <a:xfrm rot="0" flipH="0" flipV="0">
            <a:off x="7448550" y="3381375"/>
            <a:ext cx="39052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绝大多数团队需求，停在</a:t>
            </a:r>
            <a:r>
              <a:rPr lang="en-US" sz="1163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Skills </a:t>
            </a:r>
            <a:r>
              <a:rPr lang="zh-CN" sz="116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就够了——先把经验写成文档，再谈改代码。</a:t>
            </a:r>
            <a:endParaRPr/>
          </a:p>
        </p:txBody>
      </p:sp>
      <p:sp>
        <p:nvSpPr>
          <p:cNvPr id="1600" name=""/>
          <p:cNvSpPr/>
          <p:nvPr/>
        </p:nvSpPr>
        <p:spPr>
          <a:xfrm rot="0" flipH="0" flipV="0">
            <a:off x="7296150" y="4867275"/>
            <a:ext cx="4210050" cy="1190625"/>
          </a:xfrm>
          <a:prstGeom prst="roundRect">
            <a:avLst>
              <a:gd name="adj" fmla="val 320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01" name="" descr="{&quot;isTemplate&quot;:true,&quot;type&quot;:&quot;text&quot;}"/>
          <p:cNvSpPr txBox="1"/>
          <p:nvPr/>
        </p:nvSpPr>
        <p:spPr>
          <a:xfrm rot="0" flipH="0" flipV="0">
            <a:off x="7448550" y="5019675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602" name="" descr="{&quot;isTemplate&quot;:true,&quot;type&quot;:&quot;text&quot;}"/>
          <p:cNvSpPr txBox="1"/>
          <p:nvPr/>
        </p:nvSpPr>
        <p:spPr>
          <a:xfrm rot="0" flipH="0" flipV="0">
            <a:off x="7448550" y="5276850"/>
            <a:ext cx="3905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先问「我要改造哪一层」，再选路线——不要一上来就走最深的那条。</a:t>
            </a:r>
            <a:endParaRPr/>
          </a:p>
        </p:txBody>
      </p:sp>
      <p:sp>
        <p:nvSpPr>
          <p:cNvPr id="160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60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38 / 46</a:t>
            </a:r>
            <a:endParaRPr/>
          </a:p>
        </p:txBody>
      </p:sp>
    </p:spTree>
  </p:cSld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6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607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1608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609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610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04</a:t>
            </a:r>
            <a:endParaRPr/>
          </a:p>
        </p:txBody>
      </p:sp>
      <p:sp>
        <p:nvSpPr>
          <p:cNvPr id="1611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落地实践：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智数问答</a:t>
            </a:r>
            <a:r>
              <a:rPr lang="en-US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agent-DQ</a:t>
            </a:r>
            <a:endParaRPr/>
          </a:p>
        </p:txBody>
      </p:sp>
      <p:sp>
        <p:nvSpPr>
          <p:cNvPr id="1612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613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把前面所有知识，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装进一个真实业务系统。</a:t>
            </a:r>
            <a:endParaRPr/>
          </a:p>
        </p:txBody>
      </p:sp>
      <p:sp>
        <p:nvSpPr>
          <p:cNvPr id="1614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15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1616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617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三级路由是怎么把准确率拉起来的？</a:t>
            </a:r>
            <a:endParaRPr/>
          </a:p>
        </p:txBody>
      </p:sp>
      <p:sp>
        <p:nvSpPr>
          <p:cNvPr id="1618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619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加一个工具，为什么不用改主干代码？</a:t>
            </a:r>
            <a:endParaRPr/>
          </a:p>
        </p:txBody>
      </p:sp>
      <p:sp>
        <p:nvSpPr>
          <p:cNvPr id="1620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621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真实项目里到底踩过哪些坑？</a:t>
            </a:r>
            <a:endParaRPr/>
          </a:p>
        </p:txBody>
      </p:sp>
      <p:sp>
        <p:nvSpPr>
          <p:cNvPr id="1622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23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624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39 – 45</a:t>
            </a:r>
            <a:endParaRPr/>
          </a:p>
        </p:txBody>
      </p:sp>
      <p:sp>
        <p:nvSpPr>
          <p:cNvPr id="1625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26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项目概览与三级路由</a:t>
            </a:r>
            <a:endParaRPr/>
          </a:p>
        </p:txBody>
      </p:sp>
      <p:sp>
        <p:nvSpPr>
          <p:cNvPr id="1627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28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2571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发现式注册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隔离安全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流式渲染</a:t>
            </a:r>
            <a:endParaRPr/>
          </a:p>
        </p:txBody>
      </p:sp>
      <p:sp>
        <p:nvSpPr>
          <p:cNvPr id="1629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30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495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四个真实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Bug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与修法</a:t>
            </a:r>
            <a:endParaRPr/>
          </a:p>
        </p:txBody>
      </p:sp>
      <p:sp>
        <p:nvSpPr>
          <p:cNvPr id="1631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39 / 46</a:t>
            </a:r>
            <a:endParaRPr/>
          </a:p>
        </p:txBody>
      </p:sp>
    </p:spTree>
  </p:cSld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6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672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673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项目概览：一句话与一套栈</a:t>
            </a:r>
            <a:endParaRPr/>
          </a:p>
        </p:txBody>
      </p:sp>
      <p:sp>
        <p:nvSpPr>
          <p:cNvPr id="1674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自然语言进，结构化结果出，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在中间做编排</a:t>
            </a:r>
            <a:endParaRPr/>
          </a:p>
        </p:txBody>
      </p:sp>
      <p:sp>
        <p:nvSpPr>
          <p:cNvPr id="1675" name=""/>
          <p:cNvSpPr/>
          <p:nvPr/>
        </p:nvSpPr>
        <p:spPr>
          <a:xfrm rot="0" flipH="0" flipV="0">
            <a:off x="685800" y="1143000"/>
            <a:ext cx="5895975" cy="4914900"/>
          </a:xfrm>
          <a:custGeom>
            <a:pathLst>
              <a:path w="619" h="516">
                <a:moveTo>
                  <a:pt x="618" y="0"/>
                </a:moveTo>
                <a:lnTo>
                  <a:pt x="619" y="0"/>
                </a:lnTo>
                <a:lnTo>
                  <a:pt x="619" y="516"/>
                </a:lnTo>
                <a:lnTo>
                  <a:pt x="618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676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END-TO-END</a:t>
            </a:r>
            <a:endParaRPr/>
          </a:p>
        </p:txBody>
      </p:sp>
      <p:sp>
        <p:nvSpPr>
          <p:cNvPr id="1677" name="" descr="{&quot;isTemplate&quot;:true,&quot;type&quot;:&quot;text&quot;}"/>
          <p:cNvSpPr txBox="1"/>
          <p:nvPr/>
        </p:nvSpPr>
        <p:spPr>
          <a:xfrm rot="0" flipH="0" flipV="0">
            <a:off x="4991100" y="1152525"/>
            <a:ext cx="1285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HTTP + SSE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全链路流式</a:t>
            </a:r>
            <a:endParaRPr/>
          </a:p>
        </p:txBody>
      </p:sp>
      <p:sp>
        <p:nvSpPr>
          <p:cNvPr id="1678" name=""/>
          <p:cNvSpPr/>
          <p:nvPr/>
        </p:nvSpPr>
        <p:spPr>
          <a:xfrm rot="0" flipH="0" flipV="0">
            <a:off x="685800" y="1428750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79" name="" descr="{&quot;isTemplate&quot;:true,&quot;type&quot;:&quot;text&quot;}"/>
          <p:cNvSpPr txBox="1"/>
          <p:nvPr/>
        </p:nvSpPr>
        <p:spPr>
          <a:xfrm rot="0" flipH="0" flipV="0">
            <a:off x="838200" y="175260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CLIENT</a:t>
            </a:r>
            <a:endParaRPr/>
          </a:p>
        </p:txBody>
      </p:sp>
      <p:sp>
        <p:nvSpPr>
          <p:cNvPr id="1680" name="" descr="{&quot;isTemplate&quot;:true,&quot;type&quot;:&quot;text&quot;}"/>
          <p:cNvSpPr txBox="1"/>
          <p:nvPr/>
        </p:nvSpPr>
        <p:spPr>
          <a:xfrm rot="0" flipH="0" flipV="0">
            <a:off x="1562100" y="161925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1681" name="" descr="{&quot;isTemplate&quot;:true,&quot;type&quot;:&quot;text&quot;}"/>
          <p:cNvSpPr txBox="1"/>
          <p:nvPr/>
        </p:nvSpPr>
        <p:spPr>
          <a:xfrm rot="0" flipH="0" flipV="0">
            <a:off x="1562100" y="186690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自然语言提问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前端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Vue3 + TS + Pinia</a:t>
            </a:r>
            <a:endParaRPr/>
          </a:p>
        </p:txBody>
      </p:sp>
      <p:sp>
        <p:nvSpPr>
          <p:cNvPr id="1682" name="" descr="{&quot;isTemplate&quot;:true,&quot;type&quot;:&quot;text&quot;}"/>
          <p:cNvSpPr txBox="1"/>
          <p:nvPr/>
        </p:nvSpPr>
        <p:spPr>
          <a:xfrm rot="0" flipH="0" flipV="0">
            <a:off x="933450" y="22288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1683" name=""/>
          <p:cNvSpPr/>
          <p:nvPr/>
        </p:nvSpPr>
        <p:spPr>
          <a:xfrm rot="0" flipH="0" flipV="0">
            <a:off x="685800" y="2390775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84" name="" descr="{&quot;isTemplate&quot;:true,&quot;type&quot;:&quot;text&quot;}"/>
          <p:cNvSpPr txBox="1"/>
          <p:nvPr/>
        </p:nvSpPr>
        <p:spPr>
          <a:xfrm rot="0" flipH="0" flipV="0">
            <a:off x="838200" y="271462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SERVER</a:t>
            </a:r>
            <a:endParaRPr/>
          </a:p>
        </p:txBody>
      </p:sp>
      <p:sp>
        <p:nvSpPr>
          <p:cNvPr id="1685" name="" descr="{&quot;isTemplate&quot;:true,&quot;type&quot;:&quot;text&quot;}"/>
          <p:cNvSpPr txBox="1"/>
          <p:nvPr/>
        </p:nvSpPr>
        <p:spPr>
          <a:xfrm rot="0" flipH="0" flipV="0">
            <a:off x="1562100" y="2581275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Node (Koa) </a:t>
            </a: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服务</a:t>
            </a:r>
            <a:endParaRPr/>
          </a:p>
        </p:txBody>
      </p:sp>
      <p:sp>
        <p:nvSpPr>
          <p:cNvPr id="1686" name="" descr="{&quot;isTemplate&quot;:true,&quot;type&quot;:&quot;text&quot;}"/>
          <p:cNvSpPr txBox="1"/>
          <p:nvPr/>
        </p:nvSpPr>
        <p:spPr>
          <a:xfrm rot="0" flipH="0" flipV="0">
            <a:off x="1562100" y="2828925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JWT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鉴权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数据范围注入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SSE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通道</a:t>
            </a:r>
            <a:endParaRPr/>
          </a:p>
        </p:txBody>
      </p:sp>
      <p:sp>
        <p:nvSpPr>
          <p:cNvPr id="1687" name="" descr="{&quot;isTemplate&quot;:true,&quot;type&quot;:&quot;text&quot;}"/>
          <p:cNvSpPr txBox="1"/>
          <p:nvPr/>
        </p:nvSpPr>
        <p:spPr>
          <a:xfrm rot="0" flipH="0" flipV="0">
            <a:off x="933450" y="31908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1688" name=""/>
          <p:cNvSpPr/>
          <p:nvPr/>
        </p:nvSpPr>
        <p:spPr>
          <a:xfrm rot="0" flipH="0" flipV="0">
            <a:off x="685800" y="3352800"/>
            <a:ext cx="5591175" cy="781050"/>
          </a:xfrm>
          <a:prstGeom prst="roundRect">
            <a:avLst>
              <a:gd name="adj" fmla="val 365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89" name="" descr="{&quot;isTemplate&quot;:true,&quot;type&quot;:&quot;text&quot;}"/>
          <p:cNvSpPr txBox="1"/>
          <p:nvPr/>
        </p:nvSpPr>
        <p:spPr>
          <a:xfrm rot="0" flipH="0" flipV="0">
            <a:off x="838200" y="36766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1690" name="" descr="{&quot;isTemplate&quot;:true,&quot;type&quot;:&quot;text&quot;}"/>
          <p:cNvSpPr txBox="1"/>
          <p:nvPr/>
        </p:nvSpPr>
        <p:spPr>
          <a:xfrm rot="0" flipH="0" flipV="0">
            <a:off x="1562100" y="354330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智能体</a:t>
            </a:r>
            <a:endParaRPr/>
          </a:p>
        </p:txBody>
      </p:sp>
      <p:sp>
        <p:nvSpPr>
          <p:cNvPr id="1691" name="" descr="{&quot;isTemplate&quot;:true,&quot;type&quot;:&quot;text&quot;}"/>
          <p:cNvSpPr txBox="1"/>
          <p:nvPr/>
        </p:nvSpPr>
        <p:spPr>
          <a:xfrm rot="0" flipH="0" flipV="0">
            <a:off x="1562100" y="379095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@earendil-works/pi-coding-agent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，编排核心</a:t>
            </a:r>
            <a:endParaRPr/>
          </a:p>
        </p:txBody>
      </p:sp>
      <p:sp>
        <p:nvSpPr>
          <p:cNvPr id="1692" name="" descr="{&quot;isTemplate&quot;:true,&quot;type&quot;:&quot;text&quot;}"/>
          <p:cNvSpPr txBox="1"/>
          <p:nvPr/>
        </p:nvSpPr>
        <p:spPr>
          <a:xfrm rot="0" flipH="0" flipV="0">
            <a:off x="933450" y="41433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1693" name=""/>
          <p:cNvSpPr/>
          <p:nvPr/>
        </p:nvSpPr>
        <p:spPr>
          <a:xfrm rot="0" flipH="0" flipV="0">
            <a:off x="685800" y="4305300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94" name="" descr="{&quot;isTemplate&quot;:true,&quot;type&quot;:&quot;text&quot;}"/>
          <p:cNvSpPr txBox="1"/>
          <p:nvPr/>
        </p:nvSpPr>
        <p:spPr>
          <a:xfrm rot="0" flipH="0" flipV="0">
            <a:off x="838200" y="46291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TOOLS</a:t>
            </a:r>
            <a:endParaRPr/>
          </a:p>
        </p:txBody>
      </p:sp>
      <p:sp>
        <p:nvSpPr>
          <p:cNvPr id="1695" name="" descr="{&quot;isTemplate&quot;:true,&quot;type&quot;:&quot;text&quot;}"/>
          <p:cNvSpPr txBox="1"/>
          <p:nvPr/>
        </p:nvSpPr>
        <p:spPr>
          <a:xfrm rot="0" flipH="0" flipV="0">
            <a:off x="1562100" y="449580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查询工具</a:t>
            </a:r>
            <a:endParaRPr/>
          </a:p>
        </p:txBody>
      </p:sp>
      <p:sp>
        <p:nvSpPr>
          <p:cNvPr id="1696" name="" descr="{&quot;isTemplate&quot;:true,&quot;type&quot;:&quot;text&quot;}"/>
          <p:cNvSpPr txBox="1"/>
          <p:nvPr/>
        </p:nvSpPr>
        <p:spPr>
          <a:xfrm rot="0" flipH="0" flipV="0">
            <a:off x="1562100" y="474345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业务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指标模板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受控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SQL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图表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表格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KPI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发射</a:t>
            </a:r>
            <a:endParaRPr/>
          </a:p>
        </p:txBody>
      </p:sp>
      <p:sp>
        <p:nvSpPr>
          <p:cNvPr id="1697" name="" descr="{&quot;isTemplate&quot;:true,&quot;type&quot;:&quot;text&quot;}"/>
          <p:cNvSpPr txBox="1"/>
          <p:nvPr/>
        </p:nvSpPr>
        <p:spPr>
          <a:xfrm rot="0" flipH="0" flipV="0">
            <a:off x="933450" y="51054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1698" name=""/>
          <p:cNvSpPr/>
          <p:nvPr/>
        </p:nvSpPr>
        <p:spPr>
          <a:xfrm rot="0" flipH="0" flipV="0">
            <a:off x="685800" y="5267325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99" name="" descr="{&quot;isTemplate&quot;:true,&quot;type&quot;:&quot;text&quot;}"/>
          <p:cNvSpPr txBox="1"/>
          <p:nvPr/>
        </p:nvSpPr>
        <p:spPr>
          <a:xfrm rot="0" flipH="0" flipV="0">
            <a:off x="838200" y="55911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RENDER</a:t>
            </a:r>
            <a:endParaRPr/>
          </a:p>
        </p:txBody>
      </p:sp>
      <p:sp>
        <p:nvSpPr>
          <p:cNvPr id="1700" name="" descr="{&quot;isTemplate&quot;:true,&quot;type&quot;:&quot;text&quot;}"/>
          <p:cNvSpPr txBox="1"/>
          <p:nvPr/>
        </p:nvSpPr>
        <p:spPr>
          <a:xfrm rot="0" flipH="0" flipV="0">
            <a:off x="1562100" y="5457825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前端流式渲染</a:t>
            </a:r>
            <a:endParaRPr/>
          </a:p>
        </p:txBody>
      </p:sp>
      <p:sp>
        <p:nvSpPr>
          <p:cNvPr id="1701" name="" descr="{&quot;isTemplate&quot;:true,&quot;type&quot;:&quot;text&quot;}"/>
          <p:cNvSpPr txBox="1"/>
          <p:nvPr/>
        </p:nvSpPr>
        <p:spPr>
          <a:xfrm rot="0" flipH="0" flipV="0">
            <a:off x="1562100" y="5705475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文本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表格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图表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KPI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卡片，按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renderer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路由</a:t>
            </a:r>
            <a:endParaRPr/>
          </a:p>
        </p:txBody>
      </p:sp>
      <p:sp>
        <p:nvSpPr>
          <p:cNvPr id="1702" name="" descr="{&quot;isTemplate&quot;:true,&quot;type&quot;:&quot;text&quot;}"/>
          <p:cNvSpPr txBox="1"/>
          <p:nvPr/>
        </p:nvSpPr>
        <p:spPr>
          <a:xfrm rot="0" flipH="0" flipV="0">
            <a:off x="6877050" y="1143000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TECH STACK</a:t>
            </a:r>
            <a:endParaRPr/>
          </a:p>
        </p:txBody>
      </p:sp>
      <p:sp>
        <p:nvSpPr>
          <p:cNvPr id="1703" name=""/>
          <p:cNvSpPr/>
          <p:nvPr/>
        </p:nvSpPr>
        <p:spPr>
          <a:xfrm rot="0" flipH="0" flipV="0">
            <a:off x="6877050" y="14478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04" name="" descr="{&quot;isTemplate&quot;:true,&quot;type&quot;:&quot;text&quot;}"/>
          <p:cNvSpPr txBox="1"/>
          <p:nvPr/>
        </p:nvSpPr>
        <p:spPr>
          <a:xfrm rot="0" flipH="0" flipV="0">
            <a:off x="6877050" y="1581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前端</a:t>
            </a:r>
            <a:endParaRPr/>
          </a:p>
        </p:txBody>
      </p:sp>
      <p:sp>
        <p:nvSpPr>
          <p:cNvPr id="1705" name="" descr="{&quot;isTemplate&quot;:true,&quot;type&quot;:&quot;text&quot;}"/>
          <p:cNvSpPr txBox="1"/>
          <p:nvPr/>
        </p:nvSpPr>
        <p:spPr>
          <a:xfrm rot="0" flipH="0" flipV="0">
            <a:off x="7524750" y="15335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Vue3 + TS + Pinia + Router</a:t>
            </a:r>
            <a:endParaRPr/>
          </a:p>
        </p:txBody>
      </p:sp>
      <p:sp>
        <p:nvSpPr>
          <p:cNvPr id="1706" name=""/>
          <p:cNvSpPr/>
          <p:nvPr/>
        </p:nvSpPr>
        <p:spPr>
          <a:xfrm rot="0" flipH="0" flipV="0">
            <a:off x="6877050" y="188595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07" name="" descr="{&quot;isTemplate&quot;:true,&quot;type&quot;:&quot;text&quot;}"/>
          <p:cNvSpPr txBox="1"/>
          <p:nvPr/>
        </p:nvSpPr>
        <p:spPr>
          <a:xfrm rot="0" flipH="0" flipV="0">
            <a:off x="6877050" y="20193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服务端</a:t>
            </a:r>
            <a:endParaRPr/>
          </a:p>
        </p:txBody>
      </p:sp>
      <p:sp>
        <p:nvSpPr>
          <p:cNvPr id="1708" name="" descr="{&quot;isTemplate&quot;:true,&quot;type&quot;:&quot;text&quot;}"/>
          <p:cNvSpPr txBox="1"/>
          <p:nvPr/>
        </p:nvSpPr>
        <p:spPr>
          <a:xfrm rot="0" flipH="0" flipV="0">
            <a:off x="7524750" y="19716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Node + TS + Koa</a:t>
            </a:r>
            <a:endParaRPr/>
          </a:p>
        </p:txBody>
      </p:sp>
      <p:sp>
        <p:nvSpPr>
          <p:cNvPr id="1709" name=""/>
          <p:cNvSpPr/>
          <p:nvPr/>
        </p:nvSpPr>
        <p:spPr>
          <a:xfrm rot="0" flipH="0" flipV="0">
            <a:off x="6877050" y="23241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10" name="" descr="{&quot;isTemplate&quot;:true,&quot;type&quot;:&quot;text&quot;}"/>
          <p:cNvSpPr txBox="1"/>
          <p:nvPr/>
        </p:nvSpPr>
        <p:spPr>
          <a:xfrm rot="0" flipH="0" flipV="0">
            <a:off x="6877050" y="24574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智能体</a:t>
            </a:r>
            <a:endParaRPr/>
          </a:p>
        </p:txBody>
      </p:sp>
      <p:sp>
        <p:nvSpPr>
          <p:cNvPr id="1711" name="" descr="{&quot;isTemplate&quot;:true,&quot;type&quot;:&quot;text&quot;}"/>
          <p:cNvSpPr txBox="1"/>
          <p:nvPr/>
        </p:nvSpPr>
        <p:spPr>
          <a:xfrm rot="0" flipH="0" flipV="0">
            <a:off x="7524750" y="24098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@earendil-works/pi-coding-agent</a:t>
            </a:r>
            <a:endParaRPr/>
          </a:p>
        </p:txBody>
      </p:sp>
      <p:sp>
        <p:nvSpPr>
          <p:cNvPr id="1712" name=""/>
          <p:cNvSpPr/>
          <p:nvPr/>
        </p:nvSpPr>
        <p:spPr>
          <a:xfrm rot="0" flipH="0" flipV="0">
            <a:off x="6877050" y="276225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13" name="" descr="{&quot;isTemplate&quot;:true,&quot;type&quot;:&quot;text&quot;}"/>
          <p:cNvSpPr txBox="1"/>
          <p:nvPr/>
        </p:nvSpPr>
        <p:spPr>
          <a:xfrm rot="0" flipH="0" flipV="0">
            <a:off x="6877050" y="2895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数据</a:t>
            </a:r>
            <a:endParaRPr/>
          </a:p>
        </p:txBody>
      </p:sp>
      <p:sp>
        <p:nvSpPr>
          <p:cNvPr id="1714" name="" descr="{&quot;isTemplate&quot;:true,&quot;type&quot;:&quot;text&quot;}"/>
          <p:cNvSpPr txBox="1"/>
          <p:nvPr/>
        </p:nvSpPr>
        <p:spPr>
          <a:xfrm rot="0" flipH="0" flipV="0">
            <a:off x="7524750" y="28479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内存</a:t>
            </a: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JSON </a:t>
            </a: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种子数据，无需外部数据库</a:t>
            </a:r>
            <a:endParaRPr/>
          </a:p>
        </p:txBody>
      </p:sp>
      <p:sp>
        <p:nvSpPr>
          <p:cNvPr id="1715" name=""/>
          <p:cNvSpPr/>
          <p:nvPr/>
        </p:nvSpPr>
        <p:spPr>
          <a:xfrm rot="0" flipH="0" flipV="0">
            <a:off x="6877050" y="32004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16" name="" descr="{&quot;isTemplate&quot;:true,&quot;type&quot;:&quot;text&quot;}"/>
          <p:cNvSpPr txBox="1"/>
          <p:nvPr/>
        </p:nvSpPr>
        <p:spPr>
          <a:xfrm rot="0" flipH="0" flipV="0">
            <a:off x="6877050" y="33337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注册</a:t>
            </a:r>
            <a:endParaRPr/>
          </a:p>
        </p:txBody>
      </p:sp>
      <p:sp>
        <p:nvSpPr>
          <p:cNvPr id="1717" name="" descr="{&quot;isTemplate&quot;:true,&quot;type&quot;:&quot;text&quot;}"/>
          <p:cNvSpPr txBox="1"/>
          <p:nvPr/>
        </p:nvSpPr>
        <p:spPr>
          <a:xfrm rot="0" flipH="0" flipV="0">
            <a:off x="7524750" y="32861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.pi/ </a:t>
            </a: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目录发现式注册，代码零硬编码</a:t>
            </a:r>
            <a:endParaRPr/>
          </a:p>
        </p:txBody>
      </p:sp>
      <p:sp>
        <p:nvSpPr>
          <p:cNvPr id="1718" name=""/>
          <p:cNvSpPr/>
          <p:nvPr/>
        </p:nvSpPr>
        <p:spPr>
          <a:xfrm rot="0" flipH="0" flipV="0">
            <a:off x="6877050" y="3829050"/>
            <a:ext cx="4629150" cy="1181100"/>
          </a:xfrm>
          <a:prstGeom prst="roundRect">
            <a:avLst>
              <a:gd name="adj" fmla="val 3226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19" name="" descr="{&quot;isTemplate&quot;:true,&quot;type&quot;:&quot;text&quot;}"/>
          <p:cNvSpPr txBox="1"/>
          <p:nvPr/>
        </p:nvSpPr>
        <p:spPr>
          <a:xfrm rot="0" flipH="0" flipV="0">
            <a:off x="7029450" y="3962400"/>
            <a:ext cx="432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要解决的三件事</a:t>
            </a:r>
            <a:endParaRPr/>
          </a:p>
        </p:txBody>
      </p:sp>
      <p:sp>
        <p:nvSpPr>
          <p:cNvPr id="1720" name="" descr="{&quot;isTemplate&quot;:true,&quot;type&quot;:&quot;text&quot;}"/>
          <p:cNvSpPr txBox="1"/>
          <p:nvPr/>
        </p:nvSpPr>
        <p:spPr>
          <a:xfrm rot="0" flipH="0" flipV="0">
            <a:off x="7029450" y="42195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721" name="" descr="{&quot;isTemplate&quot;:true,&quot;type&quot;:&quot;text&quot;}"/>
          <p:cNvSpPr txBox="1"/>
          <p:nvPr/>
        </p:nvSpPr>
        <p:spPr>
          <a:xfrm rot="0" flipH="0" flipV="0">
            <a:off x="7277100" y="42100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用户角色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部门的数据范围隔离</a:t>
            </a:r>
            <a:endParaRPr/>
          </a:p>
        </p:txBody>
      </p:sp>
      <p:sp>
        <p:nvSpPr>
          <p:cNvPr id="1722" name="" descr="{&quot;isTemplate&quot;:true,&quot;type&quot;:&quot;text&quot;}"/>
          <p:cNvSpPr txBox="1"/>
          <p:nvPr/>
        </p:nvSpPr>
        <p:spPr>
          <a:xfrm rot="0" flipH="0" flipV="0">
            <a:off x="7029450" y="44672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723" name="" descr="{&quot;isTemplate&quot;:true,&quot;type&quot;:&quot;text&quot;}"/>
          <p:cNvSpPr txBox="1"/>
          <p:nvPr/>
        </p:nvSpPr>
        <p:spPr>
          <a:xfrm rot="0" flipH="0" flipV="0">
            <a:off x="7277100" y="445770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多租户隔离（共享库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tenant_id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724" name="" descr="{&quot;isTemplate&quot;:true,&quot;type&quot;:&quot;text&quot;}"/>
          <p:cNvSpPr txBox="1"/>
          <p:nvPr/>
        </p:nvSpPr>
        <p:spPr>
          <a:xfrm rot="0" flipH="0" flipV="0">
            <a:off x="7029450" y="47148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725" name="" descr="{&quot;isTemplate&quot;:true,&quot;type&quot;:&quot;text&quot;}"/>
          <p:cNvSpPr txBox="1"/>
          <p:nvPr/>
        </p:nvSpPr>
        <p:spPr>
          <a:xfrm rot="0" flipH="0" flipV="0">
            <a:off x="7277100" y="47053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指标的准确性与可追溯</a:t>
            </a:r>
            <a:endParaRPr/>
          </a:p>
        </p:txBody>
      </p:sp>
      <p:sp>
        <p:nvSpPr>
          <p:cNvPr id="1726" name=""/>
          <p:cNvSpPr/>
          <p:nvPr/>
        </p:nvSpPr>
        <p:spPr>
          <a:xfrm rot="0" flipH="0" flipV="0">
            <a:off x="6877050" y="5238750"/>
            <a:ext cx="4629150" cy="819150"/>
          </a:xfrm>
          <a:prstGeom prst="roundRect">
            <a:avLst>
              <a:gd name="adj" fmla="val 465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27" name="" descr="{&quot;isTemplate&quot;:true,&quot;type&quot;:&quot;text&quot;}"/>
          <p:cNvSpPr txBox="1"/>
          <p:nvPr/>
        </p:nvSpPr>
        <p:spPr>
          <a:xfrm rot="0" flipH="0" flipV="0">
            <a:off x="7029450" y="5372100"/>
            <a:ext cx="432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728" name="" descr="{&quot;isTemplate&quot;:true,&quot;type&quot;:&quot;text&quot;}"/>
          <p:cNvSpPr txBox="1"/>
          <p:nvPr/>
        </p:nvSpPr>
        <p:spPr>
          <a:xfrm rot="0" flipH="0" flipV="0">
            <a:off x="7029450" y="5610225"/>
            <a:ext cx="43243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是</a:t>
            </a:r>
            <a:r>
              <a:rPr lang="zh-CN" sz="1200">
                <a:solidFill>
                  <a:srgbClr val="2AD4EE"/>
                </a:solidFill>
                <a:latin typeface="Source Han Sans SC"/>
                <a:ea typeface="Source Han Sans SC"/>
              </a:rPr>
              <a:t>编排核心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，不是外挂组件。</a:t>
            </a:r>
            <a:endParaRPr/>
          </a:p>
        </p:txBody>
      </p:sp>
      <p:sp>
        <p:nvSpPr>
          <p:cNvPr id="172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73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40 / 46</a:t>
            </a:r>
            <a:endParaRPr/>
          </a:p>
        </p:txBody>
      </p:sp>
    </p:spTree>
  </p:cSld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7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73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三级路由：准确性的核心</a:t>
            </a:r>
            <a:endParaRPr/>
          </a:p>
        </p:txBody>
      </p:sp>
      <p:sp>
        <p:nvSpPr>
          <p:cNvPr id="173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按顺序判断，不得跳级；缺参数就不调工具</a:t>
            </a:r>
            <a:endParaRPr/>
          </a:p>
        </p:txBody>
      </p:sp>
      <p:sp>
        <p:nvSpPr>
          <p:cNvPr id="1736" name=""/>
          <p:cNvSpPr/>
          <p:nvPr/>
        </p:nvSpPr>
        <p:spPr>
          <a:xfrm rot="0" flipH="0" flipV="0">
            <a:off x="685800" y="1143000"/>
            <a:ext cx="3200400" cy="4914900"/>
          </a:xfrm>
          <a:custGeom>
            <a:pathLst>
              <a:path w="336" h="516">
                <a:moveTo>
                  <a:pt x="335" y="0"/>
                </a:moveTo>
                <a:lnTo>
                  <a:pt x="336" y="0"/>
                </a:lnTo>
                <a:lnTo>
                  <a:pt x="336" y="516"/>
                </a:lnTo>
                <a:lnTo>
                  <a:pt x="33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3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886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ROUTING BY PRIORITY</a:t>
            </a:r>
            <a:endParaRPr/>
          </a:p>
        </p:txBody>
      </p:sp>
      <p:sp>
        <p:nvSpPr>
          <p:cNvPr id="1738" name="" descr="{&quot;isTemplate&quot;:true,&quot;type&quot;:&quot;text&quot;}"/>
          <p:cNvSpPr txBox="1"/>
          <p:nvPr/>
        </p:nvSpPr>
        <p:spPr>
          <a:xfrm rot="0" flipH="0" flipV="0">
            <a:off x="685800" y="1409700"/>
            <a:ext cx="28860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200" b="1">
                <a:solidFill>
                  <a:srgbClr val="2AD4EE"/>
                </a:solidFill>
                <a:latin typeface="JetBrains Mono"/>
                <a:ea typeface="JetBrains Mono"/>
              </a:rPr>
              <a:t>三级</a:t>
            </a:r>
            <a:endParaRPr/>
          </a:p>
        </p:txBody>
      </p:sp>
      <p:sp>
        <p:nvSpPr>
          <p:cNvPr id="1739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2886075" cy="723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强约束优先，</a:t>
            </a:r>
            <a:endParaRPr/>
          </a:p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自由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兜底</a:t>
            </a:r>
            <a:endParaRPr/>
          </a:p>
        </p:txBody>
      </p:sp>
      <p:sp>
        <p:nvSpPr>
          <p:cNvPr id="1740" name="" descr="{&quot;isTemplate&quot;:true,&quot;type&quot;:&quot;text&quot;}"/>
          <p:cNvSpPr txBox="1"/>
          <p:nvPr/>
        </p:nvSpPr>
        <p:spPr>
          <a:xfrm rot="0" flipH="0" flipV="0">
            <a:off x="685800" y="3543300"/>
            <a:ext cx="28860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越往上，模型能编造的空间越小。自由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永远放在最后，而且一定会被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AST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校验和范围注入重写一遍。</a:t>
            </a:r>
            <a:endParaRPr/>
          </a:p>
        </p:txBody>
      </p:sp>
      <p:sp>
        <p:nvSpPr>
          <p:cNvPr id="1741" name=""/>
          <p:cNvSpPr/>
          <p:nvPr/>
        </p:nvSpPr>
        <p:spPr>
          <a:xfrm rot="0" flipH="0" flipV="0">
            <a:off x="685800" y="4819650"/>
            <a:ext cx="2886075" cy="1238250"/>
          </a:xfrm>
          <a:prstGeom prst="roundRect">
            <a:avLst>
              <a:gd name="adj" fmla="val 307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42" name="" descr="{&quot;isTemplate&quot;:true,&quot;type&quot;:&quot;text&quot;}"/>
          <p:cNvSpPr txBox="1"/>
          <p:nvPr/>
        </p:nvSpPr>
        <p:spPr>
          <a:xfrm rot="0" flipH="0" flipV="0">
            <a:off x="857250" y="4972050"/>
            <a:ext cx="2543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743" name="" descr="{&quot;isTemplate&quot;:true,&quot;type&quot;:&quot;text&quot;}"/>
          <p:cNvSpPr txBox="1"/>
          <p:nvPr/>
        </p:nvSpPr>
        <p:spPr>
          <a:xfrm rot="0" flipH="0" flipV="0">
            <a:off x="857250" y="5238750"/>
            <a:ext cx="25431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把「选哪条路」从模型手里收回来，才是准不准的关键。</a:t>
            </a:r>
            <a:endParaRPr/>
          </a:p>
        </p:txBody>
      </p:sp>
      <p:sp>
        <p:nvSpPr>
          <p:cNvPr id="1744" name="" descr="{&quot;isTemplate&quot;:true,&quot;type&quot;:&quot;text&quot;}"/>
          <p:cNvSpPr txBox="1"/>
          <p:nvPr/>
        </p:nvSpPr>
        <p:spPr>
          <a:xfrm rot="0" flipH="0" flipV="0">
            <a:off x="4210050" y="1143000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DECISION ORDER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自上而下，命中即停</a:t>
            </a:r>
            <a:endParaRPr/>
          </a:p>
        </p:txBody>
      </p:sp>
      <p:sp>
        <p:nvSpPr>
          <p:cNvPr id="1745" name="" descr="{&quot;isTemplate&quot;:true,&quot;type&quot;:&quot;text&quot;}"/>
          <p:cNvSpPr txBox="1"/>
          <p:nvPr/>
        </p:nvSpPr>
        <p:spPr>
          <a:xfrm rot="0" flipH="0" flipV="0">
            <a:off x="10515600" y="11525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跳级</a:t>
            </a: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准确率失控</a:t>
            </a:r>
            <a:endParaRPr/>
          </a:p>
        </p:txBody>
      </p:sp>
      <p:sp>
        <p:nvSpPr>
          <p:cNvPr id="1746" name=""/>
          <p:cNvSpPr/>
          <p:nvPr/>
        </p:nvSpPr>
        <p:spPr>
          <a:xfrm rot="0" flipH="0" flipV="0">
            <a:off x="4248150" y="1428750"/>
            <a:ext cx="7296150" cy="1114425"/>
          </a:xfrm>
          <a:prstGeom prst="roundRect">
            <a:avLst>
              <a:gd name="adj" fmla="val 2564"/>
            </a:avLst>
          </a:prstGeom>
          <a:solidFill>
            <a:srgbClr val="2AD4EE">
              <a:alpha val="13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47" name=""/>
          <p:cNvSpPr/>
          <p:nvPr/>
        </p:nvSpPr>
        <p:spPr>
          <a:xfrm rot="0" flipH="0" flipV="0">
            <a:off x="4248150" y="1428750"/>
            <a:ext cx="7296150" cy="1114425"/>
          </a:xfrm>
          <a:custGeom>
            <a:pathLst>
              <a:path w="766" h="117">
                <a:moveTo>
                  <a:pt x="4" y="117"/>
                </a:moveTo>
                <a:cubicBezTo>
                  <a:pt x="3" y="117"/>
                  <a:pt x="2" y="117"/>
                  <a:pt x="1" y="116"/>
                </a:cubicBezTo>
                <a:cubicBezTo>
                  <a:pt x="0" y="115"/>
                  <a:pt x="0" y="115"/>
                  <a:pt x="0" y="11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48" name="" descr="{&quot;isTemplate&quot;:true,&quot;type&quot;:&quot;text&quot;}"/>
          <p:cNvSpPr txBox="1"/>
          <p:nvPr/>
        </p:nvSpPr>
        <p:spPr>
          <a:xfrm rot="0" flipH="0" flipV="0">
            <a:off x="4419600" y="1819275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1749" name="" descr="{&quot;isTemplate&quot;:true,&quot;type&quot;:&quot;text&quot;}"/>
          <p:cNvSpPr txBox="1"/>
          <p:nvPr/>
        </p:nvSpPr>
        <p:spPr>
          <a:xfrm rot="0" flipH="0" flipV="0">
            <a:off x="4895850" y="1714500"/>
            <a:ext cx="733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业务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API</a:t>
            </a:r>
            <a:endParaRPr/>
          </a:p>
        </p:txBody>
      </p:sp>
      <p:sp>
        <p:nvSpPr>
          <p:cNvPr id="1750" name="" descr="{&quot;isTemplate&quot;:true,&quot;type&quot;:&quot;text&quot;}"/>
          <p:cNvSpPr txBox="1"/>
          <p:nvPr/>
        </p:nvSpPr>
        <p:spPr>
          <a:xfrm rot="0" flipH="0" flipV="0">
            <a:off x="5743575" y="1714500"/>
            <a:ext cx="1333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call_business_api</a:t>
            </a:r>
            <a:endParaRPr/>
          </a:p>
        </p:txBody>
      </p:sp>
      <p:sp>
        <p:nvSpPr>
          <p:cNvPr id="1751" name="" descr="{&quot;isTemplate&quot;:true,&quot;type&quot;:&quot;text&quot;}"/>
          <p:cNvSpPr txBox="1"/>
          <p:nvPr/>
        </p:nvSpPr>
        <p:spPr>
          <a:xfrm rot="0" flipH="0" flipV="0">
            <a:off x="4895850" y="2019300"/>
            <a:ext cx="57340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先看问题是否命中租户的业务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清单；字典类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可直接按名调用。参数齐全才执行。</a:t>
            </a:r>
            <a:endParaRPr/>
          </a:p>
        </p:txBody>
      </p:sp>
      <p:sp>
        <p:nvSpPr>
          <p:cNvPr id="1752" name=""/>
          <p:cNvSpPr/>
          <p:nvPr/>
        </p:nvSpPr>
        <p:spPr>
          <a:xfrm rot="0" flipH="0" flipV="0">
            <a:off x="10782300" y="1876425"/>
            <a:ext cx="5524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53" name="" descr="{&quot;isTemplate&quot;:true,&quot;type&quot;:&quot;text&quot;}"/>
          <p:cNvSpPr txBox="1"/>
          <p:nvPr/>
        </p:nvSpPr>
        <p:spPr>
          <a:xfrm rot="0" flipH="0" flipV="0">
            <a:off x="10877550" y="191452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强约束</a:t>
            </a:r>
            <a:endParaRPr/>
          </a:p>
        </p:txBody>
      </p:sp>
      <p:sp>
        <p:nvSpPr>
          <p:cNvPr id="1754" name="" descr="{&quot;isTemplate&quot;:true,&quot;type&quot;:&quot;text&quot;}"/>
          <p:cNvSpPr txBox="1"/>
          <p:nvPr/>
        </p:nvSpPr>
        <p:spPr>
          <a:xfrm rot="0" flipH="0" flipV="0">
            <a:off x="4533900" y="2600325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 xml:space="preserve">↓ </a:t>
            </a:r>
            <a:r>
              <a:rPr lang="zh-CN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未命中</a:t>
            </a:r>
            <a:endParaRPr/>
          </a:p>
        </p:txBody>
      </p:sp>
      <p:sp>
        <p:nvSpPr>
          <p:cNvPr id="1755" name=""/>
          <p:cNvSpPr/>
          <p:nvPr/>
        </p:nvSpPr>
        <p:spPr>
          <a:xfrm rot="0" flipH="0" flipV="0">
            <a:off x="4248150" y="2809875"/>
            <a:ext cx="7296150" cy="1104900"/>
          </a:xfrm>
          <a:prstGeom prst="roundRect">
            <a:avLst>
              <a:gd name="adj" fmla="val 2586"/>
            </a:avLst>
          </a:prstGeom>
          <a:solidFill>
            <a:srgbClr val="16233D">
              <a:alpha val="9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56" name=""/>
          <p:cNvSpPr/>
          <p:nvPr/>
        </p:nvSpPr>
        <p:spPr>
          <a:xfrm rot="0" flipH="0" flipV="0">
            <a:off x="4248150" y="2809875"/>
            <a:ext cx="7296150" cy="1104900"/>
          </a:xfrm>
          <a:custGeom>
            <a:pathLst>
              <a:path w="766" h="116">
                <a:moveTo>
                  <a:pt x="4" y="116"/>
                </a:moveTo>
                <a:cubicBezTo>
                  <a:pt x="3" y="116"/>
                  <a:pt x="2" y="116"/>
                  <a:pt x="1" y="115"/>
                </a:cubicBezTo>
                <a:cubicBezTo>
                  <a:pt x="0" y="114"/>
                  <a:pt x="0" y="114"/>
                  <a:pt x="0" y="11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57" name="" descr="{&quot;isTemplate&quot;:true,&quot;type&quot;:&quot;text&quot;}"/>
          <p:cNvSpPr txBox="1"/>
          <p:nvPr/>
        </p:nvSpPr>
        <p:spPr>
          <a:xfrm rot="0" flipH="0" flipV="0">
            <a:off x="4419600" y="3190875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1758" name="" descr="{&quot;isTemplate&quot;:true,&quot;type&quot;:&quot;text&quot;}"/>
          <p:cNvSpPr txBox="1"/>
          <p:nvPr/>
        </p:nvSpPr>
        <p:spPr>
          <a:xfrm rot="0" flipH="0" flipV="0">
            <a:off x="4895850" y="3095625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指标模板</a:t>
            </a:r>
            <a:endParaRPr/>
          </a:p>
        </p:txBody>
      </p:sp>
      <p:sp>
        <p:nvSpPr>
          <p:cNvPr id="1759" name="" descr="{&quot;isTemplate&quot;:true,&quot;type&quot;:&quot;text&quot;}"/>
          <p:cNvSpPr txBox="1"/>
          <p:nvPr/>
        </p:nvSpPr>
        <p:spPr>
          <a:xfrm rot="0" flipH="0" flipV="0">
            <a:off x="5810250" y="30956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query_metric</a:t>
            </a:r>
            <a:endParaRPr/>
          </a:p>
        </p:txBody>
      </p:sp>
      <p:sp>
        <p:nvSpPr>
          <p:cNvPr id="1760" name="" descr="{&quot;isTemplate&quot;:true,&quot;type&quot;:&quot;text&quot;}"/>
          <p:cNvSpPr txBox="1"/>
          <p:nvPr/>
        </p:nvSpPr>
        <p:spPr>
          <a:xfrm rot="0" flipH="0" flipV="0">
            <a:off x="4895850" y="3400425"/>
            <a:ext cx="56197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未命中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，再看是否命中预定义指标字典；检查维度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时间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过滤参数是否齐全。</a:t>
            </a:r>
            <a:endParaRPr/>
          </a:p>
        </p:txBody>
      </p:sp>
      <p:sp>
        <p:nvSpPr>
          <p:cNvPr id="1761" name=""/>
          <p:cNvSpPr/>
          <p:nvPr/>
        </p:nvSpPr>
        <p:spPr>
          <a:xfrm rot="0" flipH="0" flipV="0">
            <a:off x="10668000" y="3257550"/>
            <a:ext cx="6667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62" name="" descr="{&quot;isTemplate&quot;:true,&quot;type&quot;:&quot;text&quot;}"/>
          <p:cNvSpPr txBox="1"/>
          <p:nvPr/>
        </p:nvSpPr>
        <p:spPr>
          <a:xfrm rot="0" flipH="0" flipV="0">
            <a:off x="10763250" y="32956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中等约束</a:t>
            </a:r>
            <a:endParaRPr/>
          </a:p>
        </p:txBody>
      </p:sp>
      <p:sp>
        <p:nvSpPr>
          <p:cNvPr id="1763" name="" descr="{&quot;isTemplate&quot;:true,&quot;type&quot;:&quot;text&quot;}"/>
          <p:cNvSpPr txBox="1"/>
          <p:nvPr/>
        </p:nvSpPr>
        <p:spPr>
          <a:xfrm rot="0" flipH="0" flipV="0">
            <a:off x="4533900" y="3971925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 xml:space="preserve">↓ </a:t>
            </a:r>
            <a:r>
              <a:rPr lang="zh-CN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未命中</a:t>
            </a:r>
            <a:endParaRPr/>
          </a:p>
        </p:txBody>
      </p:sp>
      <p:sp>
        <p:nvSpPr>
          <p:cNvPr id="1764" name=""/>
          <p:cNvSpPr/>
          <p:nvPr/>
        </p:nvSpPr>
        <p:spPr>
          <a:xfrm rot="0" flipH="0" flipV="0">
            <a:off x="4248150" y="4181475"/>
            <a:ext cx="7296150" cy="1114425"/>
          </a:xfrm>
          <a:prstGeom prst="roundRect">
            <a:avLst>
              <a:gd name="adj" fmla="val 2564"/>
            </a:avLst>
          </a:prstGeom>
          <a:solidFill>
            <a:srgbClr val="16233D">
              <a:alpha val="9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65" name=""/>
          <p:cNvSpPr/>
          <p:nvPr/>
        </p:nvSpPr>
        <p:spPr>
          <a:xfrm rot="0" flipH="0" flipV="0">
            <a:off x="4248150" y="4181475"/>
            <a:ext cx="7296150" cy="1114425"/>
          </a:xfrm>
          <a:custGeom>
            <a:pathLst>
              <a:path w="766" h="117">
                <a:moveTo>
                  <a:pt x="4" y="117"/>
                </a:moveTo>
                <a:cubicBezTo>
                  <a:pt x="3" y="117"/>
                  <a:pt x="2" y="117"/>
                  <a:pt x="1" y="116"/>
                </a:cubicBezTo>
                <a:cubicBezTo>
                  <a:pt x="0" y="115"/>
                  <a:pt x="0" y="115"/>
                  <a:pt x="0" y="11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6" name="" descr="{&quot;isTemplate&quot;:true,&quot;type&quot;:&quot;text&quot;}"/>
          <p:cNvSpPr txBox="1"/>
          <p:nvPr/>
        </p:nvSpPr>
        <p:spPr>
          <a:xfrm rot="0" flipH="0" flipV="0">
            <a:off x="4419600" y="4572000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1767" name="" descr="{&quot;isTemplate&quot;:true,&quot;type&quot;:&quot;text&quot;}"/>
          <p:cNvSpPr txBox="1"/>
          <p:nvPr/>
        </p:nvSpPr>
        <p:spPr>
          <a:xfrm rot="0" flipH="0" flipV="0">
            <a:off x="4895850" y="4467225"/>
            <a:ext cx="809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受控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SQL</a:t>
            </a:r>
            <a:endParaRPr/>
          </a:p>
        </p:txBody>
      </p:sp>
      <p:sp>
        <p:nvSpPr>
          <p:cNvPr id="1768" name="" descr="{&quot;isTemplate&quot;:true,&quot;type&quot;:&quot;text&quot;}"/>
          <p:cNvSpPr txBox="1"/>
          <p:nvPr/>
        </p:nvSpPr>
        <p:spPr>
          <a:xfrm rot="0" flipH="0" flipV="0">
            <a:off x="5819775" y="44672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run_safe_sql</a:t>
            </a:r>
            <a:endParaRPr/>
          </a:p>
        </p:txBody>
      </p:sp>
      <p:sp>
        <p:nvSpPr>
          <p:cNvPr id="1769" name="" descr="{&quot;isTemplate&quot;:true,&quot;type&quot;:&quot;text&quot;}"/>
          <p:cNvSpPr txBox="1"/>
          <p:nvPr/>
        </p:nvSpPr>
        <p:spPr>
          <a:xfrm rot="0" flipH="0" flipV="0">
            <a:off x="4895850" y="4772025"/>
            <a:ext cx="56197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前两级都没命中才走自由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SQL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校验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强制注入租户与数据范围后执行。</a:t>
            </a:r>
            <a:endParaRPr/>
          </a:p>
        </p:txBody>
      </p:sp>
      <p:sp>
        <p:nvSpPr>
          <p:cNvPr id="1770" name=""/>
          <p:cNvSpPr/>
          <p:nvPr/>
        </p:nvSpPr>
        <p:spPr>
          <a:xfrm rot="0" flipH="0" flipV="0">
            <a:off x="10668000" y="4629150"/>
            <a:ext cx="6667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71" name="" descr="{&quot;isTemplate&quot;:true,&quot;type&quot;:&quot;text&quot;}"/>
          <p:cNvSpPr txBox="1"/>
          <p:nvPr/>
        </p:nvSpPr>
        <p:spPr>
          <a:xfrm rot="0" flipH="0" flipV="0">
            <a:off x="10763250" y="46672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受控兜底</a:t>
            </a:r>
            <a:endParaRPr/>
          </a:p>
        </p:txBody>
      </p:sp>
      <p:sp>
        <p:nvSpPr>
          <p:cNvPr id="1772" name=""/>
          <p:cNvSpPr/>
          <p:nvPr/>
        </p:nvSpPr>
        <p:spPr>
          <a:xfrm rot="0" flipH="0" flipV="0">
            <a:off x="4238625" y="5410200"/>
            <a:ext cx="7296150" cy="64770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73" name=""/>
          <p:cNvSpPr/>
          <p:nvPr/>
        </p:nvSpPr>
        <p:spPr>
          <a:xfrm rot="0" flipH="0" flipV="0">
            <a:off x="4210050" y="5410200"/>
            <a:ext cx="7324725" cy="647700"/>
          </a:xfrm>
          <a:custGeom>
            <a:pathLst>
              <a:path w="769" h="68">
                <a:moveTo>
                  <a:pt x="0" y="0"/>
                </a:moveTo>
                <a:lnTo>
                  <a:pt x="3" y="0"/>
                </a:lnTo>
                <a:lnTo>
                  <a:pt x="3" y="68"/>
                </a:lnTo>
                <a:lnTo>
                  <a:pt x="0" y="68"/>
                </a:lnTo>
                <a:close/>
              </a:path>
            </a:pathLst>
          </a:cu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74" name="" descr="{&quot;isTemplate&quot;:true,&quot;type&quot;:&quot;text&quot;}"/>
          <p:cNvSpPr txBox="1"/>
          <p:nvPr/>
        </p:nvSpPr>
        <p:spPr>
          <a:xfrm rot="0" flipH="0" flipV="0">
            <a:off x="4410075" y="5657850"/>
            <a:ext cx="57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两条铁律</a:t>
            </a:r>
            <a:endParaRPr/>
          </a:p>
        </p:txBody>
      </p:sp>
      <p:sp>
        <p:nvSpPr>
          <p:cNvPr id="1775" name="" descr="{&quot;isTemplate&quot;:true,&quot;type&quot;:&quot;text&quot;}"/>
          <p:cNvSpPr txBox="1"/>
          <p:nvPr/>
        </p:nvSpPr>
        <p:spPr>
          <a:xfrm rot="0" flipH="0" flipV="0">
            <a:off x="5172075" y="5600700"/>
            <a:ext cx="61626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不得跳级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：只能按</a:t>
            </a:r>
            <a:r>
              <a:rPr lang="en-US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 ①→②→③ 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顺序判断</a:t>
            </a:r>
            <a:r>
              <a:rPr lang="en-US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｜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缺参不调工具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：先向用户索要，补齐后重新判断</a:t>
            </a:r>
            <a:endParaRPr/>
          </a:p>
        </p:txBody>
      </p:sp>
      <p:sp>
        <p:nvSpPr>
          <p:cNvPr id="177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77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41 / 46</a:t>
            </a:r>
            <a:endParaRPr/>
          </a:p>
        </p:txBody>
      </p:sp>
    </p:spTree>
  </p:cSld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17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780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81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848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发现式注册：加工具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丢一个文件</a:t>
            </a:r>
            <a:endParaRPr/>
          </a:p>
        </p:txBody>
      </p:sp>
      <p:sp>
        <p:nvSpPr>
          <p:cNvPr id="1782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848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代码里零硬编码工具数组，能力全在磁盘上</a:t>
            </a:r>
            <a:endParaRPr/>
          </a:p>
        </p:txBody>
      </p:sp>
      <p:sp>
        <p:nvSpPr>
          <p:cNvPr id="1783" name=""/>
          <p:cNvSpPr/>
          <p:nvPr/>
        </p:nvSpPr>
        <p:spPr>
          <a:xfrm rot="0" flipH="0" flipV="0">
            <a:off x="685800" y="1143000"/>
            <a:ext cx="2609850" cy="4914900"/>
          </a:xfrm>
          <a:custGeom>
            <a:pathLst>
              <a:path w="274" h="516">
                <a:moveTo>
                  <a:pt x="273" y="0"/>
                </a:moveTo>
                <a:lnTo>
                  <a:pt x="274" y="0"/>
                </a:lnTo>
                <a:lnTo>
                  <a:pt x="274" y="516"/>
                </a:lnTo>
                <a:lnTo>
                  <a:pt x="273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78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DISCOVERY</a:t>
            </a:r>
            <a:endParaRPr/>
          </a:p>
        </p:txBody>
      </p:sp>
      <p:sp>
        <p:nvSpPr>
          <p:cNvPr id="1785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33362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加一个工具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等于丢一个文件</a:t>
            </a:r>
            <a:endParaRPr/>
          </a:p>
        </p:txBody>
      </p:sp>
      <p:sp>
        <p:nvSpPr>
          <p:cNvPr id="1786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33362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启动时，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DefaultResourceLoader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扫描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.pi/extensions/*.ts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，每个文件自己注册自己的工具。</a:t>
            </a:r>
            <a:endParaRPr/>
          </a:p>
        </p:txBody>
      </p:sp>
      <p:sp>
        <p:nvSpPr>
          <p:cNvPr id="1787" name=""/>
          <p:cNvSpPr/>
          <p:nvPr/>
        </p:nvSpPr>
        <p:spPr>
          <a:xfrm rot="0" flipH="0" flipV="0">
            <a:off x="685800" y="37528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88" name="" descr="{&quot;isTemplate&quot;:true,&quot;type&quot;:&quot;text&quot;}"/>
          <p:cNvSpPr txBox="1"/>
          <p:nvPr/>
        </p:nvSpPr>
        <p:spPr>
          <a:xfrm rot="0" flipH="0" flipV="0">
            <a:off x="828675" y="3686175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新增工具不动主干代码</a:t>
            </a:r>
            <a:endParaRPr/>
          </a:p>
        </p:txBody>
      </p:sp>
      <p:sp>
        <p:nvSpPr>
          <p:cNvPr id="1789" name=""/>
          <p:cNvSpPr/>
          <p:nvPr/>
        </p:nvSpPr>
        <p:spPr>
          <a:xfrm rot="0" flipH="0" flipV="0">
            <a:off x="685800" y="40957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90" name="" descr="{&quot;isTemplate&quot;:true,&quot;type&quot;:&quot;text&quot;}"/>
          <p:cNvSpPr txBox="1"/>
          <p:nvPr/>
        </p:nvSpPr>
        <p:spPr>
          <a:xfrm rot="0" flipH="0" flipV="0">
            <a:off x="828675" y="4029075"/>
            <a:ext cx="21907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AGENTS.md / APPEND_SYSTEM.md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自动合并进系统提示</a:t>
            </a:r>
            <a:endParaRPr/>
          </a:p>
        </p:txBody>
      </p:sp>
      <p:sp>
        <p:nvSpPr>
          <p:cNvPr id="1791" name=""/>
          <p:cNvSpPr/>
          <p:nvPr/>
        </p:nvSpPr>
        <p:spPr>
          <a:xfrm rot="0" flipH="0" flipV="0">
            <a:off x="685800" y="46863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92" name="" descr="{&quot;isTemplate&quot;:true,&quot;type&quot;:&quot;text&quot;}"/>
          <p:cNvSpPr txBox="1"/>
          <p:nvPr/>
        </p:nvSpPr>
        <p:spPr>
          <a:xfrm rot="0" flipH="0" flipV="0">
            <a:off x="828675" y="4619625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删除能力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删掉那个文件</a:t>
            </a:r>
            <a:endParaRPr/>
          </a:p>
        </p:txBody>
      </p:sp>
      <p:sp>
        <p:nvSpPr>
          <p:cNvPr id="1793" name=""/>
          <p:cNvSpPr/>
          <p:nvPr/>
        </p:nvSpPr>
        <p:spPr>
          <a:xfrm rot="0" flipH="0" flipV="0">
            <a:off x="685800" y="4886325"/>
            <a:ext cx="2333625" cy="1171575"/>
          </a:xfrm>
          <a:prstGeom prst="roundRect">
            <a:avLst>
              <a:gd name="adj" fmla="val 32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94" name="" descr="{&quot;isTemplate&quot;:true,&quot;type&quot;:&quot;text&quot;}"/>
          <p:cNvSpPr txBox="1"/>
          <p:nvPr/>
        </p:nvSpPr>
        <p:spPr>
          <a:xfrm rot="0" flipH="0" flipV="0">
            <a:off x="838200" y="503872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795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20288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新增能力不改主干代码，这就是低耦合的落地方式。</a:t>
            </a:r>
            <a:endParaRPr/>
          </a:p>
        </p:txBody>
      </p:sp>
      <p:sp>
        <p:nvSpPr>
          <p:cNvPr id="1796" name="" descr="{&quot;isTemplate&quot;:true,&quot;type&quot;:&quot;text&quot;}"/>
          <p:cNvSpPr txBox="1"/>
          <p:nvPr/>
        </p:nvSpPr>
        <p:spPr>
          <a:xfrm rot="0" flipH="0" flipV="0">
            <a:off x="3600450" y="1143000"/>
            <a:ext cx="276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server/.pi/</a:t>
            </a:r>
            <a:endParaRPr/>
          </a:p>
        </p:txBody>
      </p:sp>
      <p:sp>
        <p:nvSpPr>
          <p:cNvPr id="1797" name=""/>
          <p:cNvSpPr/>
          <p:nvPr/>
        </p:nvSpPr>
        <p:spPr>
          <a:xfrm rot="0" flipH="0" flipV="0">
            <a:off x="3600450" y="1428750"/>
            <a:ext cx="2762250" cy="4629150"/>
          </a:xfrm>
          <a:prstGeom prst="roundRect">
            <a:avLst>
              <a:gd name="adj" fmla="val 137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98" name="" descr="{&quot;isTemplate&quot;:true,&quot;type&quot;:&quot;text&quot;}"/>
          <p:cNvSpPr txBox="1"/>
          <p:nvPr/>
        </p:nvSpPr>
        <p:spPr>
          <a:xfrm rot="0" flipH="0" flipV="0">
            <a:off x="3733800" y="16573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├─ extensions/</a:t>
            </a:r>
            <a:endParaRPr/>
          </a:p>
        </p:txBody>
      </p:sp>
      <p:sp>
        <p:nvSpPr>
          <p:cNvPr id="1799" name="" descr="{&quot;isTemplate&quot;:true,&quot;type&quot;:&quot;text&quot;}"/>
          <p:cNvSpPr txBox="1"/>
          <p:nvPr/>
        </p:nvSpPr>
        <p:spPr>
          <a:xfrm rot="0" flipH="0" flipV="0">
            <a:off x="3733800" y="20002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query-metric.ts</a:t>
            </a:r>
            <a:endParaRPr/>
          </a:p>
        </p:txBody>
      </p:sp>
      <p:sp>
        <p:nvSpPr>
          <p:cNvPr id="1800" name="" descr="{&quot;isTemplate&quot;:true,&quot;type&quot;:&quot;text&quot;}"/>
          <p:cNvSpPr txBox="1"/>
          <p:nvPr/>
        </p:nvSpPr>
        <p:spPr>
          <a:xfrm rot="0" flipH="0" flipV="0">
            <a:off x="3733800" y="21812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query_metric</a:t>
            </a:r>
            <a:endParaRPr/>
          </a:p>
        </p:txBody>
      </p:sp>
      <p:sp>
        <p:nvSpPr>
          <p:cNvPr id="1801" name="" descr="{&quot;isTemplate&quot;:true,&quot;type&quot;:&quot;text&quot;}"/>
          <p:cNvSpPr txBox="1"/>
          <p:nvPr/>
        </p:nvSpPr>
        <p:spPr>
          <a:xfrm rot="0" flipH="0" flipV="0">
            <a:off x="3733800" y="25050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call-api.ts</a:t>
            </a:r>
            <a:endParaRPr/>
          </a:p>
        </p:txBody>
      </p:sp>
      <p:sp>
        <p:nvSpPr>
          <p:cNvPr id="1802" name="" descr="{&quot;isTemplate&quot;:true,&quot;type&quot;:&quot;text&quot;}"/>
          <p:cNvSpPr txBox="1"/>
          <p:nvPr/>
        </p:nvSpPr>
        <p:spPr>
          <a:xfrm rot="0" flipH="0" flipV="0">
            <a:off x="3733800" y="26860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call_business_api</a:t>
            </a:r>
            <a:endParaRPr/>
          </a:p>
        </p:txBody>
      </p:sp>
      <p:sp>
        <p:nvSpPr>
          <p:cNvPr id="1803" name="" descr="{&quot;isTemplate&quot;:true,&quot;type&quot;:&quot;text&quot;}"/>
          <p:cNvSpPr txBox="1"/>
          <p:nvPr/>
        </p:nvSpPr>
        <p:spPr>
          <a:xfrm rot="0" flipH="0" flipV="0">
            <a:off x="3733800" y="30003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safe-sql.ts</a:t>
            </a:r>
            <a:endParaRPr/>
          </a:p>
        </p:txBody>
      </p:sp>
      <p:sp>
        <p:nvSpPr>
          <p:cNvPr id="1804" name="" descr="{&quot;isTemplate&quot;:true,&quot;type&quot;:&quot;text&quot;}"/>
          <p:cNvSpPr txBox="1"/>
          <p:nvPr/>
        </p:nvSpPr>
        <p:spPr>
          <a:xfrm rot="0" flipH="0" flipV="0">
            <a:off x="3733800" y="31813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run_safe_sql</a:t>
            </a:r>
            <a:endParaRPr/>
          </a:p>
        </p:txBody>
      </p:sp>
      <p:sp>
        <p:nvSpPr>
          <p:cNvPr id="1805" name="" descr="{&quot;isTemplate&quot;:true,&quot;type&quot;:&quot;text&quot;}"/>
          <p:cNvSpPr txBox="1"/>
          <p:nvPr/>
        </p:nvSpPr>
        <p:spPr>
          <a:xfrm rot="0" flipH="0" flipV="0">
            <a:off x="3733800" y="350520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emit-table.ts</a:t>
            </a:r>
            <a:endParaRPr/>
          </a:p>
        </p:txBody>
      </p:sp>
      <p:sp>
        <p:nvSpPr>
          <p:cNvPr id="1806" name="" descr="{&quot;isTemplate&quot;:true,&quot;type&quot;:&quot;text&quot;}"/>
          <p:cNvSpPr txBox="1"/>
          <p:nvPr/>
        </p:nvSpPr>
        <p:spPr>
          <a:xfrm rot="0" flipH="0" flipV="0">
            <a:off x="3733800" y="368617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emit_table</a:t>
            </a:r>
            <a:endParaRPr/>
          </a:p>
        </p:txBody>
      </p:sp>
      <p:sp>
        <p:nvSpPr>
          <p:cNvPr id="1807" name="" descr="{&quot;isTemplate&quot;:true,&quot;type&quot;:&quot;text&quot;}"/>
          <p:cNvSpPr txBox="1"/>
          <p:nvPr/>
        </p:nvSpPr>
        <p:spPr>
          <a:xfrm rot="0" flipH="0" flipV="0">
            <a:off x="3733800" y="401002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emit-chart.ts</a:t>
            </a:r>
            <a:endParaRPr/>
          </a:p>
        </p:txBody>
      </p:sp>
      <p:sp>
        <p:nvSpPr>
          <p:cNvPr id="1808" name="" descr="{&quot;isTemplate&quot;:true,&quot;type&quot;:&quot;text&quot;}"/>
          <p:cNvSpPr txBox="1"/>
          <p:nvPr/>
        </p:nvSpPr>
        <p:spPr>
          <a:xfrm rot="0" flipH="0" flipV="0">
            <a:off x="3733800" y="419100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emit_chart</a:t>
            </a:r>
            <a:endParaRPr/>
          </a:p>
        </p:txBody>
      </p:sp>
      <p:sp>
        <p:nvSpPr>
          <p:cNvPr id="1809" name="" descr="{&quot;isTemplate&quot;:true,&quot;type&quot;:&quot;text&quot;}"/>
          <p:cNvSpPr txBox="1"/>
          <p:nvPr/>
        </p:nvSpPr>
        <p:spPr>
          <a:xfrm rot="0" flipH="0" flipV="0">
            <a:off x="3733800" y="45148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└─ emit-kpi.ts</a:t>
            </a:r>
            <a:endParaRPr/>
          </a:p>
        </p:txBody>
      </p:sp>
      <p:sp>
        <p:nvSpPr>
          <p:cNvPr id="1810" name="" descr="{&quot;isTemplate&quot;:true,&quot;type&quot;:&quot;text&quot;}"/>
          <p:cNvSpPr txBox="1"/>
          <p:nvPr/>
        </p:nvSpPr>
        <p:spPr>
          <a:xfrm rot="0" flipH="0" flipV="0">
            <a:off x="3733800" y="46958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emit_kpi</a:t>
            </a:r>
            <a:endParaRPr/>
          </a:p>
        </p:txBody>
      </p:sp>
      <p:sp>
        <p:nvSpPr>
          <p:cNvPr id="1811" name="" descr="{&quot;isTemplate&quot;:true,&quot;type&quot;:&quot;text&quot;}"/>
          <p:cNvSpPr txBox="1"/>
          <p:nvPr/>
        </p:nvSpPr>
        <p:spPr>
          <a:xfrm rot="0" flipH="0" flipV="0">
            <a:off x="3733800" y="50101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├─ AGENTS.md</a:t>
            </a:r>
            <a:endParaRPr/>
          </a:p>
        </p:txBody>
      </p:sp>
      <p:sp>
        <p:nvSpPr>
          <p:cNvPr id="1812" name="" descr="{&quot;isTemplate&quot;:true,&quot;type&quot;:&quot;text&quot;}"/>
          <p:cNvSpPr txBox="1"/>
          <p:nvPr/>
        </p:nvSpPr>
        <p:spPr>
          <a:xfrm rot="0" flipH="0" flipV="0">
            <a:off x="3733800" y="51911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→ </a:t>
            </a:r>
            <a:r>
              <a:rPr lang="zh-CN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自动合并进系统提示</a:t>
            </a:r>
            <a:endParaRPr/>
          </a:p>
        </p:txBody>
      </p:sp>
      <p:sp>
        <p:nvSpPr>
          <p:cNvPr id="1813" name="" descr="{&quot;isTemplate&quot;:true,&quot;type&quot;:&quot;text&quot;}"/>
          <p:cNvSpPr txBox="1"/>
          <p:nvPr/>
        </p:nvSpPr>
        <p:spPr>
          <a:xfrm rot="0" flipH="0" flipV="0">
            <a:off x="3733800" y="55149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└─ APPEND_SYSTEM.md</a:t>
            </a:r>
            <a:endParaRPr/>
          </a:p>
        </p:txBody>
      </p:sp>
      <p:sp>
        <p:nvSpPr>
          <p:cNvPr id="1814" name="" descr="{&quot;isTemplate&quot;:true,&quot;type&quot;:&quot;text&quot;}"/>
          <p:cNvSpPr txBox="1"/>
          <p:nvPr/>
        </p:nvSpPr>
        <p:spPr>
          <a:xfrm rot="0" flipH="0" flipV="0">
            <a:off x="3733800" y="56959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→ </a:t>
            </a:r>
            <a:r>
              <a:rPr lang="zh-CN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自动追加</a:t>
            </a:r>
            <a:endParaRPr/>
          </a:p>
        </p:txBody>
      </p:sp>
      <p:sp>
        <p:nvSpPr>
          <p:cNvPr id="1815" name="" descr="{&quot;isTemplate&quot;:true,&quot;type&quot;:&quot;text&quot;}"/>
          <p:cNvSpPr txBox="1"/>
          <p:nvPr/>
        </p:nvSpPr>
        <p:spPr>
          <a:xfrm rot="0" flipH="0" flipV="0">
            <a:off x="6553200" y="114300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extensions/emit-table.ts</a:t>
            </a:r>
            <a:endParaRPr/>
          </a:p>
        </p:txBody>
      </p:sp>
      <p:sp>
        <p:nvSpPr>
          <p:cNvPr id="181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81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42 / 46</a:t>
            </a:r>
            <a:endParaRPr/>
          </a:p>
        </p:txBody>
      </p:sp>
      <p:sp>
        <p:nvSpPr>
          <p:cNvPr id="1818" name=""/>
          <p:cNvSpPr/>
          <p:nvPr/>
        </p:nvSpPr>
        <p:spPr>
          <a:xfrm rot="0" flipH="0" flipV="0">
            <a:off x="6553200" y="1428750"/>
            <a:ext cx="4953000" cy="4267200"/>
          </a:xfrm>
          <a:prstGeom prst="roundRect">
            <a:avLst>
              <a:gd name="adj" fmla="val 1786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819" name=""/>
          <p:cNvSpPr txBox="1"/>
          <p:nvPr/>
        </p:nvSpPr>
        <p:spPr>
          <a:xfrm rot="0" flipH="0" flipV="0">
            <a:off x="6705600" y="1562100"/>
            <a:ext cx="4781550" cy="4000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import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defineTool,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type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ExtensionAPI }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from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"@earendil-works/pi-coding-agent"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import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Type }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from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"@sinclair/typebox"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79B8FF"/>
                </a:solidFill>
                <a:latin typeface="Menlo"/>
                <a:ea typeface="Menlo"/>
              </a:rPr>
              <a:t>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defineTool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name: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"emit_table"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description: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"向用户输出明细表格。"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parameters: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Object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title: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Optional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rows: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Array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Record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(),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Unknown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())),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source: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}),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async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execute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_id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p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details: { renderer: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"table"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 data: p, source: p.source } };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},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});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default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function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pi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ExtensionAPI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pi.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registerTool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(tool);  </a:t>
            </a:r>
            <a:r>
              <a:rPr sz="938">
                <a:solidFill>
                  <a:srgbClr val="6A737D"/>
                </a:solidFill>
                <a:latin typeface="Menlo"/>
                <a:ea typeface="Menlo"/>
              </a:rPr>
              <a:t>// 文件即工具，无需集中注册表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4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8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22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823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476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隔离与安全：租户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范围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SQL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守卫</a:t>
            </a:r>
            <a:endParaRPr/>
          </a:p>
        </p:txBody>
      </p:sp>
      <p:sp>
        <p:nvSpPr>
          <p:cNvPr id="1824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476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三道防线都建在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之外，所以它绕不过去</a:t>
            </a:r>
            <a:endParaRPr/>
          </a:p>
        </p:txBody>
      </p:sp>
      <p:sp>
        <p:nvSpPr>
          <p:cNvPr id="1825" name=""/>
          <p:cNvSpPr/>
          <p:nvPr/>
        </p:nvSpPr>
        <p:spPr>
          <a:xfrm rot="0" flipH="0" flipV="0">
            <a:off x="685800" y="1143000"/>
            <a:ext cx="5791200" cy="4914900"/>
          </a:xfrm>
          <a:custGeom>
            <a:pathLst>
              <a:path w="608" h="516">
                <a:moveTo>
                  <a:pt x="607" y="0"/>
                </a:moveTo>
                <a:lnTo>
                  <a:pt x="608" y="0"/>
                </a:lnTo>
                <a:lnTo>
                  <a:pt x="608" y="516"/>
                </a:lnTo>
                <a:lnTo>
                  <a:pt x="60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26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THREE DEFENSE LINES</a:t>
            </a:r>
            <a:endParaRPr/>
          </a:p>
        </p:txBody>
      </p:sp>
      <p:sp>
        <p:nvSpPr>
          <p:cNvPr id="1827" name="" descr="{&quot;isTemplate&quot;:true,&quot;type&quot;:&quot;text&quot;}"/>
          <p:cNvSpPr txBox="1"/>
          <p:nvPr/>
        </p:nvSpPr>
        <p:spPr>
          <a:xfrm rot="0" flipH="0" flipV="0">
            <a:off x="5057775" y="11525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自外向内，逐层收紧</a:t>
            </a:r>
            <a:endParaRPr/>
          </a:p>
        </p:txBody>
      </p:sp>
      <p:sp>
        <p:nvSpPr>
          <p:cNvPr id="1828" name=""/>
          <p:cNvSpPr/>
          <p:nvPr/>
        </p:nvSpPr>
        <p:spPr>
          <a:xfrm rot="0" flipH="0" flipV="0">
            <a:off x="714375" y="1428750"/>
            <a:ext cx="5486400" cy="1628775"/>
          </a:xfrm>
          <a:prstGeom prst="roundRect">
            <a:avLst>
              <a:gd name="adj" fmla="val 1754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29" name=""/>
          <p:cNvSpPr/>
          <p:nvPr/>
        </p:nvSpPr>
        <p:spPr>
          <a:xfrm rot="0" flipH="0" flipV="0">
            <a:off x="714375" y="1428750"/>
            <a:ext cx="5486400" cy="1628775"/>
          </a:xfrm>
          <a:custGeom>
            <a:pathLst>
              <a:path w="576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30" name=""/>
          <p:cNvSpPr/>
          <p:nvPr/>
        </p:nvSpPr>
        <p:spPr>
          <a:xfrm rot="0" flipH="0" flipV="0">
            <a:off x="866775" y="203835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8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2152650"/>
            <a:ext cx="190500" cy="190500"/>
          </a:xfrm>
          <a:prstGeom prst="rect">
            <a:avLst/>
          </a:prstGeom>
          <a:ln/>
        </p:spPr>
      </p:pic>
      <p:sp>
        <p:nvSpPr>
          <p:cNvPr id="1832" name="" descr="{&quot;isTemplate&quot;:true,&quot;type&quot;:&quot;text&quot;}"/>
          <p:cNvSpPr txBox="1"/>
          <p:nvPr/>
        </p:nvSpPr>
        <p:spPr>
          <a:xfrm rot="0" flipH="0" flipV="0">
            <a:off x="1438275" y="1695450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833" name="" descr="{&quot;isTemplate&quot;:true,&quot;type&quot;:&quot;text&quot;}"/>
          <p:cNvSpPr txBox="1"/>
          <p:nvPr/>
        </p:nvSpPr>
        <p:spPr>
          <a:xfrm rot="0" flipH="0" flipV="0">
            <a:off x="1685925" y="1695450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身份与数据范围</a:t>
            </a:r>
            <a:endParaRPr/>
          </a:p>
        </p:txBody>
      </p:sp>
      <p:sp>
        <p:nvSpPr>
          <p:cNvPr id="1834" name="" descr="{&quot;isTemplate&quot;:true,&quot;type&quot;:&quot;text&quot;}"/>
          <p:cNvSpPr txBox="1"/>
          <p:nvPr/>
        </p:nvSpPr>
        <p:spPr>
          <a:xfrm rot="0" flipH="0" flipV="0">
            <a:off x="1438275" y="2019300"/>
            <a:ext cx="458152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JWT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带出用户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租户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部门；中间件把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tenantId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dataScope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显式放进会话上下文，不依赖全局隐式状态；数据访问层由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scoper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统一强制注入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tenant_id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与部门过滤。</a:t>
            </a:r>
            <a:endParaRPr/>
          </a:p>
        </p:txBody>
      </p:sp>
      <p:sp>
        <p:nvSpPr>
          <p:cNvPr id="1835" name=""/>
          <p:cNvSpPr/>
          <p:nvPr/>
        </p:nvSpPr>
        <p:spPr>
          <a:xfrm rot="0" flipH="0" flipV="0">
            <a:off x="714375" y="3057525"/>
            <a:ext cx="5486400" cy="1371600"/>
          </a:xfrm>
          <a:prstGeom prst="roundRect">
            <a:avLst>
              <a:gd name="adj" fmla="val 2083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36" name=""/>
          <p:cNvSpPr/>
          <p:nvPr/>
        </p:nvSpPr>
        <p:spPr>
          <a:xfrm rot="0" flipH="0" flipV="0">
            <a:off x="714375" y="3057525"/>
            <a:ext cx="5486400" cy="1371600"/>
          </a:xfrm>
          <a:custGeom>
            <a:pathLst>
              <a:path w="576" h="144">
                <a:moveTo>
                  <a:pt x="3" y="144"/>
                </a:moveTo>
                <a:cubicBezTo>
                  <a:pt x="1" y="144"/>
                  <a:pt x="0" y="143"/>
                  <a:pt x="0" y="1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44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37" name=""/>
          <p:cNvSpPr/>
          <p:nvPr/>
        </p:nvSpPr>
        <p:spPr>
          <a:xfrm rot="0" flipH="0" flipV="0">
            <a:off x="866775" y="353377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8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3648075"/>
            <a:ext cx="190500" cy="190500"/>
          </a:xfrm>
          <a:prstGeom prst="rect">
            <a:avLst/>
          </a:prstGeom>
          <a:ln/>
        </p:spPr>
      </p:pic>
      <p:sp>
        <p:nvSpPr>
          <p:cNvPr id="1839" name="" descr="{&quot;isTemplate&quot;:true,&quot;type&quot;:&quot;text&quot;}"/>
          <p:cNvSpPr txBox="1"/>
          <p:nvPr/>
        </p:nvSpPr>
        <p:spPr>
          <a:xfrm rot="0" flipH="0" flipV="0">
            <a:off x="1438275" y="3324225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840" name="" descr="{&quot;isTemplate&quot;:true,&quot;type&quot;:&quot;text&quot;}"/>
          <p:cNvSpPr txBox="1"/>
          <p:nvPr/>
        </p:nvSpPr>
        <p:spPr>
          <a:xfrm rot="0" flipH="0" flipV="0">
            <a:off x="1685925" y="33242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会话归属校验</a:t>
            </a:r>
            <a:endParaRPr/>
          </a:p>
        </p:txBody>
      </p:sp>
      <p:sp>
        <p:nvSpPr>
          <p:cNvPr id="1841" name="" descr="{&quot;isTemplate&quot;:true,&quot;type&quot;:&quot;text&quot;}"/>
          <p:cNvSpPr txBox="1"/>
          <p:nvPr/>
        </p:nvSpPr>
        <p:spPr>
          <a:xfrm rot="0" flipH="0" flipV="0">
            <a:off x="1438275" y="3648075"/>
            <a:ext cx="4581525" cy="523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创建与恢复会话时都校验归属：一个会话只属于当前用户与租户。想越权读取别人的历史，在入口就被拒绝，根本进不到模型层。</a:t>
            </a:r>
            <a:endParaRPr/>
          </a:p>
        </p:txBody>
      </p:sp>
      <p:sp>
        <p:nvSpPr>
          <p:cNvPr id="1842" name=""/>
          <p:cNvSpPr/>
          <p:nvPr/>
        </p:nvSpPr>
        <p:spPr>
          <a:xfrm rot="0" flipH="0" flipV="0">
            <a:off x="714375" y="4429125"/>
            <a:ext cx="5486400" cy="1628775"/>
          </a:xfrm>
          <a:prstGeom prst="roundRect">
            <a:avLst>
              <a:gd name="adj" fmla="val 1754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43" name=""/>
          <p:cNvSpPr/>
          <p:nvPr/>
        </p:nvSpPr>
        <p:spPr>
          <a:xfrm rot="0" flipH="0" flipV="0">
            <a:off x="714375" y="4429125"/>
            <a:ext cx="5486400" cy="1628775"/>
          </a:xfrm>
          <a:custGeom>
            <a:pathLst>
              <a:path w="576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44" name=""/>
          <p:cNvSpPr/>
          <p:nvPr/>
        </p:nvSpPr>
        <p:spPr>
          <a:xfrm rot="0" flipH="0" flipV="0">
            <a:off x="866775" y="503872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8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81075" y="5153025"/>
            <a:ext cx="190500" cy="190500"/>
          </a:xfrm>
          <a:prstGeom prst="rect">
            <a:avLst/>
          </a:prstGeom>
          <a:ln/>
        </p:spPr>
      </p:pic>
      <p:sp>
        <p:nvSpPr>
          <p:cNvPr id="1846" name="" descr="{&quot;isTemplate&quot;:true,&quot;type&quot;:&quot;text&quot;}"/>
          <p:cNvSpPr txBox="1"/>
          <p:nvPr/>
        </p:nvSpPr>
        <p:spPr>
          <a:xfrm rot="0" flipH="0" flipV="0">
            <a:off x="1438275" y="4695825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847" name="" descr="{&quot;isTemplate&quot;:true,&quot;type&quot;:&quot;text&quot;}"/>
          <p:cNvSpPr txBox="1"/>
          <p:nvPr/>
        </p:nvSpPr>
        <p:spPr>
          <a:xfrm rot="0" flipH="0" flipV="0">
            <a:off x="1685925" y="4695825"/>
            <a:ext cx="1790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SQL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守卫（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级）</a:t>
            </a:r>
            <a:endParaRPr/>
          </a:p>
        </p:txBody>
      </p:sp>
      <p:sp>
        <p:nvSpPr>
          <p:cNvPr id="1848" name="" descr="{&quot;isTemplate&quot;:true,&quot;type&quot;:&quot;text&quot;}"/>
          <p:cNvSpPr txBox="1"/>
          <p:nvPr/>
        </p:nvSpPr>
        <p:spPr>
          <a:xfrm rot="0" flipH="0" flipV="0">
            <a:off x="1438275" y="5019675"/>
            <a:ext cx="458152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仅允许单条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SELECT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，拒绝写操作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CTE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子查询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INTO OUTFILE / FOR UPDATE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；表白名单；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级强制注入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tenant_id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is_deleted = 0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与数据范围；强制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LIMIT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上限（默认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1000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行）。</a:t>
            </a:r>
            <a:endParaRPr/>
          </a:p>
        </p:txBody>
      </p:sp>
      <p:sp>
        <p:nvSpPr>
          <p:cNvPr id="1849" name="" descr="{&quot;isTemplate&quot;:true,&quot;type&quot;:&quot;text&quot;}"/>
          <p:cNvSpPr txBox="1"/>
          <p:nvPr/>
        </p:nvSpPr>
        <p:spPr>
          <a:xfrm rot="0" flipH="0" flipV="0">
            <a:off x="6772275" y="1143000"/>
            <a:ext cx="4733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TWO INVARIANTS</a:t>
            </a:r>
            <a:endParaRPr/>
          </a:p>
        </p:txBody>
      </p:sp>
      <p:sp>
        <p:nvSpPr>
          <p:cNvPr id="1850" name=""/>
          <p:cNvSpPr/>
          <p:nvPr/>
        </p:nvSpPr>
        <p:spPr>
          <a:xfrm rot="0" flipH="0" flipV="0">
            <a:off x="6772275" y="1466850"/>
            <a:ext cx="4733925" cy="1066800"/>
          </a:xfrm>
          <a:prstGeom prst="roundRect">
            <a:avLst>
              <a:gd name="adj" fmla="val 3571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51" name="" descr="{&quot;isTemplate&quot;:true,&quot;type&quot;:&quot;text&quot;}"/>
          <p:cNvSpPr txBox="1"/>
          <p:nvPr/>
        </p:nvSpPr>
        <p:spPr>
          <a:xfrm rot="0" flipH="0" flipV="0">
            <a:off x="6924675" y="1600200"/>
            <a:ext cx="442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注入值不来自模型</a:t>
            </a:r>
            <a:endParaRPr/>
          </a:p>
        </p:txBody>
      </p:sp>
      <p:sp>
        <p:nvSpPr>
          <p:cNvPr id="1852" name="" descr="{&quot;isTemplate&quot;:true,&quot;type&quot;:&quot;text&quot;}"/>
          <p:cNvSpPr txBox="1"/>
          <p:nvPr/>
        </p:nvSpPr>
        <p:spPr>
          <a:xfrm rot="0" flipH="0" flipV="0">
            <a:off x="6924675" y="1866900"/>
            <a:ext cx="44291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SQL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里被注入的租户与范围值，全部来自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JWT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会话上下文——模型写的字符串只是「建议」，不改写它的语义。</a:t>
            </a:r>
            <a:endParaRPr/>
          </a:p>
        </p:txBody>
      </p:sp>
      <p:sp>
        <p:nvSpPr>
          <p:cNvPr id="1853" name=""/>
          <p:cNvSpPr/>
          <p:nvPr/>
        </p:nvSpPr>
        <p:spPr>
          <a:xfrm rot="0" flipH="0" flipV="0">
            <a:off x="6772275" y="2667000"/>
            <a:ext cx="4733925" cy="1066800"/>
          </a:xfrm>
          <a:prstGeom prst="roundRect">
            <a:avLst>
              <a:gd name="adj" fmla="val 3571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54" name="" descr="{&quot;isTemplate&quot;:true,&quot;type&quot;:&quot;text&quot;}"/>
          <p:cNvSpPr txBox="1"/>
          <p:nvPr/>
        </p:nvSpPr>
        <p:spPr>
          <a:xfrm rot="0" flipH="0" flipV="0">
            <a:off x="6924675" y="2800350"/>
            <a:ext cx="442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执行权永远在代码里</a:t>
            </a:r>
            <a:endParaRPr/>
          </a:p>
        </p:txBody>
      </p:sp>
      <p:sp>
        <p:nvSpPr>
          <p:cNvPr id="1855" name="" descr="{&quot;isTemplate&quot;:true,&quot;type&quot;:&quot;text&quot;}"/>
          <p:cNvSpPr txBox="1"/>
          <p:nvPr/>
        </p:nvSpPr>
        <p:spPr>
          <a:xfrm rot="0" flipH="0" flipV="0">
            <a:off x="6924675" y="3067050"/>
            <a:ext cx="44291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模型只能说要查什么；怎么改、改完能不能跑、跑多少行，全部由服务端决定。</a:t>
            </a:r>
            <a:endParaRPr/>
          </a:p>
        </p:txBody>
      </p:sp>
      <p:sp>
        <p:nvSpPr>
          <p:cNvPr id="1856" name=""/>
          <p:cNvSpPr/>
          <p:nvPr/>
        </p:nvSpPr>
        <p:spPr>
          <a:xfrm rot="0" flipH="0" flipV="0">
            <a:off x="6772275" y="5153025"/>
            <a:ext cx="4733925" cy="904875"/>
          </a:xfrm>
          <a:prstGeom prst="roundRect">
            <a:avLst>
              <a:gd name="adj" fmla="val 421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57" name="" descr="{&quot;isTemplate&quot;:true,&quot;type&quot;:&quot;text&quot;}"/>
          <p:cNvSpPr txBox="1"/>
          <p:nvPr/>
        </p:nvSpPr>
        <p:spPr>
          <a:xfrm rot="0" flipH="0" flipV="0">
            <a:off x="6943725" y="5305425"/>
            <a:ext cx="439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858" name="" descr="{&quot;isTemplate&quot;:true,&quot;type&quot;:&quot;text&quot;}"/>
          <p:cNvSpPr txBox="1"/>
          <p:nvPr/>
        </p:nvSpPr>
        <p:spPr>
          <a:xfrm rot="0" flipH="0" flipV="0">
            <a:off x="6943725" y="5572125"/>
            <a:ext cx="439102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层对这些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无感知、也绕不过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——安全才成立。</a:t>
            </a:r>
            <a:endParaRPr/>
          </a:p>
        </p:txBody>
      </p:sp>
      <p:sp>
        <p:nvSpPr>
          <p:cNvPr id="185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86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43 / 46</a:t>
            </a:r>
            <a:endParaRPr/>
          </a:p>
        </p:txBody>
      </p:sp>
    </p:spTree>
  </p:cSld>
</p:sld>
</file>

<file path=ppt/slides/slide44.xml><?xml version="1.0" encoding="utf-8"?>
<p:sld xmlns:p="http://schemas.openxmlformats.org/presentationml/2006/main" xmlns:a="http://schemas.openxmlformats.org/drawingml/2006/main">
  <p:cSld>
    <p:spTree>
      <p:nvGrpSpPr>
        <p:cNvPr id="18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86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86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流式链路与前端渲染扩展</a:t>
            </a:r>
            <a:endParaRPr/>
          </a:p>
        </p:txBody>
      </p:sp>
      <p:sp>
        <p:nvSpPr>
          <p:cNvPr id="186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后端只说「这是什么」，前端决定「长什么样」</a:t>
            </a:r>
            <a:endParaRPr/>
          </a:p>
        </p:txBody>
      </p:sp>
      <p:sp>
        <p:nvSpPr>
          <p:cNvPr id="1866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SSE PIPELINE · </a:t>
            </a: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一条事件从会话到像素</a:t>
            </a:r>
            <a:endParaRPr/>
          </a:p>
        </p:txBody>
      </p:sp>
      <p:sp>
        <p:nvSpPr>
          <p:cNvPr id="1867" name=""/>
          <p:cNvSpPr/>
          <p:nvPr/>
        </p:nvSpPr>
        <p:spPr>
          <a:xfrm rot="0" flipH="0" flipV="0">
            <a:off x="685800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68" name="" descr="{&quot;isTemplate&quot;:true,&quot;type&quot;:&quot;text&quot;}"/>
          <p:cNvSpPr txBox="1"/>
          <p:nvPr/>
        </p:nvSpPr>
        <p:spPr>
          <a:xfrm rot="0" flipH="0" flipV="0">
            <a:off x="819150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869" name="" descr="{&quot;isTemplate&quot;:true,&quot;type&quot;:&quot;text&quot;}"/>
          <p:cNvSpPr txBox="1"/>
          <p:nvPr/>
        </p:nvSpPr>
        <p:spPr>
          <a:xfrm rot="0" flipH="0" flipV="0">
            <a:off x="819150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>session.subscribe</a:t>
            </a:r>
            <a:endParaRPr/>
          </a:p>
        </p:txBody>
      </p:sp>
      <p:sp>
        <p:nvSpPr>
          <p:cNvPr id="1870" name="" descr="{&quot;isTemplate&quot;:true,&quot;type&quot;:&quot;text&quot;}"/>
          <p:cNvSpPr txBox="1"/>
          <p:nvPr/>
        </p:nvSpPr>
        <p:spPr>
          <a:xfrm rot="0" flipH="0" flipV="0">
            <a:off x="819150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订阅会话事件流</a:t>
            </a:r>
            <a:endParaRPr/>
          </a:p>
        </p:txBody>
      </p:sp>
      <p:sp>
        <p:nvSpPr>
          <p:cNvPr id="1871" name="" descr="{&quot;isTemplate&quot;:true,&quot;type&quot;:&quot;text&quot;}"/>
          <p:cNvSpPr txBox="1"/>
          <p:nvPr/>
        </p:nvSpPr>
        <p:spPr>
          <a:xfrm rot="0" flipH="0" flipV="0">
            <a:off x="2638425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872" name=""/>
          <p:cNvSpPr/>
          <p:nvPr/>
        </p:nvSpPr>
        <p:spPr>
          <a:xfrm rot="0" flipH="0" flipV="0">
            <a:off x="2847975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73" name="" descr="{&quot;isTemplate&quot;:true,&quot;type&quot;:&quot;text&quot;}"/>
          <p:cNvSpPr txBox="1"/>
          <p:nvPr/>
        </p:nvSpPr>
        <p:spPr>
          <a:xfrm rot="0" flipH="0" flipV="0">
            <a:off x="2981325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874" name="" descr="{&quot;isTemplate&quot;:true,&quot;type&quot;:&quot;text&quot;}"/>
          <p:cNvSpPr txBox="1"/>
          <p:nvPr/>
        </p:nvSpPr>
        <p:spPr>
          <a:xfrm rot="0" flipH="0" flipV="0">
            <a:off x="2981325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relay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事件映射</a:t>
            </a:r>
            <a:endParaRPr/>
          </a:p>
        </p:txBody>
      </p:sp>
      <p:sp>
        <p:nvSpPr>
          <p:cNvPr id="1875" name="" descr="{&quot;isTemplate&quot;:true,&quot;type&quot;:&quot;text&quot;}"/>
          <p:cNvSpPr txBox="1"/>
          <p:nvPr/>
        </p:nvSpPr>
        <p:spPr>
          <a:xfrm rot="0" flipH="0" flipV="0">
            <a:off x="2981325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事件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→ SseEvent</a:t>
            </a:r>
            <a:endParaRPr/>
          </a:p>
        </p:txBody>
      </p:sp>
      <p:sp>
        <p:nvSpPr>
          <p:cNvPr id="1876" name="" descr="{&quot;isTemplate&quot;:true,&quot;type&quot;:&quot;text&quot;}"/>
          <p:cNvSpPr txBox="1"/>
          <p:nvPr/>
        </p:nvSpPr>
        <p:spPr>
          <a:xfrm rot="0" flipH="0" flipV="0">
            <a:off x="4800600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877" name=""/>
          <p:cNvSpPr/>
          <p:nvPr/>
        </p:nvSpPr>
        <p:spPr>
          <a:xfrm rot="0" flipH="0" flipV="0">
            <a:off x="5010150" y="1619250"/>
            <a:ext cx="1962150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78" name="" descr="{&quot;isTemplate&quot;:true,&quot;type&quot;:&quot;text&quot;}"/>
          <p:cNvSpPr txBox="1"/>
          <p:nvPr/>
        </p:nvSpPr>
        <p:spPr>
          <a:xfrm rot="0" flipH="0" flipV="0">
            <a:off x="5143500" y="1619250"/>
            <a:ext cx="169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879" name="" descr="{&quot;isTemplate&quot;:true,&quot;type&quot;:&quot;text&quot;}"/>
          <p:cNvSpPr txBox="1"/>
          <p:nvPr/>
        </p:nvSpPr>
        <p:spPr>
          <a:xfrm rot="0" flipH="0" flipV="0">
            <a:off x="5143500" y="1838325"/>
            <a:ext cx="169545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SSE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写出</a:t>
            </a:r>
            <a:endParaRPr/>
          </a:p>
        </p:txBody>
      </p:sp>
      <p:sp>
        <p:nvSpPr>
          <p:cNvPr id="1880" name="" descr="{&quot;isTemplate&quot;:true,&quot;type&quot;:&quot;text&quot;}"/>
          <p:cNvSpPr txBox="1"/>
          <p:nvPr/>
        </p:nvSpPr>
        <p:spPr>
          <a:xfrm rot="0" flipH="0" flipV="0">
            <a:off x="5143500" y="2152650"/>
            <a:ext cx="16954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HTTP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分块推送</a:t>
            </a:r>
            <a:endParaRPr/>
          </a:p>
        </p:txBody>
      </p:sp>
      <p:sp>
        <p:nvSpPr>
          <p:cNvPr id="1881" name="" descr="{&quot;isTemplate&quot;:true,&quot;type&quot;:&quot;text&quot;}"/>
          <p:cNvSpPr txBox="1"/>
          <p:nvPr/>
        </p:nvSpPr>
        <p:spPr>
          <a:xfrm rot="0" flipH="0" flipV="0">
            <a:off x="6972300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882" name=""/>
          <p:cNvSpPr/>
          <p:nvPr/>
        </p:nvSpPr>
        <p:spPr>
          <a:xfrm rot="0" flipH="0" flipV="0">
            <a:off x="7181850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83" name="" descr="{&quot;isTemplate&quot;:true,&quot;type&quot;:&quot;text&quot;}"/>
          <p:cNvSpPr txBox="1"/>
          <p:nvPr/>
        </p:nvSpPr>
        <p:spPr>
          <a:xfrm rot="0" flipH="0" flipV="0">
            <a:off x="7315200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884" name="" descr="{&quot;isTemplate&quot;:true,&quot;type&quot;:&quot;text&quot;}"/>
          <p:cNvSpPr txBox="1"/>
          <p:nvPr/>
        </p:nvSpPr>
        <p:spPr>
          <a:xfrm rot="0" flipH="0" flipV="0">
            <a:off x="7315200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前端分发</a:t>
            </a:r>
            <a:endParaRPr/>
          </a:p>
        </p:txBody>
      </p:sp>
      <p:sp>
        <p:nvSpPr>
          <p:cNvPr id="1885" name="" descr="{&quot;isTemplate&quot;:true,&quot;type&quot;:&quot;text&quot;}"/>
          <p:cNvSpPr txBox="1"/>
          <p:nvPr/>
        </p:nvSpPr>
        <p:spPr>
          <a:xfrm rot="0" flipH="0" flipV="0">
            <a:off x="7315200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按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type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追加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插块</a:t>
            </a:r>
            <a:endParaRPr/>
          </a:p>
        </p:txBody>
      </p:sp>
      <p:sp>
        <p:nvSpPr>
          <p:cNvPr id="1886" name="" descr="{&quot;isTemplate&quot;:true,&quot;type&quot;:&quot;text&quot;}"/>
          <p:cNvSpPr txBox="1"/>
          <p:nvPr/>
        </p:nvSpPr>
        <p:spPr>
          <a:xfrm rot="0" flipH="0" flipV="0">
            <a:off x="9134475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887" name=""/>
          <p:cNvSpPr/>
          <p:nvPr/>
        </p:nvSpPr>
        <p:spPr>
          <a:xfrm rot="0" flipH="0" flipV="0">
            <a:off x="9344025" y="1619250"/>
            <a:ext cx="2162175" cy="742950"/>
          </a:xfrm>
          <a:prstGeom prst="roundRect">
            <a:avLst>
              <a:gd name="adj" fmla="val 3846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88" name="" descr="{&quot;isTemplate&quot;:true,&quot;type&quot;:&quot;text&quot;}"/>
          <p:cNvSpPr txBox="1"/>
          <p:nvPr/>
        </p:nvSpPr>
        <p:spPr>
          <a:xfrm rot="0" flipH="0" flipV="0">
            <a:off x="9477375" y="1619250"/>
            <a:ext cx="1895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1889" name="" descr="{&quot;isTemplate&quot;:true,&quot;type&quot;:&quot;text&quot;}"/>
          <p:cNvSpPr txBox="1"/>
          <p:nvPr/>
        </p:nvSpPr>
        <p:spPr>
          <a:xfrm rot="0" flipH="0" flipV="0">
            <a:off x="9477375" y="1838325"/>
            <a:ext cx="189547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renderer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注册表</a:t>
            </a:r>
            <a:endParaRPr/>
          </a:p>
        </p:txBody>
      </p:sp>
      <p:sp>
        <p:nvSpPr>
          <p:cNvPr id="1890" name="" descr="{&quot;isTemplate&quot;:true,&quot;type&quot;:&quot;text&quot;}"/>
          <p:cNvSpPr txBox="1"/>
          <p:nvPr/>
        </p:nvSpPr>
        <p:spPr>
          <a:xfrm rot="0" flipH="0" flipV="0">
            <a:off x="9477375" y="2152650"/>
            <a:ext cx="1895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text · table · chart · kpi</a:t>
            </a:r>
            <a:endParaRPr/>
          </a:p>
        </p:txBody>
      </p:sp>
      <p:sp>
        <p:nvSpPr>
          <p:cNvPr id="1891" name="" descr="{&quot;isTemplate&quot;:true,&quot;type&quot;:&quot;text&quot;}"/>
          <p:cNvSpPr txBox="1"/>
          <p:nvPr/>
        </p:nvSpPr>
        <p:spPr>
          <a:xfrm rot="0" flipH="0" flipV="0">
            <a:off x="685800" y="2705100"/>
            <a:ext cx="582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SSE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事件契约（前后端共享）</a:t>
            </a:r>
            <a:endParaRPr/>
          </a:p>
        </p:txBody>
      </p:sp>
      <p:sp>
        <p:nvSpPr>
          <p:cNvPr id="1892" name=""/>
          <p:cNvSpPr/>
          <p:nvPr/>
        </p:nvSpPr>
        <p:spPr>
          <a:xfrm rot="0" flipH="0" flipV="0">
            <a:off x="6743700" y="2705100"/>
            <a:ext cx="4772025" cy="3352800"/>
          </a:xfrm>
          <a:custGeom>
            <a:pathLst>
              <a:path w="501" h="352">
                <a:moveTo>
                  <a:pt x="0" y="0"/>
                </a:moveTo>
                <a:lnTo>
                  <a:pt x="1" y="0"/>
                </a:lnTo>
                <a:lnTo>
                  <a:pt x="1" y="352"/>
                </a:lnTo>
                <a:lnTo>
                  <a:pt x="0" y="35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93" name="" descr="{&quot;isTemplate&quot;:true,&quot;type&quot;:&quot;text&quot;}"/>
          <p:cNvSpPr txBox="1"/>
          <p:nvPr/>
        </p:nvSpPr>
        <p:spPr>
          <a:xfrm rot="0" flipH="0" flipV="0">
            <a:off x="6981825" y="2705100"/>
            <a:ext cx="452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RENDERER ROUTING</a:t>
            </a:r>
            <a:endParaRPr/>
          </a:p>
        </p:txBody>
      </p:sp>
      <p:sp>
        <p:nvSpPr>
          <p:cNvPr id="1894" name="" descr="{&quot;isTemplate&quot;:true,&quot;type&quot;:&quot;text&quot;}"/>
          <p:cNvSpPr txBox="1"/>
          <p:nvPr/>
        </p:nvSpPr>
        <p:spPr>
          <a:xfrm rot="0" flipH="0" flipV="0">
            <a:off x="6981825" y="29908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text</a:t>
            </a:r>
            <a:endParaRPr/>
          </a:p>
        </p:txBody>
      </p:sp>
      <p:sp>
        <p:nvSpPr>
          <p:cNvPr id="1895" name=""/>
          <p:cNvSpPr/>
          <p:nvPr/>
        </p:nvSpPr>
        <p:spPr>
          <a:xfrm rot="0" flipH="0" flipV="0">
            <a:off x="8010525" y="30003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96" name="" descr="{&quot;isTemplate&quot;:true,&quot;type&quot;:&quot;text&quot;}"/>
          <p:cNvSpPr txBox="1"/>
          <p:nvPr/>
        </p:nvSpPr>
        <p:spPr>
          <a:xfrm rot="0" flipH="0" flipV="0">
            <a:off x="8134350" y="29908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流式追加的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Markdown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正文</a:t>
            </a:r>
            <a:endParaRPr/>
          </a:p>
        </p:txBody>
      </p:sp>
      <p:sp>
        <p:nvSpPr>
          <p:cNvPr id="1897" name="" descr="{&quot;isTemplate&quot;:true,&quot;type&quot;:&quot;text&quot;}"/>
          <p:cNvSpPr txBox="1"/>
          <p:nvPr/>
        </p:nvSpPr>
        <p:spPr>
          <a:xfrm rot="0" flipH="0" flipV="0">
            <a:off x="6981825" y="32385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table</a:t>
            </a:r>
            <a:endParaRPr/>
          </a:p>
        </p:txBody>
      </p:sp>
      <p:sp>
        <p:nvSpPr>
          <p:cNvPr id="1898" name=""/>
          <p:cNvSpPr/>
          <p:nvPr/>
        </p:nvSpPr>
        <p:spPr>
          <a:xfrm rot="0" flipH="0" flipV="0">
            <a:off x="8010525" y="324802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99" name="" descr="{&quot;isTemplate&quot;:true,&quot;type&quot;:&quot;text&quot;}"/>
          <p:cNvSpPr txBox="1"/>
          <p:nvPr/>
        </p:nvSpPr>
        <p:spPr>
          <a:xfrm rot="0" flipH="0" flipV="0">
            <a:off x="8134350" y="32385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明细表格</a:t>
            </a:r>
            <a:endParaRPr/>
          </a:p>
        </p:txBody>
      </p:sp>
      <p:sp>
        <p:nvSpPr>
          <p:cNvPr id="1900" name="" descr="{&quot;isTemplate&quot;:true,&quot;type&quot;:&quot;text&quot;}"/>
          <p:cNvSpPr txBox="1"/>
          <p:nvPr/>
        </p:nvSpPr>
        <p:spPr>
          <a:xfrm rot="0" flipH="0" flipV="0">
            <a:off x="6981825" y="34861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chart</a:t>
            </a:r>
            <a:endParaRPr/>
          </a:p>
        </p:txBody>
      </p:sp>
      <p:sp>
        <p:nvSpPr>
          <p:cNvPr id="1901" name=""/>
          <p:cNvSpPr/>
          <p:nvPr/>
        </p:nvSpPr>
        <p:spPr>
          <a:xfrm rot="0" flipH="0" flipV="0">
            <a:off x="8010525" y="34956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02" name="" descr="{&quot;isTemplate&quot;:true,&quot;type&quot;:&quot;text&quot;}"/>
          <p:cNvSpPr txBox="1"/>
          <p:nvPr/>
        </p:nvSpPr>
        <p:spPr>
          <a:xfrm rot="0" flipH="0" flipV="0">
            <a:off x="8134350" y="34861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柱图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折线图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饼图</a:t>
            </a:r>
            <a:endParaRPr/>
          </a:p>
        </p:txBody>
      </p:sp>
      <p:sp>
        <p:nvSpPr>
          <p:cNvPr id="1903" name="" descr="{&quot;isTemplate&quot;:true,&quot;type&quot;:&quot;text&quot;}"/>
          <p:cNvSpPr txBox="1"/>
          <p:nvPr/>
        </p:nvSpPr>
        <p:spPr>
          <a:xfrm rot="0" flipH="0" flipV="0">
            <a:off x="6981825" y="37338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kpi</a:t>
            </a:r>
            <a:endParaRPr/>
          </a:p>
        </p:txBody>
      </p:sp>
      <p:sp>
        <p:nvSpPr>
          <p:cNvPr id="1904" name=""/>
          <p:cNvSpPr/>
          <p:nvPr/>
        </p:nvSpPr>
        <p:spPr>
          <a:xfrm rot="0" flipH="0" flipV="0">
            <a:off x="8010525" y="374332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05" name="" descr="{&quot;isTemplate&quot;:true,&quot;type&quot;:&quot;text&quot;}"/>
          <p:cNvSpPr txBox="1"/>
          <p:nvPr/>
        </p:nvSpPr>
        <p:spPr>
          <a:xfrm rot="0" flipH="0" flipV="0">
            <a:off x="8134350" y="37338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单指标卡片（含同比环比）</a:t>
            </a:r>
            <a:endParaRPr/>
          </a:p>
        </p:txBody>
      </p:sp>
      <p:sp>
        <p:nvSpPr>
          <p:cNvPr id="1906" name="" descr="{&quot;isTemplate&quot;:true,&quot;type&quot;:&quot;text&quot;}"/>
          <p:cNvSpPr txBox="1"/>
          <p:nvPr/>
        </p:nvSpPr>
        <p:spPr>
          <a:xfrm rot="0" flipH="0" flipV="0">
            <a:off x="6981825" y="39814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metric_card</a:t>
            </a:r>
            <a:endParaRPr/>
          </a:p>
        </p:txBody>
      </p:sp>
      <p:sp>
        <p:nvSpPr>
          <p:cNvPr id="1907" name=""/>
          <p:cNvSpPr/>
          <p:nvPr/>
        </p:nvSpPr>
        <p:spPr>
          <a:xfrm rot="0" flipH="0" flipV="0">
            <a:off x="8010525" y="39909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08" name="" descr="{&quot;isTemplate&quot;:true,&quot;type&quot;:&quot;text&quot;}"/>
          <p:cNvSpPr txBox="1"/>
          <p:nvPr/>
        </p:nvSpPr>
        <p:spPr>
          <a:xfrm rot="0" flipH="0" flipV="0">
            <a:off x="8134350" y="39814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指标口径说明卡</a:t>
            </a:r>
            <a:endParaRPr/>
          </a:p>
        </p:txBody>
      </p:sp>
      <p:sp>
        <p:nvSpPr>
          <p:cNvPr id="1909" name=""/>
          <p:cNvSpPr/>
          <p:nvPr/>
        </p:nvSpPr>
        <p:spPr>
          <a:xfrm rot="0" flipH="0" flipV="0">
            <a:off x="6981825" y="4943475"/>
            <a:ext cx="4524375" cy="1114425"/>
          </a:xfrm>
          <a:prstGeom prst="roundRect">
            <a:avLst>
              <a:gd name="adj" fmla="val 3419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10" name="" descr="{&quot;isTemplate&quot;:true,&quot;type&quot;:&quot;text&quot;}"/>
          <p:cNvSpPr txBox="1"/>
          <p:nvPr/>
        </p:nvSpPr>
        <p:spPr>
          <a:xfrm rot="0" flipH="0" flipV="0">
            <a:off x="7134225" y="5076825"/>
            <a:ext cx="421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911" name="" descr="{&quot;isTemplate&quot;:true,&quot;type&quot;:&quot;text&quot;}"/>
          <p:cNvSpPr txBox="1"/>
          <p:nvPr/>
        </p:nvSpPr>
        <p:spPr>
          <a:xfrm rot="0" flipH="0" flipV="0">
            <a:off x="7134225" y="5314950"/>
            <a:ext cx="42195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后端只管发</a:t>
            </a:r>
            <a:r>
              <a:rPr lang="zh-CN" sz="1163">
                <a:solidFill>
                  <a:srgbClr val="2AD4EE"/>
                </a:solidFill>
                <a:latin typeface="Source Han Sans SC"/>
                <a:ea typeface="Source Han Sans SC"/>
              </a:rPr>
              <a:t>结构化事件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，前端注册表决定它长什么样。加一种展示</a:t>
            </a: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注册一个</a:t>
            </a: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renderer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91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91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44 / 46</a:t>
            </a:r>
            <a:endParaRPr/>
          </a:p>
        </p:txBody>
      </p:sp>
      <p:sp>
        <p:nvSpPr>
          <p:cNvPr id="1914" name=""/>
          <p:cNvSpPr/>
          <p:nvPr/>
        </p:nvSpPr>
        <p:spPr>
          <a:xfrm rot="0" flipH="0" flipV="0">
            <a:off x="685800" y="2971800"/>
            <a:ext cx="5829300" cy="2562225"/>
          </a:xfrm>
          <a:prstGeom prst="roundRect">
            <a:avLst>
              <a:gd name="adj" fmla="val 2974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915" name=""/>
          <p:cNvSpPr txBox="1"/>
          <p:nvPr/>
        </p:nvSpPr>
        <p:spPr>
          <a:xfrm rot="0" flipH="0" flipV="0">
            <a:off x="838200" y="3105150"/>
            <a:ext cx="5524500" cy="2295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SseEvent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"connected"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sessionId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?: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"text_delta"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delta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"thinking_delta"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delta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"turn_reset"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"tool_start"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tool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"tool_end"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tool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"render"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renderer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RendererType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data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unknown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source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?: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"error"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message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"done"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};</a:t>
            </a:r>
            <a:endParaRPr/>
          </a:p>
        </p:txBody>
      </p:sp>
    </p:spTree>
  </p:cSld>
</p:sld>
</file>

<file path=ppt/slides/slide4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1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91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52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踩坑实录：四个真实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Bug</a:t>
            </a:r>
            <a:endParaRPr/>
          </a:p>
        </p:txBody>
      </p:sp>
      <p:sp>
        <p:nvSpPr>
          <p:cNvPr id="192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52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现象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根因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修法，一个不少地记下来</a:t>
            </a:r>
            <a:endParaRPr/>
          </a:p>
        </p:txBody>
      </p:sp>
      <p:sp>
        <p:nvSpPr>
          <p:cNvPr id="1921" name=""/>
          <p:cNvSpPr/>
          <p:nvPr/>
        </p:nvSpPr>
        <p:spPr>
          <a:xfrm rot="0" flipH="0" flipV="0">
            <a:off x="685800" y="1143000"/>
            <a:ext cx="2495550" cy="4914900"/>
          </a:xfrm>
          <a:custGeom>
            <a:pathLst>
              <a:path w="262" h="516">
                <a:moveTo>
                  <a:pt x="261" y="0"/>
                </a:moveTo>
                <a:lnTo>
                  <a:pt x="262" y="0"/>
                </a:lnTo>
                <a:lnTo>
                  <a:pt x="262" y="516"/>
                </a:lnTo>
                <a:lnTo>
                  <a:pt x="26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2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POSTMORTEM</a:t>
            </a:r>
            <a:endParaRPr/>
          </a:p>
        </p:txBody>
      </p:sp>
      <p:sp>
        <p:nvSpPr>
          <p:cNvPr id="1923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383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四个</a:t>
            </a:r>
            <a:r>
              <a:rPr lang="en-US" sz="19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Bug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四条边界</a:t>
            </a:r>
            <a:endParaRPr/>
          </a:p>
        </p:txBody>
      </p:sp>
      <p:sp>
        <p:nvSpPr>
          <p:cNvPr id="1924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38375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这四个坑没有一个是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模型不行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。全部出在加载方式、订阅生命周期、错误传播与空结果的边界上。</a:t>
            </a:r>
            <a:endParaRPr/>
          </a:p>
        </p:txBody>
      </p:sp>
      <p:sp>
        <p:nvSpPr>
          <p:cNvPr id="1925" name=""/>
          <p:cNvSpPr/>
          <p:nvPr/>
        </p:nvSpPr>
        <p:spPr>
          <a:xfrm rot="0" flipH="0" flipV="0">
            <a:off x="685800" y="4886325"/>
            <a:ext cx="2238375" cy="1171575"/>
          </a:xfrm>
          <a:prstGeom prst="roundRect">
            <a:avLst>
              <a:gd name="adj" fmla="val 32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26" name="" descr="{&quot;isTemplate&quot;:true,&quot;type&quot;:&quot;text&quot;}"/>
          <p:cNvSpPr txBox="1"/>
          <p:nvPr/>
        </p:nvSpPr>
        <p:spPr>
          <a:xfrm rot="0" flipH="0" flipV="0">
            <a:off x="838200" y="5038725"/>
            <a:ext cx="1933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927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19335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的坑大多不在模型，在</a:t>
            </a:r>
            <a:r>
              <a:rPr lang="zh-CN" sz="1163">
                <a:solidFill>
                  <a:srgbClr val="2AD4EE"/>
                </a:solidFill>
                <a:latin typeface="Source Han Sans SC"/>
                <a:ea typeface="Source Han Sans SC"/>
              </a:rPr>
              <a:t>边界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928" name=""/>
          <p:cNvSpPr/>
          <p:nvPr/>
        </p:nvSpPr>
        <p:spPr>
          <a:xfrm rot="0" flipH="0" flipV="0">
            <a:off x="3467100" y="117157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29" name=""/>
          <p:cNvSpPr/>
          <p:nvPr/>
        </p:nvSpPr>
        <p:spPr>
          <a:xfrm rot="0" flipH="0" flipV="0">
            <a:off x="3467100" y="117157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30" name="" descr="{&quot;isTemplate&quot;:true,&quot;type&quot;:&quot;text&quot;}"/>
          <p:cNvSpPr txBox="1"/>
          <p:nvPr/>
        </p:nvSpPr>
        <p:spPr>
          <a:xfrm rot="0" flipH="0" flipV="0">
            <a:off x="3619500" y="130492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pic>
        <p:nvPicPr>
          <p:cNvPr id="19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29075" y="1390650"/>
            <a:ext cx="142875" cy="142875"/>
          </a:xfrm>
          <a:prstGeom prst="rect">
            <a:avLst/>
          </a:prstGeom>
          <a:ln/>
        </p:spPr>
      </p:pic>
      <p:sp>
        <p:nvSpPr>
          <p:cNvPr id="1932" name="" descr="{&quot;isTemplate&quot;:true,&quot;type&quot;:&quot;text&quot;}"/>
          <p:cNvSpPr txBox="1"/>
          <p:nvPr/>
        </p:nvSpPr>
        <p:spPr>
          <a:xfrm rot="0" flipH="0" flipV="0">
            <a:off x="4286250" y="133350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上下文在工具里读不到</a:t>
            </a:r>
            <a:endParaRPr/>
          </a:p>
        </p:txBody>
      </p:sp>
      <p:sp>
        <p:nvSpPr>
          <p:cNvPr id="1933" name="" descr="{&quot;isTemplate&quot;:true,&quot;type&quot;:&quot;text&quot;}"/>
          <p:cNvSpPr txBox="1"/>
          <p:nvPr/>
        </p:nvSpPr>
        <p:spPr>
          <a:xfrm rot="0" flipH="0" flipV="0">
            <a:off x="3619500" y="2324100"/>
            <a:ext cx="360045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.pi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扩展由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jiti(CJS)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加载，对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context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是独立编译副本，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AsyncLocalStorage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实例被隔离，工具内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getCtx()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永远失败。</a:t>
            </a:r>
            <a:endParaRPr/>
          </a:p>
        </p:txBody>
      </p:sp>
      <p:sp>
        <p:nvSpPr>
          <p:cNvPr id="1934" name="" descr="{&quot;isTemplate&quot;:true,&quot;type&quot;:&quot;text&quot;}"/>
          <p:cNvSpPr txBox="1"/>
          <p:nvPr/>
        </p:nvSpPr>
        <p:spPr>
          <a:xfrm rot="0" flipH="0" flipV="0">
            <a:off x="3619500" y="3143250"/>
            <a:ext cx="36004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不打补丁——删掉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ALS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，会话上下文沿调用链显式传参。</a:t>
            </a:r>
            <a:endParaRPr/>
          </a:p>
        </p:txBody>
      </p:sp>
      <p:sp>
        <p:nvSpPr>
          <p:cNvPr id="1935" name=""/>
          <p:cNvSpPr/>
          <p:nvPr/>
        </p:nvSpPr>
        <p:spPr>
          <a:xfrm rot="0" flipH="0" flipV="0">
            <a:off x="7600950" y="117157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36" name=""/>
          <p:cNvSpPr/>
          <p:nvPr/>
        </p:nvSpPr>
        <p:spPr>
          <a:xfrm rot="0" flipH="0" flipV="0">
            <a:off x="7600950" y="117157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37" name="" descr="{&quot;isTemplate&quot;:true,&quot;type&quot;:&quot;text&quot;}"/>
          <p:cNvSpPr txBox="1"/>
          <p:nvPr/>
        </p:nvSpPr>
        <p:spPr>
          <a:xfrm rot="0" flipH="0" flipV="0">
            <a:off x="7753350" y="130492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pic>
        <p:nvPicPr>
          <p:cNvPr id="19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62925" y="1390650"/>
            <a:ext cx="142875" cy="142875"/>
          </a:xfrm>
          <a:prstGeom prst="rect">
            <a:avLst/>
          </a:prstGeom>
          <a:ln/>
        </p:spPr>
      </p:pic>
      <p:sp>
        <p:nvSpPr>
          <p:cNvPr id="1939" name="" descr="{&quot;isTemplate&quot;:true,&quot;type&quot;:&quot;text&quot;}"/>
          <p:cNvSpPr txBox="1"/>
          <p:nvPr/>
        </p:nvSpPr>
        <p:spPr>
          <a:xfrm rot="0" flipH="0" flipV="0">
            <a:off x="8420100" y="133350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每个字都重复两遍</a:t>
            </a:r>
            <a:endParaRPr/>
          </a:p>
        </p:txBody>
      </p:sp>
      <p:sp>
        <p:nvSpPr>
          <p:cNvPr id="1940" name="" descr="{&quot;isTemplate&quot;:true,&quot;type&quot;:&quot;text&quot;}"/>
          <p:cNvSpPr txBox="1"/>
          <p:nvPr/>
        </p:nvSpPr>
        <p:spPr>
          <a:xfrm rot="0" flipH="0" flipV="0">
            <a:off x="7753350" y="232410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EventBus.attach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二次调用时，旧订阅的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unsubscribe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引用被覆盖却从未调用，新旧回调并存，每个事件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emit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两遍。</a:t>
            </a:r>
            <a:endParaRPr/>
          </a:p>
        </p:txBody>
      </p:sp>
      <p:sp>
        <p:nvSpPr>
          <p:cNvPr id="1941" name="" descr="{&quot;isTemplate&quot;:true,&quot;type&quot;:&quot;text&quot;}"/>
          <p:cNvSpPr txBox="1"/>
          <p:nvPr/>
        </p:nvSpPr>
        <p:spPr>
          <a:xfrm rot="0" flipH="0" flipV="0">
            <a:off x="7753350" y="289560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attach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开头先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detach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旧回调，保证任一时刻只有一个订阅者。</a:t>
            </a:r>
            <a:endParaRPr/>
          </a:p>
        </p:txBody>
      </p:sp>
      <p:sp>
        <p:nvSpPr>
          <p:cNvPr id="1942" name=""/>
          <p:cNvSpPr/>
          <p:nvPr/>
        </p:nvSpPr>
        <p:spPr>
          <a:xfrm rot="0" flipH="0" flipV="0">
            <a:off x="3467100" y="370522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43" name=""/>
          <p:cNvSpPr/>
          <p:nvPr/>
        </p:nvSpPr>
        <p:spPr>
          <a:xfrm rot="0" flipH="0" flipV="0">
            <a:off x="3467100" y="370522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44" name="" descr="{&quot;isTemplate&quot;:true,&quot;type&quot;:&quot;text&quot;}"/>
          <p:cNvSpPr txBox="1"/>
          <p:nvPr/>
        </p:nvSpPr>
        <p:spPr>
          <a:xfrm rot="0" flipH="0" flipV="0">
            <a:off x="3619500" y="383857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pic>
        <p:nvPicPr>
          <p:cNvPr id="19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029075" y="3924300"/>
            <a:ext cx="142875" cy="142875"/>
          </a:xfrm>
          <a:prstGeom prst="rect">
            <a:avLst/>
          </a:prstGeom>
          <a:ln/>
        </p:spPr>
      </p:pic>
      <p:sp>
        <p:nvSpPr>
          <p:cNvPr id="1946" name="" descr="{&quot;isTemplate&quot;:true,&quot;type&quot;:&quot;text&quot;}"/>
          <p:cNvSpPr txBox="1"/>
          <p:nvPr/>
        </p:nvSpPr>
        <p:spPr>
          <a:xfrm rot="0" flipH="0" flipV="0">
            <a:off x="4286250" y="38671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页面空白，模型</a:t>
            </a:r>
            <a:r>
              <a:rPr lang="en-US" sz="1238" b="1">
                <a:solidFill>
                  <a:srgbClr val="E8EEF9"/>
                </a:solidFill>
                <a:latin typeface="Source Han Sans SC"/>
                <a:ea typeface="Source Han Sans SC"/>
              </a:rPr>
              <a:t>"</a:t>
            </a: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没有输出</a:t>
            </a:r>
            <a:r>
              <a:rPr lang="en-US" sz="1238" b="1">
                <a:solidFill>
                  <a:srgbClr val="E8EEF9"/>
                </a:solidFill>
                <a:latin typeface="Source Han Sans SC"/>
                <a:ea typeface="Source Han Sans SC"/>
              </a:rPr>
              <a:t>"</a:t>
            </a:r>
            <a:endParaRPr/>
          </a:p>
        </p:txBody>
      </p:sp>
      <p:sp>
        <p:nvSpPr>
          <p:cNvPr id="1947" name="" descr="{&quot;isTemplate&quot;:true,&quot;type&quot;:&quot;text&quot;}"/>
          <p:cNvSpPr txBox="1"/>
          <p:nvPr/>
        </p:nvSpPr>
        <p:spPr>
          <a:xfrm rot="0" flipH="0" flipV="0">
            <a:off x="3619500" y="48577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模型层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429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（余额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限流）被内部重试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次后放弃，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prompt()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不抛异常，错误全程静默。</a:t>
            </a:r>
            <a:endParaRPr/>
          </a:p>
        </p:txBody>
      </p:sp>
      <p:sp>
        <p:nvSpPr>
          <p:cNvPr id="1948" name="" descr="{&quot;isTemplate&quot;:true,&quot;type&quot;:&quot;text&quot;}"/>
          <p:cNvSpPr txBox="1"/>
          <p:nvPr/>
        </p:nvSpPr>
        <p:spPr>
          <a:xfrm rot="0" flipH="0" flipV="0">
            <a:off x="3619500" y="54292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message_end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分支兜底：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stopReason = error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时补推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SSE error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，页面直接显示失败原因。</a:t>
            </a:r>
            <a:endParaRPr/>
          </a:p>
        </p:txBody>
      </p:sp>
      <p:sp>
        <p:nvSpPr>
          <p:cNvPr id="1949" name=""/>
          <p:cNvSpPr/>
          <p:nvPr/>
        </p:nvSpPr>
        <p:spPr>
          <a:xfrm rot="0" flipH="0" flipV="0">
            <a:off x="7600950" y="370522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50" name=""/>
          <p:cNvSpPr/>
          <p:nvPr/>
        </p:nvSpPr>
        <p:spPr>
          <a:xfrm rot="0" flipH="0" flipV="0">
            <a:off x="7600950" y="370522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51" name="" descr="{&quot;isTemplate&quot;:true,&quot;type&quot;:&quot;text&quot;}"/>
          <p:cNvSpPr txBox="1"/>
          <p:nvPr/>
        </p:nvSpPr>
        <p:spPr>
          <a:xfrm rot="0" flipH="0" flipV="0">
            <a:off x="7753350" y="383857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pic>
        <p:nvPicPr>
          <p:cNvPr id="19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162925" y="3924300"/>
            <a:ext cx="142875" cy="142875"/>
          </a:xfrm>
          <a:prstGeom prst="rect">
            <a:avLst/>
          </a:prstGeom>
          <a:ln/>
        </p:spPr>
      </p:pic>
      <p:sp>
        <p:nvSpPr>
          <p:cNvPr id="1953" name="" descr="{&quot;isTemplate&quot;:true,&quot;type&quot;:&quot;text&quot;}"/>
          <p:cNvSpPr txBox="1"/>
          <p:nvPr/>
        </p:nvSpPr>
        <p:spPr>
          <a:xfrm rot="0" flipH="0" flipV="0">
            <a:off x="8420100" y="38671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无数据时反复换参重试</a:t>
            </a:r>
            <a:endParaRPr/>
          </a:p>
        </p:txBody>
      </p:sp>
      <p:sp>
        <p:nvSpPr>
          <p:cNvPr id="1954" name="" descr="{&quot;isTemplate&quot;:true,&quot;type&quot;:&quot;text&quot;}"/>
          <p:cNvSpPr txBox="1"/>
          <p:nvPr/>
        </p:nvSpPr>
        <p:spPr>
          <a:xfrm rot="0" flipH="0" flipV="0">
            <a:off x="7753350" y="48577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模型很难接受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空结果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，会降级改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或换参数重来，既浪费轮次，也可能编造数据。</a:t>
            </a:r>
            <a:endParaRPr/>
          </a:p>
        </p:txBody>
      </p:sp>
      <p:sp>
        <p:nvSpPr>
          <p:cNvPr id="1955" name="" descr="{&quot;isTemplate&quot;:true,&quot;type&quot;:&quot;text&quot;}"/>
          <p:cNvSpPr txBox="1"/>
          <p:nvPr/>
        </p:nvSpPr>
        <p:spPr>
          <a:xfrm rot="0" flipH="0" flipV="0">
            <a:off x="7753350" y="54292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双层熔断：软引导下发终止指令，硬熔断由服务端直接拒绝二次调用。</a:t>
            </a:r>
            <a:endParaRPr/>
          </a:p>
        </p:txBody>
      </p:sp>
      <p:sp>
        <p:nvSpPr>
          <p:cNvPr id="195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95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45 / 46</a:t>
            </a:r>
            <a:endParaRPr/>
          </a:p>
        </p:txBody>
      </p:sp>
    </p:spTree>
  </p:cSld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9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960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19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93000"/>
                </a:srgbClr>
              </a:gs>
              <a:gs pos="26000">
                <a:srgbClr val="0B1220">
                  <a:alpha val="74000"/>
                </a:srgbClr>
              </a:gs>
              <a:gs pos="52000">
                <a:srgbClr val="0B1220">
                  <a:alpha val="52000"/>
                </a:srgbClr>
              </a:gs>
              <a:gs pos="100000">
                <a:srgbClr val="0B1220">
                  <a:alpha val="9400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80000"/>
                </a:srgbClr>
              </a:gs>
              <a:gs pos="50000">
                <a:srgbClr val="0B1220">
                  <a:alpha val="10000"/>
                </a:srgbClr>
              </a:gs>
              <a:gs pos="100000">
                <a:srgbClr val="0B1220">
                  <a:alpha val="8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963" name="" descr="{&quot;isTemplate&quot;:true,&quot;type&quot;:&quot;text&quot;}"/>
          <p:cNvSpPr txBox="1"/>
          <p:nvPr/>
        </p:nvSpPr>
        <p:spPr>
          <a:xfrm rot="0" flipH="0" flipV="0">
            <a:off x="5600700" y="990600"/>
            <a:ext cx="100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0">
                <a:solidFill>
                  <a:srgbClr val="2AD4EE"/>
                </a:solidFill>
                <a:latin typeface="JetBrains Mono"/>
                <a:ea typeface="JetBrains Mono"/>
              </a:rPr>
              <a:t>ENDING</a:t>
            </a:r>
            <a:endParaRPr/>
          </a:p>
        </p:txBody>
      </p:sp>
      <p:sp>
        <p:nvSpPr>
          <p:cNvPr id="1964" name="" descr="{&quot;isTemplate&quot;:true,&quot;type&quot;:&quot;text&quot;}"/>
          <p:cNvSpPr txBox="1"/>
          <p:nvPr/>
        </p:nvSpPr>
        <p:spPr>
          <a:xfrm rot="0" flipH="0" flipV="0">
            <a:off x="2200275" y="1409700"/>
            <a:ext cx="7800975" cy="88582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650" b="1" spc="75">
                <a:solidFill>
                  <a:srgbClr val="E8EEF9"/>
                </a:solidFill>
                <a:latin typeface="Source Han Sans SC"/>
                <a:ea typeface="Source Han Sans SC"/>
              </a:rPr>
              <a:t>模型是原料，</a:t>
            </a:r>
            <a:r>
              <a:rPr lang="zh-CN" sz="4650" b="1" spc="75">
                <a:solidFill>
                  <a:srgbClr val="2AD4EE"/>
                </a:solidFill>
                <a:latin typeface="Source Han Sans SC"/>
                <a:ea typeface="Source Han Sans SC"/>
              </a:rPr>
              <a:t>工程才是产品</a:t>
            </a:r>
            <a:r>
              <a:rPr lang="zh-CN" sz="4650" b="1" spc="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965" name=""/>
          <p:cNvSpPr/>
          <p:nvPr/>
        </p:nvSpPr>
        <p:spPr>
          <a:xfrm rot="0" flipH="0" flipV="0">
            <a:off x="5648325" y="2505075"/>
            <a:ext cx="9144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966" name=""/>
          <p:cNvSpPr/>
          <p:nvPr/>
        </p:nvSpPr>
        <p:spPr>
          <a:xfrm rot="0" flipH="0" flipV="0">
            <a:off x="1143000" y="3343275"/>
            <a:ext cx="3314700" cy="1181100"/>
          </a:xfrm>
          <a:custGeom>
            <a:pathLst>
              <a:path w="348" h="124">
                <a:moveTo>
                  <a:pt x="347" y="0"/>
                </a:moveTo>
                <a:lnTo>
                  <a:pt x="348" y="0"/>
                </a:lnTo>
                <a:lnTo>
                  <a:pt x="348" y="124"/>
                </a:lnTo>
                <a:lnTo>
                  <a:pt x="347" y="124"/>
                </a:lnTo>
                <a:close/>
              </a:path>
            </a:pathLst>
          </a:cu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67" name="" descr="{&quot;isTemplate&quot;:true,&quot;type&quot;:&quot;text&quot;}"/>
          <p:cNvSpPr txBox="1"/>
          <p:nvPr/>
        </p:nvSpPr>
        <p:spPr>
          <a:xfrm rot="0" flipH="0" flipV="0">
            <a:off x="2552700" y="334327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MODEL</a:t>
            </a:r>
            <a:endParaRPr/>
          </a:p>
        </p:txBody>
      </p:sp>
      <p:sp>
        <p:nvSpPr>
          <p:cNvPr id="1968" name="" descr="{&quot;isTemplate&quot;:true,&quot;type&quot;:&quot;text&quot;}"/>
          <p:cNvSpPr txBox="1"/>
          <p:nvPr/>
        </p:nvSpPr>
        <p:spPr>
          <a:xfrm rot="0" flipH="0" flipV="0">
            <a:off x="2581275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1969" name="" descr="{&quot;isTemplate&quot;:true,&quot;type&quot;:&quot;text&quot;}"/>
          <p:cNvSpPr txBox="1"/>
          <p:nvPr/>
        </p:nvSpPr>
        <p:spPr>
          <a:xfrm rot="0" flipH="0" flipV="0">
            <a:off x="1371600" y="3952875"/>
            <a:ext cx="2838450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无状态、有窗口。它决定「下一步干什么」，但什么都不记得。</a:t>
            </a:r>
            <a:endParaRPr/>
          </a:p>
        </p:txBody>
      </p:sp>
      <p:sp>
        <p:nvSpPr>
          <p:cNvPr id="1970" name=""/>
          <p:cNvSpPr/>
          <p:nvPr/>
        </p:nvSpPr>
        <p:spPr>
          <a:xfrm rot="0" flipH="0" flipV="0">
            <a:off x="4448175" y="3343275"/>
            <a:ext cx="3305175" cy="1181100"/>
          </a:xfrm>
          <a:custGeom>
            <a:pathLst>
              <a:path w="347" h="124">
                <a:moveTo>
                  <a:pt x="346" y="0"/>
                </a:moveTo>
                <a:lnTo>
                  <a:pt x="347" y="0"/>
                </a:lnTo>
                <a:lnTo>
                  <a:pt x="347" y="124"/>
                </a:lnTo>
                <a:lnTo>
                  <a:pt x="346" y="124"/>
                </a:lnTo>
                <a:close/>
              </a:path>
            </a:pathLst>
          </a:cu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71" name="" descr="{&quot;isTemplate&quot;:true,&quot;type&quot;:&quot;text&quot;}"/>
          <p:cNvSpPr txBox="1"/>
          <p:nvPr/>
        </p:nvSpPr>
        <p:spPr>
          <a:xfrm rot="0" flipH="0" flipV="0">
            <a:off x="5562600" y="334327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ENGINEERING</a:t>
            </a:r>
            <a:endParaRPr/>
          </a:p>
        </p:txBody>
      </p:sp>
      <p:sp>
        <p:nvSpPr>
          <p:cNvPr id="1972" name="" descr="{&quot;isTemplate&quot;:true,&quot;type&quot;:&quot;text&quot;}"/>
          <p:cNvSpPr txBox="1"/>
          <p:nvPr/>
        </p:nvSpPr>
        <p:spPr>
          <a:xfrm rot="0" flipH="0" flipV="0">
            <a:off x="5886450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工程</a:t>
            </a:r>
            <a:endParaRPr/>
          </a:p>
        </p:txBody>
      </p:sp>
      <p:sp>
        <p:nvSpPr>
          <p:cNvPr id="1973" name="" descr="{&quot;isTemplate&quot;:true,&quot;type&quot;:&quot;text&quot;}"/>
          <p:cNvSpPr txBox="1"/>
          <p:nvPr/>
        </p:nvSpPr>
        <p:spPr>
          <a:xfrm rot="0" flipH="0" flipV="0">
            <a:off x="4676775" y="3952875"/>
            <a:ext cx="2828925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七层功能地图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十条设计原则。边界，比能力更重要。</a:t>
            </a:r>
            <a:endParaRPr/>
          </a:p>
        </p:txBody>
      </p:sp>
      <p:sp>
        <p:nvSpPr>
          <p:cNvPr id="1974" name="" descr="{&quot;isTemplate&quot;:true,&quot;type&quot;:&quot;text&quot;}"/>
          <p:cNvSpPr txBox="1"/>
          <p:nvPr/>
        </p:nvSpPr>
        <p:spPr>
          <a:xfrm rot="0" flipH="0" flipV="0">
            <a:off x="9010650" y="3343275"/>
            <a:ext cx="771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DELIVERY</a:t>
            </a:r>
            <a:endParaRPr/>
          </a:p>
        </p:txBody>
      </p:sp>
      <p:sp>
        <p:nvSpPr>
          <p:cNvPr id="1975" name="" descr="{&quot;isTemplate&quot;:true,&quot;type&quot;:&quot;text&quot;}"/>
          <p:cNvSpPr txBox="1"/>
          <p:nvPr/>
        </p:nvSpPr>
        <p:spPr>
          <a:xfrm rot="0" flipH="0" flipV="0">
            <a:off x="9191625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落地</a:t>
            </a:r>
            <a:endParaRPr/>
          </a:p>
        </p:txBody>
      </p:sp>
      <p:sp>
        <p:nvSpPr>
          <p:cNvPr id="1976" name="" descr="{&quot;isTemplate&quot;:true,&quot;type&quot;:&quot;text&quot;}"/>
          <p:cNvSpPr txBox="1"/>
          <p:nvPr/>
        </p:nvSpPr>
        <p:spPr>
          <a:xfrm rot="0" flipH="0" flipV="0">
            <a:off x="7972425" y="3952875"/>
            <a:ext cx="2847975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三级路由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发现式注册，把知识装进一个真实业务系统。</a:t>
            </a:r>
            <a:endParaRPr/>
          </a:p>
        </p:txBody>
      </p:sp>
      <p:sp>
        <p:nvSpPr>
          <p:cNvPr id="1977" name="" descr="{&quot;isTemplate&quot;:true,&quot;type&quot;:&quot;text&quot;}"/>
          <p:cNvSpPr txBox="1"/>
          <p:nvPr/>
        </p:nvSpPr>
        <p:spPr>
          <a:xfrm rot="0" flipH="0" flipV="0">
            <a:off x="5229225" y="5314950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>谢谢</a:t>
            </a:r>
            <a:r>
              <a:rPr lang="en-US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>欢迎提问</a:t>
            </a:r>
            <a:endParaRPr/>
          </a:p>
        </p:txBody>
      </p:sp>
      <p:sp>
        <p:nvSpPr>
          <p:cNvPr id="1978" name="" descr="{&quot;isTemplate&quot;:true,&quot;type&quot;:&quot;text&quot;}"/>
          <p:cNvSpPr txBox="1"/>
          <p:nvPr/>
        </p:nvSpPr>
        <p:spPr>
          <a:xfrm rot="0" flipH="0" flipV="0">
            <a:off x="4562475" y="570547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从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LLM 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到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Agent 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再到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Pi Agent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46 / 46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2026-10-19T11:18:05Z</dcterms:created>
  <dcterms:modified xsi:type="dcterms:W3CDTF">2026-10-19T11:18:05Z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{"AIGC":{"Label":"1","ContentProducer":"00119111010856365494821B355","ProduceID":"01a1520e841477c49b64e0ea31ea7129","ReservedCode1":"","ContentPropagator":"00119111010856365494821B355","PropagateID":"01a1520e841477c49b64e0ea31ea7129","ReservedCode2":""}}</vt:lpwstr>
  </property>
</Properties>
</file>