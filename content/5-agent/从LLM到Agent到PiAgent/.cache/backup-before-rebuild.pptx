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svg" ContentType="image/svg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Relationship Id="rId3" Type="http://schemas.openxmlformats.org/officeDocument/2006/relationships/custom-properties" Target="docProps/custom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7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3" Type="http://schemas.openxmlformats.org/officeDocument/2006/relationships/slide" Target="slides/slide13.xml" /><Relationship Id="rId12" Type="http://schemas.openxmlformats.org/officeDocument/2006/relationships/slide" Target="slides/slide12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14" Type="http://schemas.openxmlformats.org/officeDocument/2006/relationships/slide" Target="slides/slide14.xml" /><Relationship Id="rId11" Type="http://schemas.openxmlformats.org/officeDocument/2006/relationships/slide" Target="slides/slide11.xml" /><Relationship Id="rId15" Type="http://schemas.openxmlformats.org/officeDocument/2006/relationships/slide" Target="slides/slide15.xml" /><Relationship Id="rId16" Type="http://schemas.openxmlformats.org/officeDocument/2006/relationships/slide" Target="slides/slide16.xml" /><Relationship Id="rId17" Type="http://schemas.openxmlformats.org/officeDocument/2006/relationships/notesMaster" Target="notesMasters/notesMaster1.xml" /><Relationship Id="rId18" Type="http://schemas.openxmlformats.org/officeDocument/2006/relationships/presProps" Target="presProps.xml" /><Relationship Id="rId19" Type="http://schemas.openxmlformats.org/officeDocument/2006/relationships/tableStyles" Target="tableStyles.xml" /><Relationship Id="rId2" Type="http://schemas.openxmlformats.org/officeDocument/2006/relationships/slide" Target="slides/slide2.xml" /><Relationship Id="rId20" Type="http://schemas.openxmlformats.org/officeDocument/2006/relationships/viewProps" Target="viewProp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png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6.svg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7.svg" /><Relationship Id="rId4" Type="http://schemas.openxmlformats.org/officeDocument/2006/relationships/image" Target="media/image9.svg" /><Relationship Id="rId3" Type="http://schemas.openxmlformats.org/officeDocument/2006/relationships/image" Target="media/image8.sv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0.svg" /><Relationship Id="rId2" Type="http://schemas.openxmlformats.org/officeDocument/2006/relationships/image" Target="media/image11.svg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png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4.svg" /><Relationship Id="rId1" Type="http://schemas.openxmlformats.org/officeDocument/2006/relationships/image" Target="media/image3.svg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 descr="&lt;Slide style={{ width: 1280, height: 720, position: 'relative', overflow: 'hidden', background: '#0B1220', fontFamily: '&quot;Source Han Sans SC&quot;, &quot;Noto Sans SC&quot;, &quot;Microsoft YaHei&quot;, sans-serif' }}&gt;&#10;    {/* L1 全幅底图：显示宽度大于画布，裁掉右下角，保证画面干净 */}&#10;    &lt;Image src=&quot;assets/cover_hero.png&quot; style={{ position: 'absolute', left: 0, top: 0, width: 1536, height: 1024 }} /&gt;&#10;&#10;    {/* 左侧压暗，保证文字可读 */}&#10;    &lt;Box style={{ position: 'absolute', left: 0, top: 0, width: 940, height: 720, background: 'linear-gradient(90deg, rgba(11,18,32,0.97) 0%, rgba(11,18,32,0.86) 52%, rgba(11,18,32,0) 100%)' }} /&gt;&#10;    {/* 底部压暗 */}&#10;    &lt;Box style={{ position: 'absolute', left: 0, top: 500, width: 1280, height: 220, background: 'linear-gradient(0deg, rgba(11,18,32,0.94) 0%, rgba(11,18,32,0) 100%)' }} /&gt;&#10;&#10;    {/* 顶部极细节线 */}&#10;    &lt;Box style={{ position: 'absolute', left: 88, top: 56, width: 1104, height: 1, background: 'rgba(232,238,249,0.12)' }} /&gt;&#10;&#10;    {/* 骑线文字区 */}&#10;    &lt;Box style={{ position: 'absolute', left: 88, top: 116, width: 760, flexDirection: 'column' }}&gt;&#10;        &lt;Box style={{ flexDirection: 'row', alignItems: 'center', gap: 14 }}&gt;&#10;            &lt;Box style={{ width: 46, height: 3, background: '#2AD4EE' }} /&gt;&#10;            &lt;Text style={{ fontSize: 17, color: '#2AD4EE', letterSpacing: 4 }}&gt;内部技术分享&lt;/Text&gt;&#10;            &lt;Text style={{ fontSize: 17, color: 'rgba(232,238,249,0.42)', fontFamily: '&quot;JetBrains Mono&quot;, &quot;Cascadia Mono&quot;, Consolas, monospace', letterSpacing: 1 }}&gt;2026.10&lt;/Text&gt;&#10;        &lt;/Box&gt;&#10;&#10;        &lt;Text style={{ marginTop: 34, fontSize: 84, fontWeight: 'bold', color: '#E8EEF9', lineHeight: 1.14, letterSpacing: 1 }}&gt;&#10;            从 LLM 到 Agent&#10;            &lt;br /&gt;&#10;            &lt;span style={{ color: '#2AD4EE' }}&gt;再到 Pi Agent&lt;/span&gt;&#10;        &lt;/Text&gt;&#10;&#10;        &lt;Box style={{ marginTop: 30, width: 3, height: 60, background: 'linear-gradient(180deg, #2AD4EE 0%, rgba(42,212,238,0) 100%)' }} /&gt;&#10;&#10;        &lt;Text style={{ marginTop: 18, fontSize: 21, color: 'rgba(232,238,249,0.70)', lineHeight: 1.7 }}&gt;&#10;            模型是原料，工程才是产品。&#10;            &lt;br /&gt;&#10;            一条从「会聊天」到「能干活的系统」的完整链路：认知 → 工程 → 框架 → 落地。&#10;        &lt;/Text&gt;&#10;    &lt;/Box&gt;&#10;&#10;    {/* 右上：四章刻度（置于暗区，保证可读） */}&#10;    &lt;Box style={{ position: 'absolute', right: 88, top: 148, width: 210, paddingTop: 8, paddingBottom: 8, paddingLeft: 20, paddingRight: 20, flexDirection: 'column', gap: 18, alignItems: 'flex-end', background: 'rgba(11,18,32,0.72)', border: '1px solid rgba(42,212,238,0.22)', borderRadius: 4 }}&gt;&#10;        {[&#10;            { n: '01', t: 'LLM' },&#10;            { n: '02', t: 'AGENT' },&#10;            { n: '03', t: 'PI AGENT' },&#10;            { n: '04', t: 'PRACTICE' },&#10;        ].map((c, i) =&gt; (&#10;            &lt;Box key={i} style={{ flexDirection: 'row', alignItems: 'center', gap: 12 }}&gt;&#10;                &lt;Text style={{ fontSize: 14, color: '#2AD4EE', fontFamily: '&quot;JetBrains Mono&quot;, &quot;Cascadia Mono&quot;, Consolas, monospace', letterSpacing: 1 }}&gt;{c.n}&lt;/Text&gt;&#10;                &lt;Text style={{ fontSize: 15, color: 'rgba(232,238,249,0.86)', letterSpacing: 3 }}&gt;{c.t}&lt;/Text&gt;&#10;            &lt;/Box&gt;&#10;        ))}&#10;    &lt;/Box&gt;&#10;&#10;    {/* 左下角标 */}&#10;    &lt;Text style={{ position: 'absolute', left: 88, top: 648, fontSize: 14, color: 'rgba(232,238,249,0.42)' }}&gt;从 LLM 到 Agent 再到 Pi Agent&lt;/Text&gt;&#10;    &lt;Text style={{ position: 'absolute', right: 88, top: 648, fontSize: 14, color: 'rgba(232,238,249,0.42)', fontFamily: '&quot;JetBrains Mono&quot;, &quot;Cascadia Mono&quot;, Consolas, monospace' }}&gt;01 / 33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pic>
        <p:nvPicPr>
          <p:cNvPr id="3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0" y="0"/>
            <a:ext cx="14630400" cy="9753600"/>
          </a:xfrm>
          <a:custGeom>
            <a:pathLst>
              <a:path w="1536" h="1024">
                <a:moveTo>
                  <a:pt x="1280" y="720"/>
                </a:moveTo>
                <a:lnTo>
                  <a:pt x="0" y="720"/>
                </a:lnTo>
                <a:lnTo>
                  <a:pt x="0" y="0"/>
                </a:lnTo>
                <a:lnTo>
                  <a:pt x="1280" y="0"/>
                </a:lnTo>
                <a:close/>
              </a:path>
            </a:pathLst>
          </a:custGeom>
          <a:ln/>
        </p:spPr>
      </p:pic>
      <p:sp>
        <p:nvSpPr>
          <p:cNvPr id="4" name=""/>
          <p:cNvSpPr/>
          <p:nvPr/>
        </p:nvSpPr>
        <p:spPr>
          <a:xfrm rot="0" flipH="0" flipV="0">
            <a:off x="0" y="0"/>
            <a:ext cx="8953500" cy="6858000"/>
          </a:xfrm>
          <a:prstGeom prst="rect">
            <a:avLst/>
          </a:prstGeom>
          <a:gradFill>
            <a:gsLst>
              <a:gs pos="0">
                <a:srgbClr val="0B1220">
                  <a:alpha val="97000"/>
                </a:srgbClr>
              </a:gs>
              <a:gs pos="52000">
                <a:srgbClr val="0B1220">
                  <a:alpha val="86000"/>
                </a:srgbClr>
              </a:gs>
              <a:gs pos="100000">
                <a:srgbClr val="0B1220">
                  <a:alpha val="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0" y="4762500"/>
            <a:ext cx="12192000" cy="2095500"/>
          </a:xfrm>
          <a:prstGeom prst="rect">
            <a:avLst/>
          </a:prstGeom>
          <a:gradFill>
            <a:gsLst>
              <a:gs pos="0">
                <a:srgbClr val="0B1220">
                  <a:alpha val="94000"/>
                </a:srgbClr>
              </a:gs>
              <a:gs pos="100000">
                <a:srgbClr val="0B1220">
                  <a:alpha val="0"/>
                </a:srgbClr>
              </a:gs>
            </a:gsLst>
            <a:lin ang="16200000" scaled="1"/>
          </a:gradFill>
          <a:ln/>
        </p:spPr>
        <p:txBody>
          <a:bodyPr/>
          <a:p/>
        </p:txBody>
      </p:sp>
      <p:sp>
        <p:nvSpPr>
          <p:cNvPr id="6" name=""/>
          <p:cNvSpPr/>
          <p:nvPr/>
        </p:nvSpPr>
        <p:spPr>
          <a:xfrm rot="0" flipH="0" flipV="0">
            <a:off x="838200" y="533400"/>
            <a:ext cx="10515600" cy="9525"/>
          </a:xfrm>
          <a:prstGeom prst="rect">
            <a:avLst/>
          </a:prstGeom>
          <a:solidFill>
            <a:srgbClr val="E8EEF9">
              <a:alpha val="12000"/>
            </a:srgbClr>
          </a:solidFill>
          <a:ln/>
        </p:spPr>
        <p:txBody>
          <a:bodyPr/>
          <a:p/>
        </p:txBody>
      </p:sp>
      <p:sp>
        <p:nvSpPr>
          <p:cNvPr id="7" name=""/>
          <p:cNvSpPr/>
          <p:nvPr/>
        </p:nvSpPr>
        <p:spPr>
          <a:xfrm rot="0" flipH="0" flipV="0">
            <a:off x="838200" y="1190625"/>
            <a:ext cx="438150" cy="2857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1409700" y="1104900"/>
            <a:ext cx="1200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spc="300">
                <a:solidFill>
                  <a:srgbClr val="2AD4EE"/>
                </a:solidFill>
                <a:latin typeface="Source Han Sans SC"/>
                <a:ea typeface="Source Han Sans SC"/>
              </a:rPr>
              <a:t>内部技术分享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2743200" y="1104900"/>
            <a:ext cx="733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7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2026.10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838200" y="1628775"/>
            <a:ext cx="7239000" cy="2190750"/>
          </a:xfrm>
          <a:prstGeom prst="rect"/>
        </p:spPr>
        <p:txBody>
          <a:bodyPr wrap="none" lIns="0" tIns="0" rIns="0" bIns="0"/>
          <a:p>
            <a:pPr>
              <a:lnSpc>
                <a:spcPct val="113999"/>
              </a:lnSpc>
            </a:pPr>
            <a:r>
              <a:rPr lang="zh-CN" sz="6300" b="1" spc="75">
                <a:solidFill>
                  <a:srgbClr val="E8EEF9"/>
                </a:solidFill>
                <a:latin typeface="Source Han Sans SC"/>
                <a:ea typeface="Source Han Sans SC"/>
              </a:rPr>
              <a:t>从</a:t>
            </a:r>
            <a:r>
              <a:rPr lang="en-US" sz="6300" b="1" spc="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6300" b="1" spc="75">
                <a:solidFill>
                  <a:srgbClr val="E8EEF9"/>
                </a:solidFill>
                <a:latin typeface="Source Han Sans SC"/>
                <a:ea typeface="Source Han Sans SC"/>
              </a:rPr>
              <a:t>到</a:t>
            </a:r>
            <a:r>
              <a:rPr lang="en-US" sz="6300" b="1" spc="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Agent</a:t>
            </a:r>
            <a:endParaRPr/>
          </a:p>
          <a:p>
            <a:pPr>
              <a:lnSpc>
                <a:spcPct val="113999"/>
              </a:lnSpc>
            </a:pPr>
            <a:r>
              <a:rPr lang="zh-CN" sz="6300" b="1" spc="75">
                <a:solidFill>
                  <a:srgbClr val="2AD4EE"/>
                </a:solidFill>
                <a:latin typeface="Source Han Sans SC"/>
                <a:ea typeface="Source Han Sans SC"/>
              </a:rPr>
              <a:t>再到</a:t>
            </a:r>
            <a:r>
              <a:rPr lang="en-US" sz="6300" b="1" spc="75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1" name=""/>
          <p:cNvSpPr/>
          <p:nvPr/>
        </p:nvSpPr>
        <p:spPr>
          <a:xfrm rot="0" flipH="0" flipV="0">
            <a:off x="838200" y="4105275"/>
            <a:ext cx="28575" cy="571500"/>
          </a:xfrm>
          <a:prstGeom prst="rect">
            <a:avLst/>
          </a:prstGeom>
          <a:gradFill>
            <a:gsLst>
              <a:gs pos="0">
                <a:srgbClr val="2AD4EE"/>
              </a:gs>
              <a:gs pos="100000">
                <a:srgbClr val="2AD4EE">
                  <a:alpha val="0"/>
                </a:srgbClr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838200" y="4848225"/>
            <a:ext cx="7239000" cy="1228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5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模型是原料，工程才是产品。</a:t>
            </a:r>
            <a:endParaRPr/>
          </a:p>
          <a:p>
            <a:pPr>
              <a:lnSpc>
                <a:spcPct val="170000"/>
              </a:lnSpc>
            </a:pPr>
            <a:r>
              <a:rPr lang="zh-CN" sz="15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一条从「会聊天」到「能干活的系统」的完整链路：认知</a:t>
            </a:r>
            <a:r>
              <a:rPr lang="en-US" sz="15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5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工程</a:t>
            </a:r>
            <a:r>
              <a:rPr lang="en-US" sz="15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5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框架</a:t>
            </a:r>
            <a:r>
              <a:rPr lang="en-US" sz="15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5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落地。</a:t>
            </a:r>
            <a:endParaRPr/>
          </a:p>
        </p:txBody>
      </p:sp>
      <p:sp>
        <p:nvSpPr>
          <p:cNvPr id="13" name=""/>
          <p:cNvSpPr/>
          <p:nvPr/>
        </p:nvSpPr>
        <p:spPr>
          <a:xfrm rot="0" flipH="0" flipV="0">
            <a:off x="9353550" y="1409700"/>
            <a:ext cx="2000250" cy="1352550"/>
          </a:xfrm>
          <a:prstGeom prst="roundRect">
            <a:avLst>
              <a:gd name="adj" fmla="val 2817"/>
            </a:avLst>
          </a:prstGeom>
          <a:solidFill>
            <a:srgbClr val="0B1220">
              <a:alpha val="72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10525125" y="1495425"/>
            <a:ext cx="180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2AD4EE"/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10820400" y="1485900"/>
            <a:ext cx="342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E8EEF9">
                    <a:alpha val="86000"/>
                  </a:srgbClr>
                </a:solidFill>
                <a:latin typeface="Source Han Sans SC"/>
                <a:ea typeface="Source Han Sans SC"/>
              </a:rPr>
              <a:t>LLM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10287000" y="1838325"/>
            <a:ext cx="180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2AD4EE"/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10582275" y="1828800"/>
            <a:ext cx="5810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E8EEF9">
                    <a:alpha val="86000"/>
                  </a:srgbClr>
                </a:solidFill>
                <a:latin typeface="Source Han Sans SC"/>
                <a:ea typeface="Source Han Sans SC"/>
              </a:rPr>
              <a:t>AGENT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10039350" y="2181225"/>
            <a:ext cx="180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2AD4EE"/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10334625" y="2171700"/>
            <a:ext cx="8286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E8EEF9">
                    <a:alpha val="86000"/>
                  </a:srgbClr>
                </a:solidFill>
                <a:latin typeface="Source Han Sans SC"/>
                <a:ea typeface="Source Han Sans SC"/>
              </a:rPr>
              <a:t>PI AGENT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10010775" y="2524125"/>
            <a:ext cx="180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2AD4EE"/>
                </a:solidFill>
                <a:latin typeface="JetBrains Mono"/>
                <a:ea typeface="JetBrains Mono"/>
              </a:rPr>
              <a:t>04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10306050" y="2514600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E8EEF9">
                    <a:alpha val="86000"/>
                  </a:srgbClr>
                </a:solidFill>
                <a:latin typeface="Source Han Sans SC"/>
                <a:ea typeface="Source Han Sans SC"/>
              </a:rPr>
              <a:t>PRACTICE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838200" y="6172200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10801350" y="6172200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01 / 33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328" name="" descr="&lt;Slide style={{ width: 1280, height: 720, padding: '20px 72px', flexDirection: 'column', background: 'linear-gradient(160deg, #0B1220 0%, #16233D 100%)', fontFamily: '&quot;Source Han Sans SC&quot;, &quot;Noto Sans SC&quot;, &quot;Microsoft YaHei&quot;, sans-serif' }}&gt;&#10;    {/* A 区 · 标题块 */}&#10;    &lt;Box style={{ height: 100, flexDirection: 'row', gap: 16, alignItems: 'flex-start', paddingTop: 6 }}&gt;&#10;        &lt;Box style={{ width: 4, height: 36, background: '#2AD4EE', marginTop: 5 }} /&gt;&#10;        &lt;Box style={{ flexDirection: 'column' }}&gt;&#10;            &lt;Text style={{ fontSize: 34, fontWeight: 'bold', color: '#E8EEF9' }}&gt;目录&lt;/Text&gt;&#10;            &lt;Text style={{ marginTop: 8, fontSize: 17, color: 'rgba(232,238,249,0.52)' }}&gt;四章 · 33 页 · 一条从模型到业务系统的完整链路&lt;/Text&gt;&#10;        &lt;/Box&gt;&#10;    &lt;/Box&gt;&#10;&#10;    {/* B 区 · 左窄标题栏 + 右内容 */}&#10;    &lt;Box style={{ height: 516, flexDirection: 'row', gap: 40 }}&gt;&#10;        {/* 左：巨型数字 */}&#10;        &lt;Box style={{ width: 268, flexDirection: 'column', justifyContent: 'center', paddingRight: 24, borderRight: '1px solid rgba(232,238,249,0.12)' }}&gt;&#10;            &lt;Text style={{ fontSize: 96, fontWeight: 'bold', color: '#2AD4EE', fontFamily: '&quot;JetBrains Mono&quot;, &quot;Cascadia Mono&quot;, Consolas, monospace', lineHeight: 1 }}&gt;04&lt;/Text&gt;&#10;            &lt;Text style={{ marginTop: 14, fontSize: 15, color: 'rgba(232,238,249,0.52)', letterSpacing: 2, fontFamily: '&quot;JetBrains Mono&quot;, &quot;Cascadia Mono&quot;, Consolas, monospace' }}&gt;CHAPTERS&lt;/Text&gt;&#10;            &lt;Box style={{ marginTop: 22, width: 40, height: 2, background: '#2AD4EE' }} /&gt;&#10;            &lt;Text style={{ marginTop: 22, fontSize: 17, color: 'rgba(232,238,249,0.70)', lineHeight: 1.75 }}&gt;&#10;                先补认知，再建工程观；&#10;                &lt;br /&gt;&#10;                然后看一个范本，&#10;                &lt;br /&gt;&#10;                最后落进一个真实系统。&#10;            &lt;/Text&gt;&#10;        &lt;/Box&gt;&#10;&#10;        {/* 右：四章条目 */}&#10;        &lt;Box style={{ flexDirection: 'column', flex: 1 }}&gt;&#10;            {[&#10;                { n: '01', t: 'LLM：一切的地基', d: '看懂 LLM 的无状态本质，理解 Agent 为什么必须做上下文工程。', p: '03–09', k: ['Token', '上下文窗口', 'Function Calling'] },&#10;                { n: '02', t: 'Agent：从“能聊”到“能干”', d: '掌握 ReAct 与七层功能地图，说清 Agent 的能力边界到底在哪。', p: '10–18', k: ['ReAct', '七层地图', '十条原则'] },&#10;                { n: '03', t: 'Pi Agent：一个极简范式', d: '理解极简哲学与严格单向的分层架构，看懂它的每一个设计取舍。', p: '19–25', k: ['418 行内核', '四层架构', '三层定制'] },&#10;                { n: '04', t: '落地实践：智数问答 agent-DQ', d: '完整拆解一个真实业务系统，带走可直接复用的踩坑经验。', p: '26–32', k: ['三级路由', '发现式注册', '流式渲染'] },&#10;            ].map((c, i) =&gt; (&#10;                &lt;Box key={i} style={{ flex: 1, flexDirection: 'column', justifyContent: 'center', borderBottom: i === 3 ? 'none' : '1px solid rgba(232,238,249,0.12)' }}&gt;&#10;                    &lt;Box style={{ flexDirection: 'row', alignItems: 'flex-start', gap: 22 }}&gt;&#10;                        &lt;Text style={{ fontSize: 22, color: '#2AD4EE', fontFamily: '&quot;JetBrains Mono&quot;, &quot;Cascadia Mono&quot;, Consolas, monospace', width: 44, marginTop: 4 }}&gt;{c.n}&lt;/Text&gt;&#10;                        &lt;Box style={{ flexDirection: 'column', flex: 1 }}&gt;&#10;                            &lt;Text style={{ fontSize: 24, fontWeight: '600', color: '#E8EEF9' }}&gt;{c.t}&lt;/Text&gt;&#10;                            &lt;Text style={{ marginTop: 6, fontSize: 17, color: 'rgba(232,238,249,0.62)', lineHeight: 1.5 }}&gt;{c.d}&lt;/Text&gt;&#10;                        &lt;/Box&gt;&#10;                        &lt;Text style={{ fontSize: 15, color: 'rgba(232,238,249,0.42)', fontFamily: '&quot;JetBrains Mono&quot;, &quot;Cascadia Mono&quot;, Consolas, monospace', marginTop: 6 }}&gt;{c.p}&lt;/Text&gt;&#10;                    &lt;/Box&gt;&#10;                    &lt;Box style={{ flexDirection: 'row', gap: 8, marginTop: 12, marginLeft: 66 }}&gt;&#10;                        {c.k.map((k, j) =&gt; (&#10;                            &lt;Box key={j} style={{ paddingTop: 4, paddingBottom: 4, paddingLeft: 10, paddingRight: 10, background: 'rgba(42,212,238,0.10)', borderRadius: 3 }}&gt;&#10;                                &lt;Text style={{ fontSize: 14, color: '#2AD4EE' }}&gt;{k}&lt;/Text&gt;&#10;                            &lt;/Box&gt;&#10;                        ))}&#10;                    &lt;/Box&gt;&#10;                &lt;/Box&gt;&#10;            ))}&#10;        &lt;/Box&gt;&#10;    &lt;/Box&gt;&#10;&#10;    {/* C 区 · 页脚 */}&#10;    &lt;Box style={{ height: 40, flexDirection: 'row', alignItems: 'flex-end', justifyContent: 'space-between' }}&gt;&#10;        &lt;Text style={{ fontSize: 14, color: 'rgba(232,238,249,0.42)' }}&gt;从 LLM 到 Agent 再到 Pi Agent&lt;/Text&gt;&#10;        &lt;Text style={{ fontSize: 14, color: 'rgba(232,238,249,0.42)', fontFamily: '&quot;JetBrains Mono&quot;, &quot;Cascadia Mono&quot;, Consolas, monospace' }}&gt;02 / 33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330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35909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目录</a:t>
            </a:r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35909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四章</a:t>
            </a:r>
            <a:r>
              <a:rPr lang="en-US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· 33 </a:t>
            </a: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页</a:t>
            </a:r>
            <a:r>
              <a:rPr lang="en-US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一条从模型到业务系统的完整链路</a:t>
            </a:r>
            <a:endParaRPr/>
          </a:p>
        </p:txBody>
      </p:sp>
      <p:sp>
        <p:nvSpPr>
          <p:cNvPr id="333" name=""/>
          <p:cNvSpPr/>
          <p:nvPr/>
        </p:nvSpPr>
        <p:spPr>
          <a:xfrm rot="0" flipH="0" flipV="0">
            <a:off x="685800" y="1143000"/>
            <a:ext cx="2552700" cy="4914900"/>
          </a:xfrm>
          <a:custGeom>
            <a:pathLst>
              <a:path w="268" h="516">
                <a:moveTo>
                  <a:pt x="267" y="0"/>
                </a:moveTo>
                <a:lnTo>
                  <a:pt x="268" y="0"/>
                </a:lnTo>
                <a:lnTo>
                  <a:pt x="268" y="516"/>
                </a:lnTo>
                <a:lnTo>
                  <a:pt x="267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/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685800" y="2162175"/>
            <a:ext cx="2314575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2AD4EE"/>
                </a:solidFill>
                <a:latin typeface="JetBrains Mono"/>
                <a:ea typeface="JetBrains Mono"/>
              </a:rPr>
              <a:t>04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685800" y="3400425"/>
            <a:ext cx="2314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CHAPTERS</a:t>
            </a:r>
            <a:endParaRPr/>
          </a:p>
        </p:txBody>
      </p:sp>
      <p:sp>
        <p:nvSpPr>
          <p:cNvPr id="336" name=""/>
          <p:cNvSpPr/>
          <p:nvPr/>
        </p:nvSpPr>
        <p:spPr>
          <a:xfrm rot="0" flipH="0" flipV="0">
            <a:off x="685800" y="3781425"/>
            <a:ext cx="381000" cy="1905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685800" y="4010025"/>
            <a:ext cx="2314575" cy="102870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先补认知，再建工程观；</a:t>
            </a:r>
            <a:endParaRPr/>
          </a:p>
          <a:p>
            <a:pPr>
              <a:lnSpc>
                <a:spcPct val="175000"/>
              </a:lnSpc>
            </a:pPr>
            <a:r>
              <a:rPr lang="zh-CN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然后看一个范本，</a:t>
            </a:r>
            <a:endParaRPr/>
          </a:p>
          <a:p>
            <a:pPr>
              <a:lnSpc>
                <a:spcPct val="175000"/>
              </a:lnSpc>
            </a:pPr>
            <a:r>
              <a:rPr lang="zh-CN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最后落进一个真实系统。</a:t>
            </a:r>
            <a:endParaRPr/>
          </a:p>
        </p:txBody>
      </p:sp>
      <p:sp>
        <p:nvSpPr>
          <p:cNvPr id="338" name=""/>
          <p:cNvSpPr/>
          <p:nvPr/>
        </p:nvSpPr>
        <p:spPr>
          <a:xfrm rot="0" flipH="0" flipV="0">
            <a:off x="3619500" y="1143000"/>
            <a:ext cx="7886700" cy="1238250"/>
          </a:xfrm>
          <a:custGeom>
            <a:pathLst>
              <a:path w="828" h="130">
                <a:moveTo>
                  <a:pt x="0" y="129"/>
                </a:moveTo>
                <a:lnTo>
                  <a:pt x="828" y="129"/>
                </a:lnTo>
                <a:lnTo>
                  <a:pt x="828" y="130"/>
                </a:lnTo>
                <a:lnTo>
                  <a:pt x="0" y="130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/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3619500" y="1304925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2AD4EE"/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4248150" y="1266825"/>
            <a:ext cx="6629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E8EEF9"/>
                </a:solidFill>
                <a:latin typeface="Source Han Sans SC"/>
                <a:ea typeface="Source Han Sans SC"/>
              </a:rPr>
              <a:t>LLM</a:t>
            </a:r>
            <a:r>
              <a:rPr lang="zh-CN" sz="1800" b="1">
                <a:solidFill>
                  <a:srgbClr val="E8EEF9"/>
                </a:solidFill>
                <a:latin typeface="Source Han Sans SC"/>
                <a:ea typeface="Source Han Sans SC"/>
              </a:rPr>
              <a:t>：一切的地基</a:t>
            </a:r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4248150" y="1600200"/>
            <a:ext cx="66294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看懂</a:t>
            </a:r>
            <a:r>
              <a:rPr lang="en-US" sz="12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2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的无状态本质，理解</a:t>
            </a:r>
            <a:r>
              <a:rPr lang="en-US" sz="12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2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为什么必须做上下文工程。</a:t>
            </a:r>
            <a:endParaRPr/>
          </a:p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11087100" y="1323975"/>
            <a:ext cx="419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03–09</a:t>
            </a:r>
            <a:endParaRPr/>
          </a:p>
        </p:txBody>
      </p:sp>
      <p:sp>
        <p:nvSpPr>
          <p:cNvPr id="343" name=""/>
          <p:cNvSpPr/>
          <p:nvPr/>
        </p:nvSpPr>
        <p:spPr>
          <a:xfrm rot="0" flipH="0" flipV="0">
            <a:off x="4248150" y="2009775"/>
            <a:ext cx="55245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/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4343400" y="2047875"/>
            <a:ext cx="361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Source Han Sans SC"/>
                <a:ea typeface="Source Han Sans SC"/>
              </a:rPr>
              <a:t>Token</a:t>
            </a:r>
            <a:endParaRPr/>
          </a:p>
        </p:txBody>
      </p:sp>
      <p:sp>
        <p:nvSpPr>
          <p:cNvPr id="345" name=""/>
          <p:cNvSpPr/>
          <p:nvPr/>
        </p:nvSpPr>
        <p:spPr>
          <a:xfrm rot="0" flipH="0" flipV="0">
            <a:off x="4876800" y="2009775"/>
            <a:ext cx="85725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/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4972050" y="2047875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上下文窗口</a:t>
            </a:r>
            <a:endParaRPr/>
          </a:p>
        </p:txBody>
      </p:sp>
      <p:sp>
        <p:nvSpPr>
          <p:cNvPr id="347" name=""/>
          <p:cNvSpPr/>
          <p:nvPr/>
        </p:nvSpPr>
        <p:spPr>
          <a:xfrm rot="0" flipH="0" flipV="0">
            <a:off x="5810250" y="2009775"/>
            <a:ext cx="114300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/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5905500" y="2047875"/>
            <a:ext cx="952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Source Han Sans SC"/>
                <a:ea typeface="Source Han Sans SC"/>
              </a:rPr>
              <a:t>Function Calling</a:t>
            </a:r>
            <a:endParaRPr/>
          </a:p>
        </p:txBody>
      </p:sp>
      <p:sp>
        <p:nvSpPr>
          <p:cNvPr id="349" name=""/>
          <p:cNvSpPr/>
          <p:nvPr/>
        </p:nvSpPr>
        <p:spPr>
          <a:xfrm rot="0" flipH="0" flipV="0">
            <a:off x="3619500" y="2371725"/>
            <a:ext cx="7886700" cy="1247775"/>
          </a:xfrm>
          <a:custGeom>
            <a:pathLst>
              <a:path w="828" h="131">
                <a:moveTo>
                  <a:pt x="0" y="130"/>
                </a:moveTo>
                <a:lnTo>
                  <a:pt x="828" y="130"/>
                </a:lnTo>
                <a:lnTo>
                  <a:pt x="828" y="131"/>
                </a:lnTo>
                <a:lnTo>
                  <a:pt x="0" y="131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/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3619500" y="253365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2AD4EE"/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4248150" y="2495550"/>
            <a:ext cx="6629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E8EEF9"/>
                </a:solidFill>
                <a:latin typeface="Source Han Sans SC"/>
                <a:ea typeface="Source Han Sans SC"/>
              </a:rPr>
              <a:t>Agent</a:t>
            </a:r>
            <a:r>
              <a:rPr lang="zh-CN" sz="1800" b="1">
                <a:solidFill>
                  <a:srgbClr val="E8EEF9"/>
                </a:solidFill>
                <a:latin typeface="Source Han Sans SC"/>
                <a:ea typeface="Source Han Sans SC"/>
              </a:rPr>
              <a:t>：从“能聊”到“能干”</a:t>
            </a:r>
            <a:endParaRPr/>
          </a:p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4248150" y="2828925"/>
            <a:ext cx="66294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掌握</a:t>
            </a:r>
            <a:r>
              <a:rPr lang="en-US" sz="12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ReAct </a:t>
            </a:r>
            <a:r>
              <a:rPr lang="zh-CN" sz="12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与七层功能地图，说清</a:t>
            </a:r>
            <a:r>
              <a:rPr lang="en-US" sz="12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2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的能力边界到底在哪。</a:t>
            </a:r>
            <a:endParaRPr/>
          </a:p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11087100" y="2552700"/>
            <a:ext cx="419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10–18</a:t>
            </a:r>
            <a:endParaRPr/>
          </a:p>
        </p:txBody>
      </p:sp>
      <p:sp>
        <p:nvSpPr>
          <p:cNvPr id="354" name=""/>
          <p:cNvSpPr/>
          <p:nvPr/>
        </p:nvSpPr>
        <p:spPr>
          <a:xfrm rot="0" flipH="0" flipV="0">
            <a:off x="4248150" y="3238500"/>
            <a:ext cx="523875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/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4343400" y="3276600"/>
            <a:ext cx="333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Source Han Sans SC"/>
                <a:ea typeface="Source Han Sans SC"/>
              </a:rPr>
              <a:t>ReAct</a:t>
            </a:r>
            <a:endParaRPr/>
          </a:p>
        </p:txBody>
      </p:sp>
      <p:sp>
        <p:nvSpPr>
          <p:cNvPr id="356" name=""/>
          <p:cNvSpPr/>
          <p:nvPr/>
        </p:nvSpPr>
        <p:spPr>
          <a:xfrm rot="0" flipH="0" flipV="0">
            <a:off x="4848225" y="3238500"/>
            <a:ext cx="72390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/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4943475" y="327660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七层地图</a:t>
            </a:r>
            <a:endParaRPr/>
          </a:p>
        </p:txBody>
      </p:sp>
      <p:sp>
        <p:nvSpPr>
          <p:cNvPr id="358" name=""/>
          <p:cNvSpPr/>
          <p:nvPr/>
        </p:nvSpPr>
        <p:spPr>
          <a:xfrm rot="0" flipH="0" flipV="0">
            <a:off x="5648325" y="3238500"/>
            <a:ext cx="72390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/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5743575" y="327660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十条原则</a:t>
            </a:r>
            <a:endParaRPr/>
          </a:p>
        </p:txBody>
      </p:sp>
      <p:sp>
        <p:nvSpPr>
          <p:cNvPr id="360" name=""/>
          <p:cNvSpPr/>
          <p:nvPr/>
        </p:nvSpPr>
        <p:spPr>
          <a:xfrm rot="0" flipH="0" flipV="0">
            <a:off x="3619500" y="3609975"/>
            <a:ext cx="7886700" cy="1238250"/>
          </a:xfrm>
          <a:custGeom>
            <a:pathLst>
              <a:path w="828" h="130">
                <a:moveTo>
                  <a:pt x="0" y="129"/>
                </a:moveTo>
                <a:lnTo>
                  <a:pt x="828" y="129"/>
                </a:lnTo>
                <a:lnTo>
                  <a:pt x="828" y="130"/>
                </a:lnTo>
                <a:lnTo>
                  <a:pt x="0" y="130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/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3619500" y="377190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2AD4EE"/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4248150" y="3733800"/>
            <a:ext cx="6629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E8EEF9"/>
                </a:solidFill>
                <a:latin typeface="Source Han Sans SC"/>
                <a:ea typeface="Source Han Sans SC"/>
              </a:rPr>
              <a:t>Pi Agent</a:t>
            </a:r>
            <a:r>
              <a:rPr lang="zh-CN" sz="1800" b="1">
                <a:solidFill>
                  <a:srgbClr val="E8EEF9"/>
                </a:solidFill>
                <a:latin typeface="Source Han Sans SC"/>
                <a:ea typeface="Source Han Sans SC"/>
              </a:rPr>
              <a:t>：一个极简范式</a:t>
            </a:r>
            <a:endParaRPr/>
          </a:p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4248150" y="4067175"/>
            <a:ext cx="66294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理解极简哲学与严格单向的分层架构，看懂它的每一个设计取舍。</a:t>
            </a:r>
            <a:endParaRPr/>
          </a:p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11087100" y="3790950"/>
            <a:ext cx="419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19–25</a:t>
            </a:r>
            <a:endParaRPr/>
          </a:p>
        </p:txBody>
      </p:sp>
      <p:sp>
        <p:nvSpPr>
          <p:cNvPr id="365" name=""/>
          <p:cNvSpPr/>
          <p:nvPr/>
        </p:nvSpPr>
        <p:spPr>
          <a:xfrm rot="0" flipH="0" flipV="0">
            <a:off x="4248150" y="4476750"/>
            <a:ext cx="828675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/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4343400" y="4514850"/>
            <a:ext cx="638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418 </a:t>
            </a: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行内核</a:t>
            </a:r>
            <a:endParaRPr/>
          </a:p>
        </p:txBody>
      </p:sp>
      <p:sp>
        <p:nvSpPr>
          <p:cNvPr id="367" name=""/>
          <p:cNvSpPr/>
          <p:nvPr/>
        </p:nvSpPr>
        <p:spPr>
          <a:xfrm rot="0" flipH="0" flipV="0">
            <a:off x="5153025" y="4476750"/>
            <a:ext cx="72390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/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5248275" y="451485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四层架构</a:t>
            </a:r>
            <a:endParaRPr/>
          </a:p>
        </p:txBody>
      </p:sp>
      <p:sp>
        <p:nvSpPr>
          <p:cNvPr id="369" name=""/>
          <p:cNvSpPr/>
          <p:nvPr/>
        </p:nvSpPr>
        <p:spPr>
          <a:xfrm rot="0" flipH="0" flipV="0">
            <a:off x="5953125" y="4476750"/>
            <a:ext cx="72390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/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6048375" y="451485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三层定制</a:t>
            </a:r>
            <a:endParaRPr/>
          </a:p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3619500" y="5000625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2AD4EE"/>
                </a:solidFill>
                <a:latin typeface="JetBrains Mono"/>
                <a:ea typeface="JetBrains Mono"/>
              </a:rPr>
              <a:t>04</a:t>
            </a:r>
            <a:endParaRPr/>
          </a:p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4248150" y="4962525"/>
            <a:ext cx="6629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E8EEF9"/>
                </a:solidFill>
                <a:latin typeface="Source Han Sans SC"/>
                <a:ea typeface="Source Han Sans SC"/>
              </a:rPr>
              <a:t>落地实践：智数问答</a:t>
            </a:r>
            <a:r>
              <a:rPr lang="en-US" sz="18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agent-DQ</a:t>
            </a:r>
            <a:endParaRPr/>
          </a:p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4248150" y="5295900"/>
            <a:ext cx="66294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完整拆解一个真实业务系统，带走可直接复用的踩坑经验。</a:t>
            </a:r>
            <a:endParaRPr/>
          </a:p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11087100" y="5019675"/>
            <a:ext cx="419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26–32</a:t>
            </a:r>
            <a:endParaRPr/>
          </a:p>
        </p:txBody>
      </p:sp>
      <p:sp>
        <p:nvSpPr>
          <p:cNvPr id="375" name=""/>
          <p:cNvSpPr/>
          <p:nvPr/>
        </p:nvSpPr>
        <p:spPr>
          <a:xfrm rot="0" flipH="0" flipV="0">
            <a:off x="4248150" y="5705475"/>
            <a:ext cx="72390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/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4343400" y="57435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三级路由</a:t>
            </a:r>
            <a:endParaRPr/>
          </a:p>
        </p:txBody>
      </p:sp>
      <p:sp>
        <p:nvSpPr>
          <p:cNvPr id="377" name=""/>
          <p:cNvSpPr/>
          <p:nvPr/>
        </p:nvSpPr>
        <p:spPr>
          <a:xfrm rot="0" flipH="0" flipV="0">
            <a:off x="5048250" y="5705475"/>
            <a:ext cx="85725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/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5143500" y="5743575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发现式注册</a:t>
            </a:r>
            <a:endParaRPr/>
          </a:p>
        </p:txBody>
      </p:sp>
      <p:sp>
        <p:nvSpPr>
          <p:cNvPr id="379" name=""/>
          <p:cNvSpPr/>
          <p:nvPr/>
        </p:nvSpPr>
        <p:spPr>
          <a:xfrm rot="0" flipH="0" flipV="0">
            <a:off x="5981700" y="5705475"/>
            <a:ext cx="72390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/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6076950" y="57435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流式渲染</a:t>
            </a:r>
            <a:endParaRPr/>
          </a:p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02 / 33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383" name="" descr="&lt;Slide style={{ width: 1280, height: 720, position: 'relative', overflow: 'hidden', background: '#0B1220', fontFamily: '&quot;Source Han Sans SC&quot;, &quot;Noto Sans SC&quot;, &quot;Microsoft YaHei&quot;, sans-serif' }}&gt;&#10;    &lt;Image src=&quot;assets/sec_llm.png&quot; style={{ position: 'absolute', left: 0, top: 0, width: 1536, height: 1024 }} /&gt;&#10;&#10;    &lt;Box style={{ position: 'absolute', left: 0, top: 0, width: 1040, height: 720, background: 'linear-gradient(90deg, rgba(11,18,32,0.97) 0%, rgba(11,18,32,0.84) 50%, rgba(11,18,32,0) 100%)' }} /&gt;&#10;    &lt;Box style={{ position: 'absolute', left: 0, top: 0, width: 6, height: 720, background: 'linear-gradient(180deg, #2AD4EE 0%, rgba(42,212,238,0) 100%)' }} /&gt;&#10;&#10;    {/* 左：整列分布 */}&#10;    &lt;Box style={{ position: 'absolute', left: 88, top: 152, width: 700, height: 508, flexDirection: 'column', justifyContent: 'space-between' }}&gt;&#10;        &lt;Box style={{ flexDirection: 'column' }}&gt;&#10;            &lt;Text style={{ fontSize: 18, color: '#2AD4EE', letterSpacing: 7, fontFamily: '&quot;JetBrains Mono&quot;, &quot;Cascadia Mono&quot;, Consolas, monospace' }}&gt;CHAPTER 01&lt;/Text&gt;&#10;            &lt;Text style={{ marginTop: 22, fontSize: 64, fontWeight: 'bold', color: '#E8EEF9', letterSpacing: 1, lineHeight: 1.2 }}&gt;&#10;                LLM：&#10;                &lt;br /&gt;&#10;                &lt;span style={{ color: '#2AD4EE' }}&gt;一切的地基&lt;/span&gt;&#10;            &lt;/Text&gt;&#10;        &lt;/Box&gt;&#10;&#10;        &lt;Box style={{ flexDirection: 'column' }}&gt;&#10;            &lt;Box style={{ width: 76, height: 4, background: '#2AD4EE' }} /&gt;&#10;            &lt;Text style={{ marginTop: 24, fontSize: 21, color: 'rgba(232,238,249,0.72)', lineHeight: 1.75 }}&gt;&#10;                不认识 LLM 的「无状态」，&#10;                &lt;br /&gt;&#10;                就理解不了 Agent 的上下文工程。&#10;            &lt;/Text&gt;&#10;        &lt;/Box&gt;&#10;&#10;        &lt;Box style={{ flexDirection: 'column' }}&gt;&#10;            &lt;Box style={{ width: 420, height: 1, background: 'rgba(232,238,249,0.18)' }} /&gt;&#10;            &lt;Text style={{ marginTop: 16, fontSize: 13, color: 'rgba(232,238,249,0.42)', letterSpacing: 3, fontFamily: '&quot;JetBrains Mono&quot;, &quot;Cascadia Mono&quot;, Consolas, monospace' }}&gt;本章要回答&lt;/Text&gt;&#10;            &lt;Box style={{ marginTop: 12, flexDirection: 'column', gap: 8 }}&gt;&#10;                {['LLM 每次请求到底记住了什么？', '为什么必须用工具调用？', '手写 Prompt 与原生 FC 差在哪？'].map((t, i) =&gt; (&#10;                    &lt;Box key={i} style={{ flexDirection: 'row', alignItems: 'center', gap: 12 }}&gt;&#10;                        &lt;Box style={{ width: 5, height: 5, background: '#2AD4EE' }} /&gt;&#10;                        &lt;Text style={{ fontSize: 17, color: 'rgba(232,238,249,0.78)' }}&gt;{t}&lt;/Text&gt;&#10;                    &lt;/Box&gt;&#10;                ))}&#10;            &lt;/Box&gt;&#10;        &lt;/Box&gt;&#10;    &lt;/Box&gt;&#10;&#10;    {/* 右：章节号 + 目录 */}&#10;    &lt;Box style={{ position: 'absolute', right: 88, top: 336, width: 392, flexDirection: 'column', paddingTop: 22, paddingBottom: 22, paddingLeft: 24, paddingRight: 24, background: 'rgba(11,18,32,0.82)', border: '1px solid rgba(42,212,238,0.22)', borderRadius: 4 }}&gt;&#10;        &lt;Box style={{ flexDirection: 'row', alignItems: 'flex-end', justifyContent: 'space-between' }}&gt;&#10;            &lt;Text style={{ fontSize: 76, fontWeight: 'bold', color: 'rgba(42,212,238,0.55)', fontFamily: '&quot;JetBrains Mono&quot;, &quot;Cascadia Mono&quot;, Consolas, monospace', lineHeight: 1 }}&gt;01&lt;/Text&gt;&#10;            &lt;Text style={{ fontSize: 13, color: 'rgba(232,238,249,0.42)', letterSpacing: 3, fontFamily: '&quot;JetBrains Mono&quot;, &quot;Cascadia Mono&quot;, Consolas, monospace', paddingBottom: 8 }}&gt;PAGES 03 – 09&lt;/Text&gt;&#10;        &lt;/Box&gt;&#10;        &lt;Box style={{ marginTop: 18, flexDirection: 'column', gap: 12 }}&gt;&#10;            {['无状态与上下文窗口', '四个必记的核心概念', '两种调用方式与 Function Calling'].map((t, i) =&gt; (&#10;                &lt;Box key={i} style={{ flexDirection: 'row', alignItems: 'center', gap: 12 }}&gt;&#10;                    &lt;Box style={{ width: 18, height: 1, background: 'rgba(42,212,238,0.6)' }} /&gt;&#10;                    &lt;Text style={{ fontSize: 17, color: 'rgba(232,238,249,0.82)' }}&gt;{t}&lt;/Text&gt;&#10;                &lt;/Box&gt;&#10;            ))}&#10;        &lt;/Box&gt;&#10;    &lt;/Box&gt;&#10;&#10;    &lt;Text style={{ position: 'absolute', left: 88, top: 674, fontSize: 14, color: 'rgba(232,238,249,0.42)', fontFamily: '&quot;JetBrains Mono&quot;, &quot;Cascadia Mono&quot;, Consolas, monospace' }}&gt;03 / 33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pic>
        <p:nvPicPr>
          <p:cNvPr id="385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0" y="0"/>
            <a:ext cx="14630400" cy="9753600"/>
          </a:xfrm>
          <a:custGeom>
            <a:pathLst>
              <a:path w="1536" h="1024">
                <a:moveTo>
                  <a:pt x="1280" y="720"/>
                </a:moveTo>
                <a:lnTo>
                  <a:pt x="0" y="720"/>
                </a:lnTo>
                <a:lnTo>
                  <a:pt x="0" y="0"/>
                </a:lnTo>
                <a:lnTo>
                  <a:pt x="1280" y="0"/>
                </a:lnTo>
                <a:close/>
              </a:path>
            </a:pathLst>
          </a:custGeom>
          <a:ln/>
        </p:spPr>
      </p:pic>
      <p:sp>
        <p:nvSpPr>
          <p:cNvPr id="386" name=""/>
          <p:cNvSpPr/>
          <p:nvPr/>
        </p:nvSpPr>
        <p:spPr>
          <a:xfrm rot="0" flipH="0" flipV="0">
            <a:off x="0" y="0"/>
            <a:ext cx="9906000" cy="6858000"/>
          </a:xfrm>
          <a:prstGeom prst="rect">
            <a:avLst/>
          </a:prstGeom>
          <a:gradFill>
            <a:gsLst>
              <a:gs pos="0">
                <a:srgbClr val="0B1220">
                  <a:alpha val="97000"/>
                </a:srgbClr>
              </a:gs>
              <a:gs pos="50000">
                <a:srgbClr val="0B1220">
                  <a:alpha val="84000"/>
                </a:srgbClr>
              </a:gs>
              <a:gs pos="100000">
                <a:srgbClr val="0B1220">
                  <a:alpha val="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387" name=""/>
          <p:cNvSpPr/>
          <p:nvPr/>
        </p:nvSpPr>
        <p:spPr>
          <a:xfrm rot="0" flipH="0" flipV="0">
            <a:off x="0" y="0"/>
            <a:ext cx="57150" cy="6858000"/>
          </a:xfrm>
          <a:prstGeom prst="rect">
            <a:avLst/>
          </a:prstGeom>
          <a:gradFill>
            <a:gsLst>
              <a:gs pos="0">
                <a:srgbClr val="2AD4EE"/>
              </a:gs>
              <a:gs pos="100000">
                <a:srgbClr val="2AD4EE">
                  <a:alpha val="0"/>
                </a:srgbClr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838200" y="1447800"/>
            <a:ext cx="6667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525">
                <a:solidFill>
                  <a:srgbClr val="2AD4EE"/>
                </a:solidFill>
                <a:latin typeface="JetBrains Mono"/>
                <a:ea typeface="JetBrains Mono"/>
              </a:rPr>
              <a:t>CHAPTER 01</a:t>
            </a:r>
            <a:endParaRPr/>
          </a:p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838200" y="1866900"/>
            <a:ext cx="6667500" cy="17621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4800" b="1" spc="75">
                <a:solidFill>
                  <a:srgbClr val="E8EEF9"/>
                </a:solidFill>
                <a:latin typeface="Source Han Sans SC"/>
                <a:ea typeface="Source Han Sans SC"/>
              </a:rPr>
              <a:t>LLM</a:t>
            </a:r>
            <a:r>
              <a:rPr lang="zh-CN" sz="4800" b="1" spc="75">
                <a:solidFill>
                  <a:srgbClr val="E8EEF9"/>
                </a:solidFill>
                <a:latin typeface="Source Han Sans SC"/>
                <a:ea typeface="Source Han Sans SC"/>
              </a:rPr>
              <a:t>：</a:t>
            </a:r>
            <a:endParaRPr/>
          </a:p>
          <a:p>
            <a:pPr>
              <a:lnSpc>
                <a:spcPct val="120000"/>
              </a:lnSpc>
            </a:pPr>
            <a:r>
              <a:rPr lang="zh-CN" sz="4800" b="1" spc="75">
                <a:solidFill>
                  <a:srgbClr val="2AD4EE"/>
                </a:solidFill>
                <a:latin typeface="Source Han Sans SC"/>
                <a:ea typeface="Source Han Sans SC"/>
              </a:rPr>
              <a:t>一切的地基</a:t>
            </a:r>
            <a:endParaRPr/>
          </a:p>
        </p:txBody>
      </p:sp>
      <p:sp>
        <p:nvSpPr>
          <p:cNvPr id="390" name=""/>
          <p:cNvSpPr/>
          <p:nvPr/>
        </p:nvSpPr>
        <p:spPr>
          <a:xfrm rot="0" flipH="0" flipV="0">
            <a:off x="838200" y="3810000"/>
            <a:ext cx="723900" cy="381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838200" y="4076700"/>
            <a:ext cx="6667500" cy="847725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不认识</a:t>
            </a:r>
            <a:r>
              <a:rPr lang="en-US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的「无状态」，</a:t>
            </a:r>
            <a:endParaRPr/>
          </a:p>
          <a:p>
            <a:pPr>
              <a:lnSpc>
                <a:spcPct val="175000"/>
              </a:lnSpc>
            </a:pPr>
            <a:r>
              <a:rPr lang="zh-CN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就理解不了</a:t>
            </a:r>
            <a:r>
              <a:rPr lang="en-US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的上下文工程。</a:t>
            </a:r>
            <a:endParaRPr/>
          </a:p>
        </p:txBody>
      </p:sp>
      <p:sp>
        <p:nvSpPr>
          <p:cNvPr id="392" name=""/>
          <p:cNvSpPr/>
          <p:nvPr/>
        </p:nvSpPr>
        <p:spPr>
          <a:xfrm rot="0" flipH="0" flipV="0">
            <a:off x="838200" y="5105400"/>
            <a:ext cx="4000500" cy="9525"/>
          </a:xfrm>
          <a:prstGeom prst="rect">
            <a:avLst/>
          </a:prstGeom>
          <a:solidFill>
            <a:srgbClr val="E8EEF9">
              <a:alpha val="18000"/>
            </a:srgbClr>
          </a:solidFill>
          <a:ln/>
        </p:spPr>
        <p:txBody>
          <a:bodyPr/>
          <a:p/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838200" y="5267325"/>
            <a:ext cx="6667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2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本章要回答</a:t>
            </a:r>
            <a:endParaRPr/>
          </a:p>
        </p:txBody>
      </p:sp>
      <p:sp>
        <p:nvSpPr>
          <p:cNvPr id="394" name=""/>
          <p:cNvSpPr/>
          <p:nvPr/>
        </p:nvSpPr>
        <p:spPr>
          <a:xfrm rot="0" flipH="0" flipV="0">
            <a:off x="838200" y="5610225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1000125" y="5534025"/>
            <a:ext cx="22764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 xml:space="preserve">LLM </a:t>
            </a: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每次请求到底记住了什么？</a:t>
            </a:r>
            <a:endParaRPr/>
          </a:p>
        </p:txBody>
      </p:sp>
      <p:sp>
        <p:nvSpPr>
          <p:cNvPr id="396" name=""/>
          <p:cNvSpPr/>
          <p:nvPr/>
        </p:nvSpPr>
        <p:spPr>
          <a:xfrm rot="0" flipH="0" flipV="0">
            <a:off x="838200" y="5886450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1000125" y="5810250"/>
            <a:ext cx="17811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为什么必须用工具调用？</a:t>
            </a:r>
            <a:endParaRPr/>
          </a:p>
        </p:txBody>
      </p:sp>
      <p:sp>
        <p:nvSpPr>
          <p:cNvPr id="398" name=""/>
          <p:cNvSpPr/>
          <p:nvPr/>
        </p:nvSpPr>
        <p:spPr>
          <a:xfrm rot="0" flipH="0" flipV="0">
            <a:off x="838200" y="6162675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1000125" y="6086475"/>
            <a:ext cx="2324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手写</a:t>
            </a:r>
            <a:r>
              <a:rPr lang="en-US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 xml:space="preserve"> Prompt </a:t>
            </a: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与原生</a:t>
            </a:r>
            <a:r>
              <a:rPr lang="en-US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 xml:space="preserve"> FC </a:t>
            </a: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差在哪？</a:t>
            </a:r>
            <a:endParaRPr/>
          </a:p>
        </p:txBody>
      </p:sp>
      <p:sp>
        <p:nvSpPr>
          <p:cNvPr id="400" name=""/>
          <p:cNvSpPr/>
          <p:nvPr/>
        </p:nvSpPr>
        <p:spPr>
          <a:xfrm rot="0" flipH="0" flipV="0">
            <a:off x="7620000" y="3200400"/>
            <a:ext cx="3733800" cy="2295525"/>
          </a:xfrm>
          <a:prstGeom prst="roundRect">
            <a:avLst>
              <a:gd name="adj" fmla="val 1660"/>
            </a:avLst>
          </a:prstGeom>
          <a:solidFill>
            <a:srgbClr val="0B1220">
              <a:alpha val="82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7848600" y="3409950"/>
            <a:ext cx="857250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2AD4EE">
                    <a:alpha val="55000"/>
                  </a:srgbClr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9801225" y="4057650"/>
            <a:ext cx="1323975" cy="228600"/>
          </a:xfrm>
          <a:prstGeom prst="rect"/>
        </p:spPr>
        <p:txBody>
          <a:bodyPr wrap="none" lIns="0" tIns="0" rIns="0" bIns="5715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PAGES 03 – 09</a:t>
            </a:r>
            <a:endParaRPr/>
          </a:p>
        </p:txBody>
      </p:sp>
      <p:sp>
        <p:nvSpPr>
          <p:cNvPr id="403" name=""/>
          <p:cNvSpPr/>
          <p:nvPr/>
        </p:nvSpPr>
        <p:spPr>
          <a:xfrm rot="0" flipH="0" flipV="0">
            <a:off x="7848600" y="4552950"/>
            <a:ext cx="171450" cy="9525"/>
          </a:xfrm>
          <a:prstGeom prst="rect">
            <a:avLst/>
          </a:prstGeom>
          <a:solidFill>
            <a:srgbClr val="2AD4EE">
              <a:alpha val="60000"/>
            </a:srgbClr>
          </a:solidFill>
          <a:ln/>
        </p:spPr>
        <p:txBody>
          <a:bodyPr/>
          <a:p/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8134350" y="4457700"/>
            <a:ext cx="14573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无状态与上下文窗口</a:t>
            </a:r>
            <a:endParaRPr/>
          </a:p>
        </p:txBody>
      </p:sp>
      <p:sp>
        <p:nvSpPr>
          <p:cNvPr id="405" name=""/>
          <p:cNvSpPr/>
          <p:nvPr/>
        </p:nvSpPr>
        <p:spPr>
          <a:xfrm rot="0" flipH="0" flipV="0">
            <a:off x="7848600" y="4867275"/>
            <a:ext cx="171450" cy="9525"/>
          </a:xfrm>
          <a:prstGeom prst="rect">
            <a:avLst/>
          </a:prstGeom>
          <a:solidFill>
            <a:srgbClr val="2AD4EE">
              <a:alpha val="60000"/>
            </a:srgbClr>
          </a:solidFill>
          <a:ln/>
        </p:spPr>
        <p:txBody>
          <a:bodyPr/>
          <a:p/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8134350" y="4772025"/>
            <a:ext cx="14573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四个必记的核心概念</a:t>
            </a:r>
            <a:endParaRPr/>
          </a:p>
        </p:txBody>
      </p:sp>
      <p:sp>
        <p:nvSpPr>
          <p:cNvPr id="407" name=""/>
          <p:cNvSpPr/>
          <p:nvPr/>
        </p:nvSpPr>
        <p:spPr>
          <a:xfrm rot="0" flipH="0" flipV="0">
            <a:off x="7848600" y="5181600"/>
            <a:ext cx="171450" cy="9525"/>
          </a:xfrm>
          <a:prstGeom prst="rect">
            <a:avLst/>
          </a:prstGeom>
          <a:solidFill>
            <a:srgbClr val="2AD4EE">
              <a:alpha val="60000"/>
            </a:srgbClr>
          </a:solidFill>
          <a:ln/>
        </p:spPr>
        <p:txBody>
          <a:bodyPr/>
          <a:p/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8134350" y="5086350"/>
            <a:ext cx="2324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两种调用方式与</a:t>
            </a:r>
            <a:r>
              <a:rPr lang="en-US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 xml:space="preserve"> Function Calling</a:t>
            </a:r>
            <a:endParaRPr/>
          </a:p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838200" y="6419850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03 / 33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410" name="" descr="&lt;Slide style={{ width: 1280, height: 720, padding: '20px 72px', flexDirection: 'column', background: 'linear-gradient(160deg, #0B1220 0%, #16233D 100%)', fontFamily: '&quot;Source Han Sans SC&quot;, &quot;Noto Sans SC&quot;, &quot;Microsoft YaHei&quot;, sans-serif' }}&gt;&#10;    {/* A 区 · 标题块 */}&#10;    &lt;Box style={{ height: 100, flexDirection: 'row', gap: 16, alignItems: 'flex-start', paddingTop: 6 }}&gt;&#10;        &lt;Box style={{ width: 4, height: 36, background: '#2AD4EE', marginTop: 5 }} /&gt;&#10;        &lt;Box style={{ flexDirection: 'column' }}&gt;&#10;            &lt;Text style={{ fontSize: 34, fontWeight: 'bold', color: '#E8EEF9' }}&gt;LLM 是「无状态的文本预测器」&lt;/Text&gt;&#10;            &lt;Text style={{ marginTop: 8, fontSize: 17, color: 'rgba(232,238,249,0.52)' }}&gt;理解这一点，才理解为什么 Agent 的上下文要自己算&lt;/Text&gt;&#10;        &lt;/Box&gt;&#10;    &lt;/Box&gt;&#10;&#10;    {/* B 区 · 左标题栏 + 右内容区 */}&#10;    &lt;Box style={{ height: 516, flexDirection: 'row', gap: 36 }}&gt;&#10;        {/* 左：定义栏 */}&#10;        &lt;Box style={{ width: 360, flexDirection: 'column', paddingRight: 30, borderRight: '1px solid rgba(232,238,249,0.12)' }}&gt;&#10;            &lt;Text style={{ fontSize: 15, color: '#2AD4EE', letterSpacing: 3, fontFamily: '&quot;JetBrains Mono&quot;, &quot;Cascadia Mono&quot;, Consolas, monospace' }}&gt;DEFINITION&lt;/Text&gt;&#10;            &lt;Text style={{ marginTop: 18, fontSize: 26, fontWeight: 'bold', color: '#E8EEF9', lineHeight: 1.5 }}&gt;&#10;                模型本身&#10;                &lt;br /&gt;&#10;                没有内存&#10;            &lt;/Text&gt;&#10;            &lt;Text style={{ marginTop: 20, fontSize: 17, color: 'rgba(232,238,249,0.70)', lineHeight: 1.75 }}&gt;&#10;                它不会主动记住上一次对话。你不把历史消息完整塞回 &lt;span style={{ color: '#2AD4EE', fontFamily: '&quot;JetBrains Mono&quot;, &quot;Cascadia Mono&quot;, Consolas, monospace' }}&gt;messages&lt;/span&gt;，它就完全不知道之前聊过什么——所谓「记忆」，每次请求都由你重建。&#10;            &lt;/Text&gt;&#10;            &lt;Box style={{ flexDirection: 'row', gap: 8, marginTop: 22, flexWrap: 'wrap' }}&gt;&#10;                {['无状态', '每次重发', 'messages 数组'].map((k, i) =&gt; (&#10;                    &lt;Box key={i} style={{ paddingTop: 4, paddingBottom: 4, paddingLeft: 10, paddingRight: 10, background: 'rgba(42,212,238,0.10)', borderRadius: 3 }}&gt;&#10;                        &lt;Text style={{ fontSize: 14, color: '#2AD4EE' }}&gt;{k}&lt;/Text&gt;&#10;                    &lt;/Box&gt;&#10;                ))}&#10;            &lt;/Box&gt;&#10;            &lt;Box style={{ marginTop: 26, height: 1, background: 'rgba(232,238,249,0.12)' }} /&gt;&#10;            &lt;Text style={{ marginTop: 18, fontSize: 15, color: 'rgba(232,238,249,0.52)', letterSpacing: 2, fontFamily: '&quot;JetBrains Mono&quot;, &quot;Cascadia Mono&quot;, Consolas, monospace' }}&gt;ACTIONS · 两个必做动作&lt;/Text&gt;&#10;            &lt;Text style={{ marginTop: 12, fontSize: 17, color: 'rgba(232,238,249,0.70)', lineHeight: 1.75 }}&gt;&#10;                超窗之前：摘要压缩（compaction）&#10;                &lt;br /&gt;&#10;                进上下文前：工具返回精简 + 脱敏&#10;            &lt;/Text&gt;&#10;            &lt;Box style={{ marginTop: 'auto', paddingTop: 14, paddingBottom: 14, paddingLeft: 16, paddingRight: 16, borderLeft: '3px solid #2AD4EE', background: 'rgba(42,212,238,0.06)' }}&gt;&#10;                &lt;Text style={{ fontSize: 17, color: '#E8EEF9', lineHeight: 1.6 }}&gt;&#10;                    上下文窗口 = 一次能读完的&#10;                    &lt;span style={{ color: '#2AD4EE' }}&gt;总量上限&lt;/span&gt;&#10;                    （输入 + 输出）。&#10;                &lt;/Text&gt;&#10;            &lt;/Box&gt;&#10;        &lt;/Box&gt;&#10;&#10;        {/* 右：图示区 */}&#10;        &lt;Box style={{ flex: 1, flexDirection: 'column' }}&gt;&#10;            &lt;Text style={{ fontSize: 15, color: 'rgba(232,238,249,0.52)', letterSpacing: 2, fontFamily: '&quot;JetBrains Mono&quot;, &quot;Cascadia Mono&quot;, Consolas, monospace' }}&gt;CONTEXT WINDOW · 以 128k token 为例&lt;/Text&gt;&#10;&#10;            &lt;Box style={{ flexDirection: 'row', height: 78, marginTop: 16, borderRadius: 4, overflow: 'hidden', border: '1px solid rgba(42,212,238,0.22)' }}&gt;&#10;                &lt;Box style={{ flex: 34, flexDirection: 'column', justifyContent: 'center', paddingLeft: 14, paddingRight: 10, background: 'rgba(42,212,238,0.16)', borderRight: '1px solid rgba(42,212,238,0.22)' }}&gt;&#10;                    &lt;Text style={{ fontSize: 16, color: '#E8EEF9', fontWeight: '600' }}&gt;历史对话&lt;/Text&gt;&#10;                    &lt;Text style={{ fontSize: 13, color: 'rgba(232,238,249,0.62)', marginTop: 4 }}&gt;system + 多轮 messages + 工具返回&lt;/Text&gt;&#10;                &lt;/Box&gt;&#10;                &lt;Box style={{ flex: 14, flexDirection: 'column', justifyContent: 'center', paddingLeft: 12, paddingRight: 8, background: 'rgba(42,212,238,0.30)', borderRight: '1px solid rgba(42,212,238,0.22)' }}&gt;&#10;                    &lt;Text style={{ fontSize: 16, color: '#0B1220', fontWeight: '600' }}&gt;本轮输入&lt;/Text&gt;&#10;                    &lt;Text style={{ fontSize: 13, color: 'rgba(11,18,32,0.72)', marginTop: 4 }}&gt;用户问题&lt;/Text&gt;&#10;                &lt;/Box&gt;&#10;                &lt;Box style={{ flex: 12, flexDirection: 'column', justifyContent: 'center', paddingLeft: 12, paddingRight: 8, background: 'rgba(42,212,238,0.06)' }}&gt;&#10;                    &lt;Text style={{ fontSize: 16, color: 'rgba(232,238,249,0.78)', fontWeight: '600' }}&gt;预留输出&lt;/Text&gt;&#10;                    &lt;Text style={{ fontSize: 13, color: 'rgba(232,238,249,0.52)', marginTop: 4 }}&gt;maxTokens&lt;/Text&gt;&#10;                &lt;/Box&gt;&#10;            &lt;/Box&gt;&#10;&#10;            &lt;Box style={{ flexDirection: 'row', justifyContent: 'space-between', marginTop: 8 }}&gt;&#10;                &lt;Text style={{ fontSize: 13, color: 'rgba(232,238,249,0.42)', fontFamily: '&quot;JetBrains Mono&quot;, &quot;Cascadia Mono&quot;, Consolas, monospace' }}&gt;0&lt;/Text&gt;&#10;                &lt;Text style={{ fontSize: 13, color: 'rgba(232,238,249,0.42)' }}&gt;超过上限 → 最前面的信息被丢弃&lt;/Text&gt;&#10;                &lt;Text style={{ fontSize: 13, color: 'rgba(232,238,249,0.42)', fontFamily: '&quot;JetBrains Mono&quot;, &quot;Cascadia Mono&quot;, Consolas, monospace' }}&gt;128k&lt;/Text&gt;&#10;            &lt;/Box&gt;&#10;&#10;            &lt;Text style={{ marginTop: 30, fontSize: 15, color: 'rgba(232,238,249,0.52)', letterSpacing: 2, fontFamily: '&quot;JetBrains Mono&quot;, &quot;Cascadia Mono&quot;, Consolas, monospace' }}&gt;TOKEN · 计费与窗口的最小单位&lt;/Text&gt;&#10;            &lt;Text style={{ marginTop: 14, fontSize: 20, color: '#E8EEF9' }}&gt;「企业 2025 年营收 3.2 亿元」&lt;/Text&gt;&#10;            &lt;Box style={{ flexDirection: 'row', gap: 8, marginTop: 14, alignItems: 'center' }}&gt;&#10;                {['企业', '2025', '年', '营', '收', '3.2', '亿'].map((t, i) =&gt; (&#10;                    &lt;Box key={i} style={{ paddingTop: 5, paddingBottom: 5, paddingLeft: 11, paddingRight: 11, background: 'rgba(22,35,61,0.9)', border: '1px solid rgba(42,212,238,0.22)', borderRadius: 3 }}&gt;&#10;                        &lt;Text style={{ fontSize: 15, color: '#2AD4EE', fontFamily: '&quot;JetBrains Mono&quot;, &quot;Cascadia Mono&quot;, Consolas, monospace' }}&gt;{t}&lt;/Text&gt;&#10;                    &lt;/Box&gt;&#10;                ))}&#10;                &lt;Text style={{ fontSize: 15, color: 'rgba(232,238,249,0.62)', marginLeft: 6 }}&gt;→ 约 9 token（中文 1 汉字 ≈ 2 token）&lt;/Text&gt;&#10;            &lt;/Box&gt;&#10;&#10;            &lt;Box style={{ marginTop: 'auto', flexDirection: 'row', alignItems: 'center', gap: 14, paddingTop: 16, paddingBottom: 16, paddingLeft: 18, paddingRight: 18, background: 'rgba(42,212,238,0.08)', border: '1px solid rgba(42,212,238,0.22)', borderRadius: 4 }}&gt;&#10;                &lt;Text style={{ fontSize: 20, color: '#2AD4EE', fontWeight: 'bold', fontFamily: '&quot;JetBrains Mono&quot;, &quot;Cascadia Mono&quot;, Consolas, monospace' }}&gt;所以&lt;/Text&gt;&#10;                &lt;Text style={{ fontSize: 18, color: '#E8EEF9', lineHeight: 1.6, flex: 1 }}&gt;&#10;                    Agent 多轮工具调用后上下文膨胀是&lt;span style={{ color: '#2AD4EE' }}&gt;必然&lt;/span&gt;，不是意外——预算要自己管。&#10;                &lt;/Text&gt;&#10;            &lt;/Box&gt;&#10;        &lt;/Box&gt;&#10;    &lt;/Box&gt;&#10;&#10;    {/* C 区 · 页脚 */}&#10;    &lt;Box style={{ height: 40, flexDirection: 'row', alignItems: 'flex-end', justifyContent: 'space-between' }}&gt;&#10;        &lt;Text style={{ fontSize: 14, color: 'rgba(232,238,249,0.42)' }}&gt;从 LLM 到 Agent 再到 Pi Agent&lt;/Text&gt;&#10;        &lt;Text style={{ fontSize: 14, color: 'rgba(232,238,249,0.42)', fontFamily: '&quot;JetBrains Mono&quot;, &quot;Cascadia Mono&quot;, Consolas, monospace' }}&gt;04 / 33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412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45434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LLM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是「无状态的文本预测器」</a:t>
            </a:r>
            <a:endParaRPr/>
          </a:p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4543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理解这一点，才理解为什么</a:t>
            </a:r>
            <a:r>
              <a:rPr lang="en-US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的上下文要自己算</a:t>
            </a:r>
            <a:endParaRPr/>
          </a:p>
        </p:txBody>
      </p:sp>
      <p:sp>
        <p:nvSpPr>
          <p:cNvPr id="415" name=""/>
          <p:cNvSpPr/>
          <p:nvPr/>
        </p:nvSpPr>
        <p:spPr>
          <a:xfrm rot="0" flipH="0" flipV="0">
            <a:off x="685800" y="1143000"/>
            <a:ext cx="3429000" cy="5534025"/>
          </a:xfrm>
          <a:custGeom>
            <a:pathLst>
              <a:path w="360" h="581">
                <a:moveTo>
                  <a:pt x="359" y="0"/>
                </a:moveTo>
                <a:lnTo>
                  <a:pt x="360" y="0"/>
                </a:lnTo>
                <a:lnTo>
                  <a:pt x="360" y="581"/>
                </a:lnTo>
                <a:lnTo>
                  <a:pt x="359" y="581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/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3133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DEFINITION</a:t>
            </a:r>
            <a:endParaRPr/>
          </a:p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685800" y="1485900"/>
            <a:ext cx="3133725" cy="895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950" b="1">
                <a:solidFill>
                  <a:srgbClr val="E8EEF9"/>
                </a:solidFill>
                <a:latin typeface="Source Han Sans SC"/>
                <a:ea typeface="Source Han Sans SC"/>
              </a:rPr>
              <a:t>模型本身</a:t>
            </a:r>
            <a:endParaRPr/>
          </a:p>
          <a:p>
            <a:pPr>
              <a:lnSpc>
                <a:spcPct val="150000"/>
              </a:lnSpc>
            </a:pPr>
            <a:r>
              <a:rPr lang="zh-CN" sz="1950" b="1">
                <a:solidFill>
                  <a:srgbClr val="E8EEF9"/>
                </a:solidFill>
                <a:latin typeface="Source Han Sans SC"/>
                <a:ea typeface="Source Han Sans SC"/>
              </a:rPr>
              <a:t>没有内存</a:t>
            </a:r>
            <a:endParaRPr/>
          </a:p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685800" y="2571750"/>
            <a:ext cx="3133725" cy="1362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它不会主动记住上一次对话。你不把历史消息完整塞回</a:t>
            </a:r>
            <a:r>
              <a:rPr lang="en-US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</a:t>
            </a:r>
            <a:r>
              <a:rPr lang="en-US" sz="1275">
                <a:solidFill>
                  <a:srgbClr val="2AD4EE"/>
                </a:solidFill>
                <a:latin typeface="Source Han Sans SC"/>
                <a:ea typeface="Source Han Sans SC"/>
              </a:rPr>
              <a:t>messages</a:t>
            </a:r>
            <a:r>
              <a:rPr lang="zh-CN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，它就完全不知道之前聊过什么——所谓「记忆」，每次请求都由你重建。</a:t>
            </a:r>
            <a:endParaRPr/>
          </a:p>
        </p:txBody>
      </p:sp>
      <p:sp>
        <p:nvSpPr>
          <p:cNvPr id="419" name=""/>
          <p:cNvSpPr/>
          <p:nvPr/>
        </p:nvSpPr>
        <p:spPr>
          <a:xfrm rot="0" flipH="0" flipV="0">
            <a:off x="685800" y="4143375"/>
            <a:ext cx="59055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/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781050" y="418147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无状态</a:t>
            </a:r>
            <a:endParaRPr/>
          </a:p>
        </p:txBody>
      </p:sp>
      <p:sp>
        <p:nvSpPr>
          <p:cNvPr id="421" name=""/>
          <p:cNvSpPr/>
          <p:nvPr/>
        </p:nvSpPr>
        <p:spPr>
          <a:xfrm rot="0" flipH="0" flipV="0">
            <a:off x="1352550" y="4143375"/>
            <a:ext cx="72390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/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1447800" y="41814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每次重发</a:t>
            </a:r>
            <a:endParaRPr/>
          </a:p>
        </p:txBody>
      </p:sp>
      <p:sp>
        <p:nvSpPr>
          <p:cNvPr id="423" name=""/>
          <p:cNvSpPr/>
          <p:nvPr/>
        </p:nvSpPr>
        <p:spPr>
          <a:xfrm rot="0" flipH="0" flipV="0">
            <a:off x="2152650" y="4143375"/>
            <a:ext cx="106680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/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2247900" y="4181475"/>
            <a:ext cx="876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messages </a:t>
            </a: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数组</a:t>
            </a:r>
            <a:endParaRPr/>
          </a:p>
        </p:txBody>
      </p:sp>
      <p:sp>
        <p:nvSpPr>
          <p:cNvPr id="425" name=""/>
          <p:cNvSpPr/>
          <p:nvPr/>
        </p:nvSpPr>
        <p:spPr>
          <a:xfrm rot="0" flipH="0" flipV="0">
            <a:off x="685800" y="4629150"/>
            <a:ext cx="3133725" cy="9525"/>
          </a:xfrm>
          <a:prstGeom prst="rect">
            <a:avLst/>
          </a:prstGeom>
          <a:solidFill>
            <a:srgbClr val="E8EEF9">
              <a:alpha val="12000"/>
            </a:srgbClr>
          </a:solidFill>
          <a:ln/>
        </p:spPr>
        <p:txBody>
          <a:bodyPr/>
          <a:p/>
        </p:txBody>
      </p:sp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685800" y="4810125"/>
            <a:ext cx="3133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 xml:space="preserve">ACTIONS · </a:t>
            </a:r>
            <a:r>
              <a:rPr lang="zh-CN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两个必做动作</a:t>
            </a:r>
            <a:endParaRPr/>
          </a:p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685800" y="5095875"/>
            <a:ext cx="3133725" cy="68580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超窗之前：摘要压缩（</a:t>
            </a:r>
            <a:r>
              <a:rPr lang="en-US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compaction</a:t>
            </a:r>
            <a:r>
              <a:rPr lang="zh-CN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）</a:t>
            </a:r>
            <a:endParaRPr/>
          </a:p>
          <a:p>
            <a:pPr>
              <a:lnSpc>
                <a:spcPct val="175000"/>
              </a:lnSpc>
            </a:pPr>
            <a:r>
              <a:rPr lang="zh-CN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进上下文前：工具返回精简</a:t>
            </a:r>
            <a:r>
              <a:rPr lang="en-US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脱敏</a:t>
            </a:r>
            <a:endParaRPr/>
          </a:p>
        </p:txBody>
      </p:sp>
      <p:sp>
        <p:nvSpPr>
          <p:cNvPr id="428" name=""/>
          <p:cNvSpPr/>
          <p:nvPr/>
        </p:nvSpPr>
        <p:spPr>
          <a:xfrm rot="0" flipH="0" flipV="0">
            <a:off x="714375" y="5781675"/>
            <a:ext cx="3133725" cy="895350"/>
          </a:xfrm>
          <a:prstGeom prst="rect">
            <a:avLst/>
          </a:prstGeom>
          <a:solidFill>
            <a:srgbClr val="2AD4EE">
              <a:alpha val="6000"/>
            </a:srgbClr>
          </a:solidFill>
          <a:ln/>
        </p:spPr>
        <p:txBody>
          <a:bodyPr/>
          <a:p/>
        </p:txBody>
      </p:sp>
      <p:sp>
        <p:nvSpPr>
          <p:cNvPr id="429" name=""/>
          <p:cNvSpPr/>
          <p:nvPr/>
        </p:nvSpPr>
        <p:spPr>
          <a:xfrm rot="0" flipH="0" flipV="0">
            <a:off x="685800" y="5781675"/>
            <a:ext cx="3162300" cy="895350"/>
          </a:xfrm>
          <a:custGeom>
            <a:pathLst>
              <a:path w="332" h="94">
                <a:moveTo>
                  <a:pt x="0" y="0"/>
                </a:moveTo>
                <a:lnTo>
                  <a:pt x="3" y="0"/>
                </a:lnTo>
                <a:lnTo>
                  <a:pt x="3" y="94"/>
                </a:lnTo>
                <a:lnTo>
                  <a:pt x="0" y="94"/>
                </a:lnTo>
                <a:close/>
              </a:path>
            </a:pathLst>
          </a:custGeom>
          <a:solidFill>
            <a:srgbClr val="2AD4EE"/>
          </a:solidFill>
          <a:ln/>
        </p:spPr>
        <p:txBody>
          <a:bodyPr/>
          <a:p/>
        </p:txBody>
      </p:sp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866775" y="5915025"/>
            <a:ext cx="280035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上下文窗口</a:t>
            </a:r>
            <a:r>
              <a:rPr lang="en-US" sz="12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= 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一次能读完的</a:t>
            </a:r>
            <a:r>
              <a:rPr lang="zh-CN" sz="1275">
                <a:solidFill>
                  <a:srgbClr val="2AD4EE"/>
                </a:solidFill>
                <a:latin typeface="Source Han Sans SC"/>
                <a:ea typeface="Source Han Sans SC"/>
              </a:rPr>
              <a:t>总量上限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（输入</a:t>
            </a:r>
            <a:r>
              <a:rPr lang="en-US" sz="12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输出）。</a:t>
            </a:r>
            <a:endParaRPr/>
          </a:p>
        </p:txBody>
      </p:sp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4457700" y="1143000"/>
            <a:ext cx="7048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 xml:space="preserve">CONTEXT WINDOW · </a:t>
            </a:r>
            <a:r>
              <a:rPr lang="zh-CN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以</a:t>
            </a: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 xml:space="preserve"> 128k token </a:t>
            </a:r>
            <a:r>
              <a:rPr lang="zh-CN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为例</a:t>
            </a:r>
            <a:endParaRPr/>
          </a:p>
        </p:txBody>
      </p:sp>
      <p:sp>
        <p:nvSpPr>
          <p:cNvPr id="432" name=""/>
          <p:cNvSpPr/>
          <p:nvPr/>
        </p:nvSpPr>
        <p:spPr>
          <a:xfrm rot="0" flipH="0" flipV="0">
            <a:off x="4457700" y="1466850"/>
            <a:ext cx="7048500" cy="742950"/>
          </a:xfrm>
          <a:prstGeom prst="roundRect">
            <a:avLst>
              <a:gd name="adj" fmla="val 5128"/>
            </a:avLst>
          </a:prstGeom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33" name=""/>
          <p:cNvSpPr/>
          <p:nvPr/>
        </p:nvSpPr>
        <p:spPr>
          <a:xfrm rot="0" flipH="0" flipV="0">
            <a:off x="4457700" y="1466850"/>
            <a:ext cx="3990975" cy="742950"/>
          </a:xfrm>
          <a:prstGeom prst="rect">
            <a:avLst/>
          </a:prstGeom>
          <a:solidFill>
            <a:srgbClr val="2AD4EE">
              <a:alpha val="16000"/>
            </a:srgbClr>
          </a:solidFill>
          <a:ln/>
        </p:spPr>
        <p:txBody>
          <a:bodyPr/>
          <a:p/>
        </p:txBody>
      </p:sp>
      <p:sp>
        <p:nvSpPr>
          <p:cNvPr id="434" name=""/>
          <p:cNvSpPr/>
          <p:nvPr/>
        </p:nvSpPr>
        <p:spPr>
          <a:xfrm rot="0" flipH="0" flipV="0">
            <a:off x="4457700" y="1466850"/>
            <a:ext cx="4000500" cy="742950"/>
          </a:xfrm>
          <a:custGeom>
            <a:pathLst>
              <a:path w="420" h="78">
                <a:moveTo>
                  <a:pt x="419" y="0"/>
                </a:moveTo>
                <a:lnTo>
                  <a:pt x="420" y="0"/>
                </a:lnTo>
                <a:lnTo>
                  <a:pt x="420" y="78"/>
                </a:lnTo>
                <a:lnTo>
                  <a:pt x="419" y="78"/>
                </a:lnTo>
                <a:close/>
              </a:path>
            </a:pathLst>
          </a:custGeom>
          <a:solidFill>
            <a:srgbClr val="2AD4EE">
              <a:alpha val="22000"/>
            </a:srgbClr>
          </a:solidFill>
          <a:ln/>
        </p:spPr>
        <p:txBody>
          <a:bodyPr/>
          <a:p/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4591050" y="1647825"/>
            <a:ext cx="3752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历史对话</a:t>
            </a:r>
            <a:endParaRPr/>
          </a:p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4591050" y="1876425"/>
            <a:ext cx="3752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system + </a:t>
            </a:r>
            <a:r>
              <a:rPr lang="zh-CN" sz="9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多轮</a:t>
            </a:r>
            <a:r>
              <a:rPr lang="en-US" sz="9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messages + </a:t>
            </a:r>
            <a:r>
              <a:rPr lang="zh-CN" sz="9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工具返回</a:t>
            </a:r>
            <a:endParaRPr/>
          </a:p>
        </p:txBody>
      </p:sp>
      <p:sp>
        <p:nvSpPr>
          <p:cNvPr id="437" name=""/>
          <p:cNvSpPr/>
          <p:nvPr/>
        </p:nvSpPr>
        <p:spPr>
          <a:xfrm rot="0" flipH="0" flipV="0">
            <a:off x="8448675" y="1466850"/>
            <a:ext cx="1647825" cy="742950"/>
          </a:xfrm>
          <a:prstGeom prst="rect">
            <a:avLst/>
          </a:prstGeom>
          <a:solidFill>
            <a:srgbClr val="2AD4EE">
              <a:alpha val="30000"/>
            </a:srgbClr>
          </a:solidFill>
          <a:ln/>
        </p:spPr>
        <p:txBody>
          <a:bodyPr/>
          <a:p/>
        </p:txBody>
      </p:sp>
      <p:sp>
        <p:nvSpPr>
          <p:cNvPr id="438" name=""/>
          <p:cNvSpPr/>
          <p:nvPr/>
        </p:nvSpPr>
        <p:spPr>
          <a:xfrm rot="0" flipH="0" flipV="0">
            <a:off x="8448675" y="1466850"/>
            <a:ext cx="1657350" cy="742950"/>
          </a:xfrm>
          <a:custGeom>
            <a:pathLst>
              <a:path w="174" h="78">
                <a:moveTo>
                  <a:pt x="173" y="0"/>
                </a:moveTo>
                <a:lnTo>
                  <a:pt x="174" y="0"/>
                </a:lnTo>
                <a:lnTo>
                  <a:pt x="174" y="78"/>
                </a:lnTo>
                <a:lnTo>
                  <a:pt x="173" y="78"/>
                </a:lnTo>
                <a:close/>
              </a:path>
            </a:pathLst>
          </a:custGeom>
          <a:solidFill>
            <a:srgbClr val="2AD4EE">
              <a:alpha val="22000"/>
            </a:srgbClr>
          </a:solidFill>
          <a:ln/>
        </p:spPr>
        <p:txBody>
          <a:bodyPr/>
          <a:p/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8562975" y="1647825"/>
            <a:ext cx="1447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1220"/>
                </a:solidFill>
                <a:latin typeface="Source Han Sans SC"/>
                <a:ea typeface="Source Han Sans SC"/>
              </a:rPr>
              <a:t>本轮输入</a:t>
            </a:r>
            <a:endParaRPr/>
          </a:p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8562975" y="1876425"/>
            <a:ext cx="1447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0B1220">
                    <a:alpha val="72000"/>
                  </a:srgbClr>
                </a:solidFill>
                <a:latin typeface="Source Han Sans SC"/>
                <a:ea typeface="Source Han Sans SC"/>
              </a:rPr>
              <a:t>用户问题</a:t>
            </a:r>
            <a:endParaRPr/>
          </a:p>
        </p:txBody>
      </p:sp>
      <p:sp>
        <p:nvSpPr>
          <p:cNvPr id="441" name=""/>
          <p:cNvSpPr/>
          <p:nvPr/>
        </p:nvSpPr>
        <p:spPr>
          <a:xfrm rot="0" flipH="0" flipV="0">
            <a:off x="10096500" y="1466850"/>
            <a:ext cx="1409700" cy="742950"/>
          </a:xfrm>
          <a:prstGeom prst="rect">
            <a:avLst/>
          </a:prstGeom>
          <a:solidFill>
            <a:srgbClr val="2AD4EE">
              <a:alpha val="6000"/>
            </a:srgbClr>
          </a:solidFill>
          <a:ln/>
        </p:spPr>
        <p:txBody>
          <a:bodyPr/>
          <a:p/>
        </p:txBody>
      </p:sp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10210800" y="1647825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预留输出</a:t>
            </a:r>
            <a:endParaRPr/>
          </a:p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10210800" y="1876425"/>
            <a:ext cx="1219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maxTokens</a:t>
            </a:r>
            <a:endParaRPr/>
          </a:p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4457700" y="2286000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0</a:t>
            </a:r>
            <a:endParaRPr/>
          </a:p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6981825" y="2286000"/>
            <a:ext cx="1790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超过上限</a:t>
            </a:r>
            <a:r>
              <a:rPr lang="en-US" sz="97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97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最前面的信息被丢弃</a:t>
            </a:r>
            <a:endParaRPr/>
          </a:p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11210925" y="2286000"/>
            <a:ext cx="2952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128k</a:t>
            </a:r>
            <a:endParaRPr/>
          </a:p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4457700" y="2724150"/>
            <a:ext cx="7048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 xml:space="preserve">TOKEN · </a:t>
            </a:r>
            <a:r>
              <a:rPr lang="zh-CN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计费与窗口的最小单位</a:t>
            </a:r>
            <a:endParaRPr/>
          </a:p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4457700" y="3028950"/>
            <a:ext cx="7048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E8EEF9"/>
                </a:solidFill>
                <a:latin typeface="Source Han Sans SC"/>
                <a:ea typeface="Source Han Sans SC"/>
              </a:rPr>
              <a:t>「企业</a:t>
            </a:r>
            <a:r>
              <a:rPr lang="en-US" sz="15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2025 </a:t>
            </a:r>
            <a:r>
              <a:rPr lang="zh-CN" sz="1500">
                <a:solidFill>
                  <a:srgbClr val="E8EEF9"/>
                </a:solidFill>
                <a:latin typeface="Source Han Sans SC"/>
                <a:ea typeface="Source Han Sans SC"/>
              </a:rPr>
              <a:t>年营收</a:t>
            </a:r>
            <a:r>
              <a:rPr lang="en-US" sz="15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3.2 </a:t>
            </a:r>
            <a:r>
              <a:rPr lang="zh-CN" sz="1500">
                <a:solidFill>
                  <a:srgbClr val="E8EEF9"/>
                </a:solidFill>
                <a:latin typeface="Source Han Sans SC"/>
                <a:ea typeface="Source Han Sans SC"/>
              </a:rPr>
              <a:t>亿元」</a:t>
            </a:r>
            <a:endParaRPr/>
          </a:p>
        </p:txBody>
      </p:sp>
      <p:sp>
        <p:nvSpPr>
          <p:cNvPr id="449" name=""/>
          <p:cNvSpPr/>
          <p:nvPr/>
        </p:nvSpPr>
        <p:spPr>
          <a:xfrm rot="0" flipH="0" flipV="0">
            <a:off x="4457700" y="3390900"/>
            <a:ext cx="495300" cy="266700"/>
          </a:xfrm>
          <a:prstGeom prst="roundRect">
            <a:avLst>
              <a:gd name="adj" fmla="val 10714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4562475" y="3438525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AD4EE"/>
                </a:solidFill>
                <a:latin typeface="JetBrains Mono"/>
                <a:ea typeface="JetBrains Mono"/>
              </a:rPr>
              <a:t>企业</a:t>
            </a:r>
            <a:endParaRPr/>
          </a:p>
        </p:txBody>
      </p:sp>
      <p:sp>
        <p:nvSpPr>
          <p:cNvPr id="451" name=""/>
          <p:cNvSpPr/>
          <p:nvPr/>
        </p:nvSpPr>
        <p:spPr>
          <a:xfrm rot="0" flipH="0" flipV="0">
            <a:off x="5029200" y="3390900"/>
            <a:ext cx="552450" cy="266700"/>
          </a:xfrm>
          <a:prstGeom prst="roundRect">
            <a:avLst>
              <a:gd name="adj" fmla="val 10714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52" name="" descr="{&quot;isTemplate&quot;:true,&quot;type&quot;:&quot;text&quot;}"/>
          <p:cNvSpPr txBox="1"/>
          <p:nvPr/>
        </p:nvSpPr>
        <p:spPr>
          <a:xfrm rot="0" flipH="0" flipV="0">
            <a:off x="5133975" y="3438525"/>
            <a:ext cx="342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AD4EE"/>
                </a:solidFill>
                <a:latin typeface="JetBrains Mono"/>
                <a:ea typeface="JetBrains Mono"/>
              </a:rPr>
              <a:t>2025</a:t>
            </a:r>
            <a:endParaRPr/>
          </a:p>
        </p:txBody>
      </p:sp>
      <p:sp>
        <p:nvSpPr>
          <p:cNvPr id="453" name=""/>
          <p:cNvSpPr/>
          <p:nvPr/>
        </p:nvSpPr>
        <p:spPr>
          <a:xfrm rot="0" flipH="0" flipV="0">
            <a:off x="5657850" y="3390900"/>
            <a:ext cx="352425" cy="266700"/>
          </a:xfrm>
          <a:prstGeom prst="roundRect">
            <a:avLst>
              <a:gd name="adj" fmla="val 10714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5762625" y="3438525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AD4EE"/>
                </a:solidFill>
                <a:latin typeface="JetBrains Mono"/>
                <a:ea typeface="JetBrains Mono"/>
              </a:rPr>
              <a:t>年</a:t>
            </a:r>
            <a:endParaRPr/>
          </a:p>
        </p:txBody>
      </p:sp>
      <p:sp>
        <p:nvSpPr>
          <p:cNvPr id="455" name=""/>
          <p:cNvSpPr/>
          <p:nvPr/>
        </p:nvSpPr>
        <p:spPr>
          <a:xfrm rot="0" flipH="0" flipV="0">
            <a:off x="6086475" y="3390900"/>
            <a:ext cx="352425" cy="266700"/>
          </a:xfrm>
          <a:prstGeom prst="roundRect">
            <a:avLst>
              <a:gd name="adj" fmla="val 10714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6191250" y="3438525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AD4EE"/>
                </a:solidFill>
                <a:latin typeface="JetBrains Mono"/>
                <a:ea typeface="JetBrains Mono"/>
              </a:rPr>
              <a:t>营</a:t>
            </a:r>
            <a:endParaRPr/>
          </a:p>
        </p:txBody>
      </p:sp>
      <p:sp>
        <p:nvSpPr>
          <p:cNvPr id="457" name=""/>
          <p:cNvSpPr/>
          <p:nvPr/>
        </p:nvSpPr>
        <p:spPr>
          <a:xfrm rot="0" flipH="0" flipV="0">
            <a:off x="6515100" y="3390900"/>
            <a:ext cx="352425" cy="266700"/>
          </a:xfrm>
          <a:prstGeom prst="roundRect">
            <a:avLst>
              <a:gd name="adj" fmla="val 10714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6619875" y="3438525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AD4EE"/>
                </a:solidFill>
                <a:latin typeface="JetBrains Mono"/>
                <a:ea typeface="JetBrains Mono"/>
              </a:rPr>
              <a:t>收</a:t>
            </a:r>
            <a:endParaRPr/>
          </a:p>
        </p:txBody>
      </p:sp>
      <p:sp>
        <p:nvSpPr>
          <p:cNvPr id="459" name=""/>
          <p:cNvSpPr/>
          <p:nvPr/>
        </p:nvSpPr>
        <p:spPr>
          <a:xfrm rot="0" flipH="0" flipV="0">
            <a:off x="6943725" y="3390900"/>
            <a:ext cx="466725" cy="266700"/>
          </a:xfrm>
          <a:prstGeom prst="roundRect">
            <a:avLst>
              <a:gd name="adj" fmla="val 10714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7048500" y="3438525"/>
            <a:ext cx="25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AD4EE"/>
                </a:solidFill>
                <a:latin typeface="JetBrains Mono"/>
                <a:ea typeface="JetBrains Mono"/>
              </a:rPr>
              <a:t>3.2</a:t>
            </a:r>
            <a:endParaRPr/>
          </a:p>
        </p:txBody>
      </p:sp>
      <p:sp>
        <p:nvSpPr>
          <p:cNvPr id="461" name=""/>
          <p:cNvSpPr/>
          <p:nvPr/>
        </p:nvSpPr>
        <p:spPr>
          <a:xfrm rot="0" flipH="0" flipV="0">
            <a:off x="7486650" y="3390900"/>
            <a:ext cx="352425" cy="266700"/>
          </a:xfrm>
          <a:prstGeom prst="roundRect">
            <a:avLst>
              <a:gd name="adj" fmla="val 10714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62" name="" descr="{&quot;isTemplate&quot;:true,&quot;type&quot;:&quot;text&quot;}"/>
          <p:cNvSpPr txBox="1"/>
          <p:nvPr/>
        </p:nvSpPr>
        <p:spPr>
          <a:xfrm rot="0" flipH="0" flipV="0">
            <a:off x="7591425" y="3438525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AD4EE"/>
                </a:solidFill>
                <a:latin typeface="JetBrains Mono"/>
                <a:ea typeface="JetBrains Mono"/>
              </a:rPr>
              <a:t>亿</a:t>
            </a:r>
            <a:endParaRPr/>
          </a:p>
        </p:txBody>
      </p:sp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7972425" y="3438525"/>
            <a:ext cx="2476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→ 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约</a:t>
            </a: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9 token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（中文</a:t>
            </a: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1 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汉字</a:t>
            </a: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≈ 2 token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）</a:t>
            </a:r>
            <a:endParaRPr/>
          </a:p>
        </p:txBody>
      </p:sp>
      <p:sp>
        <p:nvSpPr>
          <p:cNvPr id="464" name=""/>
          <p:cNvSpPr/>
          <p:nvPr/>
        </p:nvSpPr>
        <p:spPr>
          <a:xfrm rot="0" flipH="0" flipV="0">
            <a:off x="4457700" y="5419725"/>
            <a:ext cx="7048500" cy="638175"/>
          </a:xfrm>
          <a:prstGeom prst="roundRect">
            <a:avLst>
              <a:gd name="adj" fmla="val 5970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65" name="" descr="{&quot;isTemplate&quot;:true,&quot;type&quot;:&quot;text&quot;}"/>
          <p:cNvSpPr txBox="1"/>
          <p:nvPr/>
        </p:nvSpPr>
        <p:spPr>
          <a:xfrm rot="0" flipH="0" flipV="0">
            <a:off x="4629150" y="5629275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5143500" y="5572125"/>
            <a:ext cx="619125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35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Agent </a:t>
            </a:r>
            <a:r>
              <a:rPr lang="zh-CN" sz="1350">
                <a:solidFill>
                  <a:srgbClr val="E8EEF9"/>
                </a:solidFill>
                <a:latin typeface="Source Han Sans SC"/>
                <a:ea typeface="Source Han Sans SC"/>
              </a:rPr>
              <a:t>多轮工具调用后上下文膨胀是</a:t>
            </a:r>
            <a:r>
              <a:rPr lang="zh-CN" sz="1350">
                <a:solidFill>
                  <a:srgbClr val="2AD4EE"/>
                </a:solidFill>
                <a:latin typeface="Source Han Sans SC"/>
                <a:ea typeface="Source Han Sans SC"/>
              </a:rPr>
              <a:t>必然</a:t>
            </a:r>
            <a:r>
              <a:rPr lang="zh-CN" sz="1350">
                <a:solidFill>
                  <a:srgbClr val="E8EEF9"/>
                </a:solidFill>
                <a:latin typeface="Source Han Sans SC"/>
                <a:ea typeface="Source Han Sans SC"/>
              </a:rPr>
              <a:t>，不是意外——预算要自己管。</a:t>
            </a:r>
            <a:endParaRPr/>
          </a:p>
        </p:txBody>
      </p:sp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04 / 33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469" name="" descr="&lt;Slide style={{ width: 1280, height: 720, padding: '20px 72px', flexDirection: 'column', background: 'linear-gradient(160deg, #0B1220 0%, #16233D 100%)', fontFamily: '&quot;Source Han Sans SC&quot;, &quot;Noto Sans SC&quot;, &quot;Microsoft YaHei&quot;, sans-serif' }}&gt;&#10;    {/* A 区 · 标题块 */}&#10;    &lt;Box style={{ height: 100, flexDirection: 'row', gap: 16, alignItems: 'flex-start', paddingTop: 6 }}&gt;&#10;        &lt;Box style={{ width: 4, height: 36, background: '#2AD4EE', marginTop: 5 }} /&gt;&#10;        &lt;Box style={{ flexDirection: 'column' }}&gt;&#10;            &lt;Text style={{ fontSize: 34, fontWeight: 'bold', color: '#E8EEF9' }}&gt;四个必须先记住的概念&lt;/Text&gt;&#10;            &lt;Text style={{ marginTop: 8, fontSize: 17, color: 'rgba(232,238,249,0.52)' }}&gt;它们分别管着 Agent 说什么、怎么说、会不会编、记不记得住&lt;/Text&gt;&#10;        &lt;/Box&gt;&#10;    &lt;/Box&gt;&#10;&#10;    {/* B 区 · 非对称双栏 62:38 */}&#10;    &lt;Box style={{ height: 516, flexDirection: 'row', gap: 36 }}&gt;&#10;        {/* 左：四个概念 */}&#10;        &lt;Box style={{ flex: 62, flexDirection: 'column', justifyContent: 'space-between', paddingRight: 34, borderRight: '1px solid rgba(232,238,249,0.12)' }}&gt;&#10;            {[&#10;                { ic: 'file-text', t: 'Prompt · 提示词', d: '定角色、定任务、定边界、定输出格式。Agent 的 System Prompt 就是它的岗位说明书。' },&#10;                { ic: 'cog', t: 'Temperature · 温度', d: '控制随机性。0 最确定，适合工具调用与结构化输出；0.7 有创造力；&gt;1 容易胡编。' },&#10;                { ic: 'exclamation-circle', t: '幻觉 · Hallucination', d: '模型会编造不存在的事实、参数、表名。压制的可靠办法只有一个：让它基于工具返回的真实数据作答。' },&#10;                { ic: 'share', t: 'Embedding · 嵌入向量', d: '把文本转成向量，用相似度衡量语义远近（1 相似 / 0 无关 / -1 相反），是长期记忆的地基。' },&#10;            ].map((c, i) =&gt; (&#10;                &lt;Box key={i} style={{ flexDirection: 'row', gap: 16, alignItems: 'flex-start', paddingTop: 10, paddingBottom: 10, borderBottom: i === 3 ? 'none' : '1px solid rgba(232,238,249,0.08)' }}&gt;&#10;                    &lt;Box style={{ width: 42, height: 42, borderRadius: 4, background: 'rgba(42,212,238,0.10)', border: '1px solid rgba(42,212,238,0.22)', justifyContent: 'center', alignItems: 'center' }}&gt;&#10;                        &lt;FAIcon name={c.ic} style={{ fill: '#2AD4EE', width: 21, height: 21 }} /&gt;&#10;                    &lt;/Box&gt;&#10;                    &lt;Box style={{ flexDirection: 'column', flex: 1 }}&gt;&#10;                        &lt;Text style={{ fontSize: 20, fontWeight: '600', color: '#E8EEF9' }}&gt;{c.t}&lt;/Text&gt;&#10;                        &lt;Text style={{ marginTop: 6, fontSize: 16, color: 'rgba(232,238,249,0.66)', lineHeight: 1.6 }}&gt;{c.d}&lt;/Text&gt;&#10;                    &lt;/Box&gt;&#10;                &lt;/Box&gt;&#10;            ))}&#10;        &lt;/Box&gt;&#10;&#10;        {/* 右：串起来看 */}&#10;        &lt;Box style={{ flex: 38, flexDirection: 'column' }}&gt;&#10;            &lt;Text style={{ fontSize: 15, color: '#2AD4EE', letterSpacing: 3, fontFamily: '&quot;JetBrains Mono&quot;, &quot;Cascadia Mono&quot;, Consolas, monospace' }}&gt;PUT TOGETHER&lt;/Text&gt;&#10;            &lt;Text style={{ marginTop: 18, fontSize: 22, fontWeight: '600', color: '#E8EEF9', lineHeight: 1.5 }}&gt;&#10;                四个概念，&#10;                &lt;br /&gt;&#10;                四道稳定性的闸门&#10;            &lt;/Text&gt;&#10;            &lt;Box style={{ marginTop: 24, flexDirection: 'column', gap: 12 }}&gt;&#10;                {[&#10;                    { t: '说什么', v: 'Prompt', w: 100 },&#10;                    { t: '怎么答', v: 'Temperature = 0', w: 78 },&#10;                    { t: '会不会编', v: '工具真实数据', w: 62 },&#10;                    { t: '记得住吗', v: 'Embedding + 向量库', w: 46 },&#10;                ].map((r, i) =&gt; (&#10;                    &lt;Box key={i} style={{ flexDirection: 'column', gap: 6 }}&gt;&#10;                        &lt;Box style={{ flexDirection: 'row', justifyContent: 'space-between' }}&gt;&#10;                            &lt;Text style={{ fontSize: 16, color: 'rgba(232,238,249,0.70)' }}&gt;{r.t}&lt;/Text&gt;&#10;                            &lt;Text style={{ fontSize: 14, color: '#2AD4EE', fontFamily: '&quot;JetBrains Mono&quot;, &quot;Cascadia Mono&quot;, Consolas, monospace' }}&gt;{r.v}&lt;/Text&gt;&#10;                        &lt;/Box&gt;&#10;                        &lt;Box style={{ height: 3, width: r.w + '%', background: 'linear-gradient(90deg, #2AD4EE 0%, #16233D 100%)' }} /&gt;&#10;                    &lt;/Box&gt;&#10;                ))}&#10;            &lt;/Box&gt;&#10;            &lt;Box style={{ marginTop: 'auto', paddingTop: 16, paddingBottom: 16, paddingLeft: 18, paddingRight: 18, background: 'rgba(42,212,238,0.08)', border: '1px solid rgba(42,212,238,0.22)', borderRadius: 4 }}&gt;&#10;                &lt;Text style={{ fontSize: 18, color: '#E8EEF9', lineHeight: 1.65 }}&gt;&#10;                    这四点决定了 Agent 的&lt;span style={{ color: '#2AD4EE' }}&gt;稳定性上限&lt;/span&gt;——它们出问题，模型再强也救不回来。&#10;                &lt;/Text&gt;&#10;            &lt;/Box&gt;&#10;        &lt;/Box&gt;&#10;    &lt;/Box&gt;&#10;&#10;    {/* C 区 · 页脚 */}&#10;    &lt;Box style={{ height: 40, flexDirection: 'row', alignItems: 'flex-end', justifyContent: 'space-between' }}&gt;&#10;        &lt;Text style={{ fontSize: 14, color: 'rgba(232,238,249,0.42)' }}&gt;从 LLM 到 Agent 再到 Pi Agent&lt;/Text&gt;&#10;        &lt;Text style={{ fontSize: 14, color: 'rgba(232,238,249,0.42)', fontFamily: '&quot;JetBrains Mono&quot;, &quot;Cascadia Mono&quot;, Consolas, monospace' }}&gt;05 / 33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471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43719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四个必须先记住的概念</a:t>
            </a:r>
            <a:endParaRPr/>
          </a:p>
        </p:txBody>
      </p:sp>
      <p:sp>
        <p:nvSpPr>
          <p:cNvPr id="473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43719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它们分别管着</a:t>
            </a:r>
            <a:r>
              <a:rPr lang="en-US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说什么、怎么说、会不会编、记不记得住</a:t>
            </a:r>
            <a:endParaRPr/>
          </a:p>
        </p:txBody>
      </p:sp>
      <p:sp>
        <p:nvSpPr>
          <p:cNvPr id="474" name=""/>
          <p:cNvSpPr/>
          <p:nvPr/>
        </p:nvSpPr>
        <p:spPr>
          <a:xfrm rot="0" flipH="0" flipV="0">
            <a:off x="685800" y="1143000"/>
            <a:ext cx="6505575" cy="4914900"/>
          </a:xfrm>
          <a:custGeom>
            <a:pathLst>
              <a:path w="683" h="516">
                <a:moveTo>
                  <a:pt x="682" y="0"/>
                </a:moveTo>
                <a:lnTo>
                  <a:pt x="683" y="0"/>
                </a:lnTo>
                <a:lnTo>
                  <a:pt x="683" y="516"/>
                </a:lnTo>
                <a:lnTo>
                  <a:pt x="682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/>
        </p:txBody>
      </p:sp>
      <p:sp>
        <p:nvSpPr>
          <p:cNvPr id="475" name=""/>
          <p:cNvSpPr/>
          <p:nvPr/>
        </p:nvSpPr>
        <p:spPr>
          <a:xfrm rot="0" flipH="0" flipV="0">
            <a:off x="685800" y="1143000"/>
            <a:ext cx="6162675" cy="1085850"/>
          </a:xfrm>
          <a:custGeom>
            <a:pathLst>
              <a:path w="647" h="114">
                <a:moveTo>
                  <a:pt x="0" y="113"/>
                </a:moveTo>
                <a:lnTo>
                  <a:pt x="647" y="113"/>
                </a:lnTo>
                <a:lnTo>
                  <a:pt x="647" y="114"/>
                </a:lnTo>
                <a:lnTo>
                  <a:pt x="0" y="114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/>
        </p:txBody>
      </p:sp>
      <p:sp>
        <p:nvSpPr>
          <p:cNvPr id="476" name=""/>
          <p:cNvSpPr/>
          <p:nvPr/>
        </p:nvSpPr>
        <p:spPr>
          <a:xfrm rot="0" flipH="0" flipV="0">
            <a:off x="685800" y="1238250"/>
            <a:ext cx="400050" cy="400050"/>
          </a:xfrm>
          <a:prstGeom prst="roundRect">
            <a:avLst>
              <a:gd name="adj" fmla="val 9524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7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90575" y="1343025"/>
            <a:ext cx="200025" cy="200025"/>
          </a:xfrm>
          <a:prstGeom prst="rect">
            <a:avLst/>
          </a:prstGeom>
          <a:ln/>
        </p:spPr>
      </p:pic>
      <p:sp>
        <p:nvSpPr>
          <p:cNvPr id="478" name="" descr="{&quot;isTemplate&quot;:true,&quot;type&quot;:&quot;text&quot;}"/>
          <p:cNvSpPr txBox="1"/>
          <p:nvPr/>
        </p:nvSpPr>
        <p:spPr>
          <a:xfrm rot="0" flipH="0" flipV="0">
            <a:off x="1238250" y="1238250"/>
            <a:ext cx="56102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Prompt · </a:t>
            </a:r>
            <a:r>
              <a:rPr lang="zh-CN" sz="1500" b="1">
                <a:solidFill>
                  <a:srgbClr val="E8EEF9"/>
                </a:solidFill>
                <a:latin typeface="Source Han Sans SC"/>
                <a:ea typeface="Source Han Sans SC"/>
              </a:rPr>
              <a:t>提示词</a:t>
            </a:r>
            <a:endParaRPr/>
          </a:p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1238250" y="1524000"/>
            <a:ext cx="561022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定角色、定任务、定边界、定输出格式。</a:t>
            </a:r>
            <a:r>
              <a:rPr lang="en-US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Agent </a:t>
            </a: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的</a:t>
            </a:r>
            <a:r>
              <a:rPr lang="en-US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System Prompt </a:t>
            </a: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就是它的岗位说明书。</a:t>
            </a:r>
            <a:endParaRPr/>
          </a:p>
        </p:txBody>
      </p:sp>
      <p:sp>
        <p:nvSpPr>
          <p:cNvPr id="480" name=""/>
          <p:cNvSpPr/>
          <p:nvPr/>
        </p:nvSpPr>
        <p:spPr>
          <a:xfrm rot="0" flipH="0" flipV="0">
            <a:off x="685800" y="2524125"/>
            <a:ext cx="6162675" cy="790575"/>
          </a:xfrm>
          <a:custGeom>
            <a:pathLst>
              <a:path w="647" h="83">
                <a:moveTo>
                  <a:pt x="0" y="82"/>
                </a:moveTo>
                <a:lnTo>
                  <a:pt x="647" y="82"/>
                </a:lnTo>
                <a:lnTo>
                  <a:pt x="647" y="83"/>
                </a:lnTo>
                <a:lnTo>
                  <a:pt x="0" y="83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/>
        </p:txBody>
      </p:sp>
      <p:sp>
        <p:nvSpPr>
          <p:cNvPr id="481" name=""/>
          <p:cNvSpPr/>
          <p:nvPr/>
        </p:nvSpPr>
        <p:spPr>
          <a:xfrm rot="0" flipH="0" flipV="0">
            <a:off x="685800" y="2619375"/>
            <a:ext cx="400050" cy="400050"/>
          </a:xfrm>
          <a:prstGeom prst="roundRect">
            <a:avLst>
              <a:gd name="adj" fmla="val 9524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8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90575" y="2724150"/>
            <a:ext cx="200025" cy="200025"/>
          </a:xfrm>
          <a:prstGeom prst="rect">
            <a:avLst/>
          </a:prstGeom>
          <a:ln/>
        </p:spPr>
      </p:pic>
      <p:sp>
        <p:nvSpPr>
          <p:cNvPr id="483" name="" descr="{&quot;isTemplate&quot;:true,&quot;type&quot;:&quot;text&quot;}"/>
          <p:cNvSpPr txBox="1"/>
          <p:nvPr/>
        </p:nvSpPr>
        <p:spPr>
          <a:xfrm rot="0" flipH="0" flipV="0">
            <a:off x="1238250" y="2619375"/>
            <a:ext cx="56102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Temperature · </a:t>
            </a:r>
            <a:r>
              <a:rPr lang="zh-CN" sz="1500" b="1">
                <a:solidFill>
                  <a:srgbClr val="E8EEF9"/>
                </a:solidFill>
                <a:latin typeface="Source Han Sans SC"/>
                <a:ea typeface="Source Han Sans SC"/>
              </a:rPr>
              <a:t>温度</a:t>
            </a:r>
            <a:endParaRPr/>
          </a:p>
        </p:txBody>
      </p:sp>
      <p:sp>
        <p:nvSpPr>
          <p:cNvPr id="484" name="" descr="{&quot;isTemplate&quot;:true,&quot;type&quot;:&quot;text&quot;}"/>
          <p:cNvSpPr txBox="1"/>
          <p:nvPr/>
        </p:nvSpPr>
        <p:spPr>
          <a:xfrm rot="0" flipH="0" flipV="0">
            <a:off x="1238250" y="2905125"/>
            <a:ext cx="561022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控制随机性。</a:t>
            </a:r>
            <a:r>
              <a:rPr lang="en-US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0 </a:t>
            </a: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最确定，适合工具调用与结构化输出；</a:t>
            </a:r>
            <a:r>
              <a:rPr lang="en-US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0.7 </a:t>
            </a: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有创造力；</a:t>
            </a:r>
            <a:r>
              <a:rPr lang="en-US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&gt;1 </a:t>
            </a: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容易胡编。</a:t>
            </a:r>
            <a:endParaRPr/>
          </a:p>
        </p:txBody>
      </p:sp>
      <p:sp>
        <p:nvSpPr>
          <p:cNvPr id="485" name=""/>
          <p:cNvSpPr/>
          <p:nvPr/>
        </p:nvSpPr>
        <p:spPr>
          <a:xfrm rot="0" flipH="0" flipV="0">
            <a:off x="685800" y="3609975"/>
            <a:ext cx="6162675" cy="1085850"/>
          </a:xfrm>
          <a:custGeom>
            <a:pathLst>
              <a:path w="647" h="114">
                <a:moveTo>
                  <a:pt x="0" y="113"/>
                </a:moveTo>
                <a:lnTo>
                  <a:pt x="647" y="113"/>
                </a:lnTo>
                <a:lnTo>
                  <a:pt x="647" y="114"/>
                </a:lnTo>
                <a:lnTo>
                  <a:pt x="0" y="114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/>
        </p:txBody>
      </p:sp>
      <p:sp>
        <p:nvSpPr>
          <p:cNvPr id="486" name=""/>
          <p:cNvSpPr/>
          <p:nvPr/>
        </p:nvSpPr>
        <p:spPr>
          <a:xfrm rot="0" flipH="0" flipV="0">
            <a:off x="685800" y="3705225"/>
            <a:ext cx="400050" cy="400050"/>
          </a:xfrm>
          <a:prstGeom prst="roundRect">
            <a:avLst>
              <a:gd name="adj" fmla="val 9524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8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790575" y="3810000"/>
            <a:ext cx="200025" cy="200025"/>
          </a:xfrm>
          <a:prstGeom prst="rect">
            <a:avLst/>
          </a:prstGeom>
          <a:ln/>
        </p:spPr>
      </p:pic>
      <p:sp>
        <p:nvSpPr>
          <p:cNvPr id="488" name="" descr="{&quot;isTemplate&quot;:true,&quot;type&quot;:&quot;text&quot;}"/>
          <p:cNvSpPr txBox="1"/>
          <p:nvPr/>
        </p:nvSpPr>
        <p:spPr>
          <a:xfrm rot="0" flipH="0" flipV="0">
            <a:off x="1238250" y="3705225"/>
            <a:ext cx="56102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8EEF9"/>
                </a:solidFill>
                <a:latin typeface="Source Han Sans SC"/>
                <a:ea typeface="Source Han Sans SC"/>
              </a:rPr>
              <a:t>幻觉</a:t>
            </a:r>
            <a:r>
              <a:rPr lang="en-US" sz="15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· Hallucination</a:t>
            </a:r>
            <a:endParaRPr/>
          </a:p>
        </p:txBody>
      </p:sp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1238250" y="3990975"/>
            <a:ext cx="561022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模型会编造不存在的事实、参数、表名。压制的可靠办法只有一个：让它基于工具返回的真实数据作答。</a:t>
            </a:r>
            <a:endParaRPr/>
          </a:p>
        </p:txBody>
      </p:sp>
      <p:sp>
        <p:nvSpPr>
          <p:cNvPr id="490" name=""/>
          <p:cNvSpPr/>
          <p:nvPr/>
        </p:nvSpPr>
        <p:spPr>
          <a:xfrm rot="0" flipH="0" flipV="0">
            <a:off x="685800" y="5086350"/>
            <a:ext cx="400050" cy="400050"/>
          </a:xfrm>
          <a:prstGeom prst="roundRect">
            <a:avLst>
              <a:gd name="adj" fmla="val 9524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9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790575" y="5191125"/>
            <a:ext cx="200025" cy="200025"/>
          </a:xfrm>
          <a:prstGeom prst="rect">
            <a:avLst/>
          </a:prstGeom>
          <a:ln/>
        </p:spPr>
      </p:pic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1238250" y="5086350"/>
            <a:ext cx="56102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Embedding · </a:t>
            </a:r>
            <a:r>
              <a:rPr lang="zh-CN" sz="1500" b="1">
                <a:solidFill>
                  <a:srgbClr val="E8EEF9"/>
                </a:solidFill>
                <a:latin typeface="Source Han Sans SC"/>
                <a:ea typeface="Source Han Sans SC"/>
              </a:rPr>
              <a:t>嵌入向量</a:t>
            </a:r>
            <a:endParaRPr/>
          </a:p>
        </p:txBody>
      </p:sp>
      <p:sp>
        <p:nvSpPr>
          <p:cNvPr id="493" name="" descr="{&quot;isTemplate&quot;:true,&quot;type&quot;:&quot;text&quot;}"/>
          <p:cNvSpPr txBox="1"/>
          <p:nvPr/>
        </p:nvSpPr>
        <p:spPr>
          <a:xfrm rot="0" flipH="0" flipV="0">
            <a:off x="1238250" y="5372100"/>
            <a:ext cx="561022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把文本转成向量，用相似度衡量语义远近（</a:t>
            </a:r>
            <a:r>
              <a:rPr lang="en-US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1 </a:t>
            </a: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相似</a:t>
            </a:r>
            <a:r>
              <a:rPr lang="en-US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/ 0 </a:t>
            </a: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无关</a:t>
            </a:r>
            <a:r>
              <a:rPr lang="en-US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/ -1 </a:t>
            </a: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相反），是长期记忆的地基。</a:t>
            </a:r>
            <a:endParaRPr/>
          </a:p>
        </p:txBody>
      </p:sp>
      <p:sp>
        <p:nvSpPr>
          <p:cNvPr id="494" name="" descr="{&quot;isTemplate&quot;:true,&quot;type&quot;:&quot;text&quot;}"/>
          <p:cNvSpPr txBox="1"/>
          <p:nvPr/>
        </p:nvSpPr>
        <p:spPr>
          <a:xfrm rot="0" flipH="0" flipV="0">
            <a:off x="7524750" y="1143000"/>
            <a:ext cx="3981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PUT TOGETHER</a:t>
            </a:r>
            <a:endParaRPr/>
          </a:p>
        </p:txBody>
      </p:sp>
      <p:sp>
        <p:nvSpPr>
          <p:cNvPr id="495" name="" descr="{&quot;isTemplate&quot;:true,&quot;type&quot;:&quot;text&quot;}"/>
          <p:cNvSpPr txBox="1"/>
          <p:nvPr/>
        </p:nvSpPr>
        <p:spPr>
          <a:xfrm rot="0" flipH="0" flipV="0">
            <a:off x="7524750" y="1485900"/>
            <a:ext cx="3981450" cy="762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四个概念，</a:t>
            </a:r>
            <a:endParaRPr/>
          </a:p>
          <a:p>
            <a:pPr>
              <a:lnSpc>
                <a:spcPct val="15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四道稳定性的闸门</a:t>
            </a:r>
            <a:endParaRPr/>
          </a:p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7524750" y="2476500"/>
            <a:ext cx="45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说什么</a:t>
            </a:r>
            <a:endParaRPr/>
          </a:p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11029950" y="2476500"/>
            <a:ext cx="476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Prompt</a:t>
            </a:r>
            <a:endParaRPr/>
          </a:p>
        </p:txBody>
      </p:sp>
      <p:sp>
        <p:nvSpPr>
          <p:cNvPr id="498" name=""/>
          <p:cNvSpPr/>
          <p:nvPr/>
        </p:nvSpPr>
        <p:spPr>
          <a:xfrm rot="0" flipH="0" flipV="0">
            <a:off x="7524750" y="2724150"/>
            <a:ext cx="3981450" cy="28575"/>
          </a:xfrm>
          <a:prstGeom prst="rect">
            <a:avLst/>
          </a:prstGeom>
          <a:gradFill>
            <a:gsLst>
              <a:gs pos="0">
                <a:srgbClr val="2AD4EE"/>
              </a:gs>
              <a:gs pos="100000">
                <a:srgbClr val="16233D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499" name="" descr="{&quot;isTemplate&quot;:true,&quot;type&quot;:&quot;text&quot;}"/>
          <p:cNvSpPr txBox="1"/>
          <p:nvPr/>
        </p:nvSpPr>
        <p:spPr>
          <a:xfrm rot="0" flipH="0" flipV="0">
            <a:off x="7524750" y="2867025"/>
            <a:ext cx="45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怎么答</a:t>
            </a:r>
            <a:endParaRPr/>
          </a:p>
        </p:txBody>
      </p:sp>
      <p:sp>
        <p:nvSpPr>
          <p:cNvPr id="500" name="" descr="{&quot;isTemplate&quot;:true,&quot;type&quot;:&quot;text&quot;}"/>
          <p:cNvSpPr txBox="1"/>
          <p:nvPr/>
        </p:nvSpPr>
        <p:spPr>
          <a:xfrm rot="0" flipH="0" flipV="0">
            <a:off x="10325100" y="2867025"/>
            <a:ext cx="1181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Temperature = 0</a:t>
            </a:r>
            <a:endParaRPr/>
          </a:p>
        </p:txBody>
      </p:sp>
      <p:sp>
        <p:nvSpPr>
          <p:cNvPr id="501" name=""/>
          <p:cNvSpPr/>
          <p:nvPr/>
        </p:nvSpPr>
        <p:spPr>
          <a:xfrm rot="0" flipH="0" flipV="0">
            <a:off x="7524750" y="3114675"/>
            <a:ext cx="3105150" cy="28575"/>
          </a:xfrm>
          <a:prstGeom prst="rect">
            <a:avLst/>
          </a:prstGeom>
          <a:gradFill>
            <a:gsLst>
              <a:gs pos="0">
                <a:srgbClr val="2AD4EE"/>
              </a:gs>
              <a:gs pos="100000">
                <a:srgbClr val="16233D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502" name="" descr="{&quot;isTemplate&quot;:true,&quot;type&quot;:&quot;text&quot;}"/>
          <p:cNvSpPr txBox="1"/>
          <p:nvPr/>
        </p:nvSpPr>
        <p:spPr>
          <a:xfrm rot="0" flipH="0" flipV="0">
            <a:off x="7524750" y="325755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会不会编</a:t>
            </a:r>
            <a:endParaRPr/>
          </a:p>
        </p:txBody>
      </p:sp>
      <p:sp>
        <p:nvSpPr>
          <p:cNvPr id="503" name="" descr="{&quot;isTemplate&quot;:true,&quot;type&quot;:&quot;text&quot;}"/>
          <p:cNvSpPr txBox="1"/>
          <p:nvPr/>
        </p:nvSpPr>
        <p:spPr>
          <a:xfrm rot="0" flipH="0" flipV="0">
            <a:off x="10706100" y="3257550"/>
            <a:ext cx="800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JetBrains Mono"/>
                <a:ea typeface="JetBrains Mono"/>
              </a:rPr>
              <a:t>工具真实数据</a:t>
            </a:r>
            <a:endParaRPr/>
          </a:p>
        </p:txBody>
      </p:sp>
      <p:sp>
        <p:nvSpPr>
          <p:cNvPr id="504" name=""/>
          <p:cNvSpPr/>
          <p:nvPr/>
        </p:nvSpPr>
        <p:spPr>
          <a:xfrm rot="0" flipH="0" flipV="0">
            <a:off x="7524750" y="3505200"/>
            <a:ext cx="2466975" cy="28575"/>
          </a:xfrm>
          <a:prstGeom prst="rect">
            <a:avLst/>
          </a:prstGeom>
          <a:gradFill>
            <a:gsLst>
              <a:gs pos="0">
                <a:srgbClr val="2AD4EE"/>
              </a:gs>
              <a:gs pos="100000">
                <a:srgbClr val="16233D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505" name="" descr="{&quot;isTemplate&quot;:true,&quot;type&quot;:&quot;text&quot;}"/>
          <p:cNvSpPr txBox="1"/>
          <p:nvPr/>
        </p:nvSpPr>
        <p:spPr>
          <a:xfrm rot="0" flipH="0" flipV="0">
            <a:off x="7524750" y="3648075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记得住吗</a:t>
            </a:r>
            <a:endParaRPr/>
          </a:p>
        </p:txBody>
      </p:sp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10163175" y="3648075"/>
            <a:ext cx="1343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 xml:space="preserve">Embedding + </a:t>
            </a:r>
            <a:r>
              <a:rPr lang="zh-CN" sz="1050">
                <a:solidFill>
                  <a:srgbClr val="2AD4EE"/>
                </a:solidFill>
                <a:latin typeface="JetBrains Mono"/>
                <a:ea typeface="JetBrains Mono"/>
              </a:rPr>
              <a:t>向量库</a:t>
            </a:r>
            <a:endParaRPr/>
          </a:p>
        </p:txBody>
      </p:sp>
      <p:sp>
        <p:nvSpPr>
          <p:cNvPr id="507" name=""/>
          <p:cNvSpPr/>
          <p:nvPr/>
        </p:nvSpPr>
        <p:spPr>
          <a:xfrm rot="0" flipH="0" flipV="0">
            <a:off x="7524750" y="3895725"/>
            <a:ext cx="1828800" cy="28575"/>
          </a:xfrm>
          <a:prstGeom prst="rect">
            <a:avLst/>
          </a:prstGeom>
          <a:gradFill>
            <a:gsLst>
              <a:gs pos="0">
                <a:srgbClr val="2AD4EE"/>
              </a:gs>
              <a:gs pos="100000">
                <a:srgbClr val="16233D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508" name=""/>
          <p:cNvSpPr/>
          <p:nvPr/>
        </p:nvSpPr>
        <p:spPr>
          <a:xfrm rot="0" flipH="0" flipV="0">
            <a:off x="7524750" y="5067300"/>
            <a:ext cx="3981450" cy="990600"/>
          </a:xfrm>
          <a:prstGeom prst="roundRect">
            <a:avLst>
              <a:gd name="adj" fmla="val 3846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7696200" y="5219700"/>
            <a:ext cx="363855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350">
                <a:solidFill>
                  <a:srgbClr val="E8EEF9"/>
                </a:solidFill>
                <a:latin typeface="Source Han Sans SC"/>
                <a:ea typeface="Source Han Sans SC"/>
              </a:rPr>
              <a:t>这四点决定了</a:t>
            </a:r>
            <a:r>
              <a:rPr lang="en-US" sz="135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350">
                <a:solidFill>
                  <a:srgbClr val="E8EEF9"/>
                </a:solidFill>
                <a:latin typeface="Source Han Sans SC"/>
                <a:ea typeface="Source Han Sans SC"/>
              </a:rPr>
              <a:t>的</a:t>
            </a:r>
            <a:r>
              <a:rPr lang="zh-CN" sz="1350">
                <a:solidFill>
                  <a:srgbClr val="2AD4EE"/>
                </a:solidFill>
                <a:latin typeface="Source Han Sans SC"/>
                <a:ea typeface="Source Han Sans SC"/>
              </a:rPr>
              <a:t>稳定性上限</a:t>
            </a:r>
            <a:r>
              <a:rPr lang="zh-CN" sz="1350">
                <a:solidFill>
                  <a:srgbClr val="E8EEF9"/>
                </a:solidFill>
                <a:latin typeface="Source Han Sans SC"/>
                <a:ea typeface="Source Han Sans SC"/>
              </a:rPr>
              <a:t>——它们出问题，模型再强也救不回来。</a:t>
            </a:r>
            <a:endParaRPr/>
          </a:p>
        </p:txBody>
      </p:sp>
      <p:sp>
        <p:nvSpPr>
          <p:cNvPr id="510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511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05 / 33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512" name="" descr="&lt;Slide style={{ width: 1280, height: 720, padding: '20px 72px', flexDirection: 'column', background: 'linear-gradient(160deg, #0B1220 0%, #16233D 100%)', fontFamily: '&quot;Source Han Sans SC&quot;, &quot;Noto Sans SC&quot;, &quot;Microsoft YaHei&quot;, sans-serif' }}&gt;&#10;    {/* A 区 · 标题块 */}&#10;    &lt;Box style={{ height: 100, flexDirection: 'row', gap: 16, alignItems: 'flex-start', paddingTop: 6 }}&gt;&#10;        &lt;Box style={{ width: 4, height: 36, background: '#2AD4EE', marginTop: 5 }} /&gt;&#10;        &lt;Box style={{ flexDirection: 'column' }}&gt;&#10;            &lt;Text style={{ fontSize: 34, fontWeight: 'bold', color: '#E8EEF9' }}&gt;两种调用方式：对话 vs 工具调用&lt;/Text&gt;&#10;            &lt;Text style={{ marginTop: 8, fontSize: 17, color: 'rgba(232,238,249,0.52)' }}&gt;从「只会说」到「能动手」，差别就在出口是文本还是结构化参数&lt;/Text&gt;&#10;        &lt;/Box&gt;&#10;    &lt;/Box&gt;&#10;&#10;    {/* B 区 */}&#10;    &lt;Box style={{ height: 516, flexDirection: 'column' }}&gt;&#10;        &lt;Box style={{ flex: 1, flexDirection: 'row', gap: 36 }}&gt;&#10;            {/* 左：要点栏 */}&#10;            &lt;Box style={{ width: 340, flexDirection: 'column', paddingRight: 28, borderRight: '1px solid rgba(232,238,249,0.12)' }}&gt;&#10;                &lt;Text style={{ fontSize: 15, color: '#2AD4EE', letterSpacing: 3, fontFamily: '&quot;JetBrains Mono&quot;, &quot;Cascadia Mono&quot;, Consolas, monospace' }}&gt;THE DIVIDE&lt;/Text&gt;&#10;                &lt;Text style={{ marginTop: 16, fontSize: 30, fontWeight: 'bold', color: '#E8EEF9', lineHeight: 1.45 }}&gt;&#10;                    模型只说，&#10;                    &lt;br /&gt;&#10;                    不做&#10;                &lt;/Text&gt;&#10;                &lt;Text style={{ marginTop: 18, fontSize: 17, color: 'rgba(232,238,249,0.70)', lineHeight: 1.75 }}&gt;&#10;                    两种方式里，模型都只负责「说要调什么」；真正执行函数的永远是我们的代码。这就是 Agent 安全的关键——&lt;span style={{ color: '#2AD4EE' }}&gt;模型没有权限，只有建议权&lt;/span&gt;。&#10;                &lt;/Text&gt;&#10;                &lt;Box style={{ flexDirection: 'row', gap: 8, marginTop: 20, flexWrap: 'wrap' }}&gt;&#10;                    {['建议权在模型', '执行权在代码', '结构化参数'].map((k, i) =&gt; (&#10;                        &lt;Box key={i} style={{ paddingTop: 4, paddingBottom: 4, paddingLeft: 10, paddingRight: 10, background: 'rgba(42,212,238,0.10)', borderRadius: 3 }}&gt;&#10;                            &lt;Text style={{ fontSize: 14, color: '#2AD4EE' }}&gt;{k}&lt;/Text&gt;&#10;                        &lt;/Box&gt;&#10;                    ))}&#10;                &lt;/Box&gt;&#10;            &lt;/Box&gt;&#10;&#10;            {/* 右：两条链路 */}&#10;            &lt;Box style={{ flex: 1, flexDirection: 'column', justifyContent: 'space-between' }}&gt;&#10;                {/* 链路 A */}&#10;                &lt;Box style={{ flexDirection: 'column' }}&gt;&#10;                    &lt;Box style={{ flexDirection: 'row', alignItems: 'center', gap: 10 }}&gt;&#10;                        &lt;FAIcon name='comment' style={{ fill: 'rgba(232,238,249,0.42)', width: 16, height: 16 }} /&gt;&#10;                        &lt;Text style={{ fontSize: 17, color: 'rgba(232,238,249,0.70)', fontWeight: '600' }}&gt;① 普通对话 · Chat Completions&lt;/Text&gt;&#10;                    &lt;/Box&gt;&#10;                    &lt;Box style={{ flexDirection: 'row', alignItems: 'center', marginTop: 14 }}&gt;&#10;                        &lt;Box style={{ width: 150, height: 80, justifyContent: 'center', alignItems: 'center', background: 'rgba(22,35,61,0.9)', border: '1px solid rgba(232,238,249,0.18)', borderRadius: 4 }}&gt;&#10;                            &lt;Text style={{ fontSize: 16, color: '#E8EEF9' }}&gt;用户输入&lt;/Text&gt;&#10;                            &lt;Text style={{ fontSize: 13, color: 'rgba(232,238,249,0.52)', marginTop: 4 }}&gt;messages 数组&lt;/Text&gt;&#10;                        &lt;/Box&gt;&#10;                        &lt;Text style={{ fontSize: 20, color: 'rgba(232,238,249,0.42)', width: 46, textAlign: 'center' }}&gt;→&lt;/Text&gt;&#10;                        &lt;Box style={{ width: 150, height: 80, justifyContent: 'center', alignItems: 'center', background: 'rgba(22,35,61,0.9)', border: '1px solid rgba(232,238,249,0.18)', borderRadius: 4 }}&gt;&#10;                            &lt;Text style={{ fontSize: 16, color: '#E8EEF9' }}&gt;LLM&lt;/Text&gt;&#10;                            &lt;Text style={{ fontSize: 13, color: 'rgba(232,238,249,0.52)', marginTop: 4 }}&gt;生成&lt;/Text&gt;&#10;                        &lt;/Box&gt;&#10;                        &lt;Text style={{ fontSize: 20, color: 'rgba(232,238,249,0.42)', width: 46, textAlign: 'center' }}&gt;→&lt;/Text&gt;&#10;                        &lt;Box style={{ width: 232, height: 80, justifyContent: 'center', alignItems: 'center', background: 'rgba(22,35,61,0.9)', border: '1px solid rgba(232,238,249,0.18)', borderRadius: 4 }}&gt;&#10;                            &lt;Text style={{ fontSize: 16, color: 'rgba(232,238,249,0.62)' }}&gt;纯文本输出&lt;/Text&gt;&#10;                            &lt;Text style={{ fontSize: 13, color: 'rgba(232,238,249,0.42)', marginTop: 4 }}&gt;程序只拿到一个字符串，到此为止&lt;/Text&gt;&#10;                        &lt;/Box&gt;&#10;                    &lt;/Box&gt;&#10;                &lt;/Box&gt;&#10;&#10;                {/* 链路 B */}&#10;                &lt;Box style={{ flexDirection: 'column' }}&gt;&#10;                    &lt;Box style={{ flexDirection: 'row', alignItems: 'center', gap: 10 }}&gt;&#10;                        &lt;FAIcon name='bolt' style={{ fill: '#2AD4EE', width: 16, height: 16 }} /&gt;&#10;                        &lt;Text style={{ fontSize: 17, color: '#E8EEF9', fontWeight: '600' }}&gt;② 工具调用 · Function Calling&lt;/Text&gt;&#10;                    &lt;/Box&gt;&#10;                    &lt;Box style={{ flexDirection: 'row', alignItems: 'center', marginTop: 14 }}&gt;&#10;                        &lt;Box style={{ width: 138, height: 96, justifyContent: 'center', alignItems: 'center', background: 'rgba(22,35,61,0.9)', border: '1px solid rgba(42,212,238,0.22)', borderRadius: 4 }}&gt;&#10;                            &lt;Text style={{ fontSize: 16, color: '#E8EEF9' }}&gt;用户输入&lt;/Text&gt;&#10;                            &lt;Text style={{ fontSize: 13, color: 'rgba(232,238,249,0.52)', marginTop: 4 }}&gt;「128×456 等于几」&lt;/Text&gt;&#10;                        &lt;/Box&gt;&#10;                        &lt;Text style={{ fontSize: 20, color: '#2AD4EE', width: 36, textAlign: 'center' }}&gt;→&lt;/Text&gt;&#10;                        &lt;Box style={{ width: 178, height: 96, justifyContent: 'center', alignItems: 'center', background: 'rgba(42,212,238,0.14)', border: '1px solid rgba(42,212,238,0.35)', borderRadius: 4 }}&gt;&#10;                            &lt;Text style={{ fontSize: 16, color: '#E8EEF9' }}&gt;LLM 输出 tool_calls&lt;/Text&gt;&#10;                            &lt;Text style={{ fontSize: 13, color: 'rgba(232,238,249,0.62)', marginTop: 4, fontFamily: '&quot;JetBrains Mono&quot;, &quot;Cascadia Mono&quot;, Consolas, monospace' }}&gt;JSON 参数&lt;/Text&gt;&#10;                        &lt;/Box&gt;&#10;                        &lt;Text style={{ fontSize: 20, color: '#2AD4EE', width: 40, textAlign: 'center' }}&gt;⇄&lt;/Text&gt;&#10;                        &lt;Box style={{ width: 178, height: 96, justifyContent: 'center', alignItems: 'center', background: 'rgba(42,212,238,0.14)', border: '1px solid rgba(42,212,238,0.35)', borderRadius: 4 }}&gt;&#10;                            &lt;Text style={{ fontSize: 16, color: '#E8EEF9' }}&gt;你的代码真正执行&lt;/Text&gt;&#10;                            &lt;Text style={{ fontSize: 13, color: 'rgba(232,238,249,0.62)', marginTop: 4 }}&gt;role=tool 结果回填&lt;/Text&gt;&#10;                        &lt;/Box&gt;&#10;                        &lt;Text style={{ fontSize: 20, color: '#2AD4EE', width: 36, textAlign: 'center' }}&gt;→&lt;/Text&gt;&#10;                        &lt;Box style={{ width: 138, height: 96, justifyContent: 'center', alignItems: 'center', background: 'rgba(42,212,238,0.22)', border: '1px solid rgba(42,212,238,0.35)', borderRadius: 4 }}&gt;&#10;                            &lt;Text style={{ fontSize: 16, color: '#0B1220', fontWeight: '600' }}&gt;最终回答&lt;/Text&gt;&#10;                            &lt;Text style={{ fontSize: 13, color: 'rgba(11,18,32,0.72)', marginTop: 4, fontFamily: '&quot;JetBrains Mono&quot;, &quot;Cascadia Mono&quot;, Consolas, monospace' }}&gt;58368&lt;/Text&gt;&#10;                        &lt;/Box&gt;&#10;                    &lt;/Box&gt;&#10;                &lt;/Box&gt;&#10;            &lt;/Box&gt;&#10;        &lt;/Box&gt;&#10;&#10;        {/* 底部通栏 */}&#10;        &lt;Box style={{ height: 72, marginTop: 14, flexDirection: 'row', alignItems: 'center', gap: 16, paddingLeft: 20, paddingRight: 20, background: 'rgba(42,212,238,0.08)', border: '1px solid rgba(42,212,238,0.22)', borderRadius: 4 }}&gt;&#10;            &lt;Text style={{ fontSize: 18, color: '#2AD4EE', fontWeight: 'bold', fontFamily: '&quot;JetBrains Mono&quot;, &quot;Cascadia Mono&quot;, Consolas, monospace' }}&gt;共同点&lt;/Text&gt;&#10;            &lt;Box style={{ width: 1, height: 30, background: 'rgba(42,212,238,0.35)' }} /&gt;&#10;            &lt;Text style={{ fontSize: 18, color: '#E8EEF9', flex: 1, lineHeight: 1.6 }}&gt;&#10;                模型不碰真实世界，它只输出「调哪个工具、传什么参数」；执行永远发生在你的进程里——这就是工具调用成为「聊天机器人」与「Agent」分水岭的原因。&#10;            &lt;/Text&gt;&#10;        &lt;/Box&gt;&#10;    &lt;/Box&gt;&#10;&#10;    {/* C 区 · 页脚 */}&#10;    &lt;Box style={{ height: 40, flexDirection: 'row', alignItems: 'flex-end', justifyContent: 'space-between' }}&gt;&#10;        &lt;Text style={{ fontSize: 14, color: 'rgba(232,238,249,0.42)' }}&gt;从 LLM 到 Agent 再到 Pi Agent&lt;/Text&gt;&#10;        &lt;Text style={{ fontSize: 14, color: 'rgba(232,238,249,0.42)', fontFamily: '&quot;JetBrains Mono&quot;, &quot;Cascadia Mono&quot;, Consolas, monospace' }}&gt;06 / 33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514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515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46958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两种调用方式：对话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vs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工具调用</a:t>
            </a:r>
            <a:endParaRPr/>
          </a:p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46958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从「只会说」到「能动手」，差别就在出口是文本还是结构化参数</a:t>
            </a:r>
            <a:endParaRPr/>
          </a:p>
        </p:txBody>
      </p:sp>
      <p:sp>
        <p:nvSpPr>
          <p:cNvPr id="517" name=""/>
          <p:cNvSpPr/>
          <p:nvPr/>
        </p:nvSpPr>
        <p:spPr>
          <a:xfrm rot="0" flipH="0" flipV="0">
            <a:off x="685800" y="1143000"/>
            <a:ext cx="3238500" cy="4095750"/>
          </a:xfrm>
          <a:custGeom>
            <a:pathLst>
              <a:path w="340" h="430">
                <a:moveTo>
                  <a:pt x="339" y="0"/>
                </a:moveTo>
                <a:lnTo>
                  <a:pt x="340" y="0"/>
                </a:lnTo>
                <a:lnTo>
                  <a:pt x="340" y="430"/>
                </a:lnTo>
                <a:lnTo>
                  <a:pt x="339" y="430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/>
        </p:txBody>
      </p:sp>
      <p:sp>
        <p:nvSpPr>
          <p:cNvPr id="518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962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THE DIVIDE</a:t>
            </a:r>
            <a:endParaRPr/>
          </a:p>
        </p:txBody>
      </p:sp>
      <p:sp>
        <p:nvSpPr>
          <p:cNvPr id="519" name="" descr="{&quot;isTemplate&quot;:true,&quot;type&quot;:&quot;text&quot;}"/>
          <p:cNvSpPr txBox="1"/>
          <p:nvPr/>
        </p:nvSpPr>
        <p:spPr>
          <a:xfrm rot="0" flipH="0" flipV="0">
            <a:off x="685800" y="1466850"/>
            <a:ext cx="2962275" cy="1000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2250" b="1">
                <a:solidFill>
                  <a:srgbClr val="E8EEF9"/>
                </a:solidFill>
                <a:latin typeface="Source Han Sans SC"/>
                <a:ea typeface="Source Han Sans SC"/>
              </a:rPr>
              <a:t>模型只说，</a:t>
            </a:r>
            <a:endParaRPr/>
          </a:p>
          <a:p>
            <a:pPr>
              <a:lnSpc>
                <a:spcPct val="145000"/>
              </a:lnSpc>
            </a:pPr>
            <a:r>
              <a:rPr lang="zh-CN" sz="2250" b="1">
                <a:solidFill>
                  <a:srgbClr val="E8EEF9"/>
                </a:solidFill>
                <a:latin typeface="Source Han Sans SC"/>
                <a:ea typeface="Source Han Sans SC"/>
              </a:rPr>
              <a:t>不做</a:t>
            </a:r>
            <a:endParaRPr/>
          </a:p>
        </p:txBody>
      </p:sp>
      <p:sp>
        <p:nvSpPr>
          <p:cNvPr id="520" name="" descr="{&quot;isTemplate&quot;:true,&quot;type&quot;:&quot;text&quot;}"/>
          <p:cNvSpPr txBox="1"/>
          <p:nvPr/>
        </p:nvSpPr>
        <p:spPr>
          <a:xfrm rot="0" flipH="0" flipV="0">
            <a:off x="685800" y="2638425"/>
            <a:ext cx="2962275" cy="1362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两种方式里，模型都只负责「说要调什么」；真正执行函数的永远是我们的代码。这就是</a:t>
            </a:r>
            <a:r>
              <a:rPr lang="en-US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安全的关键——</a:t>
            </a:r>
            <a:r>
              <a:rPr lang="zh-CN" sz="1275">
                <a:solidFill>
                  <a:srgbClr val="2AD4EE"/>
                </a:solidFill>
                <a:latin typeface="Source Han Sans SC"/>
                <a:ea typeface="Source Han Sans SC"/>
              </a:rPr>
              <a:t>模型没有权限，只有建议权</a:t>
            </a:r>
            <a:r>
              <a:rPr lang="zh-CN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521" name=""/>
          <p:cNvSpPr/>
          <p:nvPr/>
        </p:nvSpPr>
        <p:spPr>
          <a:xfrm rot="0" flipH="0" flipV="0">
            <a:off x="685800" y="4191000"/>
            <a:ext cx="99060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/>
        </p:txBody>
      </p:sp>
      <p:sp>
        <p:nvSpPr>
          <p:cNvPr id="522" name="" descr="{&quot;isTemplate&quot;:true,&quot;type&quot;:&quot;text&quot;}"/>
          <p:cNvSpPr txBox="1"/>
          <p:nvPr/>
        </p:nvSpPr>
        <p:spPr>
          <a:xfrm rot="0" flipH="0" flipV="0">
            <a:off x="781050" y="4229100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建议权在模型</a:t>
            </a:r>
            <a:endParaRPr/>
          </a:p>
        </p:txBody>
      </p:sp>
      <p:sp>
        <p:nvSpPr>
          <p:cNvPr id="523" name=""/>
          <p:cNvSpPr/>
          <p:nvPr/>
        </p:nvSpPr>
        <p:spPr>
          <a:xfrm rot="0" flipH="0" flipV="0">
            <a:off x="1752600" y="4191000"/>
            <a:ext cx="99060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/>
        </p:txBody>
      </p:sp>
      <p:sp>
        <p:nvSpPr>
          <p:cNvPr id="524" name="" descr="{&quot;isTemplate&quot;:true,&quot;type&quot;:&quot;text&quot;}"/>
          <p:cNvSpPr txBox="1"/>
          <p:nvPr/>
        </p:nvSpPr>
        <p:spPr>
          <a:xfrm rot="0" flipH="0" flipV="0">
            <a:off x="1847850" y="4229100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执行权在代码</a:t>
            </a:r>
            <a:endParaRPr/>
          </a:p>
        </p:txBody>
      </p:sp>
      <p:sp>
        <p:nvSpPr>
          <p:cNvPr id="525" name=""/>
          <p:cNvSpPr/>
          <p:nvPr/>
        </p:nvSpPr>
        <p:spPr>
          <a:xfrm rot="0" flipH="0" flipV="0">
            <a:off x="685800" y="4505325"/>
            <a:ext cx="85725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/>
        </p:txBody>
      </p:sp>
      <p:sp>
        <p:nvSpPr>
          <p:cNvPr id="526" name="" descr="{&quot;isTemplate&quot;:true,&quot;type&quot;:&quot;text&quot;}"/>
          <p:cNvSpPr txBox="1"/>
          <p:nvPr/>
        </p:nvSpPr>
        <p:spPr>
          <a:xfrm rot="0" flipH="0" flipV="0">
            <a:off x="781050" y="4543425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结构化参数</a:t>
            </a:r>
            <a:endParaRPr/>
          </a:p>
        </p:txBody>
      </p:sp>
      <p:pic>
        <p:nvPicPr>
          <p:cNvPr id="52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267200" y="1171575"/>
            <a:ext cx="152400" cy="152400"/>
          </a:xfrm>
          <a:prstGeom prst="rect">
            <a:avLst/>
          </a:prstGeom>
          <a:ln/>
        </p:spPr>
      </p:pic>
      <p:sp>
        <p:nvSpPr>
          <p:cNvPr id="528" name="" descr="{&quot;isTemplate&quot;:true,&quot;type&quot;:&quot;text&quot;}"/>
          <p:cNvSpPr txBox="1"/>
          <p:nvPr/>
        </p:nvSpPr>
        <p:spPr>
          <a:xfrm rot="0" flipH="0" flipV="0">
            <a:off x="4514850" y="1143000"/>
            <a:ext cx="2362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① </a:t>
            </a:r>
            <a:r>
              <a:rPr lang="zh-CN" sz="1275" b="1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普通对话</a:t>
            </a:r>
            <a:r>
              <a:rPr lang="en-US" sz="1275" b="1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· Chat Completions</a:t>
            </a:r>
            <a:endParaRPr/>
          </a:p>
        </p:txBody>
      </p:sp>
      <p:sp>
        <p:nvSpPr>
          <p:cNvPr id="529" name=""/>
          <p:cNvSpPr/>
          <p:nvPr/>
        </p:nvSpPr>
        <p:spPr>
          <a:xfrm rot="0" flipH="0" flipV="0">
            <a:off x="4267200" y="1476375"/>
            <a:ext cx="1428750" cy="762000"/>
          </a:xfrm>
          <a:prstGeom prst="roundRect">
            <a:avLst>
              <a:gd name="adj" fmla="val 5000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E8EEF9">
                <a:alpha val="1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30" name="" descr="{&quot;isTemplate&quot;:true,&quot;type&quot;:&quot;text&quot;}"/>
          <p:cNvSpPr txBox="1"/>
          <p:nvPr/>
        </p:nvSpPr>
        <p:spPr>
          <a:xfrm rot="0" flipH="0" flipV="0">
            <a:off x="4676775" y="1666875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用户输入</a:t>
            </a:r>
            <a:endParaRPr/>
          </a:p>
        </p:txBody>
      </p:sp>
      <p:sp>
        <p:nvSpPr>
          <p:cNvPr id="531" name="" descr="{&quot;isTemplate&quot;:true,&quot;type&quot;:&quot;text&quot;}"/>
          <p:cNvSpPr txBox="1"/>
          <p:nvPr/>
        </p:nvSpPr>
        <p:spPr>
          <a:xfrm rot="0" flipH="0" flipV="0">
            <a:off x="4572000" y="1895475"/>
            <a:ext cx="819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messages </a:t>
            </a:r>
            <a:r>
              <a:rPr lang="zh-CN" sz="9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数组</a:t>
            </a:r>
            <a:endParaRPr/>
          </a:p>
        </p:txBody>
      </p:sp>
      <p:sp>
        <p:nvSpPr>
          <p:cNvPr id="532" name="" descr="{&quot;isTemplate&quot;:true,&quot;type&quot;:&quot;text&quot;}"/>
          <p:cNvSpPr txBox="1"/>
          <p:nvPr/>
        </p:nvSpPr>
        <p:spPr>
          <a:xfrm rot="0" flipH="0" flipV="0">
            <a:off x="5695950" y="1743075"/>
            <a:ext cx="43815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50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533" name=""/>
          <p:cNvSpPr/>
          <p:nvPr/>
        </p:nvSpPr>
        <p:spPr>
          <a:xfrm rot="0" flipH="0" flipV="0">
            <a:off x="6134100" y="1476375"/>
            <a:ext cx="1428750" cy="762000"/>
          </a:xfrm>
          <a:prstGeom prst="roundRect">
            <a:avLst>
              <a:gd name="adj" fmla="val 5000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E8EEF9">
                <a:alpha val="1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6715125" y="1666875"/>
            <a:ext cx="2762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>LLM</a:t>
            </a:r>
            <a:endParaRPr/>
          </a:p>
        </p:txBody>
      </p:sp>
      <p:sp>
        <p:nvSpPr>
          <p:cNvPr id="535" name="" descr="{&quot;isTemplate&quot;:true,&quot;type&quot;:&quot;text&quot;}"/>
          <p:cNvSpPr txBox="1"/>
          <p:nvPr/>
        </p:nvSpPr>
        <p:spPr>
          <a:xfrm rot="0" flipH="0" flipV="0">
            <a:off x="6724650" y="189547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生成</a:t>
            </a:r>
            <a:endParaRPr/>
          </a:p>
        </p:txBody>
      </p:sp>
      <p:sp>
        <p:nvSpPr>
          <p:cNvPr id="536" name="" descr="{&quot;isTemplate&quot;:true,&quot;type&quot;:&quot;text&quot;}"/>
          <p:cNvSpPr txBox="1"/>
          <p:nvPr/>
        </p:nvSpPr>
        <p:spPr>
          <a:xfrm rot="0" flipH="0" flipV="0">
            <a:off x="7562850" y="1743075"/>
            <a:ext cx="43815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50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537" name=""/>
          <p:cNvSpPr/>
          <p:nvPr/>
        </p:nvSpPr>
        <p:spPr>
          <a:xfrm rot="0" flipH="0" flipV="0">
            <a:off x="8001000" y="1476375"/>
            <a:ext cx="2209800" cy="762000"/>
          </a:xfrm>
          <a:prstGeom prst="roundRect">
            <a:avLst>
              <a:gd name="adj" fmla="val 5000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E8EEF9">
                <a:alpha val="1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8724900" y="1666875"/>
            <a:ext cx="762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纯文本输出</a:t>
            </a:r>
            <a:endParaRPr/>
          </a:p>
        </p:txBody>
      </p:sp>
      <p:sp>
        <p:nvSpPr>
          <p:cNvPr id="539" name="" descr="{&quot;isTemplate&quot;:true,&quot;type&quot;:&quot;text&quot;}"/>
          <p:cNvSpPr txBox="1"/>
          <p:nvPr/>
        </p:nvSpPr>
        <p:spPr>
          <a:xfrm rot="0" flipH="0" flipV="0">
            <a:off x="8181975" y="1895475"/>
            <a:ext cx="1857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程序只拿到一个字符串，到此为止</a:t>
            </a:r>
            <a:endParaRPr/>
          </a:p>
        </p:txBody>
      </p:sp>
      <p:pic>
        <p:nvPicPr>
          <p:cNvPr id="54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267200" y="4019550"/>
            <a:ext cx="152400" cy="152400"/>
          </a:xfrm>
          <a:prstGeom prst="rect">
            <a:avLst/>
          </a:prstGeom>
          <a:ln/>
        </p:spPr>
      </p:pic>
      <p:sp>
        <p:nvSpPr>
          <p:cNvPr id="541" name="" descr="{&quot;isTemplate&quot;:true,&quot;type&quot;:&quot;text&quot;}"/>
          <p:cNvSpPr txBox="1"/>
          <p:nvPr/>
        </p:nvSpPr>
        <p:spPr>
          <a:xfrm rot="0" flipH="0" flipV="0">
            <a:off x="4514850" y="3990975"/>
            <a:ext cx="22383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② </a:t>
            </a: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工具调用</a:t>
            </a:r>
            <a:r>
              <a:rPr lang="en-US" sz="12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· Function Calling</a:t>
            </a:r>
            <a:endParaRPr/>
          </a:p>
        </p:txBody>
      </p:sp>
      <p:sp>
        <p:nvSpPr>
          <p:cNvPr id="542" name=""/>
          <p:cNvSpPr/>
          <p:nvPr/>
        </p:nvSpPr>
        <p:spPr>
          <a:xfrm rot="0" flipH="0" flipV="0">
            <a:off x="4267200" y="4324350"/>
            <a:ext cx="1314450" cy="914400"/>
          </a:xfrm>
          <a:prstGeom prst="roundRect">
            <a:avLst>
              <a:gd name="adj" fmla="val 4167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43" name="" descr="{&quot;isTemplate&quot;:true,&quot;type&quot;:&quot;text&quot;}"/>
          <p:cNvSpPr txBox="1"/>
          <p:nvPr/>
        </p:nvSpPr>
        <p:spPr>
          <a:xfrm rot="0" flipH="0" flipV="0">
            <a:off x="4619625" y="459105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用户输入</a:t>
            </a:r>
            <a:endParaRPr/>
          </a:p>
        </p:txBody>
      </p:sp>
      <p:sp>
        <p:nvSpPr>
          <p:cNvPr id="544" name="" descr="{&quot;isTemplate&quot;:true,&quot;type&quot;:&quot;text&quot;}"/>
          <p:cNvSpPr txBox="1"/>
          <p:nvPr/>
        </p:nvSpPr>
        <p:spPr>
          <a:xfrm rot="0" flipH="0" flipV="0">
            <a:off x="4343400" y="4819650"/>
            <a:ext cx="1162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「</a:t>
            </a:r>
            <a:r>
              <a:rPr lang="en-US" sz="9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128×456 </a:t>
            </a:r>
            <a:r>
              <a:rPr lang="zh-CN" sz="9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等于几」</a:t>
            </a:r>
            <a:endParaRPr/>
          </a:p>
        </p:txBody>
      </p:sp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5581650" y="4667250"/>
            <a:ext cx="34290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500">
                <a:solidFill>
                  <a:srgbClr val="2AD4EE"/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546" name=""/>
          <p:cNvSpPr/>
          <p:nvPr/>
        </p:nvSpPr>
        <p:spPr>
          <a:xfrm rot="0" flipH="0" flipV="0">
            <a:off x="5924550" y="4324350"/>
            <a:ext cx="1695450" cy="914400"/>
          </a:xfrm>
          <a:prstGeom prst="roundRect">
            <a:avLst>
              <a:gd name="adj" fmla="val 4167"/>
            </a:avLst>
          </a:prstGeom>
          <a:solidFill>
            <a:srgbClr val="2AD4EE">
              <a:alpha val="14000"/>
            </a:srgbClr>
          </a:solidFill>
          <a:ln w="12700">
            <a:solidFill>
              <a:srgbClr val="2AD4EE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6124575" y="4591050"/>
            <a:ext cx="1295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LLM 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输出</a:t>
            </a: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tool_calls</a:t>
            </a:r>
            <a:endParaRPr/>
          </a:p>
        </p:txBody>
      </p:sp>
      <p:sp>
        <p:nvSpPr>
          <p:cNvPr id="548" name="" descr="{&quot;isTemplate&quot;:true,&quot;type&quot;:&quot;text&quot;}"/>
          <p:cNvSpPr txBox="1"/>
          <p:nvPr/>
        </p:nvSpPr>
        <p:spPr>
          <a:xfrm rot="0" flipH="0" flipV="0">
            <a:off x="6467475" y="4819650"/>
            <a:ext cx="619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62000"/>
                  </a:srgbClr>
                </a:solidFill>
                <a:latin typeface="JetBrains Mono"/>
                <a:ea typeface="JetBrains Mono"/>
              </a:rPr>
              <a:t xml:space="preserve">JSON </a:t>
            </a:r>
            <a:r>
              <a:rPr lang="zh-CN" sz="975">
                <a:solidFill>
                  <a:srgbClr val="E8EEF9">
                    <a:alpha val="62000"/>
                  </a:srgbClr>
                </a:solidFill>
                <a:latin typeface="JetBrains Mono"/>
                <a:ea typeface="JetBrains Mono"/>
              </a:rPr>
              <a:t>参数</a:t>
            </a:r>
            <a:endParaRPr/>
          </a:p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7620000" y="4667250"/>
            <a:ext cx="38100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500">
                <a:solidFill>
                  <a:srgbClr val="2AD4EE"/>
                </a:solidFill>
                <a:latin typeface="Source Han Sans SC"/>
                <a:ea typeface="Source Han Sans SC"/>
              </a:rPr>
              <a:t>⇄</a:t>
            </a:r>
            <a:endParaRPr/>
          </a:p>
        </p:txBody>
      </p:sp>
      <p:sp>
        <p:nvSpPr>
          <p:cNvPr id="550" name=""/>
          <p:cNvSpPr/>
          <p:nvPr/>
        </p:nvSpPr>
        <p:spPr>
          <a:xfrm rot="0" flipH="0" flipV="0">
            <a:off x="8001000" y="4324350"/>
            <a:ext cx="1695450" cy="914400"/>
          </a:xfrm>
          <a:prstGeom prst="roundRect">
            <a:avLst>
              <a:gd name="adj" fmla="val 4167"/>
            </a:avLst>
          </a:prstGeom>
          <a:solidFill>
            <a:srgbClr val="2AD4EE">
              <a:alpha val="14000"/>
            </a:srgbClr>
          </a:solidFill>
          <a:ln w="12700">
            <a:solidFill>
              <a:srgbClr val="2AD4EE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51" name="" descr="{&quot;isTemplate&quot;:true,&quot;type&quot;:&quot;text&quot;}"/>
          <p:cNvSpPr txBox="1"/>
          <p:nvPr/>
        </p:nvSpPr>
        <p:spPr>
          <a:xfrm rot="0" flipH="0" flipV="0">
            <a:off x="8239125" y="4591050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你的代码真正执行</a:t>
            </a:r>
            <a:endParaRPr/>
          </a:p>
        </p:txBody>
      </p:sp>
      <p:sp>
        <p:nvSpPr>
          <p:cNvPr id="552" name="" descr="{&quot;isTemplate&quot;:true,&quot;type&quot;:&quot;text&quot;}"/>
          <p:cNvSpPr txBox="1"/>
          <p:nvPr/>
        </p:nvSpPr>
        <p:spPr>
          <a:xfrm rot="0" flipH="0" flipV="0">
            <a:off x="8343900" y="4819650"/>
            <a:ext cx="1019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role=tool </a:t>
            </a:r>
            <a:r>
              <a:rPr lang="zh-CN" sz="9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结果回填</a:t>
            </a:r>
            <a:endParaRPr/>
          </a:p>
        </p:txBody>
      </p:sp>
      <p:sp>
        <p:nvSpPr>
          <p:cNvPr id="553" name="" descr="{&quot;isTemplate&quot;:true,&quot;type&quot;:&quot;text&quot;}"/>
          <p:cNvSpPr txBox="1"/>
          <p:nvPr/>
        </p:nvSpPr>
        <p:spPr>
          <a:xfrm rot="0" flipH="0" flipV="0">
            <a:off x="9696450" y="4667250"/>
            <a:ext cx="34290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500">
                <a:solidFill>
                  <a:srgbClr val="2AD4EE"/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554" name=""/>
          <p:cNvSpPr/>
          <p:nvPr/>
        </p:nvSpPr>
        <p:spPr>
          <a:xfrm rot="0" flipH="0" flipV="0">
            <a:off x="10039350" y="4324350"/>
            <a:ext cx="1314450" cy="914400"/>
          </a:xfrm>
          <a:prstGeom prst="roundRect">
            <a:avLst>
              <a:gd name="adj" fmla="val 4167"/>
            </a:avLst>
          </a:prstGeom>
          <a:solidFill>
            <a:srgbClr val="2AD4EE">
              <a:alpha val="22000"/>
            </a:srgbClr>
          </a:solidFill>
          <a:ln w="12700">
            <a:solidFill>
              <a:srgbClr val="2AD4EE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10391775" y="459105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1220"/>
                </a:solidFill>
                <a:latin typeface="Source Han Sans SC"/>
                <a:ea typeface="Source Han Sans SC"/>
              </a:rPr>
              <a:t>最终回答</a:t>
            </a:r>
            <a:endParaRPr/>
          </a:p>
        </p:txBody>
      </p:sp>
      <p:sp>
        <p:nvSpPr>
          <p:cNvPr id="556" name="" descr="{&quot;isTemplate&quot;:true,&quot;type&quot;:&quot;text&quot;}"/>
          <p:cNvSpPr txBox="1"/>
          <p:nvPr/>
        </p:nvSpPr>
        <p:spPr>
          <a:xfrm rot="0" flipH="0" flipV="0">
            <a:off x="10515600" y="4819650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0B1220">
                    <a:alpha val="72000"/>
                  </a:srgbClr>
                </a:solidFill>
                <a:latin typeface="JetBrains Mono"/>
                <a:ea typeface="JetBrains Mono"/>
              </a:rPr>
              <a:t>58368</a:t>
            </a:r>
            <a:endParaRPr/>
          </a:p>
        </p:txBody>
      </p:sp>
      <p:sp>
        <p:nvSpPr>
          <p:cNvPr id="557" name=""/>
          <p:cNvSpPr/>
          <p:nvPr/>
        </p:nvSpPr>
        <p:spPr>
          <a:xfrm rot="0" flipH="0" flipV="0">
            <a:off x="685800" y="5372100"/>
            <a:ext cx="10820400" cy="685800"/>
          </a:xfrm>
          <a:prstGeom prst="roundRect">
            <a:avLst>
              <a:gd name="adj" fmla="val 5556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58" name="" descr="{&quot;isTemplate&quot;:true,&quot;type&quot;:&quot;text&quot;}"/>
          <p:cNvSpPr txBox="1"/>
          <p:nvPr/>
        </p:nvSpPr>
        <p:spPr>
          <a:xfrm rot="0" flipH="0" flipV="0">
            <a:off x="876300" y="5610225"/>
            <a:ext cx="514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AD4EE"/>
                </a:solidFill>
                <a:latin typeface="JetBrains Mono"/>
                <a:ea typeface="JetBrains Mono"/>
              </a:rPr>
              <a:t>共同点</a:t>
            </a:r>
            <a:endParaRPr/>
          </a:p>
        </p:txBody>
      </p:sp>
      <p:sp>
        <p:nvSpPr>
          <p:cNvPr id="559" name=""/>
          <p:cNvSpPr/>
          <p:nvPr/>
        </p:nvSpPr>
        <p:spPr>
          <a:xfrm rot="0" flipH="0" flipV="0">
            <a:off x="1543050" y="5572125"/>
            <a:ext cx="9525" cy="285750"/>
          </a:xfrm>
          <a:prstGeom prst="rect">
            <a:avLst/>
          </a:prstGeom>
          <a:solidFill>
            <a:srgbClr val="2AD4EE">
              <a:alpha val="35000"/>
            </a:srgbClr>
          </a:solidFill>
          <a:ln/>
        </p:spPr>
        <p:txBody>
          <a:bodyPr/>
          <a:p/>
        </p:txBody>
      </p:sp>
      <p:sp>
        <p:nvSpPr>
          <p:cNvPr id="560" name="" descr="{&quot;isTemplate&quot;:true,&quot;type&quot;:&quot;text&quot;}"/>
          <p:cNvSpPr txBox="1"/>
          <p:nvPr/>
        </p:nvSpPr>
        <p:spPr>
          <a:xfrm rot="0" flipH="0" flipV="0">
            <a:off x="1704975" y="5381625"/>
            <a:ext cx="961072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E8EEF9"/>
                </a:solidFill>
                <a:latin typeface="Source Han Sans SC"/>
                <a:ea typeface="Source Han Sans SC"/>
              </a:rPr>
              <a:t>模型不碰真实世界，它只输出「调哪个工具、传什么参数」；执行永远发生在你的进程里——这就是工具调用成为「聊天机器人」与「</a:t>
            </a:r>
            <a:r>
              <a:rPr lang="en-US" sz="1350">
                <a:solidFill>
                  <a:srgbClr val="E8EEF9"/>
                </a:solidFill>
                <a:latin typeface="Source Han Sans SC"/>
                <a:ea typeface="Source Han Sans SC"/>
              </a:rPr>
              <a:t>Agent</a:t>
            </a:r>
            <a:r>
              <a:rPr lang="zh-CN" sz="1350">
                <a:solidFill>
                  <a:srgbClr val="E8EEF9"/>
                </a:solidFill>
                <a:latin typeface="Source Han Sans SC"/>
                <a:ea typeface="Source Han Sans SC"/>
              </a:rPr>
              <a:t>」分水岭的原因。</a:t>
            </a:r>
            <a:endParaRPr/>
          </a:p>
        </p:txBody>
      </p:sp>
      <p:sp>
        <p:nvSpPr>
          <p:cNvPr id="561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562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06 / 33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563" name="" descr="&lt;Slide style={{ width: 1280, height: 720, padding: '20px 72px', flexDirection: 'column', background: 'linear-gradient(160deg, #0B1220 0%, #16233D 100%)', fontFamily: '&quot;Source Han Sans SC&quot;, &quot;Noto Sans SC&quot;, &quot;Microsoft YaHei&quot;, sans-serif' }}&gt;&#13;&#10;    {/* A 区 · 标题块 */}&#13;&#10;    &lt;Box style={{ height: 100, flexDirection: 'row', gap: 16, alignItems: 'flex-start', paddingTop: 6 }}&gt;&#13;&#10;        &lt;Box style={{ width: 4, height: 36, background: '#2AD4EE', marginTop: 5 }} /&gt;&#13;&#10;        &lt;Box style={{ flexDirection: 'column' }}&gt;&#13;&#10;            &lt;Text style={{ fontSize: 34, fontWeight: 'bold', color: '#E8EEF9' }}&gt;方案 A：手写 Prompt 的 ReAct 循环&lt;/Text&gt;&#13;&#10;            &lt;Text style={{ marginTop: 8, fontSize: 17, color: 'rgba(232,238,249,0.52)' }}&gt;自己发明格式、自己解析、自己执行——理解原理最直观的一条路&lt;/Text&gt;&#13;&#10;        &lt;/Box&gt;&#13;&#10;    &lt;/Box&gt;&#13;&#10;&#13;&#10;    {/* B 区 · 上大图 + 下方清单 */}&#13;&#10;    &lt;Box style={{ height: 516, flexDirection: 'column' }}&gt;&#13;&#10;        {/* 上：代码 */}&#13;&#10;        &lt;Box style={{ height: 340, flexDirection: 'column' }}&gt;&#13;&#10;            &lt;Box style={{ flexDirection: 'row', alignItems: 'center', gap: 12, marginBottom: 8 }}&gt;&#13;&#10;                &lt;Text style={{ fontSize: 15, color: '#2AD4EE', letterSpacing: 2, fontFamily: '&quot;JetBrains Mono&quot;, &quot;Cascadia Mono&quot;, Consolas, monospace' }}&gt;fc_demo_a.py&lt;/Text&gt;&#13;&#10;                &lt;Box style={{ width: 1, height: 14, background: 'rgba(232,238,249,0.22)' }} /&gt;&#13;&#10;                &lt;Text style={{ fontSize: 15, color: 'rgba(232,238,249,0.62)' }}&gt;PROMPT 约定：Thought → Action: tool[参数] → Answer，并明令禁止编造 Observation&lt;/Text&gt;&#13;&#10;            &lt;/Box&gt;&#13;&#10;            &lt;CodeBlock&#13;&#10;                code={`def run(q):&#13;&#10;    messages = [{&quot;role&quot;:&quot;system&quot;,&quot;content&quot;:PROMPT}, {&quot;role&quot;:&quot;user&quot;,&quot;content&quot;:q}]&#13;&#10;    for _ in range(5):                                   # 最大轮数兜底&#13;&#10;        out = llm(messages, stop=[&quot;Observation:&quot;])       # 生成阶段强制截断&#13;&#10;        hit = re.search(r&quot;Action:\\s*(\\w+)\\[(.+?)\\]&quot;, out)&#13;&#10;        if not hit:                                      # 没有 Action = 答完了&#13;&#10;            return re.search(r&quot;Answer:\\s*(.+)&quot;, out).group(1)&#13;&#10;        result = globals()[hit.group(1)](hit.group(2))   # 真正执行工具&#13;&#10;        messages.append({&quot;role&quot;:&quot;assistant&quot;,&#13;&#10;                         &quot;content&quot;: out.split(&quot;Observation:&quot;)[0]})   # 截干净再拼回&#13;&#10;        messages.append({&quot;role&quot;:&quot;user&quot;, &quot;content&quot;: f&quot;Observation: {result}&quot;})&#13;&#10;    return &quot;达到最大轮数，未能得到答案&quot;                    # 兜底返回`}&#13;&#10;                language='python'&#13;&#10;                width={1136}&#13;&#10;                fontSize={14}&#13;&#10;                theme='github-dark'&#13;&#10;            /&gt;&#13;&#10;        &lt;/Box&gt;&#13;&#10;&#13;&#10;        {/* 下：三条踩坑 */}&#13;&#10;        &lt;Box style={{ flex: 1, flexDirection: 'row', marginTop: 14 }}&gt;&#13;&#10;            {[&#13;&#10;                { n: '坑 01', t: '模型自演 Observation', d: 'Prompt 太弱时，模型会把 Thought / Action / Observation / Answer 一口气全「演」出来，甚至编造 Observation: 58848（真实值是 58368）。' },&#13;&#10;                { n: '坑 02', t: '编造结果被原样拼回', d: '把模型输出整段 append 进历史，编造的 Observation 与真实结果打架，模型每轮重复同样的幻觉，5 轮全部耗尽。' },&#13;&#10;                { n: '坑 03', t: '循环耗尽返回 None', d: 'run() 没有兜底 return，最终打印 None；报错信息只有一个空值，排查全靠猜。' },&#13;&#10;            ].map((c, i) =&gt; (&#13;&#10;                &lt;Box key={i} style={{ flex: 1, flexDirection: 'column', paddingLeft: i === 0 ? 0 : 26, paddingRight: i === 2 ? 0 : 26, borderRight: i === 2 ? 'none' : '1px solid rgba(232,238,249,0.12)' }}&gt;&#13;&#10;                    &lt;Text style={{ fontSize: 14, color: '#2AD4EE', letterSpacing: 2, fontFamily: '&quot;JetBrains Mono&quot;, &quot;Cascadia Mono&quot;, Consolas, monospace' }}&gt;{c.n}&lt;/Text&gt;&#13;&#10;                    &lt;Text style={{ marginTop: 8, fontSize: 19, fontWeight: '600', color: '#E8EEF9' }}&gt;{c.t}&lt;/Text&gt;&#13;&#10;                    &lt;Text style={{ marginTop: 8, fontSize: 15, color: 'rgba(232,238,249,0.66)', lineHeight: 1.6 }}&gt;{c.d}&lt;/Text&gt;&#13;&#10;                &lt;/Box&gt;&#13;&#10;            ))}&#13;&#10;        &lt;/Box&gt;&#13;&#10;    &lt;/Box&gt;&#13;&#10;&#13;&#10;    {/* C 区 · 页脚 */}&#13;&#10;    &lt;Box style={{ height: 40, flexDirection: 'row', alignItems: 'flex-end', justifyContent: 'space-between' }}&gt;&#13;&#10;        &lt;Text style={{ fontSize: 14, color: 'rgba(232,238,249,0.42)' }}&gt;从 LLM 到 Agent 再到 Pi Agent&lt;/Text&gt;&#13;&#10;        &lt;Text style={{ fontSize: 14, color: 'rgba(232,238,249,0.42)', fontFamily: '&quot;JetBrains Mono&quot;, &quot;Cascadia Mono&quot;, Consolas, monospace' }}&gt;07 / 33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565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566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50196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方案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A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：手写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Prompt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的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ReAct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循环</a:t>
            </a:r>
            <a:endParaRPr/>
          </a:p>
        </p:txBody>
      </p:sp>
      <p:sp>
        <p:nvSpPr>
          <p:cNvPr id="567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50196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自己发明格式、自己解析、自己执行——理解原理最直观的一条路</a:t>
            </a:r>
            <a:endParaRPr/>
          </a:p>
        </p:txBody>
      </p:sp>
      <p:sp>
        <p:nvSpPr>
          <p:cNvPr id="568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1238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2AD4EE"/>
                </a:solidFill>
                <a:latin typeface="JetBrains Mono"/>
                <a:ea typeface="JetBrains Mono"/>
              </a:rPr>
              <a:t>fc_demo_a.py</a:t>
            </a:r>
            <a:endParaRPr/>
          </a:p>
        </p:txBody>
      </p:sp>
      <p:sp>
        <p:nvSpPr>
          <p:cNvPr id="569" name=""/>
          <p:cNvSpPr/>
          <p:nvPr/>
        </p:nvSpPr>
        <p:spPr>
          <a:xfrm rot="0" flipH="0" flipV="0">
            <a:off x="2038350" y="1162050"/>
            <a:ext cx="9525" cy="133350"/>
          </a:xfrm>
          <a:prstGeom prst="rect">
            <a:avLst/>
          </a:prstGeom>
          <a:solidFill>
            <a:srgbClr val="E8EEF9">
              <a:alpha val="22000"/>
            </a:srgbClr>
          </a:solidFill>
          <a:ln/>
        </p:spPr>
        <p:txBody>
          <a:bodyPr/>
          <a:p/>
        </p:txBody>
      </p:sp>
      <p:sp>
        <p:nvSpPr>
          <p:cNvPr id="570" name="" descr="{&quot;isTemplate&quot;:true,&quot;type&quot;:&quot;text&quot;}"/>
          <p:cNvSpPr txBox="1"/>
          <p:nvPr/>
        </p:nvSpPr>
        <p:spPr>
          <a:xfrm rot="0" flipH="0" flipV="0">
            <a:off x="2162175" y="1143000"/>
            <a:ext cx="5438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PROMPT 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约定：</a:t>
            </a: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Thought → Action: tool[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参数</a:t>
            </a: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] → Answer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，并明令禁止编造</a:t>
            </a: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Observation</a:t>
            </a:r>
            <a:endParaRPr/>
          </a:p>
        </p:txBody>
      </p:sp>
      <p:sp>
        <p:nvSpPr>
          <p:cNvPr id="571" name=""/>
          <p:cNvSpPr/>
          <p:nvPr/>
        </p:nvSpPr>
        <p:spPr>
          <a:xfrm rot="0" flipH="0" flipV="0">
            <a:off x="685800" y="4514850"/>
            <a:ext cx="3619500" cy="1543050"/>
          </a:xfrm>
          <a:custGeom>
            <a:pathLst>
              <a:path w="380" h="162">
                <a:moveTo>
                  <a:pt x="379" y="0"/>
                </a:moveTo>
                <a:lnTo>
                  <a:pt x="380" y="0"/>
                </a:lnTo>
                <a:lnTo>
                  <a:pt x="380" y="162"/>
                </a:lnTo>
                <a:lnTo>
                  <a:pt x="379" y="162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/>
        </p:txBody>
      </p:sp>
      <p:sp>
        <p:nvSpPr>
          <p:cNvPr id="572" name="" descr="{&quot;isTemplate&quot;:true,&quot;type&quot;:&quot;text&quot;}"/>
          <p:cNvSpPr txBox="1"/>
          <p:nvPr/>
        </p:nvSpPr>
        <p:spPr>
          <a:xfrm rot="0" flipH="0" flipV="0">
            <a:off x="685800" y="4514850"/>
            <a:ext cx="3352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2AD4EE"/>
                </a:solidFill>
                <a:latin typeface="JetBrains Mono"/>
                <a:ea typeface="JetBrains Mono"/>
              </a:rPr>
              <a:t>坑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 xml:space="preserve"> 01</a:t>
            </a:r>
            <a:endParaRPr/>
          </a:p>
        </p:txBody>
      </p:sp>
      <p:sp>
        <p:nvSpPr>
          <p:cNvPr id="573" name="" descr="{&quot;isTemplate&quot;:true,&quot;type&quot;:&quot;text&quot;}"/>
          <p:cNvSpPr txBox="1"/>
          <p:nvPr/>
        </p:nvSpPr>
        <p:spPr>
          <a:xfrm rot="0" flipH="0" flipV="0">
            <a:off x="685800" y="4752975"/>
            <a:ext cx="3352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模型自演</a:t>
            </a:r>
            <a:r>
              <a:rPr lang="en-US" sz="142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Observation</a:t>
            </a:r>
            <a:endParaRPr/>
          </a:p>
        </p:txBody>
      </p:sp>
      <p:sp>
        <p:nvSpPr>
          <p:cNvPr id="574" name="" descr="{&quot;isTemplate&quot;:true,&quot;type&quot;:&quot;text&quot;}"/>
          <p:cNvSpPr txBox="1"/>
          <p:nvPr/>
        </p:nvSpPr>
        <p:spPr>
          <a:xfrm rot="0" flipH="0" flipV="0">
            <a:off x="685800" y="5048250"/>
            <a:ext cx="335280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Prompt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太弱时，模型会把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Thought / Action / Observation / Answer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一口气全「演」出来，甚至编造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Observation: 58848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（真实值是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58368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）。</a:t>
            </a:r>
            <a:endParaRPr/>
          </a:p>
        </p:txBody>
      </p:sp>
      <p:sp>
        <p:nvSpPr>
          <p:cNvPr id="575" name=""/>
          <p:cNvSpPr/>
          <p:nvPr/>
        </p:nvSpPr>
        <p:spPr>
          <a:xfrm rot="0" flipH="0" flipV="0">
            <a:off x="4295775" y="4514850"/>
            <a:ext cx="3609975" cy="1543050"/>
          </a:xfrm>
          <a:custGeom>
            <a:pathLst>
              <a:path w="379" h="162">
                <a:moveTo>
                  <a:pt x="378" y="0"/>
                </a:moveTo>
                <a:lnTo>
                  <a:pt x="379" y="0"/>
                </a:lnTo>
                <a:lnTo>
                  <a:pt x="379" y="162"/>
                </a:lnTo>
                <a:lnTo>
                  <a:pt x="378" y="162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/>
        </p:txBody>
      </p:sp>
      <p:sp>
        <p:nvSpPr>
          <p:cNvPr id="576" name="" descr="{&quot;isTemplate&quot;:true,&quot;type&quot;:&quot;text&quot;}"/>
          <p:cNvSpPr txBox="1"/>
          <p:nvPr/>
        </p:nvSpPr>
        <p:spPr>
          <a:xfrm rot="0" flipH="0" flipV="0">
            <a:off x="4543425" y="4514850"/>
            <a:ext cx="3095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2AD4EE"/>
                </a:solidFill>
                <a:latin typeface="JetBrains Mono"/>
                <a:ea typeface="JetBrains Mono"/>
              </a:rPr>
              <a:t>坑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 xml:space="preserve"> 02</a:t>
            </a:r>
            <a:endParaRPr/>
          </a:p>
        </p:txBody>
      </p:sp>
      <p:sp>
        <p:nvSpPr>
          <p:cNvPr id="577" name="" descr="{&quot;isTemplate&quot;:true,&quot;type&quot;:&quot;text&quot;}"/>
          <p:cNvSpPr txBox="1"/>
          <p:nvPr/>
        </p:nvSpPr>
        <p:spPr>
          <a:xfrm rot="0" flipH="0" flipV="0">
            <a:off x="4543425" y="4752975"/>
            <a:ext cx="30956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编造结果被原样拼回</a:t>
            </a:r>
            <a:endParaRPr/>
          </a:p>
        </p:txBody>
      </p:sp>
      <p:sp>
        <p:nvSpPr>
          <p:cNvPr id="578" name="" descr="{&quot;isTemplate&quot;:true,&quot;type&quot;:&quot;text&quot;}"/>
          <p:cNvSpPr txBox="1"/>
          <p:nvPr/>
        </p:nvSpPr>
        <p:spPr>
          <a:xfrm rot="0" flipH="0" flipV="0">
            <a:off x="4543425" y="5048250"/>
            <a:ext cx="3095625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把模型输出整段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append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进历史，编造的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Observation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与真实结果打架，模型每轮重复同样的幻觉，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5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轮全部耗尽。</a:t>
            </a:r>
            <a:endParaRPr/>
          </a:p>
        </p:txBody>
      </p:sp>
      <p:sp>
        <p:nvSpPr>
          <p:cNvPr id="579" name="" descr="{&quot;isTemplate&quot;:true,&quot;type&quot;:&quot;text&quot;}"/>
          <p:cNvSpPr txBox="1"/>
          <p:nvPr/>
        </p:nvSpPr>
        <p:spPr>
          <a:xfrm rot="0" flipH="0" flipV="0">
            <a:off x="8143875" y="4514850"/>
            <a:ext cx="3362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2AD4EE"/>
                </a:solidFill>
                <a:latin typeface="JetBrains Mono"/>
                <a:ea typeface="JetBrains Mono"/>
              </a:rPr>
              <a:t>坑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 xml:space="preserve"> 03</a:t>
            </a:r>
            <a:endParaRPr/>
          </a:p>
        </p:txBody>
      </p:sp>
      <p:sp>
        <p:nvSpPr>
          <p:cNvPr id="580" name="" descr="{&quot;isTemplate&quot;:true,&quot;type&quot;:&quot;text&quot;}"/>
          <p:cNvSpPr txBox="1"/>
          <p:nvPr/>
        </p:nvSpPr>
        <p:spPr>
          <a:xfrm rot="0" flipH="0" flipV="0">
            <a:off x="8143875" y="4752975"/>
            <a:ext cx="33623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循环耗尽返回</a:t>
            </a:r>
            <a:r>
              <a:rPr lang="en-US" sz="142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None</a:t>
            </a:r>
            <a:endParaRPr/>
          </a:p>
        </p:txBody>
      </p:sp>
      <p:sp>
        <p:nvSpPr>
          <p:cNvPr id="581" name="" descr="{&quot;isTemplate&quot;:true,&quot;type&quot;:&quot;text&quot;}"/>
          <p:cNvSpPr txBox="1"/>
          <p:nvPr/>
        </p:nvSpPr>
        <p:spPr>
          <a:xfrm rot="0" flipH="0" flipV="0">
            <a:off x="8143875" y="5048250"/>
            <a:ext cx="336232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run()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没有兜底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return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，最终打印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None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；报错信息只有一个空值，排查全靠猜。</a:t>
            </a:r>
            <a:endParaRPr/>
          </a:p>
        </p:txBody>
      </p:sp>
      <p:sp>
        <p:nvSpPr>
          <p:cNvPr id="582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583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07 / 33</a:t>
            </a:r>
            <a:endParaRPr/>
          </a:p>
        </p:txBody>
      </p:sp>
      <p:sp>
        <p:nvSpPr>
          <p:cNvPr id="584" name=""/>
          <p:cNvSpPr/>
          <p:nvPr/>
        </p:nvSpPr>
        <p:spPr>
          <a:xfrm rot="0" flipH="0" flipV="0">
            <a:off x="685800" y="1390650"/>
            <a:ext cx="10820400" cy="2962275"/>
          </a:xfrm>
          <a:prstGeom prst="roundRect">
            <a:avLst>
              <a:gd name="adj" fmla="val 2572"/>
            </a:avLst>
          </a:prstGeom>
          <a:solidFill>
            <a:srgbClr val="0E1116"/>
          </a:solidFill>
          <a:ln/>
        </p:spPr>
        <p:txBody>
          <a:bodyPr/>
          <a:p/>
        </p:txBody>
      </p:sp>
      <p:sp>
        <p:nvSpPr>
          <p:cNvPr id="585" name=""/>
          <p:cNvSpPr txBox="1"/>
          <p:nvPr/>
        </p:nvSpPr>
        <p:spPr>
          <a:xfrm rot="0" flipH="0" flipV="0">
            <a:off x="838200" y="1524000"/>
            <a:ext cx="10515600" cy="2695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def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1050">
                <a:solidFill>
                  <a:srgbClr val="B392F0"/>
                </a:solidFill>
                <a:latin typeface="Menlo"/>
                <a:ea typeface="Menlo"/>
              </a:rPr>
              <a:t>run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(q):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   messages 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[{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"role"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: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"system"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,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"content"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: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PROMPT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}, {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"role"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: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"user"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,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"content"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:q}]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   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for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_ 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in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range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(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5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):                                   </a:t>
            </a:r>
            <a:r>
              <a:rPr sz="1050">
                <a:solidFill>
                  <a:srgbClr val="6A737D"/>
                </a:solidFill>
                <a:latin typeface="Menlo"/>
                <a:ea typeface="Menlo"/>
              </a:rPr>
              <a:t># 最大轮数兜底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       out 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llm(messages, </a:t>
            </a:r>
            <a:r>
              <a:rPr sz="1050">
                <a:solidFill>
                  <a:srgbClr val="FFAB70"/>
                </a:solidFill>
                <a:latin typeface="Menlo"/>
                <a:ea typeface="Menlo"/>
              </a:rPr>
              <a:t>stop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[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"Observation:"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])       </a:t>
            </a:r>
            <a:r>
              <a:rPr sz="1050">
                <a:solidFill>
                  <a:srgbClr val="6A737D"/>
                </a:solidFill>
                <a:latin typeface="Menlo"/>
                <a:ea typeface="Menlo"/>
              </a:rPr>
              <a:t># 生成阶段强制截断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       hit 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re.search(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r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</a:t>
            </a:r>
            <a:r>
              <a:rPr sz="1050">
                <a:solidFill>
                  <a:srgbClr val="DBEDFF"/>
                </a:solidFill>
                <a:latin typeface="Menlo"/>
                <a:ea typeface="Menlo"/>
              </a:rPr>
              <a:t>Action: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\s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*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(\w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+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)</a:t>
            </a:r>
            <a:r>
              <a:rPr sz="1050" b="1">
                <a:solidFill>
                  <a:srgbClr val="85E89D"/>
                </a:solidFill>
                <a:latin typeface="Menlo"/>
                <a:ea typeface="Menlo"/>
              </a:rPr>
              <a:t>\[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(.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+?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)</a:t>
            </a:r>
            <a:r>
              <a:rPr sz="1050" b="1">
                <a:solidFill>
                  <a:srgbClr val="85E89D"/>
                </a:solidFill>
                <a:latin typeface="Menlo"/>
                <a:ea typeface="Menlo"/>
              </a:rPr>
              <a:t>\]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, out)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       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if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not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hit:                                      </a:t>
            </a:r>
            <a:r>
              <a:rPr sz="1050">
                <a:solidFill>
                  <a:srgbClr val="6A737D"/>
                </a:solidFill>
                <a:latin typeface="Menlo"/>
                <a:ea typeface="Menlo"/>
              </a:rPr>
              <a:t># 没有 Action = 答完了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           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return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re.search(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r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</a:t>
            </a:r>
            <a:r>
              <a:rPr sz="1050">
                <a:solidFill>
                  <a:srgbClr val="DBEDFF"/>
                </a:solidFill>
                <a:latin typeface="Menlo"/>
                <a:ea typeface="Menlo"/>
              </a:rPr>
              <a:t>Answer: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\s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*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(.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+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)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, out).group(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1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)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       result 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globals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()[hit.group(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1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)](hit.group(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2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))   </a:t>
            </a:r>
            <a:r>
              <a:rPr sz="1050">
                <a:solidFill>
                  <a:srgbClr val="6A737D"/>
                </a:solidFill>
                <a:latin typeface="Menlo"/>
                <a:ea typeface="Menlo"/>
              </a:rPr>
              <a:t># 真正执行工具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       messages.append({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"role"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: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"assistant"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                        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"content"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: out.split(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"Observation:"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)[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0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]})   </a:t>
            </a:r>
            <a:r>
              <a:rPr sz="1050">
                <a:solidFill>
                  <a:srgbClr val="6A737D"/>
                </a:solidFill>
                <a:latin typeface="Menlo"/>
                <a:ea typeface="Menlo"/>
              </a:rPr>
              <a:t># 截干净再拼回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       messages.append({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"role"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: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"user"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, 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"content"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: 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f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 xml:space="preserve">"Observation: 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{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result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}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})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   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return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"达到最大轮数，未能得到答案"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                   </a:t>
            </a:r>
            <a:r>
              <a:rPr sz="1050">
                <a:solidFill>
                  <a:srgbClr val="6A737D"/>
                </a:solidFill>
                <a:latin typeface="Menlo"/>
                <a:ea typeface="Menlo"/>
              </a:rPr>
              <a:t># 兜底返回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586" name="" descr="&lt;Slide style={{ width: 1280, height: 720, padding: '20px 72px', flexDirection: 'column', background: 'linear-gradient(160deg, #0B1220 0%, #16233D 100%)', fontFamily: '&quot;Source Han Sans SC&quot;, &quot;Noto Sans SC&quot;, &quot;Microsoft YaHei&quot;, sans-serif' }}&gt;&#13;&#10;    {/* A 区 · 标题块 */}&#13;&#10;    &lt;Box style={{ height: 100, flexDirection: 'row', gap: 16, alignItems: 'flex-start', paddingTop: 6 }}&gt;&#13;&#10;        &lt;Box style={{ width: 4, height: 36, background: '#2AD4EE', marginTop: 5 }} /&gt;&#13;&#10;        &lt;Box style={{ flexDirection: 'column' }}&gt;&#13;&#10;            &lt;Text style={{ fontSize: 34, fontWeight: 'bold', color: '#E8EEF9' }}&gt;方案 B：原生 Function Calling（推荐）&lt;/Text&gt;&#13;&#10;            &lt;Text style={{ marginTop: 8, fontSize: 17, color: 'rgba(232,238,249,0.52)' }}&gt;工具用 JSON Schema 声明，模型直接返回结构化参数——不用正则&lt;/Text&gt;&#13;&#10;        &lt;/Box&gt;&#13;&#10;    &lt;/Box&gt;&#13;&#10;&#13;&#10;    {/* B 区 */}&#13;&#10;    &lt;Box style={{ height: 516, flexDirection: 'column' }}&gt;&#13;&#10;        &lt;Box style={{ flex: 1, flexDirection: 'row', gap: 36 }}&gt;&#13;&#10;            {/* 左：要点栏 */}&#13;&#10;            &lt;Box style={{ width: 336, flexDirection: 'column', paddingRight: 28, borderRight: '1px solid rgba(232,238,249,0.12)' }}&gt;&#13;&#10;                &lt;Text style={{ fontSize: 15, color: '#2AD4EE', letterSpacing: 3, fontFamily: '&quot;JetBrains Mono&quot;, &quot;Cascadia Mono&quot;, Consolas, monospace' }}&gt;WHY BETTER&lt;/Text&gt;&#13;&#10;                &lt;Text style={{ marginTop: 16, fontSize: 26, fontWeight: 'bold', color: '#E8EEF9', lineHeight: 1.5 }}&gt;&#13;&#10;                    格式是官方标准，&#13;&#10;                    &lt;br /&gt;&#13;&#10;                    不用自己发明&#13;&#10;                &lt;/Text&gt;&#13;&#10;                &lt;Text style={{ marginTop: 18, fontSize: 17, color: 'rgba(232,238,249,0.70)', lineHeight: 1.75 }}&gt;&#13;&#10;                    工具用 JSON Schema 正式声明并随请求传入；模型开启特训过的「工具模式」，返回值直接是结构化 JSON，稳定性和兼容性都由模型侧保证。&#13;&#10;                &lt;/Text&gt;&#13;&#10;                &lt;Box style={{ flexDirection: 'row', gap: 8, marginTop: 18, flexWrap: 'wrap' }}&gt;&#13;&#10;                    {['JSON Schema', 'tool_calls', '无需正则'].map((k, i) =&gt; (&#13;&#10;                        &lt;Box key={i} style={{ paddingTop: 4, paddingBottom: 4, paddingLeft: 10, paddingRight: 10, background: 'rgba(42,212,238,0.10)', borderRadius: 3 }}&gt;&#13;&#10;                            &lt;Text style={{ fontSize: 14, color: '#2AD4EE' }}&gt;{k}&lt;/Text&gt;&#13;&#10;                        &lt;/Box&gt;&#13;&#10;                    ))}&#13;&#10;                &lt;/Box&gt;&#13;&#10;                &lt;Box style={{ marginTop: 'auto', paddingTop: 14, paddingBottom: 14, paddingLeft: 16, paddingRight: 16, background: 'rgba(22,35,61,0.95)', border: '1px solid rgba(42,212,238,0.35)', borderLeft: '3px solid #2AD4EE', borderRadius: 4 }}&gt;&#13;&#10;                    &lt;Text style={{ fontSize: 16, color: '#E8EEF9', lineHeight: 1.65 }}&gt;&#13;&#10;                        description 就是写给模型看的 API 文档——模型选错工具，90% 是这里写得烂。&#13;&#10;                    &lt;/Text&gt;&#13;&#10;                &lt;/Box&gt;&#13;&#10;            &lt;/Box&gt;&#13;&#10;&#13;&#10;            {/* 右：代码 */}&#13;&#10;            &lt;Box style={{ flex: 1, flexDirection: 'column' }}&gt;&#13;&#10;                &lt;Box style={{ flexDirection: 'row', alignItems: 'center', gap: 12, marginBottom: 8 }}&gt;&#13;&#10;                    &lt;Text style={{ fontSize: 15, color: '#2AD4EE', letterSpacing: 2, fontFamily: '&quot;JetBrains Mono&quot;, &quot;Cascadia Mono&quot;, Consolas, monospace' }}&gt;fc_demo_b.js&lt;/Text&gt;&#13;&#10;                    &lt;Box style={{ width: 1, height: 14, background: 'rgba(232,238,249,0.22)' }} /&gt;&#13;&#10;                    &lt;Text style={{ fontSize: 15, color: 'rgba(232,238,249,0.62)' }}&gt;声明 → 调用 → 回填，三步走完&lt;/Text&gt;&#13;&#10;                &lt;/Box&gt;&#13;&#10;                &lt;CodeBlock&#13;&#10;                    code={`// ① 用 JSON Schema 声明工具（name / description / parameters）&#13;&#10;const tools = [{ type: &quot;function&quot;, function: {&#13;&#10;  name: &quot;calculate&quot;,&#13;&#10;  description: &quot;计算数学表达式的值，如加减乘除&quot;,&#13;&#10;  parameters: { type: &quot;object&quot;, required: [&quot;expression&quot;],&#13;&#10;    properties: { expression: { type: &quot;string&quot;,&#13;&#10;      description: &quot;数学表达式，如 128*456&quot; } } },&#13;&#10;}}];&#13;&#10;// ② tools 随请求传入；模型返回结构化 tool_calls&#13;&#10;const msg = await llm(messages, tools);&#13;&#10;for (const tc of msg.tool_calls) {&#13;&#10;  const args = JSON.parse(tc.function.arguments);      // 参数直接是 JSON&#13;&#10;  const r = TOOLS[tc.function.name](...Object.values(args));&#13;&#10;  messages.push({ role: &quot;tool&quot;, tool_call_id: tc.id, content: String(r) });&#13;&#10;}`}&#13;&#10;                    language='javascript'&#13;&#10;                    width={764}&#13;&#10;                    fontSize={12}&#13;&#10;                    theme='github-dark'&#13;&#10;                /&gt;&#13;&#10;            &lt;/Box&gt;&#13;&#10;        &lt;/Box&gt;&#13;&#10;&#13;&#10;        {/* 底部通栏 */}&#13;&#10;        &lt;Box style={{ height: 46, marginTop: 10, flexDirection: &quot;row&quot;, alignItems: &quot;center&quot;, gap: 16, paddingLeft: 20, paddingRight: 20, background: 'rgba(42,212,238,0.08)', border: '1px solid rgba(42,212,238,0.22)', borderRadius: 4 }}&gt;&#13;&#10;            &lt;Text style={{ fontSize: 18, color: '#2AD4EE', fontWeight: 'bold', fontFamily: '&quot;JetBrains Mono&quot;, &quot;Cascadia Mono&quot;, Consolas, monospace' }}&gt;结论&lt;/Text&gt;&#13;&#10;            &lt;Box style={{ width: 1, height: 28, background: 'rgba(42,212,238,0.35)' }} /&gt;&#13;&#10;            &lt;Text style={{ fontSize: 17, color: '#E8EEF9', flex: 1, lineHeight: 1.6 }}&gt;&#13;&#10;                实际项目一律用原生 Function Calling；手写 Prompt 只用来理解原理——模型自动把「128 乘以 456」翻译成了表达式，靠的就是 description。&#13;&#10;            &lt;/Text&gt;&#13;&#10;        &lt;/Box&gt;&#13;&#10;    &lt;/Box&gt;&#13;&#10;&#13;&#10;    {/* C 区 · 页脚 */}&#13;&#10;    &lt;Box style={{ height: 40, flexDirection: 'row', alignItems: 'flex-end', justifyContent: 'space-between' }}&gt;&#13;&#10;        &lt;Text style={{ fontSize: 14, color: 'rgba(232,238,249,0.42)' }}&gt;从 LLM 到 Agent 再到 Pi Agent&lt;/Text&gt;&#13;&#10;        &lt;Text style={{ fontSize: 14, color: 'rgba(232,238,249,0.42)', fontFamily: '&quot;JetBrains Mono&quot;, &quot;Cascadia Mono&quot;, Consolas, monospace' }}&gt;08 / 33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588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589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55721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方案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B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：原生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Function Calling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（推荐）</a:t>
            </a:r>
            <a:endParaRPr/>
          </a:p>
        </p:txBody>
      </p:sp>
      <p:sp>
        <p:nvSpPr>
          <p:cNvPr id="590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55721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工具用</a:t>
            </a:r>
            <a:r>
              <a:rPr lang="en-US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JSON Schema </a:t>
            </a: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声明，模型直接返回结构化参数——不用正则</a:t>
            </a:r>
            <a:endParaRPr/>
          </a:p>
        </p:txBody>
      </p:sp>
      <p:sp>
        <p:nvSpPr>
          <p:cNvPr id="591" name=""/>
          <p:cNvSpPr/>
          <p:nvPr/>
        </p:nvSpPr>
        <p:spPr>
          <a:xfrm rot="0" flipH="0" flipV="0">
            <a:off x="685800" y="1143000"/>
            <a:ext cx="3200400" cy="4381500"/>
          </a:xfrm>
          <a:custGeom>
            <a:pathLst>
              <a:path w="336" h="460">
                <a:moveTo>
                  <a:pt x="335" y="0"/>
                </a:moveTo>
                <a:lnTo>
                  <a:pt x="336" y="0"/>
                </a:lnTo>
                <a:lnTo>
                  <a:pt x="336" y="460"/>
                </a:lnTo>
                <a:lnTo>
                  <a:pt x="335" y="460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/>
        </p:txBody>
      </p:sp>
      <p:sp>
        <p:nvSpPr>
          <p:cNvPr id="592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924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WHY BETTER</a:t>
            </a:r>
            <a:endParaRPr/>
          </a:p>
        </p:txBody>
      </p:sp>
      <p:sp>
        <p:nvSpPr>
          <p:cNvPr id="593" name="" descr="{&quot;isTemplate&quot;:true,&quot;type&quot;:&quot;text&quot;}"/>
          <p:cNvSpPr txBox="1"/>
          <p:nvPr/>
        </p:nvSpPr>
        <p:spPr>
          <a:xfrm rot="0" flipH="0" flipV="0">
            <a:off x="685800" y="1466850"/>
            <a:ext cx="2924175" cy="895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950" b="1">
                <a:solidFill>
                  <a:srgbClr val="E8EEF9"/>
                </a:solidFill>
                <a:latin typeface="Source Han Sans SC"/>
                <a:ea typeface="Source Han Sans SC"/>
              </a:rPr>
              <a:t>格式是官方标准，</a:t>
            </a:r>
            <a:endParaRPr/>
          </a:p>
          <a:p>
            <a:pPr>
              <a:lnSpc>
                <a:spcPct val="150000"/>
              </a:lnSpc>
            </a:pPr>
            <a:r>
              <a:rPr lang="zh-CN" sz="1950" b="1">
                <a:solidFill>
                  <a:srgbClr val="E8EEF9"/>
                </a:solidFill>
                <a:latin typeface="Source Han Sans SC"/>
                <a:ea typeface="Source Han Sans SC"/>
              </a:rPr>
              <a:t>不用自己发明</a:t>
            </a:r>
            <a:endParaRPr/>
          </a:p>
        </p:txBody>
      </p:sp>
      <p:sp>
        <p:nvSpPr>
          <p:cNvPr id="594" name="" descr="{&quot;isTemplate&quot;:true,&quot;type&quot;:&quot;text&quot;}"/>
          <p:cNvSpPr txBox="1"/>
          <p:nvPr/>
        </p:nvSpPr>
        <p:spPr>
          <a:xfrm rot="0" flipH="0" flipV="0">
            <a:off x="685800" y="2533650"/>
            <a:ext cx="2924175" cy="1362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工具用</a:t>
            </a:r>
            <a:r>
              <a:rPr lang="en-US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JSON Schema </a:t>
            </a:r>
            <a:r>
              <a:rPr lang="zh-CN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正式声明并随请求传入；模型开启特训过的「工具模式」，返回值直接是结构化</a:t>
            </a:r>
            <a:r>
              <a:rPr lang="en-US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JSON</a:t>
            </a:r>
            <a:r>
              <a:rPr lang="zh-CN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，稳定性和兼容性都由模型侧保证。</a:t>
            </a:r>
            <a:endParaRPr/>
          </a:p>
        </p:txBody>
      </p:sp>
      <p:sp>
        <p:nvSpPr>
          <p:cNvPr id="595" name=""/>
          <p:cNvSpPr/>
          <p:nvPr/>
        </p:nvSpPr>
        <p:spPr>
          <a:xfrm rot="0" flipH="0" flipV="0">
            <a:off x="685800" y="4067175"/>
            <a:ext cx="1038225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/>
        </p:txBody>
      </p:sp>
      <p:sp>
        <p:nvSpPr>
          <p:cNvPr id="596" name="" descr="{&quot;isTemplate&quot;:true,&quot;type&quot;:&quot;text&quot;}"/>
          <p:cNvSpPr txBox="1"/>
          <p:nvPr/>
        </p:nvSpPr>
        <p:spPr>
          <a:xfrm rot="0" flipH="0" flipV="0">
            <a:off x="781050" y="4105275"/>
            <a:ext cx="847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Source Han Sans SC"/>
                <a:ea typeface="Source Han Sans SC"/>
              </a:rPr>
              <a:t>JSON Schema</a:t>
            </a:r>
            <a:endParaRPr/>
          </a:p>
        </p:txBody>
      </p:sp>
      <p:sp>
        <p:nvSpPr>
          <p:cNvPr id="597" name=""/>
          <p:cNvSpPr/>
          <p:nvPr/>
        </p:nvSpPr>
        <p:spPr>
          <a:xfrm rot="0" flipH="0" flipV="0">
            <a:off x="1800225" y="4067175"/>
            <a:ext cx="76200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/>
        </p:txBody>
      </p:sp>
      <p:sp>
        <p:nvSpPr>
          <p:cNvPr id="598" name="" descr="{&quot;isTemplate&quot;:true,&quot;type&quot;:&quot;text&quot;}"/>
          <p:cNvSpPr txBox="1"/>
          <p:nvPr/>
        </p:nvSpPr>
        <p:spPr>
          <a:xfrm rot="0" flipH="0" flipV="0">
            <a:off x="1895475" y="4105275"/>
            <a:ext cx="571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Source Han Sans SC"/>
                <a:ea typeface="Source Han Sans SC"/>
              </a:rPr>
              <a:t>tool_calls</a:t>
            </a:r>
            <a:endParaRPr/>
          </a:p>
        </p:txBody>
      </p:sp>
      <p:sp>
        <p:nvSpPr>
          <p:cNvPr id="599" name=""/>
          <p:cNvSpPr/>
          <p:nvPr/>
        </p:nvSpPr>
        <p:spPr>
          <a:xfrm rot="0" flipH="0" flipV="0">
            <a:off x="2638425" y="4067175"/>
            <a:ext cx="72390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/>
        </p:txBody>
      </p:sp>
      <p:sp>
        <p:nvSpPr>
          <p:cNvPr id="600" name="" descr="{&quot;isTemplate&quot;:true,&quot;type&quot;:&quot;text&quot;}"/>
          <p:cNvSpPr txBox="1"/>
          <p:nvPr/>
        </p:nvSpPr>
        <p:spPr>
          <a:xfrm rot="0" flipH="0" flipV="0">
            <a:off x="2733675" y="41052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无需正则</a:t>
            </a:r>
            <a:endParaRPr/>
          </a:p>
        </p:txBody>
      </p:sp>
      <p:sp>
        <p:nvSpPr>
          <p:cNvPr id="601" name=""/>
          <p:cNvSpPr/>
          <p:nvPr/>
        </p:nvSpPr>
        <p:spPr>
          <a:xfrm rot="0" flipH="0" flipV="0">
            <a:off x="714375" y="4343400"/>
            <a:ext cx="2924175" cy="1181100"/>
          </a:xfrm>
          <a:prstGeom prst="roundRect">
            <a:avLst>
              <a:gd name="adj" fmla="val 3226"/>
            </a:avLst>
          </a:prstGeom>
          <a:solidFill>
            <a:srgbClr val="16233D">
              <a:alpha val="95000"/>
            </a:srgbClr>
          </a:solidFill>
          <a:ln/>
        </p:spPr>
        <p:txBody>
          <a:bodyPr/>
          <a:p/>
        </p:txBody>
      </p:sp>
      <p:sp>
        <p:nvSpPr>
          <p:cNvPr id="602" name=""/>
          <p:cNvSpPr/>
          <p:nvPr/>
        </p:nvSpPr>
        <p:spPr>
          <a:xfrm rot="0" flipH="0" flipV="0">
            <a:off x="714375" y="4343400"/>
            <a:ext cx="2924175" cy="1181100"/>
          </a:xfrm>
          <a:custGeom>
            <a:pathLst>
              <a:path w="307" h="124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123"/>
                </a:lnTo>
                <a:cubicBezTo>
                  <a:pt x="3" y="123"/>
                  <a:pt x="3" y="124"/>
                  <a:pt x="4" y="124"/>
                </a:cubicBezTo>
                <a:cubicBezTo>
                  <a:pt x="2" y="124"/>
                  <a:pt x="0" y="122"/>
                  <a:pt x="0" y="120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2AD4EE"/>
          </a:solidFill>
          <a:ln/>
        </p:spPr>
        <p:txBody>
          <a:bodyPr/>
          <a:p/>
        </p:txBody>
      </p:sp>
      <p:sp>
        <p:nvSpPr>
          <p:cNvPr id="603" name="" descr="{&quot;isTemplate&quot;:true,&quot;type&quot;:&quot;text&quot;}"/>
          <p:cNvSpPr txBox="1"/>
          <p:nvPr/>
        </p:nvSpPr>
        <p:spPr>
          <a:xfrm rot="0" flipH="0" flipV="0">
            <a:off x="866775" y="4476750"/>
            <a:ext cx="2590800" cy="914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description 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就是写给模型看的</a:t>
            </a: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API 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文档——模型选错工具，</a:t>
            </a: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90% 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是这里写得烂。</a:t>
            </a:r>
            <a:endParaRPr/>
          </a:p>
        </p:txBody>
      </p:sp>
      <p:sp>
        <p:nvSpPr>
          <p:cNvPr id="604" name="" descr="{&quot;isTemplate&quot;:true,&quot;type&quot;:&quot;text&quot;}"/>
          <p:cNvSpPr txBox="1"/>
          <p:nvPr/>
        </p:nvSpPr>
        <p:spPr>
          <a:xfrm rot="0" flipH="0" flipV="0">
            <a:off x="4229100" y="1143000"/>
            <a:ext cx="1238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2AD4EE"/>
                </a:solidFill>
                <a:latin typeface="JetBrains Mono"/>
                <a:ea typeface="JetBrains Mono"/>
              </a:rPr>
              <a:t>fc_demo_b.js</a:t>
            </a:r>
            <a:endParaRPr/>
          </a:p>
        </p:txBody>
      </p:sp>
      <p:sp>
        <p:nvSpPr>
          <p:cNvPr id="605" name=""/>
          <p:cNvSpPr/>
          <p:nvPr/>
        </p:nvSpPr>
        <p:spPr>
          <a:xfrm rot="0" flipH="0" flipV="0">
            <a:off x="5581650" y="1162050"/>
            <a:ext cx="9525" cy="133350"/>
          </a:xfrm>
          <a:prstGeom prst="rect">
            <a:avLst/>
          </a:prstGeom>
          <a:solidFill>
            <a:srgbClr val="E8EEF9">
              <a:alpha val="22000"/>
            </a:srgbClr>
          </a:solidFill>
          <a:ln/>
        </p:spPr>
        <p:txBody>
          <a:bodyPr/>
          <a:p/>
        </p:txBody>
      </p:sp>
      <p:sp>
        <p:nvSpPr>
          <p:cNvPr id="606" name="" descr="{&quot;isTemplate&quot;:true,&quot;type&quot;:&quot;text&quot;}"/>
          <p:cNvSpPr txBox="1"/>
          <p:nvPr/>
        </p:nvSpPr>
        <p:spPr>
          <a:xfrm rot="0" flipH="0" flipV="0">
            <a:off x="5705475" y="1143000"/>
            <a:ext cx="1990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声明</a:t>
            </a: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调用</a:t>
            </a: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回填，三步走完</a:t>
            </a:r>
            <a:endParaRPr/>
          </a:p>
        </p:txBody>
      </p:sp>
      <p:sp>
        <p:nvSpPr>
          <p:cNvPr id="607" name=""/>
          <p:cNvSpPr/>
          <p:nvPr/>
        </p:nvSpPr>
        <p:spPr>
          <a:xfrm rot="0" flipH="0" flipV="0">
            <a:off x="685800" y="5619750"/>
            <a:ext cx="10820400" cy="438150"/>
          </a:xfrm>
          <a:prstGeom prst="roundRect">
            <a:avLst>
              <a:gd name="adj" fmla="val 8696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08" name="" descr="{&quot;isTemplate&quot;:true,&quot;type&quot;:&quot;text&quot;}"/>
          <p:cNvSpPr txBox="1"/>
          <p:nvPr/>
        </p:nvSpPr>
        <p:spPr>
          <a:xfrm rot="0" flipH="0" flipV="0">
            <a:off x="876300" y="5734050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AD4EE"/>
                </a:solidFill>
                <a:latin typeface="JetBrains Mono"/>
                <a:ea typeface="JetBrains Mono"/>
              </a:rPr>
              <a:t>结论</a:t>
            </a:r>
            <a:endParaRPr/>
          </a:p>
        </p:txBody>
      </p:sp>
      <p:sp>
        <p:nvSpPr>
          <p:cNvPr id="609" name=""/>
          <p:cNvSpPr/>
          <p:nvPr/>
        </p:nvSpPr>
        <p:spPr>
          <a:xfrm rot="0" flipH="0" flipV="0">
            <a:off x="1371600" y="5705475"/>
            <a:ext cx="9525" cy="266700"/>
          </a:xfrm>
          <a:prstGeom prst="rect">
            <a:avLst/>
          </a:prstGeom>
          <a:solidFill>
            <a:srgbClr val="2AD4EE">
              <a:alpha val="35000"/>
            </a:srgbClr>
          </a:solidFill>
          <a:ln/>
        </p:spPr>
        <p:txBody>
          <a:bodyPr/>
          <a:p/>
        </p:txBody>
      </p:sp>
      <p:sp>
        <p:nvSpPr>
          <p:cNvPr id="610" name="" descr="{&quot;isTemplate&quot;:true,&quot;type&quot;:&quot;text&quot;}"/>
          <p:cNvSpPr txBox="1"/>
          <p:nvPr/>
        </p:nvSpPr>
        <p:spPr>
          <a:xfrm rot="0" flipH="0" flipV="0">
            <a:off x="1533525" y="5686425"/>
            <a:ext cx="9782175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实际项目一律用原生</a:t>
            </a:r>
            <a:r>
              <a:rPr lang="en-US" sz="12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Function Calling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；手写</a:t>
            </a:r>
            <a:r>
              <a:rPr lang="en-US" sz="12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Prompt 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只用来理解原理——模型自动把「</a:t>
            </a:r>
            <a:r>
              <a:rPr lang="en-US" sz="12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128 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乘以</a:t>
            </a:r>
            <a:r>
              <a:rPr lang="en-US" sz="12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456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」翻译成了表达式，靠的就是</a:t>
            </a:r>
            <a:r>
              <a:rPr lang="en-US" sz="12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description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611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612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08 / 33</a:t>
            </a:r>
            <a:endParaRPr/>
          </a:p>
        </p:txBody>
      </p:sp>
      <p:sp>
        <p:nvSpPr>
          <p:cNvPr id="613" name=""/>
          <p:cNvSpPr/>
          <p:nvPr/>
        </p:nvSpPr>
        <p:spPr>
          <a:xfrm rot="0" flipH="0" flipV="0">
            <a:off x="4229100" y="1390650"/>
            <a:ext cx="7277100" cy="3152775"/>
          </a:xfrm>
          <a:prstGeom prst="roundRect">
            <a:avLst>
              <a:gd name="adj" fmla="val 2417"/>
            </a:avLst>
          </a:prstGeom>
          <a:solidFill>
            <a:srgbClr val="0E1116"/>
          </a:solidFill>
          <a:ln/>
        </p:spPr>
        <p:txBody>
          <a:bodyPr/>
          <a:p/>
        </p:txBody>
      </p:sp>
      <p:sp>
        <p:nvSpPr>
          <p:cNvPr id="614" name=""/>
          <p:cNvSpPr txBox="1"/>
          <p:nvPr/>
        </p:nvSpPr>
        <p:spPr>
          <a:xfrm rot="0" flipH="0" flipV="0">
            <a:off x="4381500" y="1524000"/>
            <a:ext cx="6972300" cy="2886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900">
                <a:solidFill>
                  <a:srgbClr val="6A737D"/>
                </a:solidFill>
                <a:latin typeface="Menlo"/>
                <a:ea typeface="Menlo"/>
              </a:rPr>
              <a:t>// ① 用 JSON Schema 声明工具（name / description / parameters）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const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79B8FF"/>
                </a:solidFill>
                <a:latin typeface="Menlo"/>
                <a:ea typeface="Menlo"/>
              </a:rPr>
              <a:t>tools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[{ type: </a:t>
            </a:r>
            <a:r>
              <a:rPr sz="900">
                <a:solidFill>
                  <a:srgbClr val="9ECBFF"/>
                </a:solidFill>
                <a:latin typeface="Menlo"/>
                <a:ea typeface="Menlo"/>
              </a:rPr>
              <a:t>"function"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, function: {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 name: </a:t>
            </a:r>
            <a:r>
              <a:rPr sz="900">
                <a:solidFill>
                  <a:srgbClr val="9ECBFF"/>
                </a:solidFill>
                <a:latin typeface="Menlo"/>
                <a:ea typeface="Menlo"/>
              </a:rPr>
              <a:t>"calculate"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 description: </a:t>
            </a:r>
            <a:r>
              <a:rPr sz="900">
                <a:solidFill>
                  <a:srgbClr val="9ECBFF"/>
                </a:solidFill>
                <a:latin typeface="Menlo"/>
                <a:ea typeface="Menlo"/>
              </a:rPr>
              <a:t>"计算数学表达式的值，如加减乘除"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 parameters: { type: </a:t>
            </a:r>
            <a:r>
              <a:rPr sz="900">
                <a:solidFill>
                  <a:srgbClr val="9ECBFF"/>
                </a:solidFill>
                <a:latin typeface="Menlo"/>
                <a:ea typeface="Menlo"/>
              </a:rPr>
              <a:t>"object"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, required: [</a:t>
            </a:r>
            <a:r>
              <a:rPr sz="900">
                <a:solidFill>
                  <a:srgbClr val="9ECBFF"/>
                </a:solidFill>
                <a:latin typeface="Menlo"/>
                <a:ea typeface="Menlo"/>
              </a:rPr>
              <a:t>"expression"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],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   properties: { expression: { type: </a:t>
            </a:r>
            <a:r>
              <a:rPr sz="900">
                <a:solidFill>
                  <a:srgbClr val="9ECBFF"/>
                </a:solidFill>
                <a:latin typeface="Menlo"/>
                <a:ea typeface="Menlo"/>
              </a:rPr>
              <a:t>"string"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     description: </a:t>
            </a:r>
            <a:r>
              <a:rPr sz="900">
                <a:solidFill>
                  <a:srgbClr val="9ECBFF"/>
                </a:solidFill>
                <a:latin typeface="Menlo"/>
                <a:ea typeface="Menlo"/>
              </a:rPr>
              <a:t>"数学表达式，如 128*456"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} } },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}}];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6A737D"/>
                </a:solidFill>
                <a:latin typeface="Menlo"/>
                <a:ea typeface="Menlo"/>
              </a:rPr>
              <a:t>// ② tools 随请求传入；模型返回结构化 tool_calls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const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79B8FF"/>
                </a:solidFill>
                <a:latin typeface="Menlo"/>
                <a:ea typeface="Menlo"/>
              </a:rPr>
              <a:t>msg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await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B392F0"/>
                </a:solidFill>
                <a:latin typeface="Menlo"/>
                <a:ea typeface="Menlo"/>
              </a:rPr>
              <a:t>llm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(messages, tools);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for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(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const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79B8FF"/>
                </a:solidFill>
                <a:latin typeface="Menlo"/>
                <a:ea typeface="Menlo"/>
              </a:rPr>
              <a:t>tc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of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msg.tool_calls) {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const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79B8FF"/>
                </a:solidFill>
                <a:latin typeface="Menlo"/>
                <a:ea typeface="Menlo"/>
              </a:rPr>
              <a:t>args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79B8FF"/>
                </a:solidFill>
                <a:latin typeface="Menlo"/>
                <a:ea typeface="Menlo"/>
              </a:rPr>
              <a:t>JSON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.</a:t>
            </a:r>
            <a:r>
              <a:rPr sz="900">
                <a:solidFill>
                  <a:srgbClr val="B392F0"/>
                </a:solidFill>
                <a:latin typeface="Menlo"/>
                <a:ea typeface="Menlo"/>
              </a:rPr>
              <a:t>parse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(tc.function.arguments);      </a:t>
            </a:r>
            <a:r>
              <a:rPr sz="900">
                <a:solidFill>
                  <a:srgbClr val="6A737D"/>
                </a:solidFill>
                <a:latin typeface="Menlo"/>
                <a:ea typeface="Menlo"/>
              </a:rPr>
              <a:t>// 参数直接是 JSON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const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79B8FF"/>
                </a:solidFill>
                <a:latin typeface="Menlo"/>
                <a:ea typeface="Menlo"/>
              </a:rPr>
              <a:t>r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79B8FF"/>
                </a:solidFill>
                <a:latin typeface="Menlo"/>
                <a:ea typeface="Menlo"/>
              </a:rPr>
              <a:t>TOOLS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[tc.function.name](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...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Object.</a:t>
            </a:r>
            <a:r>
              <a:rPr sz="900">
                <a:solidFill>
                  <a:srgbClr val="B392F0"/>
                </a:solidFill>
                <a:latin typeface="Menlo"/>
                <a:ea typeface="Menlo"/>
              </a:rPr>
              <a:t>values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(args));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 messages.</a:t>
            </a:r>
            <a:r>
              <a:rPr sz="900">
                <a:solidFill>
                  <a:srgbClr val="B392F0"/>
                </a:solidFill>
                <a:latin typeface="Menlo"/>
                <a:ea typeface="Menlo"/>
              </a:rPr>
              <a:t>push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({ role: </a:t>
            </a:r>
            <a:r>
              <a:rPr sz="900">
                <a:solidFill>
                  <a:srgbClr val="9ECBFF"/>
                </a:solidFill>
                <a:latin typeface="Menlo"/>
                <a:ea typeface="Menlo"/>
              </a:rPr>
              <a:t>"tool"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, tool_call_id: tc.id, content: </a:t>
            </a:r>
            <a:r>
              <a:rPr sz="900">
                <a:solidFill>
                  <a:srgbClr val="B392F0"/>
                </a:solidFill>
                <a:latin typeface="Menlo"/>
                <a:ea typeface="Menlo"/>
              </a:rPr>
              <a:t>String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(r) });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}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615" name="" descr="&lt;Slide style={{ width: 1280, height: 720, padding: '20px 72px', flexDirection: 'column', background: 'linear-gradient(160deg, #0B1220 0%, #16233D 100%)', fontFamily: '&quot;Source Han Sans SC&quot;, &quot;Noto Sans SC&quot;, &quot;Microsoft YaHei&quot;, sans-serif' }}&gt;&#10;    {/* A 区 · 标题块 */}&#10;    &lt;Box style={{ height: 100, flexDirection: 'row', gap: 16, alignItems: 'flex-start', paddingTop: 6 }}&gt;&#10;        &lt;Box style={{ width: 4, height: 36, background: '#2AD4EE', marginTop: 5 }} /&gt;&#10;        &lt;Box style={{ flexDirection: 'column' }}&gt;&#10;            &lt;Text style={{ fontSize: 34, fontWeight: 'bold', color: '#E8EEF9' }}&gt;A/B 对比与一条安全红线&lt;/Text&gt;&#10;            &lt;Text style={{ marginTop: 8, fontSize: 17, color: 'rgba(232,238,249,0.52)' }}&gt;五个维度看差别，一条原则定生死&lt;/Text&gt;&#10;        &lt;/Box&gt;&#10;    &lt;/Box&gt;&#10;&#10;    {/* B 区 · 表格 + 洞察 */}&#10;    &lt;Box style={{ height: 516, flexDirection: 'column' }}&gt;&#10;        &lt;Box style={{ height: 340, flexDirection: 'column' }}&gt;&#10;            &lt;Table&#10;                style={{ width: '100%', height: '100%' }}&#10;                defaultTextStyle={{ fontSize: 17, textAlign: 'left', color: '#E8EEF9' }}&#10;                defaultCellStyle={{&#10;                    border: {&#10;                        bottom: { width: 1, color: 'rgba(232,238,249,0.12)' },&#10;                    },&#10;                }}&#10;                cells={[&#10;                    [&#10;                        { text: '维度', textStyle: { bold: true, color: '#2AD4EE', fontSize: 17 }, cellStyle: { background: { color: '#16233D' } } },&#10;                        { text: '方案 A · 手写 Prompt', textStyle: { bold: true, color: 'rgba(232,238,249,0.70)', fontSize: 17 }, cellStyle: { background: { color: '#16233D' } } },&#10;                        { text: '方案 B · 原生 Function Calling', textStyle: { bold: true, color: '#2AD4EE', fontSize: 17 }, cellStyle: { background: { color: '#16233D' } } },&#10;                    ],&#10;                    ['格式约定', '自己发明（Action:工具名[参数]）', '官方标准（JSON Schema）'],&#10;                    ['模型输出', '普通文本，要正则抠参数', '结构化 tool_calls JSON，直接解析'],&#10;                    ['稳定性', '模型可能不守格式，需各种兜底', '模型专门训练过，非常稳'],&#10;                    ['兼容性', '任何模型都能用（哪怕不支持 FC）', '需要模型支持（GLM-4 / GPT 等）'],&#10;                    [&#10;                        '使用建议',&#10;                        '理解原理用',&#10;                        { text: '实际项目一律用这个', textStyle: { bold: true, color: '#2AD4EE' } },&#10;                    ],&#10;                ]}&#10;            /&gt;&#10;        &lt;/Box&gt;&#10;&#10;        {/* 洞察 */}&#10;        &lt;Box style={{ height: 162, marginTop: 14, flexDirection: 'row', gap: 20 }}&gt;&#10;            &lt;Box style={{ flex: 1, flexDirection: 'column', paddingTop: 16, paddingBottom: 16, paddingLeft: 20, paddingRight: 20, background: 'rgba(22,35,61,0.95)', border: '1px solid rgba(42,212,238,0.35)', borderRadius: 4 }}&gt;&#10;                &lt;Text style={{ fontSize: 15, color: '#2AD4EE', letterSpacing: 2, fontFamily: '&quot;JetBrains Mono&quot;, &quot;Cascadia Mono&quot;, Consolas, monospace' }}&gt;选型结论&lt;/Text&gt;&#10;                &lt;Text style={{ marginTop: 12, fontSize: 17, color: '#E8EEF9', lineHeight: 1.65 }}&gt;&#10;                    能用原生 Function Calling 就不用自己发明格式。手写 Prompt 的价值在于让你看清循环内部长什么样——理解原理，而不是交付方案。&#10;                &lt;/Text&gt;&#10;            &lt;/Box&gt;&#10;            &lt;Box style={{ flex: 1, flexDirection: 'column', paddingTop: 16, paddingBottom: 16, paddingLeft: 20, paddingRight: 20, background: 'rgba(42,212,238,0.10)', border: '1px solid rgba(42,212,238,0.35)', borderRadius: 4 }}&gt;&#10;                &lt;Text style={{ fontSize: 15, color: '#2AD4EE', letterSpacing: 2, fontFamily: '&quot;JetBrains Mono&quot;, &quot;Cascadia Mono&quot;, Consolas, monospace' }}&gt;安全红线&lt;/Text&gt;&#10;                &lt;Text style={{ marginTop: 12, fontSize: 17, color: '#E8EEF9', lineHeight: 1.65 }}&gt;&#10;                    两种方案里，模型都只负责「说要调什么」，真正执行函数的永远是我们的代码——&lt;span style={{ color: '#2AD4EE' }}&gt;模型没有权限，只有建议权&lt;/span&gt;。&#10;                &lt;/Text&gt;&#10;            &lt;/Box&gt;&#10;        &lt;/Box&gt;&#10;    &lt;/Box&gt;&#10;&#10;    {/* C 区 · 页脚 */}&#10;    &lt;Box style={{ height: 40, flexDirection: 'row', alignItems: 'flex-end', justifyContent: 'space-between' }}&gt;&#10;        &lt;Text style={{ fontSize: 14, color: 'rgba(232,238,249,0.42)' }}&gt;从 LLM 到 Agent 再到 Pi Agent&lt;/Text&gt;&#10;        &lt;Text style={{ fontSize: 14, color: 'rgba(232,238,249,0.42)', fontFamily: '&quot;JetBrains Mono&quot;, &quot;Cascadia Mono&quot;, Consolas, monospace' }}&gt;09 / 33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617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618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3505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A/B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对比与一条安全红线</a:t>
            </a:r>
            <a:endParaRPr/>
          </a:p>
        </p:txBody>
      </p:sp>
      <p:sp>
        <p:nvSpPr>
          <p:cNvPr id="619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3505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五个维度看差别，一条原则定生死</a:t>
            </a:r>
            <a:endParaRPr/>
          </a:p>
        </p:txBody>
      </p:sp>
      <p:graphicFrame>
        <p:nvGraphicFramePr>
          <p:cNvPr id="620" name=""/>
          <p:cNvGraphicFramePr/>
          <p:nvPr/>
        </p:nvGraphicFramePr>
        <p:xfrm rot="0" flipH="0" flipV="0">
          <a:off x="685800" y="1143000"/>
          <a:ext cx="10820400" cy="3238500"/>
        </p:xfrm>
        <a:graphic>
          <a:graphicData uri="http://schemas.openxmlformats.org/drawingml/2006/table">
            <a:tbl>
              <a:tblGrid>
                <a:gridCol w="1339603">
                  <a:extLst>
                    <a:ext uri="{9D8B030D-6E8A-4147-A177-3AD203B41FA5}">
                      <a16:colId val="1"/>
                    </a:ext>
                  </a:extLst>
                </a:gridCol>
                <a:gridCol w="4723136">
                  <a:extLst>
                    <a:ext uri="{9D8B030D-6E8A-4147-A177-3AD203B41FA5}">
                      <a16:colId val="2"/>
                    </a:ext>
                  </a:extLst>
                </a:gridCol>
                <a:gridCol w="4757662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5397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2AD4EE"/>
                          </a:solidFill>
                          <a:latin typeface="Microsoft YaHei"/>
                          <a:ea typeface="Microsoft YaHei"/>
                        </a:rPr>
                        <a:t>维度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D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E8EEF9">
                              <a:alpha val="70000"/>
                            </a:srgbClr>
                          </a:solidFill>
                          <a:latin typeface="Microsoft YaHei"/>
                          <a:ea typeface="Microsoft YaHei"/>
                        </a:rPr>
                        <a:t>方案 A · 手写 Prompt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D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2AD4EE"/>
                          </a:solidFill>
                          <a:latin typeface="Microsoft YaHei"/>
                          <a:ea typeface="Microsoft YaHei"/>
                        </a:rPr>
                        <a:t>方案 B · 原生 Function Calling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D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5397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格式约定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自己发明（Action:工具名[参数]）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官方标准（JSON Schema）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5397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模型输出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普通文本，要正则抠参数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结构化 tool_calls JSON，直接解析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5397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稳定性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模型可能不守格式，需各种兜底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模型专门训练过，非常稳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5397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兼容性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任何模型都能用（哪怕不支持 FC）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需要模型支持（GLM-4 / GPT 等）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5397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使用建议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理解原理用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2AD4EE"/>
                          </a:solidFill>
                          <a:latin typeface="Microsoft YaHei"/>
                          <a:ea typeface="Microsoft YaHei"/>
                        </a:rPr>
                        <a:t>实际项目一律用这个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</a:tbl>
          </a:graphicData>
        </a:graphic>
      </p:graphicFrame>
      <p:sp>
        <p:nvSpPr>
          <p:cNvPr id="621" name=""/>
          <p:cNvSpPr/>
          <p:nvPr/>
        </p:nvSpPr>
        <p:spPr>
          <a:xfrm rot="0" flipH="0" flipV="0">
            <a:off x="685800" y="4514850"/>
            <a:ext cx="5314950" cy="1543050"/>
          </a:xfrm>
          <a:prstGeom prst="roundRect">
            <a:avLst>
              <a:gd name="adj" fmla="val 2469"/>
            </a:avLst>
          </a:prstGeom>
          <a:solidFill>
            <a:srgbClr val="16233D">
              <a:alpha val="95000"/>
            </a:srgbClr>
          </a:solidFill>
          <a:ln w="12700">
            <a:solidFill>
              <a:srgbClr val="2AD4EE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22" name="" descr="{&quot;isTemplate&quot;:true,&quot;type&quot;:&quot;text&quot;}"/>
          <p:cNvSpPr txBox="1"/>
          <p:nvPr/>
        </p:nvSpPr>
        <p:spPr>
          <a:xfrm rot="0" flipH="0" flipV="0">
            <a:off x="876300" y="4667250"/>
            <a:ext cx="4933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150">
                <a:solidFill>
                  <a:srgbClr val="2AD4EE"/>
                </a:solidFill>
                <a:latin typeface="JetBrains Mono"/>
                <a:ea typeface="JetBrains Mono"/>
              </a:rPr>
              <a:t>选型结论</a:t>
            </a:r>
            <a:endParaRPr/>
          </a:p>
        </p:txBody>
      </p:sp>
      <p:sp>
        <p:nvSpPr>
          <p:cNvPr id="623" name="" descr="{&quot;isTemplate&quot;:true,&quot;type&quot;:&quot;text&quot;}"/>
          <p:cNvSpPr txBox="1"/>
          <p:nvPr/>
        </p:nvSpPr>
        <p:spPr>
          <a:xfrm rot="0" flipH="0" flipV="0">
            <a:off x="876300" y="4953000"/>
            <a:ext cx="493395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能用原生</a:t>
            </a:r>
            <a:r>
              <a:rPr lang="en-US" sz="12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Function Calling 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就不用自己发明格式。手写</a:t>
            </a:r>
            <a:r>
              <a:rPr lang="en-US" sz="12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Prompt 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的价值在于让你看清循环内部长什么样——理解原理，而不是交付方案。</a:t>
            </a:r>
            <a:endParaRPr/>
          </a:p>
        </p:txBody>
      </p:sp>
      <p:sp>
        <p:nvSpPr>
          <p:cNvPr id="624" name=""/>
          <p:cNvSpPr/>
          <p:nvPr/>
        </p:nvSpPr>
        <p:spPr>
          <a:xfrm rot="0" flipH="0" flipV="0">
            <a:off x="6191250" y="4514850"/>
            <a:ext cx="5314950" cy="1543050"/>
          </a:xfrm>
          <a:prstGeom prst="roundRect">
            <a:avLst>
              <a:gd name="adj" fmla="val 2469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25" name="" descr="{&quot;isTemplate&quot;:true,&quot;type&quot;:&quot;text&quot;}"/>
          <p:cNvSpPr txBox="1"/>
          <p:nvPr/>
        </p:nvSpPr>
        <p:spPr>
          <a:xfrm rot="0" flipH="0" flipV="0">
            <a:off x="6381750" y="4667250"/>
            <a:ext cx="4933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150">
                <a:solidFill>
                  <a:srgbClr val="2AD4EE"/>
                </a:solidFill>
                <a:latin typeface="JetBrains Mono"/>
                <a:ea typeface="JetBrains Mono"/>
              </a:rPr>
              <a:t>安全红线</a:t>
            </a:r>
            <a:endParaRPr/>
          </a:p>
        </p:txBody>
      </p:sp>
      <p:sp>
        <p:nvSpPr>
          <p:cNvPr id="626" name="" descr="{&quot;isTemplate&quot;:true,&quot;type&quot;:&quot;text&quot;}"/>
          <p:cNvSpPr txBox="1"/>
          <p:nvPr/>
        </p:nvSpPr>
        <p:spPr>
          <a:xfrm rot="0" flipH="0" flipV="0">
            <a:off x="6381750" y="4953000"/>
            <a:ext cx="493395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两种方案里，模型都只负责「说要调什么」，真正执行函数的永远是我们的代码——</a:t>
            </a:r>
            <a:r>
              <a:rPr lang="zh-CN" sz="1275">
                <a:solidFill>
                  <a:srgbClr val="2AD4EE"/>
                </a:solidFill>
                <a:latin typeface="Source Han Sans SC"/>
                <a:ea typeface="Source Han Sans SC"/>
              </a:rPr>
              <a:t>模型没有权限，只有建议权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627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628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09 / 33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24" name="" descr="&lt;Slide style={{ width: 1280, height: 720, position: 'relative', overflow: 'hidden', background: '#0B1220', fontFamily: '&quot;Source Han Sans SC&quot;, &quot;Noto Sans SC&quot;, &quot;Microsoft YaHei&quot;, sans-serif' }}&gt;&#10;    &lt;Image src=&quot;assets/sec_agent.png&quot; style={{ position: 'absolute', left: 0, top: 0, width: 1536, height: 1024 }} /&gt;&#10;&#10;    &lt;Box style={{ position: 'absolute', left: 0, top: 0, width: 1040, height: 720, background: 'linear-gradient(90deg, rgba(11,18,32,0.97) 0%, rgba(11,18,32,0.84) 50%, rgba(11,18,32,0) 100%)' }} /&gt;&#10;    &lt;Box style={{ position: 'absolute', left: 0, top: 0, width: 6, height: 720, background: 'linear-gradient(180deg, #2AD4EE 0%, rgba(42,212,238,0) 100%)' }} /&gt;&#10;&#10;    {/* 左：整列分布 */}&#10;    &lt;Box style={{ position: 'absolute', left: 88, top: 152, width: 700, height: 508, flexDirection: 'column', justifyContent: 'space-between' }}&gt;&#10;        &lt;Box style={{ flexDirection: 'column' }}&gt;&#10;            &lt;Text style={{ fontSize: 18, color: '#2AD4EE', letterSpacing: 7, fontFamily: '&quot;JetBrains Mono&quot;, &quot;Cascadia Mono&quot;, Consolas, monospace' }}&gt;CHAPTER 02&lt;/Text&gt;&#10;            &lt;Text style={{ marginTop: 22, fontSize: 64, fontWeight: 'bold', color: '#E8EEF9', letterSpacing: 1, lineHeight: 1.2 }}&gt;&#10;                Agent：&#10;                &lt;br /&gt;&#10;                &lt;span style={{ color: '#2AD4EE' }}&gt;从“能聊”到“能干”&lt;/span&gt;&#10;            &lt;/Text&gt;&#10;        &lt;/Box&gt;&#10;&#10;        &lt;Box style={{ flexDirection: 'column' }}&gt;&#10;            &lt;Box style={{ width: 76, height: 4, background: '#2AD4EE' }} /&gt;&#10;            &lt;Text style={{ marginTop: 24, fontSize: 21, color: 'rgba(232,238,249,0.72)', lineHeight: 1.75 }}&gt;&#10;                Agent 的核心代码就一个 while 循环；&#10;                &lt;br /&gt;&#10;                真正的开发量，全在循环之外。&#10;            &lt;/Text&gt;&#10;        &lt;/Box&gt;&#10;&#10;        &lt;Box style={{ flexDirection: 'column' }}&gt;&#10;            &lt;Box style={{ width: 420, height: 1, background: 'rgba(232,238,249,0.18)' }} /&gt;&#10;            &lt;Text style={{ marginTop: 16, fontSize: 13, color: 'rgba(232,238,249,0.42)', letterSpacing: 3, fontFamily: '&quot;JetBrains Mono&quot;, &quot;Cascadia Mono&quot;, Consolas, monospace' }}&gt;本章要回答&lt;/Text&gt;&#10;            &lt;Box style={{ marginTop: 12, flexDirection: 'column', gap: 8 }}&gt;&#10;                {['Agent 的能力边界到底在哪？', '一个 Agent 系统要处理哪些功能点？', '怎么写才不翻车？'].map((t, i) =&gt; (&#10;                    &lt;Box key={i} style={{ flexDirection: 'row', alignItems: 'center', gap: 12 }}&gt;&#10;                        &lt;Box style={{ width: 5, height: 5, background: '#2AD4EE' }} /&gt;&#10;                        &lt;Text style={{ fontSize: 17, color: 'rgba(232,238,249,0.78)' }}&gt;{t}&lt;/Text&gt;&#10;                    &lt;/Box&gt;&#10;                ))}&#10;            &lt;/Box&gt;&#10;        &lt;/Box&gt;&#10;    &lt;/Box&gt;&#10;&#10;    {/* 右：章节号 + 目录 */}&#10;    &lt;Box style={{ position: 'absolute', right: 88, top: 336, width: 392, flexDirection: 'column', paddingTop: 22, paddingBottom: 22, paddingLeft: 24, paddingRight: 24, background: 'rgba(11,18,32,0.82)', border: '1px solid rgba(42,212,238,0.22)', borderRadius: 4 }}&gt;&#10;        &lt;Box style={{ flexDirection: 'row', alignItems: 'flex-end', justifyContent: 'space-between' }}&gt;&#10;            &lt;Text style={{ fontSize: 76, fontWeight: 'bold', color: 'rgba(42,212,238,0.55)', fontFamily: '&quot;JetBrains Mono&quot;, &quot;Cascadia Mono&quot;, Consolas, monospace', lineHeight: 1 }}&gt;02&lt;/Text&gt;&#10;            &lt;Text style={{ fontSize: 13, color: 'rgba(232,238,249,0.42)', letterSpacing: 3, fontFamily: '&quot;JetBrains Mono&quot;, &quot;Cascadia Mono&quot;, Consolas, monospace', paddingBottom: 8 }}&gt;PAGES 10 – 18&lt;/Text&gt;&#10;        &lt;/Box&gt;&#10;        &lt;Box style={{ marginTop: 18, flexDirection: 'column', gap: 12 }}&gt;&#10;            {['ReAct 循环与终止条件', '工具、记忆与控制层', '七层功能地图与十条原则'].map((t, i) =&gt; (&#10;                &lt;Box key={i} style={{ flexDirection: 'row', alignItems: 'center', gap: 12 }}&gt;&#10;                    &lt;Box style={{ width: 18, height: 1, background: 'rgba(42,212,238,0.6)' }} /&gt;&#10;                    &lt;Text style={{ fontSize: 17, color: 'rgba(232,238,249,0.82)' }}&gt;{t}&lt;/Text&gt;&#10;                &lt;/Box&gt;&#10;            ))}&#10;        &lt;/Box&gt;&#10;    &lt;/Box&gt;&#10;&#10;    &lt;Text style={{ position: 'absolute', left: 88, top: 674, fontSize: 14, color: 'rgba(232,238,249,0.42)', fontFamily: '&quot;JetBrains Mono&quot;, &quot;Cascadia Mono&quot;, Consolas, monospace' }}&gt;10 / 33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pic>
        <p:nvPicPr>
          <p:cNvPr id="26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0" y="0"/>
            <a:ext cx="14630400" cy="9753600"/>
          </a:xfrm>
          <a:custGeom>
            <a:pathLst>
              <a:path w="1536" h="1024">
                <a:moveTo>
                  <a:pt x="1280" y="720"/>
                </a:moveTo>
                <a:lnTo>
                  <a:pt x="0" y="720"/>
                </a:lnTo>
                <a:lnTo>
                  <a:pt x="0" y="0"/>
                </a:lnTo>
                <a:lnTo>
                  <a:pt x="1280" y="0"/>
                </a:lnTo>
                <a:close/>
              </a:path>
            </a:pathLst>
          </a:custGeom>
          <a:ln/>
        </p:spPr>
      </p:pic>
      <p:sp>
        <p:nvSpPr>
          <p:cNvPr id="27" name=""/>
          <p:cNvSpPr/>
          <p:nvPr/>
        </p:nvSpPr>
        <p:spPr>
          <a:xfrm rot="0" flipH="0" flipV="0">
            <a:off x="0" y="0"/>
            <a:ext cx="9906000" cy="6858000"/>
          </a:xfrm>
          <a:prstGeom prst="rect">
            <a:avLst/>
          </a:prstGeom>
          <a:gradFill>
            <a:gsLst>
              <a:gs pos="0">
                <a:srgbClr val="0B1220">
                  <a:alpha val="97000"/>
                </a:srgbClr>
              </a:gs>
              <a:gs pos="50000">
                <a:srgbClr val="0B1220">
                  <a:alpha val="84000"/>
                </a:srgbClr>
              </a:gs>
              <a:gs pos="100000">
                <a:srgbClr val="0B1220">
                  <a:alpha val="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28" name=""/>
          <p:cNvSpPr/>
          <p:nvPr/>
        </p:nvSpPr>
        <p:spPr>
          <a:xfrm rot="0" flipH="0" flipV="0">
            <a:off x="0" y="0"/>
            <a:ext cx="57150" cy="6858000"/>
          </a:xfrm>
          <a:prstGeom prst="rect">
            <a:avLst/>
          </a:prstGeom>
          <a:gradFill>
            <a:gsLst>
              <a:gs pos="0">
                <a:srgbClr val="2AD4EE"/>
              </a:gs>
              <a:gs pos="100000">
                <a:srgbClr val="2AD4EE">
                  <a:alpha val="0"/>
                </a:srgbClr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838200" y="1447800"/>
            <a:ext cx="6667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525">
                <a:solidFill>
                  <a:srgbClr val="2AD4EE"/>
                </a:solidFill>
                <a:latin typeface="JetBrains Mono"/>
                <a:ea typeface="JetBrains Mono"/>
              </a:rPr>
              <a:t>CHAPTER 02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838200" y="1866900"/>
            <a:ext cx="6667500" cy="17621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4800" b="1" spc="75">
                <a:solidFill>
                  <a:srgbClr val="E8EEF9"/>
                </a:solidFill>
                <a:latin typeface="Source Han Sans SC"/>
                <a:ea typeface="Source Han Sans SC"/>
              </a:rPr>
              <a:t>Agent</a:t>
            </a:r>
            <a:r>
              <a:rPr lang="zh-CN" sz="4800" b="1" spc="75">
                <a:solidFill>
                  <a:srgbClr val="E8EEF9"/>
                </a:solidFill>
                <a:latin typeface="Source Han Sans SC"/>
                <a:ea typeface="Source Han Sans SC"/>
              </a:rPr>
              <a:t>：</a:t>
            </a:r>
            <a:endParaRPr/>
          </a:p>
          <a:p>
            <a:pPr>
              <a:lnSpc>
                <a:spcPct val="120000"/>
              </a:lnSpc>
            </a:pPr>
            <a:r>
              <a:rPr lang="zh-CN" sz="4800" b="1" spc="75">
                <a:solidFill>
                  <a:srgbClr val="2AD4EE"/>
                </a:solidFill>
                <a:latin typeface="Source Han Sans SC"/>
                <a:ea typeface="Source Han Sans SC"/>
              </a:rPr>
              <a:t>从“能聊”到“能干”</a:t>
            </a:r>
            <a:endParaRPr/>
          </a:p>
        </p:txBody>
      </p:sp>
      <p:sp>
        <p:nvSpPr>
          <p:cNvPr id="31" name=""/>
          <p:cNvSpPr/>
          <p:nvPr/>
        </p:nvSpPr>
        <p:spPr>
          <a:xfrm rot="0" flipH="0" flipV="0">
            <a:off x="838200" y="3810000"/>
            <a:ext cx="723900" cy="381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838200" y="4076700"/>
            <a:ext cx="6667500" cy="847725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Agent </a:t>
            </a:r>
            <a:r>
              <a:rPr lang="zh-CN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的核心代码就一个</a:t>
            </a:r>
            <a:r>
              <a:rPr lang="en-US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while </a:t>
            </a:r>
            <a:r>
              <a:rPr lang="zh-CN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循环；</a:t>
            </a:r>
            <a:endParaRPr/>
          </a:p>
          <a:p>
            <a:pPr>
              <a:lnSpc>
                <a:spcPct val="175000"/>
              </a:lnSpc>
            </a:pPr>
            <a:r>
              <a:rPr lang="zh-CN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真正的开发量，全在循环之外。</a:t>
            </a:r>
            <a:endParaRPr/>
          </a:p>
        </p:txBody>
      </p:sp>
      <p:sp>
        <p:nvSpPr>
          <p:cNvPr id="33" name=""/>
          <p:cNvSpPr/>
          <p:nvPr/>
        </p:nvSpPr>
        <p:spPr>
          <a:xfrm rot="0" flipH="0" flipV="0">
            <a:off x="838200" y="5105400"/>
            <a:ext cx="4000500" cy="9525"/>
          </a:xfrm>
          <a:prstGeom prst="rect">
            <a:avLst/>
          </a:prstGeom>
          <a:solidFill>
            <a:srgbClr val="E8EEF9">
              <a:alpha val="18000"/>
            </a:srgbClr>
          </a:solidFill>
          <a:ln/>
        </p:spPr>
        <p:txBody>
          <a:bodyPr/>
          <a:p/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838200" y="5267325"/>
            <a:ext cx="6667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2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本章要回答</a:t>
            </a:r>
            <a:endParaRPr/>
          </a:p>
        </p:txBody>
      </p:sp>
      <p:sp>
        <p:nvSpPr>
          <p:cNvPr id="35" name=""/>
          <p:cNvSpPr/>
          <p:nvPr/>
        </p:nvSpPr>
        <p:spPr>
          <a:xfrm rot="0" flipH="0" flipV="0">
            <a:off x="838200" y="5610225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1000125" y="5534025"/>
            <a:ext cx="20669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 xml:space="preserve">Agent </a:t>
            </a: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的能力边界到底在哪？</a:t>
            </a:r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838200" y="5886450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1000125" y="5810250"/>
            <a:ext cx="2590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一个</a:t>
            </a:r>
            <a:r>
              <a:rPr lang="en-US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系统要处理哪些功能点？</a:t>
            </a:r>
            <a:endParaRPr/>
          </a:p>
        </p:txBody>
      </p:sp>
      <p:sp>
        <p:nvSpPr>
          <p:cNvPr id="39" name=""/>
          <p:cNvSpPr/>
          <p:nvPr/>
        </p:nvSpPr>
        <p:spPr>
          <a:xfrm rot="0" flipH="0" flipV="0">
            <a:off x="838200" y="6162675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1000125" y="6086475"/>
            <a:ext cx="1295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怎么写才不翻车？</a:t>
            </a:r>
            <a:endParaRPr/>
          </a:p>
        </p:txBody>
      </p:sp>
      <p:sp>
        <p:nvSpPr>
          <p:cNvPr id="41" name=""/>
          <p:cNvSpPr/>
          <p:nvPr/>
        </p:nvSpPr>
        <p:spPr>
          <a:xfrm rot="0" flipH="0" flipV="0">
            <a:off x="7620000" y="3200400"/>
            <a:ext cx="3733800" cy="2295525"/>
          </a:xfrm>
          <a:prstGeom prst="roundRect">
            <a:avLst>
              <a:gd name="adj" fmla="val 1660"/>
            </a:avLst>
          </a:prstGeom>
          <a:solidFill>
            <a:srgbClr val="0B1220">
              <a:alpha val="82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7848600" y="3409950"/>
            <a:ext cx="857250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2AD4EE">
                    <a:alpha val="55000"/>
                  </a:srgbClr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9801225" y="4057650"/>
            <a:ext cx="1323975" cy="228600"/>
          </a:xfrm>
          <a:prstGeom prst="rect"/>
        </p:spPr>
        <p:txBody>
          <a:bodyPr wrap="none" lIns="0" tIns="0" rIns="0" bIns="5715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PAGES 10 – 18</a:t>
            </a:r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7848600" y="4552950"/>
            <a:ext cx="171450" cy="9525"/>
          </a:xfrm>
          <a:prstGeom prst="rect">
            <a:avLst/>
          </a:prstGeom>
          <a:solidFill>
            <a:srgbClr val="2AD4EE">
              <a:alpha val="60000"/>
            </a:srgbClr>
          </a:soli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8134350" y="4457700"/>
            <a:ext cx="1581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 xml:space="preserve">ReAct </a:t>
            </a:r>
            <a:r>
              <a:rPr lang="zh-CN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循环与终止条件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7848600" y="4867275"/>
            <a:ext cx="171450" cy="9525"/>
          </a:xfrm>
          <a:prstGeom prst="rect">
            <a:avLst/>
          </a:prstGeom>
          <a:solidFill>
            <a:srgbClr val="2AD4EE">
              <a:alpha val="60000"/>
            </a:srgbClr>
          </a:solidFill>
          <a:ln/>
        </p:spPr>
        <p:txBody>
          <a:bodyPr/>
          <a:p/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8134350" y="4772025"/>
            <a:ext cx="14573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工具、记忆与控制层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7848600" y="5181600"/>
            <a:ext cx="171450" cy="9525"/>
          </a:xfrm>
          <a:prstGeom prst="rect">
            <a:avLst/>
          </a:prstGeom>
          <a:solidFill>
            <a:srgbClr val="2AD4EE">
              <a:alpha val="60000"/>
            </a:srgbClr>
          </a:solidFill>
          <a:ln/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8134350" y="5086350"/>
            <a:ext cx="17811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七层功能地图与十条原则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838200" y="6419850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10 / 33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51" name="" descr="&lt;Slide style={{ width: 1280, height: 720, padding: '20px 72px', flexDirection: 'column', background: 'linear-gradient(160deg, #0B1220 0%, #16233D 100%)', fontFamily: '&quot;Source Han Sans SC&quot;, &quot;Noto Sans SC&quot;, &quot;Microsoft YaHei&quot;, sans-serif' }}&gt;&#10;    {/* A 区 · 标题块 */}&#10;    &lt;Box style={{ height: 100, flexDirection: 'row', gap: 16, alignItems: 'flex-start', paddingTop: 6 }}&gt;&#10;        &lt;Box style={{ width: 4, height: 36, background: '#2AD4EE', marginTop: 5 }} /&gt;&#10;        &lt;Box style={{ flexDirection: 'column' }}&gt;&#10;            &lt;Text style={{ fontSize: 34, fontWeight: 'bold', color: '#E8EEF9' }}&gt;Agent = LLM + 工具 + 记忆 + 规划&lt;/Text&gt;&#10;            &lt;Text style={{ marginTop: 8, fontSize: 17, color: 'rgba(232,238,249,0.52)' }}&gt;让模型从「只会聊天」变成「能干活、会决策、可循环」的程序&lt;/Text&gt;&#10;        &lt;/Box&gt;&#10;    &lt;/Box&gt;&#10;&#10;    {/* B 区 */}&#10;    &lt;Box style={{ height: 516, flexDirection: 'column' }}&gt;&#10;        {/* 巨型公式 */}&#10;        &lt;Box style={{ flexDirection: 'row', alignItems: 'center', justifyContent: 'center', gap: 16, paddingTop: 8, paddingBottom: 24, borderBottom: '1px solid rgba(232,238,249,0.12)' }}&gt;&#10;            &lt;Text style={{ fontSize: 72, fontWeight: 'bold', color: '#2AD4EE', fontFamily: '&quot;JetBrains Mono&quot;, &quot;Cascadia Mono&quot;, Consolas, monospace', lineHeight: 1 }}&gt;Agent&lt;/Text&gt;&#10;            &lt;Text style={{ fontSize: 44, color: 'rgba(232,238,249,0.42)', marginLeft: 8, marginRight: 8 }}&gt;=&lt;/Text&gt;&#10;            {['LLM', '工具', '记忆', '规划'].map((t, i) =&gt; (&#10;                &lt;Box key={i} style={{ flexDirection: 'row', alignItems: 'center', gap: 16 }}&gt;&#10;                    {i &gt; 0 &amp;&amp; &lt;Text style={{ fontSize: 44, color: 'rgba(232,238,249,0.42)' }}&gt;+&lt;/Text&gt;}&#10;                    &lt;Text style={{ fontSize: 56, fontWeight: 'bold', color: '#E8EEF9', lineHeight: 1 }}&gt;{t}&lt;/Text&gt;&#10;                &lt;/Box&gt;&#10;            ))}&#10;        &lt;/Box&gt;&#10;&#10;        {/* 四要素说明 */}&#10;        &lt;Box style={{ flex: 1, flexDirection: 'row', marginTop: 22 }}&gt;&#10;            {[&#10;                { t: '大脑', d: '无状态的推理引擎。它决定「下一步该干什么」，但自己不记得任何事。' },&#10;                { t: '手脚', d: '你写的普通函数。模型只能「说要调用哪个」，执行权始终在你手里。' },&#10;                { t: '上下文', d: '短期靠 messages，长期靠向量库。近期带原文，远期压摘要。' },&#10;                { t: '循环', d: '简单任务单循环就够，复杂任务先拆步骤。别一上来就过度设计。' },&#10;            ].map((c, i) =&gt; (&#10;                &lt;Box key={i} style={{ flex: 1, flexDirection: 'column', paddingLeft: i === 0 ? 0 : 24, paddingRight: i === 3 ? 0 : 24, borderRight: i === 3 ? 'none' : '1px solid rgba(232,238,249,0.10)' }}&gt;&#10;                    &lt;Text style={{ fontSize: 14, color: '#2AD4EE', letterSpacing: 2, fontFamily: '&quot;JetBrains Mono&quot;, &quot;Cascadia Mono&quot;, Consolas, monospace' }}&gt;0{i + 1} {c.t}&lt;/Text&gt;&#10;                    &lt;Text style={{ marginTop: 12, fontSize: 22, fontWeight: '600', color: '#E8EEF9' }}&gt;{['LLM', '工具', '记忆', '规划'][i]}&lt;/Text&gt;&#10;                    &lt;Text style={{ marginTop: 10, fontSize: 16, color: 'rgba(232,238,249,0.66)', lineHeight: 1.65 }}&gt;{c.d}&lt;/Text&gt;&#10;                &lt;/Box&gt;&#10;            ))}&#10;        &lt;/Box&gt;&#10;&#10;        {/* 判断 */}&#10;        &lt;Box style={{ height: 62, marginTop: 16, flexDirection: 'row', alignItems: 'center', gap: 16, paddingLeft: 20, paddingRight: 20, background: 'rgba(42,212,238,0.08)', border: '1px solid rgba(42,212,238,0.22)', borderRadius: 4 }}&gt;&#10;            &lt;Text style={{ fontSize: 18, color: '#2AD4EE', fontWeight: 'bold', fontFamily: '&quot;JetBrains Mono&quot;, &quot;Cascadia Mono&quot;, Consolas, monospace' }}&gt;所以&lt;/Text&gt;&#10;            &lt;Box style={{ width: 1, height: 28, background: 'rgba(42,212,238,0.35)' }} /&gt;&#10;            &lt;Text style={{ fontSize: 18, color: '#E8EEF9', flex: 1, lineHeight: 1.6 }}&gt;&#10;                四要素缺任何一项，它都只是一个&lt;span style={{ color: '#2AD4EE' }}&gt;会聊天的模型&lt;/span&gt;——而不是一个能自己把活干完的程序。&#10;            &lt;/Text&gt;&#10;        &lt;/Box&gt;&#10;    &lt;/Box&gt;&#10;&#10;    {/* C 区 · 页脚 */}&#10;    &lt;Box style={{ height: 40, flexDirection: 'row', alignItems: 'flex-end', justifyContent: 'space-between' }}&gt;&#10;        &lt;Text style={{ fontSize: 14, color: 'rgba(232,238,249,0.42)' }}&gt;从 LLM 到 Agent 再到 Pi Agent&lt;/Text&gt;&#10;        &lt;Text style={{ fontSize: 14, color: 'rgba(232,238,249,0.42)', fontFamily: '&quot;JetBrains Mono&quot;, &quot;Cascadia Mono&quot;, Consolas, monospace' }}&gt;11 / 33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53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4591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Agent = LLM +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工具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记忆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规划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45910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让模型从「只会聊天」变成「能干活、会决策、可循环」的程序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685800" y="1143000"/>
            <a:ext cx="10820400" cy="1152525"/>
          </a:xfrm>
          <a:custGeom>
            <a:pathLst>
              <a:path w="1136" h="121">
                <a:moveTo>
                  <a:pt x="0" y="120"/>
                </a:moveTo>
                <a:lnTo>
                  <a:pt x="1136" y="120"/>
                </a:lnTo>
                <a:lnTo>
                  <a:pt x="1136" y="121"/>
                </a:lnTo>
                <a:lnTo>
                  <a:pt x="0" y="121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1885950" y="1219200"/>
            <a:ext cx="2009775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2AD4EE"/>
                </a:solidFill>
                <a:latin typeface="JetBrains Mono"/>
                <a:ea typeface="JetBrains Mono"/>
              </a:rPr>
              <a:t>Agent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4124325" y="1381125"/>
            <a:ext cx="21907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=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4572000" y="1314450"/>
            <a:ext cx="962025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E8EEF9"/>
                </a:solidFill>
                <a:latin typeface="Source Han Sans SC"/>
                <a:ea typeface="Source Han Sans SC"/>
              </a:rPr>
              <a:t>LLM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5686425" y="1390650"/>
            <a:ext cx="21907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+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6057900" y="1314450"/>
            <a:ext cx="10668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200" b="1">
                <a:solidFill>
                  <a:srgbClr val="E8EEF9"/>
                </a:solidFill>
                <a:latin typeface="Source Han Sans SC"/>
                <a:ea typeface="Source Han Sans SC"/>
              </a:rPr>
              <a:t>工具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7277100" y="1390650"/>
            <a:ext cx="21907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+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7648575" y="1314450"/>
            <a:ext cx="10668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200" b="1">
                <a:solidFill>
                  <a:srgbClr val="E8EEF9"/>
                </a:solidFill>
                <a:latin typeface="Source Han Sans SC"/>
                <a:ea typeface="Source Han Sans SC"/>
              </a:rPr>
              <a:t>记忆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8867775" y="1390650"/>
            <a:ext cx="21907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+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9239250" y="1314450"/>
            <a:ext cx="10668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200" b="1">
                <a:solidFill>
                  <a:srgbClr val="E8EEF9"/>
                </a:solidFill>
                <a:latin typeface="Source Han Sans SC"/>
                <a:ea typeface="Source Han Sans SC"/>
              </a:rPr>
              <a:t>规划</a:t>
            </a:r>
            <a:endParaRPr/>
          </a:p>
        </p:txBody>
      </p:sp>
      <p:sp>
        <p:nvSpPr>
          <p:cNvPr id="66" name=""/>
          <p:cNvSpPr/>
          <p:nvPr/>
        </p:nvSpPr>
        <p:spPr>
          <a:xfrm rot="0" flipH="0" flipV="0">
            <a:off x="685800" y="2495550"/>
            <a:ext cx="2714625" cy="2819400"/>
          </a:xfrm>
          <a:custGeom>
            <a:pathLst>
              <a:path w="285" h="296">
                <a:moveTo>
                  <a:pt x="284" y="0"/>
                </a:moveTo>
                <a:lnTo>
                  <a:pt x="285" y="0"/>
                </a:lnTo>
                <a:lnTo>
                  <a:pt x="285" y="296"/>
                </a:lnTo>
                <a:lnTo>
                  <a:pt x="284" y="296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685800" y="2495550"/>
            <a:ext cx="2466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>0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>1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 xml:space="preserve"> </a:t>
            </a:r>
            <a:r>
              <a:rPr lang="zh-CN" sz="1050" spc="150">
                <a:solidFill>
                  <a:srgbClr val="2AD4EE"/>
                </a:solidFill>
                <a:latin typeface="JetBrains Mono"/>
                <a:ea typeface="JetBrains Mono"/>
              </a:rPr>
              <a:t>大脑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685800" y="2771775"/>
            <a:ext cx="24669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E8EEF9"/>
                </a:solidFill>
                <a:latin typeface="Source Han Sans SC"/>
                <a:ea typeface="Source Han Sans SC"/>
              </a:rPr>
              <a:t>LLM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685800" y="3124200"/>
            <a:ext cx="2466975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无状态的推理引擎。它决定「下一步该干什么」，但自己不记得任何事。</a:t>
            </a:r>
            <a:endParaRPr/>
          </a:p>
        </p:txBody>
      </p:sp>
      <p:sp>
        <p:nvSpPr>
          <p:cNvPr id="70" name=""/>
          <p:cNvSpPr/>
          <p:nvPr/>
        </p:nvSpPr>
        <p:spPr>
          <a:xfrm rot="0" flipH="0" flipV="0">
            <a:off x="3390900" y="2495550"/>
            <a:ext cx="2714625" cy="2819400"/>
          </a:xfrm>
          <a:custGeom>
            <a:pathLst>
              <a:path w="285" h="296">
                <a:moveTo>
                  <a:pt x="284" y="0"/>
                </a:moveTo>
                <a:lnTo>
                  <a:pt x="285" y="0"/>
                </a:lnTo>
                <a:lnTo>
                  <a:pt x="285" y="296"/>
                </a:lnTo>
                <a:lnTo>
                  <a:pt x="284" y="296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3619500" y="2495550"/>
            <a:ext cx="2238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>0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>2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 xml:space="preserve"> </a:t>
            </a:r>
            <a:r>
              <a:rPr lang="zh-CN" sz="1050" spc="150">
                <a:solidFill>
                  <a:srgbClr val="2AD4EE"/>
                </a:solidFill>
                <a:latin typeface="JetBrains Mono"/>
                <a:ea typeface="JetBrains Mono"/>
              </a:rPr>
              <a:t>手脚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3619500" y="2771775"/>
            <a:ext cx="22383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工具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3619500" y="3124200"/>
            <a:ext cx="2238375" cy="914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你写的普通函数。模型只能「说要调用哪个」，执行权始终在你手里。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6096000" y="2495550"/>
            <a:ext cx="2714625" cy="2819400"/>
          </a:xfrm>
          <a:custGeom>
            <a:pathLst>
              <a:path w="285" h="296">
                <a:moveTo>
                  <a:pt x="284" y="0"/>
                </a:moveTo>
                <a:lnTo>
                  <a:pt x="285" y="0"/>
                </a:lnTo>
                <a:lnTo>
                  <a:pt x="285" y="296"/>
                </a:lnTo>
                <a:lnTo>
                  <a:pt x="284" y="296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6324600" y="2495550"/>
            <a:ext cx="2238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>0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>3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 xml:space="preserve"> </a:t>
            </a:r>
            <a:r>
              <a:rPr lang="zh-CN" sz="1050" spc="150">
                <a:solidFill>
                  <a:srgbClr val="2AD4EE"/>
                </a:solidFill>
                <a:latin typeface="JetBrains Mono"/>
                <a:ea typeface="JetBrains Mono"/>
              </a:rPr>
              <a:t>上下文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6324600" y="2771775"/>
            <a:ext cx="22383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记忆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6324600" y="3124200"/>
            <a:ext cx="2238375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短期靠</a:t>
            </a:r>
            <a:r>
              <a:rPr lang="en-US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messages</a:t>
            </a: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，长期靠向量库。近期带原文，远期压摘要。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9029700" y="2495550"/>
            <a:ext cx="2476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>0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>4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 xml:space="preserve"> </a:t>
            </a:r>
            <a:r>
              <a:rPr lang="zh-CN" sz="1050" spc="150">
                <a:solidFill>
                  <a:srgbClr val="2AD4EE"/>
                </a:solidFill>
                <a:latin typeface="JetBrains Mono"/>
                <a:ea typeface="JetBrains Mono"/>
              </a:rPr>
              <a:t>循环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9029700" y="2771775"/>
            <a:ext cx="2476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规划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9029700" y="3124200"/>
            <a:ext cx="247650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简单任务单循环就够，复杂任务先拆步骤。别一上来就过度设计。</a:t>
            </a:r>
            <a:endParaRPr/>
          </a:p>
        </p:txBody>
      </p:sp>
      <p:sp>
        <p:nvSpPr>
          <p:cNvPr id="81" name=""/>
          <p:cNvSpPr/>
          <p:nvPr/>
        </p:nvSpPr>
        <p:spPr>
          <a:xfrm rot="0" flipH="0" flipV="0">
            <a:off x="685800" y="5467350"/>
            <a:ext cx="10820400" cy="590550"/>
          </a:xfrm>
          <a:prstGeom prst="roundRect">
            <a:avLst>
              <a:gd name="adj" fmla="val 6452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876300" y="5657850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83" name=""/>
          <p:cNvSpPr/>
          <p:nvPr/>
        </p:nvSpPr>
        <p:spPr>
          <a:xfrm rot="0" flipH="0" flipV="0">
            <a:off x="1371600" y="5629275"/>
            <a:ext cx="9525" cy="266700"/>
          </a:xfrm>
          <a:prstGeom prst="rect">
            <a:avLst/>
          </a:prstGeom>
          <a:solidFill>
            <a:srgbClr val="2AD4EE">
              <a:alpha val="35000"/>
            </a:srgbClr>
          </a:solidFill>
          <a:ln/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1533525" y="5600700"/>
            <a:ext cx="9782175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E8EEF9"/>
                </a:solidFill>
                <a:latin typeface="Source Han Sans SC"/>
                <a:ea typeface="Source Han Sans SC"/>
              </a:rPr>
              <a:t>四要素缺任何一项，它都只是一个</a:t>
            </a:r>
            <a:r>
              <a:rPr lang="zh-CN" sz="1350">
                <a:solidFill>
                  <a:srgbClr val="2AD4EE"/>
                </a:solidFill>
                <a:latin typeface="Source Han Sans SC"/>
                <a:ea typeface="Source Han Sans SC"/>
              </a:rPr>
              <a:t>会聊天的模型</a:t>
            </a:r>
            <a:r>
              <a:rPr lang="zh-CN" sz="1350">
                <a:solidFill>
                  <a:srgbClr val="E8EEF9"/>
                </a:solidFill>
                <a:latin typeface="Source Han Sans SC"/>
                <a:ea typeface="Source Han Sans SC"/>
              </a:rPr>
              <a:t>——而不是一个能自己把活干完的程序。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11 / 33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87" name="" descr="&lt;Slide style={{ width: 1280, height: 720, padding: '20px 72px', flexDirection: 'column', background: 'linear-gradient(160deg, #0B1220 0%, #16233D 100%)', fontFamily: '&quot;Source Han Sans SC&quot;, &quot;Noto Sans SC&quot;, &quot;Microsoft YaHei&quot;, sans-serif' }}&gt;&#10;    {/* A 区 · 标题块 */}&#10;    &lt;Box style={{ height: 100, flexDirection: 'row', gap: 16, alignItems: 'flex-start', paddingTop: 6 }}&gt;&#10;        &lt;Box style={{ width: 4, height: 36, background: '#2AD4EE', marginTop: 5 }} /&gt;&#10;        &lt;Box style={{ flexDirection: 'column' }}&gt;&#10;            &lt;Text style={{ fontSize: 34, fontWeight: 'bold', color: '#E8EEF9' }}&gt;Agent = LLM + 工具 + 记忆 + 规划&lt;/Text&gt;&#10;            &lt;Text style={{ marginTop: 8, fontSize: 17, color: 'rgba(232,238,249,0.52)' }}&gt;让模型从「只会聊天」变成「能干活、会决策、可循环」的程序&lt;/Text&gt;&#10;        &lt;/Box&gt;&#10;    &lt;/Box&gt;&#10;&#10;    {/* B 区 */}&#10;    &lt;Box style={{ height: 516, flexDirection: 'column' }}&gt;&#10;        {/* 巨型公式 */}&#10;        &lt;Box style={{ flexDirection: 'row', alignItems: 'center', justifyContent: 'center', gap: 16, paddingTop: 8, paddingBottom: 24, borderBottom: '1px solid rgba(232,238,249,0.12)' }}&gt;&#10;            &lt;Text style={{ fontSize: 72, fontWeight: 'bold', color: '#2AD4EE', fontFamily: '&quot;JetBrains Mono&quot;, &quot;Cascadia Mono&quot;, Consolas, monospace', lineHeight: 1 }}&gt;Agent&lt;/Text&gt;&#10;            &lt;Text style={{ fontSize: 44, color: 'rgba(232,238,249,0.42)', marginLeft: 8, marginRight: 8 }}&gt;=&lt;/Text&gt;&#10;            {['LLM', '工具', '记忆', '规划'].map((t, i) =&gt; (&#10;                &lt;Box key={i} style={{ flexDirection: 'row', alignItems: 'center', gap: 16 }}&gt;&#10;                    {i &gt; 0 &amp;&amp; &lt;Text style={{ fontSize: 44, color: 'rgba(232,238,249,0.42)' }}&gt;+&lt;/Text&gt;}&#10;                    &lt;Text style={{ fontSize: 56, fontWeight: 'bold', color: '#E8EEF9', lineHeight: 1 }}&gt;{t}&lt;/Text&gt;&#10;                &lt;/Box&gt;&#10;            ))}&#10;        &lt;/Box&gt;&#10;&#10;        {/* 四要素说明 */}&#10;        &lt;Box style={{ flex: 1, flexDirection: 'row', marginTop: 22 }}&gt;&#10;            {[&#10;                { t: '大脑', d: '无状态的推理引擎。它决定「下一步该干什么」，但自己不记得任何事。' },&#10;                { t: '手脚', d: '你写的普通函数。模型只能「说要调用哪个」，执行权始终在你手里。' },&#10;                { t: '上下文', d: '短期靠 messages，长期靠向量库。近期带原文，远期压摘要。' },&#10;                { t: '循环', d: '简单任务单循环就够，复杂任务先拆步骤。别一上来就过度设计。' },&#10;            ].map((c, i) =&gt; (&#10;                &lt;Box key={i} style={{ flex: 1, flexDirection: 'column', paddingLeft: i === 0 ? 0 : 24, paddingRight: i === 3 ? 0 : 24, borderRight: i === 3 ? 'none' : '1px solid rgba(232,238,249,0.10)' }}&gt;&#10;                    &lt;Text style={{ fontSize: 14, color: '#2AD4EE', letterSpacing: 2, fontFamily: '&quot;JetBrains Mono&quot;, &quot;Cascadia Mono&quot;, Consolas, monospace' }}&gt;0{i + 1} {c.t}&lt;/Text&gt;&#10;                    &lt;Text style={{ marginTop: 12, fontSize: 22, fontWeight: '600', color: '#E8EEF9' }}&gt;{['LLM', '工具', '记忆', '规划'][i]}&lt;/Text&gt;&#10;                    &lt;Text style={{ marginTop: 10, fontSize: 16, color: 'rgba(232,238,249,0.66)', lineHeight: 1.65 }}&gt;{c.d}&lt;/Text&gt;&#10;                &lt;/Box&gt;&#10;            ))}&#10;        &lt;/Box&gt;&#10;&#10;        {/* 判断 */}&#10;        &lt;Box style={{ height: 62, marginTop: 16, flexDirection: 'row', alignItems: 'center', gap: 16, paddingLeft: 20, paddingRight: 20, background: 'rgba(42,212,238,0.08)', border: '1px solid rgba(42,212,238,0.22)', borderRadius: 4 }}&gt;&#10;            &lt;Text style={{ fontSize: 18, color: '#2AD4EE', fontWeight: 'bold', fontFamily: '&quot;JetBrains Mono&quot;, &quot;Cascadia Mono&quot;, Consolas, monospace' }}&gt;所以&lt;/Text&gt;&#10;            &lt;Box style={{ width: 1, height: 28, background: 'rgba(42,212,238,0.35)' }} /&gt;&#10;            &lt;Text style={{ fontSize: 18, color: '#E8EEF9', flex: 1, lineHeight: 1.6 }}&gt;&#10;                四要素缺任何一项，它都只是一个&lt;span style={{ color: '#2AD4EE' }}&gt;会聊天的模型&lt;/span&gt;——而不是一个能自己把活干完的程序。&#10;            &lt;/Text&gt;&#10;        &lt;/Box&gt;&#10;    &lt;/Box&gt;&#10;&#10;    {/* C 区 · 页脚 */}&#10;    &lt;Box style={{ height: 40, flexDirection: 'row', alignItems: 'flex-end', justifyContent: 'space-between' }}&gt;&#10;        &lt;Text style={{ fontSize: 14, color: 'rgba(232,238,249,0.42)' }}&gt;从 LLM 到 Agent 再到 Pi Agent&lt;/Text&gt;&#10;        &lt;Text style={{ fontSize: 14, color: 'rgba(232,238,249,0.42)', fontFamily: '&quot;JetBrains Mono&quot;, &quot;Cascadia Mono&quot;, Consolas, monospace' }}&gt;11 / 33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89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4591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Agent = LLM +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工具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记忆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规划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45910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让模型从「只会聊天」变成「能干活、会决策、可循环」的程序</a:t>
            </a:r>
            <a:endParaRPr/>
          </a:p>
        </p:txBody>
      </p:sp>
      <p:sp>
        <p:nvSpPr>
          <p:cNvPr id="92" name=""/>
          <p:cNvSpPr/>
          <p:nvPr/>
        </p:nvSpPr>
        <p:spPr>
          <a:xfrm rot="0" flipH="0" flipV="0">
            <a:off x="685800" y="1143000"/>
            <a:ext cx="10820400" cy="1152525"/>
          </a:xfrm>
          <a:custGeom>
            <a:pathLst>
              <a:path w="1136" h="121">
                <a:moveTo>
                  <a:pt x="0" y="120"/>
                </a:moveTo>
                <a:lnTo>
                  <a:pt x="1136" y="120"/>
                </a:lnTo>
                <a:lnTo>
                  <a:pt x="1136" y="121"/>
                </a:lnTo>
                <a:lnTo>
                  <a:pt x="0" y="121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/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1885950" y="1219200"/>
            <a:ext cx="2009775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2AD4EE"/>
                </a:solidFill>
                <a:latin typeface="JetBrains Mono"/>
                <a:ea typeface="JetBrains Mono"/>
              </a:rPr>
              <a:t>Agent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4124325" y="1381125"/>
            <a:ext cx="21907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=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4572000" y="1314450"/>
            <a:ext cx="962025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E8EEF9"/>
                </a:solidFill>
                <a:latin typeface="Source Han Sans SC"/>
                <a:ea typeface="Source Han Sans SC"/>
              </a:rPr>
              <a:t>LLM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5686425" y="1390650"/>
            <a:ext cx="21907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+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6057900" y="1314450"/>
            <a:ext cx="10668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200" b="1">
                <a:solidFill>
                  <a:srgbClr val="E8EEF9"/>
                </a:solidFill>
                <a:latin typeface="Source Han Sans SC"/>
                <a:ea typeface="Source Han Sans SC"/>
              </a:rPr>
              <a:t>工具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7277100" y="1390650"/>
            <a:ext cx="21907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+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7648575" y="1314450"/>
            <a:ext cx="10668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200" b="1">
                <a:solidFill>
                  <a:srgbClr val="E8EEF9"/>
                </a:solidFill>
                <a:latin typeface="Source Han Sans SC"/>
                <a:ea typeface="Source Han Sans SC"/>
              </a:rPr>
              <a:t>记忆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8867775" y="1390650"/>
            <a:ext cx="21907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+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9239250" y="1314450"/>
            <a:ext cx="10668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200" b="1">
                <a:solidFill>
                  <a:srgbClr val="E8EEF9"/>
                </a:solidFill>
                <a:latin typeface="Source Han Sans SC"/>
                <a:ea typeface="Source Han Sans SC"/>
              </a:rPr>
              <a:t>规划</a:t>
            </a:r>
            <a:endParaRPr/>
          </a:p>
        </p:txBody>
      </p:sp>
      <p:sp>
        <p:nvSpPr>
          <p:cNvPr id="102" name=""/>
          <p:cNvSpPr/>
          <p:nvPr/>
        </p:nvSpPr>
        <p:spPr>
          <a:xfrm rot="0" flipH="0" flipV="0">
            <a:off x="685800" y="2495550"/>
            <a:ext cx="2714625" cy="2819400"/>
          </a:xfrm>
          <a:custGeom>
            <a:pathLst>
              <a:path w="285" h="296">
                <a:moveTo>
                  <a:pt x="284" y="0"/>
                </a:moveTo>
                <a:lnTo>
                  <a:pt x="285" y="0"/>
                </a:lnTo>
                <a:lnTo>
                  <a:pt x="285" y="296"/>
                </a:lnTo>
                <a:lnTo>
                  <a:pt x="284" y="296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/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685800" y="2495550"/>
            <a:ext cx="2466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>0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>1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 xml:space="preserve"> </a:t>
            </a:r>
            <a:r>
              <a:rPr lang="zh-CN" sz="1050" spc="150">
                <a:solidFill>
                  <a:srgbClr val="2AD4EE"/>
                </a:solidFill>
                <a:latin typeface="JetBrains Mono"/>
                <a:ea typeface="JetBrains Mono"/>
              </a:rPr>
              <a:t>大脑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685800" y="2771775"/>
            <a:ext cx="24669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E8EEF9"/>
                </a:solidFill>
                <a:latin typeface="Source Han Sans SC"/>
                <a:ea typeface="Source Han Sans SC"/>
              </a:rPr>
              <a:t>LLM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685800" y="3124200"/>
            <a:ext cx="2466975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无状态的推理引擎。它决定「下一步该干什么」，但自己不记得任何事。</a:t>
            </a:r>
            <a:endParaRPr/>
          </a:p>
        </p:txBody>
      </p:sp>
      <p:sp>
        <p:nvSpPr>
          <p:cNvPr id="106" name=""/>
          <p:cNvSpPr/>
          <p:nvPr/>
        </p:nvSpPr>
        <p:spPr>
          <a:xfrm rot="0" flipH="0" flipV="0">
            <a:off x="3390900" y="2495550"/>
            <a:ext cx="2714625" cy="2819400"/>
          </a:xfrm>
          <a:custGeom>
            <a:pathLst>
              <a:path w="285" h="296">
                <a:moveTo>
                  <a:pt x="284" y="0"/>
                </a:moveTo>
                <a:lnTo>
                  <a:pt x="285" y="0"/>
                </a:lnTo>
                <a:lnTo>
                  <a:pt x="285" y="296"/>
                </a:lnTo>
                <a:lnTo>
                  <a:pt x="284" y="296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/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3619500" y="2495550"/>
            <a:ext cx="2238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>0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>2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 xml:space="preserve"> </a:t>
            </a:r>
            <a:r>
              <a:rPr lang="zh-CN" sz="1050" spc="150">
                <a:solidFill>
                  <a:srgbClr val="2AD4EE"/>
                </a:solidFill>
                <a:latin typeface="JetBrains Mono"/>
                <a:ea typeface="JetBrains Mono"/>
              </a:rPr>
              <a:t>手脚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3619500" y="2771775"/>
            <a:ext cx="22383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工具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3619500" y="3124200"/>
            <a:ext cx="2238375" cy="914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你写的普通函数。模型只能「说要调用哪个」，执行权始终在你手里。</a:t>
            </a:r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6096000" y="2495550"/>
            <a:ext cx="2714625" cy="2819400"/>
          </a:xfrm>
          <a:custGeom>
            <a:pathLst>
              <a:path w="285" h="296">
                <a:moveTo>
                  <a:pt x="284" y="0"/>
                </a:moveTo>
                <a:lnTo>
                  <a:pt x="285" y="0"/>
                </a:lnTo>
                <a:lnTo>
                  <a:pt x="285" y="296"/>
                </a:lnTo>
                <a:lnTo>
                  <a:pt x="284" y="296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/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6324600" y="2495550"/>
            <a:ext cx="2238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>0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>3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 xml:space="preserve"> </a:t>
            </a:r>
            <a:r>
              <a:rPr lang="zh-CN" sz="1050" spc="150">
                <a:solidFill>
                  <a:srgbClr val="2AD4EE"/>
                </a:solidFill>
                <a:latin typeface="JetBrains Mono"/>
                <a:ea typeface="JetBrains Mono"/>
              </a:rPr>
              <a:t>上下文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6324600" y="2771775"/>
            <a:ext cx="22383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记忆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6324600" y="3124200"/>
            <a:ext cx="2238375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短期靠</a:t>
            </a:r>
            <a:r>
              <a:rPr lang="en-US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messages</a:t>
            </a: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，长期靠向量库。近期带原文，远期压摘要。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9029700" y="2495550"/>
            <a:ext cx="2476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>0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>4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 xml:space="preserve"> </a:t>
            </a:r>
            <a:r>
              <a:rPr lang="zh-CN" sz="1050" spc="150">
                <a:solidFill>
                  <a:srgbClr val="2AD4EE"/>
                </a:solidFill>
                <a:latin typeface="JetBrains Mono"/>
                <a:ea typeface="JetBrains Mono"/>
              </a:rPr>
              <a:t>循环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9029700" y="2771775"/>
            <a:ext cx="2476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规划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9029700" y="3124200"/>
            <a:ext cx="247650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简单任务单循环就够，复杂任务先拆步骤。别一上来就过度设计。</a:t>
            </a:r>
            <a:endParaRPr/>
          </a:p>
        </p:txBody>
      </p:sp>
      <p:sp>
        <p:nvSpPr>
          <p:cNvPr id="117" name=""/>
          <p:cNvSpPr/>
          <p:nvPr/>
        </p:nvSpPr>
        <p:spPr>
          <a:xfrm rot="0" flipH="0" flipV="0">
            <a:off x="685800" y="5467350"/>
            <a:ext cx="10820400" cy="590550"/>
          </a:xfrm>
          <a:prstGeom prst="roundRect">
            <a:avLst>
              <a:gd name="adj" fmla="val 6452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876300" y="5657850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1371600" y="5629275"/>
            <a:ext cx="9525" cy="266700"/>
          </a:xfrm>
          <a:prstGeom prst="rect">
            <a:avLst/>
          </a:prstGeom>
          <a:solidFill>
            <a:srgbClr val="2AD4EE">
              <a:alpha val="35000"/>
            </a:srgbClr>
          </a:solidFill>
          <a:ln/>
        </p:spPr>
        <p:txBody>
          <a:bodyPr/>
          <a:p/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1533525" y="5600700"/>
            <a:ext cx="9782175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E8EEF9"/>
                </a:solidFill>
                <a:latin typeface="Source Han Sans SC"/>
                <a:ea typeface="Source Han Sans SC"/>
              </a:rPr>
              <a:t>四要素缺任何一项，它都只是一个</a:t>
            </a:r>
            <a:r>
              <a:rPr lang="zh-CN" sz="1350">
                <a:solidFill>
                  <a:srgbClr val="2AD4EE"/>
                </a:solidFill>
                <a:latin typeface="Source Han Sans SC"/>
                <a:ea typeface="Source Han Sans SC"/>
              </a:rPr>
              <a:t>会聊天的模型</a:t>
            </a:r>
            <a:r>
              <a:rPr lang="zh-CN" sz="1350">
                <a:solidFill>
                  <a:srgbClr val="E8EEF9"/>
                </a:solidFill>
                <a:latin typeface="Source Han Sans SC"/>
                <a:ea typeface="Source Han Sans SC"/>
              </a:rPr>
              <a:t>——而不是一个能自己把活干完的程序。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11 / 33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23" name="" descr="&lt;Slide style={{ width: 1280, height: 720, padding: '20px 72px', flexDirection: 'column', background: 'linear-gradient(160deg, #0B1220 0%, #16233D 100%)', fontFamily: '&quot;Source Han Sans SC&quot;, &quot;Noto Sans SC&quot;, &quot;Microsoft YaHei&quot;, sans-serif' }}&gt;&#10;    {/* A 区 · 标题块 */}&#10;    &lt;Box style={{ height: 100, flexDirection: 'row', gap: 16, alignItems: 'flex-start', paddingTop: 6 }}&gt;&#10;        &lt;Box style={{ width: 4, height: 36, background: '#2AD4EE', marginTop: 5 }} /&gt;&#10;        &lt;Box style={{ flexDirection: 'column' }}&gt;&#10;            &lt;Text style={{ fontSize: 34, fontWeight: 'bold', color: '#E8EEF9' }}&gt;ReAct：思考 → 行动 → 观察&lt;/Text&gt;&#10;            &lt;Text style={{ marginTop: 8, fontSize: 17, color: 'rgba(232,238,249,0.52)' }}&gt;Reasoning + Acting：让模型交替输出「思考」与「行动」，直到能回答&lt;/Text&gt;&#10;        &lt;/Box&gt;&#10;    &lt;/Box&gt;&#10;&#10;    {/* B 区 */}&#10;    &lt;Box style={{ height: 516, flexDirection: 'row', gap: 36 }}&gt;&#10;        {/* 左：要点栏 */}&#10;        &lt;Box style={{ width: 336, flexDirection: 'column', paddingRight: 28, borderRight: '1px solid rgba(232,238,249,0.12)' }}&gt;&#10;            &lt;Text style={{ fontSize: 15, color: '#2AD4EE', letterSpacing: 3, fontFamily: '&quot;JetBrains Mono&quot;, &quot;Cascadia Mono&quot;, Consolas, monospace' }}&gt;REASONING + ACTING&lt;/Text&gt;&#10;            &lt;Text style={{ marginTop: 16, fontSize: 28, fontWeight: 'bold', color: '#E8EEF9', lineHeight: 1.45 }}&gt;&#10;                一段话，&#10;                &lt;br /&gt;&#10;                拆成思考与行动&#10;            &lt;/Text&gt;&#10;            &lt;Text style={{ marginTop: 18, fontSize: 17, color: 'rgba(232,238,249,0.70)', lineHeight: 1.75 }}&gt;&#10;                模型不再一次性给答案，而是交替输出「我要做什么」和「我调用什么工具」；系统执行后把结果作为 Observation 喂回去，模型再决定下一步。&#10;            &lt;/Text&gt;&#10;            &lt;Box style={{ flexDirection: 'row', gap: 8, marginTop: 18, flexWrap: 'wrap' }}&gt;&#10;                {['Thought', 'Action', 'Observation'].map((k, i) =&gt; (&#10;                    &lt;Box key={i} style={{ paddingTop: 4, paddingBottom: 4, paddingLeft: 10, paddingRight: 10, background: 'rgba(42,212,238,0.10)', borderRadius: 3 }}&gt;&#10;                        &lt;Text style={{ fontSize: 13, color: '#2AD4EE', fontFamily: '&quot;JetBrains Mono&quot;, &quot;Cascadia Mono&quot;, Consolas, monospace' }}&gt;{k}&lt;/Text&gt;&#10;                    &lt;/Box&gt;&#10;                ))}&#10;            &lt;/Box&gt;&#10;            &lt;Box style={{ marginTop: 'auto', paddingTop: 14, paddingBottom: 14, paddingLeft: 16, paddingRight: 16, background: 'rgba(22,35,61,0.95)', border: '1px solid rgba(42,212,238,0.35)', borderRadius: 4 }}&gt;&#10;                &lt;Text style={{ fontSize: 16, color: '#E8EEF9', lineHeight: 1.65 }}&gt;&#10;                    没有最大轮数兜底的 Agent，一次死循环就能烧掉一个月的 token 预算。&#10;                &lt;/Text&gt;&#10;            &lt;/Box&gt;&#10;        &lt;/Box&gt;&#10;&#10;        {/* 右：循环回路 */}&#10;        &lt;Box style={{ flex: 1, flexDirection: 'column', justifyContent: 'space-between' }}&gt;&#10;            &lt;Text style={{ fontSize: 15, color: 'rgba(232,238,249,0.52)', letterSpacing: 2, fontFamily: '&quot;JetBrains Mono&quot;, &quot;Cascadia Mono&quot;, Consolas, monospace' }}&gt;THE LOOP&lt;/Text&gt;&#10;&#10;            &lt;Box style={{ flexDirection: 'row', alignItems: 'center', marginTop: 12 }}&gt;&#10;                {[&#10;                    { t: '思考', e: 'Thought', d: '我要先查北京天气' },&#10;                    { t: '行动', e: 'Action', d: 'get_weather[北京]' },&#10;                    { t: '观察', e: 'Observation', d: '晴，28 度' },&#10;                ].map((b, i) =&gt; (&#10;                    &lt;Box key={i} style={{ flexDirection: 'row', alignItems: 'center', flex: 1 }}&gt;&#10;                        &lt;Box style={{ flex: 1, height: 116, flexDirection: 'column', justifyContent: 'center', paddingLeft: 18, paddingRight: 12, background: 'rgba(42,212,238,0.12)', border: '1px solid rgba(42,212,238,0.35)', borderRadius: 4 }}&gt;&#10;                            &lt;Text style={{ fontSize: 22, fontWeight: '600', color: '#E8EEF9' }}&gt;{b.t}&lt;/Text&gt;&#10;                            &lt;Text style={{ marginTop: 4, fontSize: 13, color: '#2AD4EE', fontFamily: '&quot;JetBrains Mono&quot;, &quot;Cascadia Mono&quot;, Consolas, monospace' }}&gt;{b.e}&lt;/Text&gt;&#10;                            &lt;Text style={{ marginTop: 10, fontSize: 15, color: 'rgba(232,238,249,0.66)', lineHeight: 1.5 }}&gt;{b.d}&lt;/Text&gt;&#10;                        &lt;/Box&gt;&#10;                        {i &lt; 2 &amp;&amp; &lt;Text style={{ fontSize: 22, color: '#2AD4EE', width: 44, textAlign: 'center' }}&gt;→&lt;/Text&gt;}&#10;                    &lt;/Box&gt;&#10;                ))}&#10;            &lt;/Box&gt;&#10;&#10;            &lt;Box style={{ height: 52, marginTop: 16, flexDirection: 'row', alignItems: 'center', gap: 14, paddingLeft: 18, paddingRight: 18, background: 'rgba(22,35,61,0.9)', border: '1px dashed rgba(42,212,238,0.45)', borderRadius: 4 }}&gt;&#10;                &lt;Text style={{ fontSize: 20, color: '#2AD4EE' }}&gt;↺&lt;/Text&gt;&#10;                &lt;Text style={{ fontSize: 16, color: 'rgba(232,238,249,0.78)' }}&gt;还没拿到答案 → 带着 Observation 回到「思考」，进入下一轮&lt;/Text&gt;&#10;            &lt;/Box&gt;&#10;&#10;            &lt;Box style={{ flexDirection: 'row', alignItems: 'center', marginTop: 16 }}&gt;&#10;                &lt;Box style={{ width: 220, height: 84, flexDirection: 'column', justifyContent: 'center', alignItems: 'center', background: 'rgba(42,212,238,0.22)', border: '1px solid rgba(42,212,238,0.45)', borderRadius: 4 }}&gt;&#10;                    &lt;Text style={{ fontSize: 22, fontWeight: 'bold', color: '#0B1220' }}&gt;回答&lt;/Text&gt;&#10;                    &lt;Text style={{ marginTop: 4, fontSize: 13, color: 'rgba(11,18,32,0.72)', fontFamily: '&quot;JetBrains Mono&quot;, &quot;Cascadia Mono&quot;, Consolas, monospace' }}&gt;Answer&lt;/Text&gt;&#10;                &lt;/Box&gt;&#10;                &lt;Text style={{ marginLeft: 18, fontSize: 16, color: 'rgba(232,238,249,0.62)', flex: 1 }}&gt;证据足够 → 输出最终答案，退出循环&lt;/Text&gt;&#10;            &lt;/Box&gt;&#10;&#10;            &lt;Box style={{ flexDirection: 'column', marginTop: 18 }}&gt;&#10;                &lt;Text style={{ fontSize: 13, color: 'rgba(232,238,249,0.42)', letterSpacing: 3, fontFamily: '&quot;JetBrains Mono&quot;, &quot;Cascadia Mono&quot;, Consolas, monospace' }}&gt;终止条件 · 四个都要有&lt;/Text&gt;&#10;                &lt;Box style={{ flexDirection: 'row', gap: 10, marginTop: 12 }}&gt;&#10;                    {['模型输出 Answer', '最大轮数', '超时', 'token 预算'].map((k, i) =&gt; (&#10;                        &lt;Box key={i} style={{ flex: 1, height: 48, justifyContent: 'center', alignItems: 'center', background: 'rgba(22,35,61,0.9)', border: '1px solid rgba(42,212,238,0.22)', borderRadius: 4 }}&gt;&#10;                            &lt;Text style={{ fontSize: 15, color: '#E8EEF9' }}&gt;{k}&lt;/Text&gt;&#10;                        &lt;/Box&gt;&#10;                    ))}&#10;                &lt;/Box&gt;&#10;            &lt;/Box&gt;&#10;        &lt;/Box&gt;&#10;    &lt;/Box&gt;&#10;&#10;    {/* C 区 · 页脚 */}&#10;    &lt;Box style={{ height: 40, flexDirection: 'row', alignItems: 'flex-end', justifyContent: 'space-between' }}&gt;&#10;        &lt;Text style={{ fontSize: 14, color: 'rgba(232,238,249,0.42)' }}&gt;从 LLM 到 Agent 再到 Pi Agent&lt;/Text&gt;&#10;        &lt;Text style={{ fontSize: 14, color: 'rgba(232,238,249,0.42)', fontFamily: '&quot;JetBrains Mono&quot;, &quot;Cascadia Mono&quot;, Consolas, monospace' }}&gt;12 / 33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125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50673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>ReAct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：思考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行动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观察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5067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Reasoning + Acting</a:t>
            </a: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：让模型交替输出「思考」与「行动」，直到能回答</a:t>
            </a:r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685800" y="1143000"/>
            <a:ext cx="3200400" cy="4914900"/>
          </a:xfrm>
          <a:custGeom>
            <a:pathLst>
              <a:path w="336" h="516">
                <a:moveTo>
                  <a:pt x="335" y="0"/>
                </a:moveTo>
                <a:lnTo>
                  <a:pt x="336" y="0"/>
                </a:lnTo>
                <a:lnTo>
                  <a:pt x="336" y="516"/>
                </a:lnTo>
                <a:lnTo>
                  <a:pt x="335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/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924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REASONING + ACTING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685800" y="1466850"/>
            <a:ext cx="2924175" cy="9334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2100" b="1">
                <a:solidFill>
                  <a:srgbClr val="E8EEF9"/>
                </a:solidFill>
                <a:latin typeface="Source Han Sans SC"/>
                <a:ea typeface="Source Han Sans SC"/>
              </a:rPr>
              <a:t>一段话，</a:t>
            </a:r>
            <a:endParaRPr/>
          </a:p>
          <a:p>
            <a:pPr>
              <a:lnSpc>
                <a:spcPct val="145000"/>
              </a:lnSpc>
            </a:pPr>
            <a:r>
              <a:rPr lang="zh-CN" sz="2100" b="1">
                <a:solidFill>
                  <a:srgbClr val="E8EEF9"/>
                </a:solidFill>
                <a:latin typeface="Source Han Sans SC"/>
                <a:ea typeface="Source Han Sans SC"/>
              </a:rPr>
              <a:t>拆成思考与行动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685800" y="2571750"/>
            <a:ext cx="2924175" cy="1362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模型不再一次性给答案，而是交替输出「我要做什么」和「我调用什么工具」；系统执行后把结果作为</a:t>
            </a:r>
            <a:r>
              <a:rPr lang="en-US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Observation </a:t>
            </a:r>
            <a:r>
              <a:rPr lang="zh-CN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喂回去，模型再决定下一步。</a:t>
            </a:r>
            <a:endParaRPr/>
          </a:p>
        </p:txBody>
      </p:sp>
      <p:sp>
        <p:nvSpPr>
          <p:cNvPr id="132" name=""/>
          <p:cNvSpPr/>
          <p:nvPr/>
        </p:nvSpPr>
        <p:spPr>
          <a:xfrm rot="0" flipH="0" flipV="0">
            <a:off x="685800" y="4105275"/>
            <a:ext cx="704850" cy="228600"/>
          </a:xfrm>
          <a:prstGeom prst="roundRect">
            <a:avLst>
              <a:gd name="adj" fmla="val 125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781050" y="4143375"/>
            <a:ext cx="514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Thought</a:t>
            </a:r>
            <a:endParaRPr/>
          </a:p>
        </p:txBody>
      </p:sp>
      <p:sp>
        <p:nvSpPr>
          <p:cNvPr id="134" name=""/>
          <p:cNvSpPr/>
          <p:nvPr/>
        </p:nvSpPr>
        <p:spPr>
          <a:xfrm rot="0" flipH="0" flipV="0">
            <a:off x="1466850" y="4105275"/>
            <a:ext cx="628650" cy="228600"/>
          </a:xfrm>
          <a:prstGeom prst="roundRect">
            <a:avLst>
              <a:gd name="adj" fmla="val 125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/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1562100" y="4143375"/>
            <a:ext cx="438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Action</a:t>
            </a:r>
            <a:endParaRPr/>
          </a:p>
        </p:txBody>
      </p:sp>
      <p:sp>
        <p:nvSpPr>
          <p:cNvPr id="136" name=""/>
          <p:cNvSpPr/>
          <p:nvPr/>
        </p:nvSpPr>
        <p:spPr>
          <a:xfrm rot="0" flipH="0" flipV="0">
            <a:off x="2171700" y="4105275"/>
            <a:ext cx="990600" cy="228600"/>
          </a:xfrm>
          <a:prstGeom prst="roundRect">
            <a:avLst>
              <a:gd name="adj" fmla="val 125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/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2266950" y="4143375"/>
            <a:ext cx="800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Observation</a:t>
            </a:r>
            <a:endParaRPr/>
          </a:p>
        </p:txBody>
      </p:sp>
      <p:sp>
        <p:nvSpPr>
          <p:cNvPr id="138" name=""/>
          <p:cNvSpPr/>
          <p:nvPr/>
        </p:nvSpPr>
        <p:spPr>
          <a:xfrm rot="0" flipH="0" flipV="0">
            <a:off x="685800" y="5181600"/>
            <a:ext cx="2924175" cy="876300"/>
          </a:xfrm>
          <a:prstGeom prst="roundRect">
            <a:avLst>
              <a:gd name="adj" fmla="val 4348"/>
            </a:avLst>
          </a:prstGeom>
          <a:solidFill>
            <a:srgbClr val="16233D">
              <a:alpha val="95000"/>
            </a:srgbClr>
          </a:solidFill>
          <a:ln w="12700">
            <a:solidFill>
              <a:srgbClr val="2AD4EE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838200" y="5314950"/>
            <a:ext cx="2619375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没有最大轮数兜底的</a:t>
            </a: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Agent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，一次死循环就能烧掉一个月的</a:t>
            </a: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token 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预算。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4229100" y="1143000"/>
            <a:ext cx="7277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THE LOOP</a:t>
            </a:r>
            <a:endParaRPr/>
          </a:p>
        </p:txBody>
      </p:sp>
      <p:sp>
        <p:nvSpPr>
          <p:cNvPr id="141" name=""/>
          <p:cNvSpPr/>
          <p:nvPr/>
        </p:nvSpPr>
        <p:spPr>
          <a:xfrm rot="0" flipH="0" flipV="0">
            <a:off x="4229100" y="1685925"/>
            <a:ext cx="2009775" cy="1104900"/>
          </a:xfrm>
          <a:prstGeom prst="roundRect">
            <a:avLst>
              <a:gd name="adj" fmla="val 3448"/>
            </a:avLst>
          </a:prstGeom>
          <a:solidFill>
            <a:srgbClr val="2AD4EE">
              <a:alpha val="12000"/>
            </a:srgbClr>
          </a:solidFill>
          <a:ln w="12700">
            <a:solidFill>
              <a:srgbClr val="2AD4EE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4400550" y="1838325"/>
            <a:ext cx="17240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思考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4400550" y="2133600"/>
            <a:ext cx="17240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Thought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4400550" y="2381250"/>
            <a:ext cx="17240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我要先查北京天气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6238875" y="2114550"/>
            <a:ext cx="419100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650">
                <a:solidFill>
                  <a:srgbClr val="2AD4EE"/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146" name=""/>
          <p:cNvSpPr/>
          <p:nvPr/>
        </p:nvSpPr>
        <p:spPr>
          <a:xfrm rot="0" flipH="0" flipV="0">
            <a:off x="6657975" y="1685925"/>
            <a:ext cx="2000250" cy="1104900"/>
          </a:xfrm>
          <a:prstGeom prst="roundRect">
            <a:avLst>
              <a:gd name="adj" fmla="val 3448"/>
            </a:avLst>
          </a:prstGeom>
          <a:solidFill>
            <a:srgbClr val="2AD4EE">
              <a:alpha val="12000"/>
            </a:srgbClr>
          </a:solidFill>
          <a:ln w="12700">
            <a:solidFill>
              <a:srgbClr val="2AD4EE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6829425" y="1838325"/>
            <a:ext cx="1714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行动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6829425" y="2133600"/>
            <a:ext cx="1714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Action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6829425" y="2381250"/>
            <a:ext cx="1714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get_weather[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北京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]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8658225" y="2114550"/>
            <a:ext cx="419100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650">
                <a:solidFill>
                  <a:srgbClr val="2AD4EE"/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151" name=""/>
          <p:cNvSpPr/>
          <p:nvPr/>
        </p:nvSpPr>
        <p:spPr>
          <a:xfrm rot="0" flipH="0" flipV="0">
            <a:off x="9077325" y="1685925"/>
            <a:ext cx="2428875" cy="1104900"/>
          </a:xfrm>
          <a:prstGeom prst="roundRect">
            <a:avLst>
              <a:gd name="adj" fmla="val 3448"/>
            </a:avLst>
          </a:prstGeom>
          <a:solidFill>
            <a:srgbClr val="2AD4EE">
              <a:alpha val="12000"/>
            </a:srgbClr>
          </a:solidFill>
          <a:ln w="12700">
            <a:solidFill>
              <a:srgbClr val="2AD4EE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9248775" y="1838325"/>
            <a:ext cx="21431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观察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9248775" y="2133600"/>
            <a:ext cx="2143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Observation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9248775" y="2381250"/>
            <a:ext cx="21431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晴，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28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度</a:t>
            </a:r>
            <a:endParaRPr/>
          </a:p>
        </p:txBody>
      </p:sp>
      <p:sp>
        <p:nvSpPr>
          <p:cNvPr id="155" name=""/>
          <p:cNvSpPr/>
          <p:nvPr/>
        </p:nvSpPr>
        <p:spPr>
          <a:xfrm rot="0" flipH="0" flipV="0">
            <a:off x="4229100" y="3200400"/>
            <a:ext cx="7277100" cy="495300"/>
          </a:xfrm>
          <a:prstGeom prst="roundRect">
            <a:avLst>
              <a:gd name="adj" fmla="val 7692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2AD4EE">
                <a:alpha val="45000"/>
              </a:srgbClr>
            </a:solidFill>
            <a:prstDash val="dash"/>
          </a:ln>
        </p:spPr>
        <p:txBody>
          <a:bodyPr/>
          <a:p/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4400550" y="3333750"/>
            <a:ext cx="9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2AD4EE"/>
                </a:solidFill>
                <a:latin typeface="Source Han Sans SC"/>
                <a:ea typeface="Source Han Sans SC"/>
              </a:rPr>
              <a:t>↺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4629150" y="3352800"/>
            <a:ext cx="41624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还没拿到答案</a:t>
            </a:r>
            <a:r>
              <a:rPr lang="en-US" sz="1200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200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带着</a:t>
            </a:r>
            <a:r>
              <a:rPr lang="en-US" sz="1200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 xml:space="preserve"> Observation </a:t>
            </a:r>
            <a:r>
              <a:rPr lang="zh-CN" sz="1200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回到「思考」，进入下一轮</a:t>
            </a:r>
            <a:endParaRPr/>
          </a:p>
        </p:txBody>
      </p:sp>
      <p:sp>
        <p:nvSpPr>
          <p:cNvPr id="158" name=""/>
          <p:cNvSpPr/>
          <p:nvPr/>
        </p:nvSpPr>
        <p:spPr>
          <a:xfrm rot="0" flipH="0" flipV="0">
            <a:off x="4229100" y="4105275"/>
            <a:ext cx="2095500" cy="800100"/>
          </a:xfrm>
          <a:prstGeom prst="roundRect">
            <a:avLst>
              <a:gd name="adj" fmla="val 4762"/>
            </a:avLst>
          </a:prstGeom>
          <a:solidFill>
            <a:srgbClr val="2AD4EE">
              <a:alpha val="22000"/>
            </a:srgbClr>
          </a:solidFill>
          <a:ln w="12700">
            <a:solidFill>
              <a:srgbClr val="2AD4E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5067300" y="428625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B1220"/>
                </a:solidFill>
                <a:latin typeface="Source Han Sans SC"/>
                <a:ea typeface="Source Han Sans SC"/>
              </a:rPr>
              <a:t>回答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5057775" y="4581525"/>
            <a:ext cx="438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0B1220">
                    <a:alpha val="72000"/>
                  </a:srgbClr>
                </a:solidFill>
                <a:latin typeface="JetBrains Mono"/>
                <a:ea typeface="JetBrains Mono"/>
              </a:rPr>
              <a:t>Answer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6496050" y="4410075"/>
            <a:ext cx="5010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证据足够</a:t>
            </a:r>
            <a:r>
              <a:rPr lang="en-US" sz="1200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200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输出最终答案，退出循环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4229100" y="5334000"/>
            <a:ext cx="7277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2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终止条件</a:t>
            </a:r>
            <a:r>
              <a:rPr lang="en-US" sz="975" spc="2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 xml:space="preserve"> · </a:t>
            </a:r>
            <a:r>
              <a:rPr lang="zh-CN" sz="975" spc="2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四个都要有</a:t>
            </a:r>
            <a:endParaRPr/>
          </a:p>
        </p:txBody>
      </p:sp>
      <p:sp>
        <p:nvSpPr>
          <p:cNvPr id="163" name=""/>
          <p:cNvSpPr/>
          <p:nvPr/>
        </p:nvSpPr>
        <p:spPr>
          <a:xfrm rot="0" flipH="0" flipV="0">
            <a:off x="4229100" y="5600700"/>
            <a:ext cx="1752600" cy="457200"/>
          </a:xfrm>
          <a:prstGeom prst="roundRect">
            <a:avLst>
              <a:gd name="adj" fmla="val 8333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4572000" y="5743575"/>
            <a:ext cx="1066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模型输出</a:t>
            </a:r>
            <a:r>
              <a:rPr lang="en-US" sz="112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Answer</a:t>
            </a:r>
            <a:endParaRPr/>
          </a:p>
        </p:txBody>
      </p:sp>
      <p:sp>
        <p:nvSpPr>
          <p:cNvPr id="165" name=""/>
          <p:cNvSpPr/>
          <p:nvPr/>
        </p:nvSpPr>
        <p:spPr>
          <a:xfrm rot="0" flipH="0" flipV="0">
            <a:off x="6076950" y="5600700"/>
            <a:ext cx="1743075" cy="457200"/>
          </a:xfrm>
          <a:prstGeom prst="roundRect">
            <a:avLst>
              <a:gd name="adj" fmla="val 8333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6667500" y="57435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最大轮数</a:t>
            </a:r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7915275" y="5600700"/>
            <a:ext cx="1752600" cy="457200"/>
          </a:xfrm>
          <a:prstGeom prst="roundRect">
            <a:avLst>
              <a:gd name="adj" fmla="val 8333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8648700" y="5743575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超时</a:t>
            </a:r>
            <a:endParaRPr/>
          </a:p>
        </p:txBody>
      </p:sp>
      <p:sp>
        <p:nvSpPr>
          <p:cNvPr id="169" name=""/>
          <p:cNvSpPr/>
          <p:nvPr/>
        </p:nvSpPr>
        <p:spPr>
          <a:xfrm rot="0" flipH="0" flipV="0">
            <a:off x="9763125" y="5600700"/>
            <a:ext cx="1743075" cy="457200"/>
          </a:xfrm>
          <a:prstGeom prst="roundRect">
            <a:avLst>
              <a:gd name="adj" fmla="val 8333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10296525" y="5743575"/>
            <a:ext cx="676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token </a:t>
            </a: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预算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12 / 33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73" name="" descr="&lt;Slide style={{ width: 1280, height: 720, padding: '20px 72px', flexDirection: 'column', background: 'linear-gradient(160deg, #0B1220 0%, #16233D 100%)', fontFamily: '&quot;Source Han Sans SC&quot;, &quot;Noto Sans SC&quot;, &quot;Microsoft YaHei&quot;, sans-serif' }}&gt;&#10;    {/* A 区 · 标题块 */}&#10;    &lt;Box style={{ height: 100, flexDirection: 'row', gap: 16, alignItems: 'flex-start', paddingTop: 6 }}&gt;&#10;        &lt;Box style={{ width: 4, height: 36, background: '#2AD4EE', marginTop: 5 }} /&gt;&#10;        &lt;Box style={{ flexDirection: 'column' }}&gt;&#10;            &lt;Text style={{ fontSize: 34, fontWeight: 'bold', color: '#E8EEF9' }}&gt;工具与记忆：手脚和上下文&lt;/Text&gt;&#10;            &lt;Text style={{ marginTop: 8, fontSize: 17, color: 'rgba(232,238,249,0.52)' }}&gt;真正干活的地方，和真正决定成本的地方&lt;/Text&gt;&#10;        &lt;/Box&gt;&#10;    &lt;/Box&gt;&#10;&#10;    {/* B 区 · 非对称双栏 58:42 */}&#10;    &lt;Box style={{ height: 516, flexDirection: 'row', gap: 36 }}&gt;&#10;        {/* 左：工具 */}&#10;        &lt;Box style={{ flex: 58, flexDirection: 'column', paddingRight: 32, borderRight: '1px solid rgba(232,238,249,0.12)' }}&gt;&#10;            &lt;Box style={{ flexDirection: 'row', alignItems: 'center', gap: 10 }}&gt;&#10;                &lt;FAIcon name='wrench' style={{ fill: '#2AD4EE', width: 18, height: 18 }} /&gt;&#10;                &lt;Text style={{ fontSize: 22, fontWeight: 'bold', color: '#E8EEF9' }}&gt;工具：手脚&lt;/Text&gt;&#10;                &lt;Text style={{ fontSize: 14, color: 'rgba(232,238,249,0.42)', fontFamily: '&quot;JetBrains Mono&quot;, &quot;Cascadia Mono&quot;, Consolas, monospace' }}&gt;TOOLS&lt;/Text&gt;&#10;            &lt;/Box&gt;&#10;            &lt;Box style={{ flexDirection: 'column', justifyContent: 'space-between', flex: 1, marginTop: 10 }}&gt;&#10;                {[&#10;                    { t: '小而专', d: 'search_order + refund_order 优于 handle_anything。一个工具干一件事，模型才用得准。' },&#10;                    { t: '描述大于实现', d: 'description 就是给模型看的 API 文档。模型选错工具，90% 的原因是这里写得烂。' },&#10;                    { t: '参数先校验再执行', d: '模型真的会瞎传参数，类型与范围都要验；「合法」也不等于「安全」。' },&#10;                    { t: '失败要回喂，不要吞', d: '工具抛错别让程序崩，把报错拼回上下文，让模型下一轮自己调整。' },&#10;                ].map((c, i) =&gt; (&#10;                    &lt;Box key={i} style={{ flexDirection: 'row', gap: 16, alignItems: 'flex-start', paddingTop: 10, paddingBottom: 10, borderBottom: i === 3 ? 'none' : '1px solid rgba(232,238,249,0.08)' }}&gt;&#10;                        &lt;Text style={{ fontSize: 18, color: '#2AD4EE', fontFamily: '&quot;JetBrains Mono&quot;, &quot;Cascadia Mono&quot;, Consolas, monospace', width: 34 }}&gt;0{i + 1}&lt;/Text&gt;&#10;                        &lt;Box style={{ flexDirection: 'column', flex: 1 }}&gt;&#10;                            &lt;Text style={{ fontSize: 19, fontWeight: '600', color: '#E8EEF9' }}&gt;{c.t}&lt;/Text&gt;&#10;                            &lt;Text style={{ marginTop: 5, fontSize: 15, color: 'rgba(232,238,249,0.64)', lineHeight: 1.6 }}&gt;{c.d}&lt;/Text&gt;&#10;                        &lt;/Box&gt;&#10;                    &lt;/Box&gt;&#10;                ))}&#10;            &lt;/Box&gt;&#10;        &lt;/Box&gt;&#10;&#10;        {/* 右：记忆 */}&#10;        &lt;Box style={{ flex: 42, flexDirection: 'column' }}&gt;&#10;            &lt;Box style={{ flexDirection: 'row', alignItems: 'center', gap: 10 }}&gt;&#10;                &lt;FAIcon name='layer-group' style={{ fill: '#2AD4EE', width: 18, height: 18 }} /&gt;&#10;                &lt;Text style={{ fontSize: 22, fontWeight: 'bold', color: '#E8EEF9' }}&gt;记忆：上下文&lt;/Text&gt;&#10;                &lt;Text style={{ fontSize: 14, color: 'rgba(232,238,249,0.42)', fontFamily: '&quot;JetBrains Mono&quot;, &quot;Cascadia Mono&quot;, Consolas, monospace' }}&gt;MEMORY&lt;/Text&gt;&#10;            &lt;/Box&gt;&#10;&#10;            &lt;Box style={{ marginTop: 20, flexDirection: 'column', gap: 14 }}&gt;&#10;                {[&#10;                    { k: '近期', v: '原文', w: '100%', d: 'system + 历史 + 本轮 messages' },&#10;                    { k: '远期', v: '摘要', w: '76%', d: '超窗裁剪 / compaction 压缩' },&#10;                    { k: '事实', v: '卡片', w: '54%', d: '结构化字段，稳定可查' },&#10;                    { k: '知识', v: '向量库', w: '34%', d: 'Embedding 检索 topK' },&#10;                ].map((r, i) =&gt; (&#10;                    &lt;Box key={i} style={{ flexDirection: 'column', gap: 7 }}&gt;&#10;                        &lt;Box style={{ flexDirection: 'row', alignItems: 'baseline', gap: 10 }}&gt;&#10;                            &lt;Text style={{ fontSize: 17, fontWeight: '600', color: '#E8EEF9' }}&gt;{r.k} → {r.v}&lt;/Text&gt;&#10;                            &lt;Text style={{ fontSize: 14, color: 'rgba(232,238,249,0.52)' }}&gt;{r.d}&lt;/Text&gt;&#10;                        &lt;/Box&gt;&#10;                        &lt;Box style={{ height: 8, width: r.w, background: 'linear-gradient(90deg, #2AD4EE 0%, rgba(42,212,238,0.15) 100%)', borderRadius: 2 }} /&gt;&#10;                    &lt;/Box&gt;&#10;                ))}&#10;            &lt;/Box&gt;&#10;&#10;            &lt;Box style={{ marginTop: 'auto', paddingTop: 16, paddingBottom: 16, paddingLeft: 18, paddingRight: 18, background: 'rgba(22,35,61,0.95)', border: '1px solid rgba(42,212,238,0.35)', borderRadius: 4 }}&gt;&#10;                &lt;Text style={{ fontSize: 15, color: '#2AD4EE', letterSpacing: 2, fontFamily: '&quot;JetBrains Mono&quot;, &quot;Cascadia Mono&quot;, Consolas, monospace' }}&gt;口诀&lt;/Text&gt;&#10;                &lt;Text style={{ marginTop: 10, fontSize: 17, color: '#E8EEF9', lineHeight: 1.65 }}&gt;&#10;                    近期带原文，远期压摘要；&#10;                    &lt;br /&gt;&#10;                    事实存卡片，知识进向量库。&#10;                &lt;/Text&gt;&#10;            &lt;/Box&gt;&#10;        &lt;/Box&gt;&#10;    &lt;/Box&gt;&#10;&#10;    {/* C 区 · 页脚 */}&#10;    &lt;Box style={{ height: 40, flexDirection: 'row', alignItems: 'flex-end', justifyContent: 'space-between' }}&gt;&#10;        &lt;Text style={{ fontSize: 14, color: 'rgba(232,238,249,0.42)' }}&gt;从 LLM 到 Agent 再到 Pi Agent&lt;/Text&gt;&#10;        &lt;Text style={{ fontSize: 14, color: 'rgba(232,238,249,0.42)', fontFamily: '&quot;JetBrains Mono&quot;, &quot;Cascadia Mono&quot;, Consolas, monospace' }}&gt;13 / 33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175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工具与记忆：手脚和上下文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3886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真正干活的地方，和真正决定成本的地方</a:t>
            </a:r>
            <a:endParaRPr/>
          </a:p>
        </p:txBody>
      </p:sp>
      <p:sp>
        <p:nvSpPr>
          <p:cNvPr id="178" name=""/>
          <p:cNvSpPr/>
          <p:nvPr/>
        </p:nvSpPr>
        <p:spPr>
          <a:xfrm rot="0" flipH="0" flipV="0">
            <a:off x="685800" y="1143000"/>
            <a:ext cx="6086475" cy="4914900"/>
          </a:xfrm>
          <a:custGeom>
            <a:pathLst>
              <a:path w="639" h="516">
                <a:moveTo>
                  <a:pt x="638" y="0"/>
                </a:moveTo>
                <a:lnTo>
                  <a:pt x="639" y="0"/>
                </a:lnTo>
                <a:lnTo>
                  <a:pt x="639" y="516"/>
                </a:lnTo>
                <a:lnTo>
                  <a:pt x="638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/>
        </p:txBody>
      </p:sp>
      <p:pic>
        <p:nvPicPr>
          <p:cNvPr id="17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" y="1190625"/>
            <a:ext cx="171450" cy="171450"/>
          </a:xfrm>
          <a:prstGeom prst="rect">
            <a:avLst/>
          </a:prstGeom>
          <a:ln/>
        </p:spPr>
      </p:pic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952500" y="1143000"/>
            <a:ext cx="1047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工具：手脚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2095500" y="119062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TOOLS</a:t>
            </a:r>
            <a:endParaRPr/>
          </a:p>
        </p:txBody>
      </p:sp>
      <p:sp>
        <p:nvSpPr>
          <p:cNvPr id="182" name=""/>
          <p:cNvSpPr/>
          <p:nvPr/>
        </p:nvSpPr>
        <p:spPr>
          <a:xfrm rot="0" flipH="0" flipV="0">
            <a:off x="685800" y="1495425"/>
            <a:ext cx="5762625" cy="1028700"/>
          </a:xfrm>
          <a:custGeom>
            <a:pathLst>
              <a:path w="605" h="108">
                <a:moveTo>
                  <a:pt x="0" y="107"/>
                </a:moveTo>
                <a:lnTo>
                  <a:pt x="605" y="107"/>
                </a:lnTo>
                <a:lnTo>
                  <a:pt x="605" y="108"/>
                </a:lnTo>
                <a:lnTo>
                  <a:pt x="0" y="108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/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685800" y="1590675"/>
            <a:ext cx="323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2AD4EE"/>
                </a:solidFill>
                <a:latin typeface="JetBrains Mono"/>
                <a:ea typeface="JetBrains Mono"/>
              </a:rPr>
              <a:t>0</a:t>
            </a:r>
            <a:r>
              <a:rPr lang="en-US" sz="1350">
                <a:solidFill>
                  <a:srgbClr val="2AD4EE"/>
                </a:solidFill>
                <a:latin typeface="JetBrains Mono"/>
                <a:ea typeface="JetBrains Mono"/>
              </a:rPr>
              <a:t>1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1162050" y="1590675"/>
            <a:ext cx="52863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小而专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1162050" y="1857375"/>
            <a:ext cx="528637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125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 xml:space="preserve">search_order + refund_order </a:t>
            </a:r>
            <a:r>
              <a:rPr lang="zh-CN" sz="1125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>优于</a:t>
            </a:r>
            <a:r>
              <a:rPr lang="en-US" sz="1125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 xml:space="preserve"> handle_anything</a:t>
            </a:r>
            <a:r>
              <a:rPr lang="zh-CN" sz="1125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>。一个工具干一件事，模型才用得准。</a:t>
            </a:r>
            <a:endParaRPr/>
          </a:p>
        </p:txBody>
      </p:sp>
      <p:sp>
        <p:nvSpPr>
          <p:cNvPr id="186" name=""/>
          <p:cNvSpPr/>
          <p:nvPr/>
        </p:nvSpPr>
        <p:spPr>
          <a:xfrm rot="0" flipH="0" flipV="0">
            <a:off x="685800" y="2952750"/>
            <a:ext cx="5762625" cy="752475"/>
          </a:xfrm>
          <a:custGeom>
            <a:pathLst>
              <a:path w="605" h="79">
                <a:moveTo>
                  <a:pt x="0" y="78"/>
                </a:moveTo>
                <a:lnTo>
                  <a:pt x="605" y="78"/>
                </a:lnTo>
                <a:lnTo>
                  <a:pt x="605" y="79"/>
                </a:lnTo>
                <a:lnTo>
                  <a:pt x="0" y="79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/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685800" y="3048000"/>
            <a:ext cx="323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2AD4EE"/>
                </a:solidFill>
                <a:latin typeface="JetBrains Mono"/>
                <a:ea typeface="JetBrains Mono"/>
              </a:rPr>
              <a:t>0</a:t>
            </a:r>
            <a:r>
              <a:rPr lang="en-US" sz="1350">
                <a:solidFill>
                  <a:srgbClr val="2AD4EE"/>
                </a:solidFill>
                <a:latin typeface="JetBrains Mono"/>
                <a:ea typeface="JetBrains Mono"/>
              </a:rPr>
              <a:t>2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1162050" y="3048000"/>
            <a:ext cx="52863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描述大于实现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1162050" y="3314700"/>
            <a:ext cx="528637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 xml:space="preserve">description </a:t>
            </a:r>
            <a:r>
              <a:rPr lang="zh-CN" sz="1125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>就是给模型看的</a:t>
            </a:r>
            <a:r>
              <a:rPr lang="en-US" sz="1125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 xml:space="preserve"> API </a:t>
            </a:r>
            <a:r>
              <a:rPr lang="zh-CN" sz="1125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>文档。模型选错工具，</a:t>
            </a:r>
            <a:r>
              <a:rPr lang="en-US" sz="1125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 xml:space="preserve">90% </a:t>
            </a:r>
            <a:r>
              <a:rPr lang="zh-CN" sz="1125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>的原因是这里写得烂。</a:t>
            </a:r>
            <a:endParaRPr/>
          </a:p>
        </p:txBody>
      </p:sp>
      <p:sp>
        <p:nvSpPr>
          <p:cNvPr id="190" name=""/>
          <p:cNvSpPr/>
          <p:nvPr/>
        </p:nvSpPr>
        <p:spPr>
          <a:xfrm rot="0" flipH="0" flipV="0">
            <a:off x="685800" y="4143375"/>
            <a:ext cx="5762625" cy="752475"/>
          </a:xfrm>
          <a:custGeom>
            <a:pathLst>
              <a:path w="605" h="79">
                <a:moveTo>
                  <a:pt x="0" y="78"/>
                </a:moveTo>
                <a:lnTo>
                  <a:pt x="605" y="78"/>
                </a:lnTo>
                <a:lnTo>
                  <a:pt x="605" y="79"/>
                </a:lnTo>
                <a:lnTo>
                  <a:pt x="0" y="79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/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685800" y="4238625"/>
            <a:ext cx="323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2AD4EE"/>
                </a:solidFill>
                <a:latin typeface="JetBrains Mono"/>
                <a:ea typeface="JetBrains Mono"/>
              </a:rPr>
              <a:t>0</a:t>
            </a:r>
            <a:r>
              <a:rPr lang="en-US" sz="1350">
                <a:solidFill>
                  <a:srgbClr val="2AD4EE"/>
                </a:solidFill>
                <a:latin typeface="JetBrains Mono"/>
                <a:ea typeface="JetBrains Mono"/>
              </a:rPr>
              <a:t>3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1162050" y="4238625"/>
            <a:ext cx="52863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参数先校验再执行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1162050" y="4505325"/>
            <a:ext cx="528637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>模型真的会瞎传参数，类型与范围都要验；「合法」也不等于「安全」。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685800" y="5419725"/>
            <a:ext cx="323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2AD4EE"/>
                </a:solidFill>
                <a:latin typeface="JetBrains Mono"/>
                <a:ea typeface="JetBrains Mono"/>
              </a:rPr>
              <a:t>0</a:t>
            </a:r>
            <a:r>
              <a:rPr lang="en-US" sz="1350">
                <a:solidFill>
                  <a:srgbClr val="2AD4EE"/>
                </a:solidFill>
                <a:latin typeface="JetBrains Mono"/>
                <a:ea typeface="JetBrains Mono"/>
              </a:rPr>
              <a:t>4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1162050" y="5419725"/>
            <a:ext cx="52863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失败要回喂，不要吞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1162050" y="5686425"/>
            <a:ext cx="528637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>工具抛错别让程序崩，把报错拼回上下文，让模型下一轮自己调整。</a:t>
            </a:r>
            <a:endParaRPr/>
          </a:p>
        </p:txBody>
      </p:sp>
      <p:pic>
        <p:nvPicPr>
          <p:cNvPr id="19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105650" y="1190625"/>
            <a:ext cx="171450" cy="171450"/>
          </a:xfrm>
          <a:prstGeom prst="rect">
            <a:avLst/>
          </a:prstGeom>
          <a:ln/>
        </p:spPr>
      </p:pic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7372350" y="1143000"/>
            <a:ext cx="1257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记忆：上下文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8724900" y="1190625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MEMORY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7105650" y="1590675"/>
            <a:ext cx="8858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近期</a:t>
            </a:r>
            <a:r>
              <a:rPr lang="en-US" sz="12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原文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8086725" y="1590675"/>
            <a:ext cx="1809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system + </a:t>
            </a:r>
            <a:r>
              <a:rPr lang="zh-CN" sz="1050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历史</a:t>
            </a:r>
            <a:r>
              <a:rPr lang="en-US" sz="1050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050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本轮</a:t>
            </a:r>
            <a:r>
              <a:rPr lang="en-US" sz="1050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messages</a:t>
            </a:r>
            <a:endParaRPr/>
          </a:p>
        </p:txBody>
      </p:sp>
      <p:sp>
        <p:nvSpPr>
          <p:cNvPr id="202" name=""/>
          <p:cNvSpPr/>
          <p:nvPr/>
        </p:nvSpPr>
        <p:spPr>
          <a:xfrm rot="0" flipH="0" flipV="0">
            <a:off x="7105650" y="1857375"/>
            <a:ext cx="4400550" cy="76200"/>
          </a:xfrm>
          <a:prstGeom prst="roundRect">
            <a:avLst>
              <a:gd name="adj" fmla="val 25000"/>
            </a:avLst>
          </a:prstGeom>
          <a:gradFill>
            <a:gsLst>
              <a:gs pos="0">
                <a:srgbClr val="2AD4EE"/>
              </a:gs>
              <a:gs pos="100000">
                <a:srgbClr val="2AD4EE">
                  <a:alpha val="150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7105650" y="2066925"/>
            <a:ext cx="8858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远期</a:t>
            </a:r>
            <a:r>
              <a:rPr lang="en-US" sz="12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摘要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8086725" y="2066925"/>
            <a:ext cx="16478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超窗裁剪</a:t>
            </a:r>
            <a:r>
              <a:rPr lang="en-US" sz="1050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/ compaction </a:t>
            </a:r>
            <a:r>
              <a:rPr lang="zh-CN" sz="1050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压缩</a:t>
            </a:r>
            <a:endParaRPr/>
          </a:p>
        </p:txBody>
      </p:sp>
      <p:sp>
        <p:nvSpPr>
          <p:cNvPr id="205" name=""/>
          <p:cNvSpPr/>
          <p:nvPr/>
        </p:nvSpPr>
        <p:spPr>
          <a:xfrm rot="0" flipH="0" flipV="0">
            <a:off x="7105650" y="2333625"/>
            <a:ext cx="3343275" cy="76200"/>
          </a:xfrm>
          <a:prstGeom prst="roundRect">
            <a:avLst>
              <a:gd name="adj" fmla="val 25000"/>
            </a:avLst>
          </a:prstGeom>
          <a:gradFill>
            <a:gsLst>
              <a:gs pos="0">
                <a:srgbClr val="2AD4EE"/>
              </a:gs>
              <a:gs pos="100000">
                <a:srgbClr val="2AD4EE">
                  <a:alpha val="150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7105650" y="2543175"/>
            <a:ext cx="8858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事实</a:t>
            </a:r>
            <a:r>
              <a:rPr lang="en-US" sz="12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卡片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8086725" y="2543175"/>
            <a:ext cx="1333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结构化字段，稳定可查</a:t>
            </a:r>
            <a:endParaRPr/>
          </a:p>
        </p:txBody>
      </p:sp>
      <p:sp>
        <p:nvSpPr>
          <p:cNvPr id="208" name=""/>
          <p:cNvSpPr/>
          <p:nvPr/>
        </p:nvSpPr>
        <p:spPr>
          <a:xfrm rot="0" flipH="0" flipV="0">
            <a:off x="7105650" y="2809875"/>
            <a:ext cx="2371725" cy="76200"/>
          </a:xfrm>
          <a:prstGeom prst="roundRect">
            <a:avLst>
              <a:gd name="adj" fmla="val 25000"/>
            </a:avLst>
          </a:prstGeom>
          <a:gradFill>
            <a:gsLst>
              <a:gs pos="0">
                <a:srgbClr val="2AD4EE"/>
              </a:gs>
              <a:gs pos="100000">
                <a:srgbClr val="2AD4EE">
                  <a:alpha val="150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7105650" y="3019425"/>
            <a:ext cx="1047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知识</a:t>
            </a:r>
            <a:r>
              <a:rPr lang="en-US" sz="12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向量库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8248650" y="3019425"/>
            <a:ext cx="1295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Embedding </a:t>
            </a:r>
            <a:r>
              <a:rPr lang="zh-CN" sz="1050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检索</a:t>
            </a:r>
            <a:r>
              <a:rPr lang="en-US" sz="1050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topK</a:t>
            </a:r>
            <a:endParaRPr/>
          </a:p>
        </p:txBody>
      </p:sp>
      <p:sp>
        <p:nvSpPr>
          <p:cNvPr id="211" name=""/>
          <p:cNvSpPr/>
          <p:nvPr/>
        </p:nvSpPr>
        <p:spPr>
          <a:xfrm rot="0" flipH="0" flipV="0">
            <a:off x="7105650" y="3286125"/>
            <a:ext cx="1495425" cy="76200"/>
          </a:xfrm>
          <a:prstGeom prst="roundRect">
            <a:avLst>
              <a:gd name="adj" fmla="val 25000"/>
            </a:avLst>
          </a:prstGeom>
          <a:gradFill>
            <a:gsLst>
              <a:gs pos="0">
                <a:srgbClr val="2AD4EE"/>
              </a:gs>
              <a:gs pos="100000">
                <a:srgbClr val="2AD4EE">
                  <a:alpha val="150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212" name=""/>
          <p:cNvSpPr/>
          <p:nvPr/>
        </p:nvSpPr>
        <p:spPr>
          <a:xfrm rot="0" flipH="0" flipV="0">
            <a:off x="7105650" y="4838700"/>
            <a:ext cx="4400550" cy="1219200"/>
          </a:xfrm>
          <a:prstGeom prst="roundRect">
            <a:avLst>
              <a:gd name="adj" fmla="val 3125"/>
            </a:avLst>
          </a:prstGeom>
          <a:solidFill>
            <a:srgbClr val="16233D">
              <a:alpha val="95000"/>
            </a:srgbClr>
          </a:solidFill>
          <a:ln w="12700">
            <a:solidFill>
              <a:srgbClr val="2AD4EE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7277100" y="4991100"/>
            <a:ext cx="4057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150">
                <a:solidFill>
                  <a:srgbClr val="2AD4EE"/>
                </a:solidFill>
                <a:latin typeface="JetBrains Mono"/>
                <a:ea typeface="JetBrains Mono"/>
              </a:rPr>
              <a:t>口诀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7277100" y="5257800"/>
            <a:ext cx="4057650" cy="6477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近期带原文，远期压摘要；</a:t>
            </a:r>
            <a:endParaRPr/>
          </a:p>
          <a:p>
            <a:pPr>
              <a:lnSpc>
                <a:spcPct val="165000"/>
              </a:lnSpc>
            </a:pP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事实存卡片，知识进向量库。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13 / 33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217" name="" descr="&lt;Slide style={{ width: 1280, height: 720, padding: '20px 72px', flexDirection: 'column', background: 'linear-gradient(160deg, #0B1220 0%, #16233D 100%)', fontFamily: '&quot;Source Han Sans SC&quot;, &quot;Noto Sans SC&quot;, &quot;Microsoft YaHei&quot;, sans-serif' }}&gt;&#10;    {/* A 区 · 标题块 */}&#10;    &lt;Box style={{ height: 100, flexDirection: 'row', gap: 16, alignItems: 'flex-start', paddingTop: 6 }}&gt;&#10;        &lt;Box style={{ width: 4, height: 36, background: '#2AD4EE', marginTop: 5 }} /&gt;&#10;        &lt;Box style={{ flexDirection: 'column' }}&gt;&#10;            &lt;Text style={{ fontSize: 34, fontWeight: 'bold', color: '#E8EEF9' }}&gt;学习路径：五个阶段&lt;/Text&gt;&#10;            &lt;Text style={{ marginTop: 8, fontSize: 17, color: 'rgba(232,238,249,0.52)' }}&gt;从「手写一遍」到「工程化」，每个阶段解决一类新问题&lt;/Text&gt;&#10;        &lt;/Box&gt;&#10;    &lt;/Box&gt;&#10;&#10;    {/* B 区 */}&#10;    &lt;Box style={{ height: 516, flexDirection: 'column' }}&gt;&#10;        {/* 上半 · 五阶段时间轴 */}&#10;        &lt;Box style={{ height: 300, flexDirection: 'column' }}&gt;&#10;            &lt;Box style={{ flexDirection: 'row', alignItems: 'center', justifyContent: 'space-between' }}&gt;&#10;                &lt;Text style={{ fontSize: 15, color: '#2AD4EE', letterSpacing: 3, fontFamily: '&quot;JetBrains Mono&quot;, &quot;Cascadia Mono&quot;, Consolas, monospace' }}&gt;LEARNING PATH · 5 STAGES&lt;/Text&gt;&#10;                &lt;Text style={{ fontSize: 15, color: 'rgba(232,238,249,0.42)' }}&gt;难度与工程量 : 依次递增 →&lt;/Text&gt;&#10;            &lt;/Box&gt;&#10;&#10;            &lt;Box style={{ position: 'relative', marginTop: 24, flex: 1 }}&gt;&#10;                &lt;Box style={{ position: 'absolute', left: 12, right: 12, top: 13, height: 2, background: 'linear-gradient(90deg, rgba(42,212,238,0.85) 0%, rgba(42,212,238,0.18) 100%)' }} /&gt;&#10;                &lt;Box style={{ flexDirection: 'row', gap: 14 }}&gt;&#10;                    {[&#10;                        { n: '01', t: '手写 ReAct', d: '自己拼 Prompt、自己正则解析输出，把循环每个环节摸一遍。', o: '一个能跑的 while 循环' },&#10;                        { n: '02', t: '原生 FC', d: '改用 JSON Schema 声明工具，模型直接返回结构化 tool_calls。', o: '稳定的工具契约' },&#10;                        { n: '03', t: '记忆与 RAG', d: '上下文裁剪、摘要压缩、向量检索，让 Agent 记得住事。', o: '可控的上下文预算' },&#10;                        { n: '04', t: '多工具实战', d: '工具变多、结果变脏、失败变常态，开始处理真实的边界。', o: '敢给业务用的 Agent' },&#10;                        { n: '05', t: '框架与工程', d: '上框架、做观测、加护栏、建评测，从 demo 走到系统。', o: '可维护的 Agent 系统' },&#10;                    ].map((s, i) =&gt; (&#10;                        &lt;Box key={i} style={{ flex: 1, flexDirection: 'column' }}&gt;&#10;                            &lt;Box style={{ width: 28, height: 28, borderRadius: 14, background: '#0B1220', border: '2px solid #2AD4EE', alignItems: 'center', justifyContent: 'center' }}&gt;&#10;                                &lt;Text style={{ fontSize: 12, color: '#2AD4EE', fontFamily: '&quot;JetBrains Mono&quot;, &quot;Cascadia Mono&quot;, Consolas, monospace' }}&gt;{s.n}&lt;/Text&gt;&#10;                            &lt;/Box&gt;&#10;                            &lt;Text style={{ marginTop: 18, fontSize: 21, fontWeight: 'bold', color: '#E8EEF9' }}&gt;{s.t}&lt;/Text&gt;&#10;                            &lt;Text style={{ marginTop: 10, fontSize: 15, color: 'rgba(232,238,249,0.66)', lineHeight: 1.7 }}&gt;{s.d}&lt;/Text&gt;&#10;                            &lt;Box style={{ marginTop: 'auto', paddingTop: 8, paddingBottom: 8, paddingLeft: 10, paddingRight: 10, background: 'rgba(22,35,61,0.92)', borderLeft: '2px solid rgba(42,212,238,0.55)' }}&gt;&#10;                                &lt;Text style={{ fontSize: 13, color: '#2AD4EE', lineHeight: 1.45 }}&gt;产出 · {s.o}&lt;/Text&gt;&#10;                            &lt;/Box&gt;&#10;                        &lt;/Box&gt;&#10;                    ))}&#10;                &lt;/Box&gt;&#10;            &lt;/Box&gt;&#10;        &lt;/Box&gt;&#10;&#10;        {/* 下半 · 左说明 + 右判断 */}&#10;        &lt;Box style={{ height: 200, marginTop: 16, flexDirection: 'row', gap: 24 }}&gt;&#10;            &lt;Box style={{ flex: 60, flexDirection: 'column', paddingRight: 24, borderRight: '1px solid rgba(232,238,249,0.12)' }}&gt;&#10;                &lt;Text style={{ fontSize: 20, fontWeight: 'bold', color: '#E8EEF9' }}&gt;为什么顺序不能颠倒&lt;/Text&gt;&#10;                &lt;Box style={{ marginTop: 12, flexDirection: 'column', gap: 9 }}&gt;&#10;                    {[&#10;                        ['阶段 1–2 是「看穿黑盒」', '：不亲手拼一次 Prompt，你永远不知道模型为什么不听话。'],&#10;                        ['阶段 3 是「成本与记忆」', '：上下文是所有 Agent 问题的共同源头。'],&#10;                        ['阶段 4 是「边界」', '：真实世界的错误，几乎都发生在工具与数据的接缝处。'],&#10;                        ['阶段 5 才轮到工程化', '：没有前四步的直觉，框架只会让你更糊涂。'],&#10;                    ].map((p, i) =&gt; (&#10;                        &lt;Box key={i} style={{ flexDirection: 'row', alignItems: 'flex-start', gap: 10 }}&gt;&#10;                            &lt;Box style={{ width: 5, height: 5, background: '#2AD4EE', marginTop: 8 }} /&gt;&#10;                            &lt;Text style={{ fontSize: 16, color: 'rgba(232,238,249,0.72)', lineHeight: 1.6, flex: 1 }}&gt;&#10;                                &lt;span style={{ color: '#E8EEF9', fontWeight: '600' }}&gt;{p[0]}&lt;/span&gt;{p[1]}&#10;                            &lt;/Text&gt;&#10;                        &lt;/Box&gt;&#10;                    ))}&#10;                &lt;/Box&gt;&#10;            &lt;/Box&gt;&#10;&#10;            &lt;Box style={{ flex: 40, flexDirection: 'column', justifyContent: 'center', paddingTop: 20, paddingBottom: 20, paddingLeft: 22, paddingRight: 22, background: 'rgba(42,212,238,0.08)', border: '1px solid rgba(42,212,238,0.22)', borderRadius: 4 }}&gt;&#10;                &lt;Text style={{ fontSize: 16, color: '#2AD4EE', letterSpacing: 3, fontFamily: '&quot;JetBrains Mono&quot;, &quot;Cascadia Mono&quot;, Consolas, monospace' }}&gt;所以&lt;/Text&gt;&#10;                &lt;Text style={{ marginTop: 14, fontSize: 19, color: '#E8EEF9', lineHeight: 1.7 }}&gt;&#10;                    先手写，再上框架。&#10;                    &lt;br /&gt;&#10;                    跳过手写阶段，出问题时你连&#10;                    &lt;span style={{ color: '#2AD4EE' }}&gt;日志该看哪一行&lt;/span&gt;&#10;                    都不知道。&#10;                &lt;/Text&gt;&#10;            &lt;/Box&gt;&#10;        &lt;/Box&gt;&#10;    &lt;/Box&gt;&#10;&#10;    {/* C 区 · 页脚 */}&#10;    &lt;Box style={{ height: 40, flexDirection: 'row', alignItems: 'flex-end', justifyContent: 'space-between' }}&gt;&#10;        &lt;Text style={{ fontSize: 14, color: 'rgba(232,238,249,0.42)' }}&gt;从 LLM 到 Agent 再到 Pi Agent&lt;/Text&gt;&#10;        &lt;Text style={{ fontSize: 14, color: 'rgba(232,238,249,0.42)', fontFamily: '&quot;JetBrains Mono&quot;, &quot;Cascadia Mono&quot;, Consolas, monospace' }}&gt;14 / 33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219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40481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学习路径：五个阶段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40481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从「手写一遍」到「工程化」，每个阶段解决一类新问题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695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LEARNING PATH · 5 STAGES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9801225" y="1143000"/>
            <a:ext cx="1704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难度与工程量</a:t>
            </a:r>
            <a:r>
              <a:rPr lang="en-US" sz="112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: </a:t>
            </a:r>
            <a:r>
              <a:rPr lang="zh-CN" sz="112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依次递增</a:t>
            </a:r>
            <a:r>
              <a:rPr lang="en-US" sz="112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→</a:t>
            </a:r>
            <a:endParaRPr/>
          </a:p>
        </p:txBody>
      </p:sp>
      <p:sp>
        <p:nvSpPr>
          <p:cNvPr id="224" name=""/>
          <p:cNvSpPr/>
          <p:nvPr/>
        </p:nvSpPr>
        <p:spPr>
          <a:xfrm rot="0" flipH="0" flipV="0">
            <a:off x="685800" y="4152900"/>
            <a:ext cx="6362700" cy="1905000"/>
          </a:xfrm>
          <a:custGeom>
            <a:pathLst>
              <a:path w="668" h="200">
                <a:moveTo>
                  <a:pt x="667" y="0"/>
                </a:moveTo>
                <a:lnTo>
                  <a:pt x="668" y="0"/>
                </a:lnTo>
                <a:lnTo>
                  <a:pt x="668" y="200"/>
                </a:lnTo>
                <a:lnTo>
                  <a:pt x="667" y="200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/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685800" y="4152900"/>
            <a:ext cx="61150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8EEF9"/>
                </a:solidFill>
                <a:latin typeface="Source Han Sans SC"/>
                <a:ea typeface="Source Han Sans SC"/>
              </a:rPr>
              <a:t>为什么顺序不能颠倒</a:t>
            </a:r>
            <a:endParaRPr/>
          </a:p>
        </p:txBody>
      </p:sp>
      <p:sp>
        <p:nvSpPr>
          <p:cNvPr id="226" name=""/>
          <p:cNvSpPr/>
          <p:nvPr/>
        </p:nvSpPr>
        <p:spPr>
          <a:xfrm rot="0" flipH="0" flipV="0">
            <a:off x="685800" y="4572000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828675" y="4495800"/>
            <a:ext cx="597217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阶段</a:t>
            </a:r>
            <a:r>
              <a:rPr lang="en-US" sz="12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1–2 </a:t>
            </a: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是「看穿黑盒」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：不亲手拼一次</a:t>
            </a:r>
            <a:r>
              <a:rPr lang="en-US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Prompt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，你永远不知道模型为什么不听话。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685800" y="4953000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828675" y="4876800"/>
            <a:ext cx="597217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阶段</a:t>
            </a:r>
            <a:r>
              <a:rPr lang="en-US" sz="12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3 </a:t>
            </a: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是「成本与记忆」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：上下文是所有</a:t>
            </a:r>
            <a:r>
              <a:rPr lang="en-US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问题的共同源头。</a:t>
            </a:r>
            <a:endParaRPr/>
          </a:p>
        </p:txBody>
      </p:sp>
      <p:sp>
        <p:nvSpPr>
          <p:cNvPr id="230" name=""/>
          <p:cNvSpPr/>
          <p:nvPr/>
        </p:nvSpPr>
        <p:spPr>
          <a:xfrm rot="0" flipH="0" flipV="0">
            <a:off x="685800" y="5334000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828675" y="5257800"/>
            <a:ext cx="597217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阶段</a:t>
            </a:r>
            <a:r>
              <a:rPr lang="en-US" sz="12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4 </a:t>
            </a: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是「边界」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：真实世界的错误，几乎都发生在工具与数据的接缝处。</a:t>
            </a:r>
            <a:endParaRPr/>
          </a:p>
        </p:txBody>
      </p:sp>
      <p:sp>
        <p:nvSpPr>
          <p:cNvPr id="232" name=""/>
          <p:cNvSpPr/>
          <p:nvPr/>
        </p:nvSpPr>
        <p:spPr>
          <a:xfrm rot="0" flipH="0" flipV="0">
            <a:off x="685800" y="5715000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828675" y="5638800"/>
            <a:ext cx="597217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阶段</a:t>
            </a:r>
            <a:r>
              <a:rPr lang="en-US" sz="12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5 </a:t>
            </a: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才轮到工程化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：没有前四步的直觉，框架只会让你更糊涂。</a:t>
            </a:r>
            <a:endParaRPr/>
          </a:p>
        </p:txBody>
      </p:sp>
      <p:sp>
        <p:nvSpPr>
          <p:cNvPr id="234" name=""/>
          <p:cNvSpPr/>
          <p:nvPr/>
        </p:nvSpPr>
        <p:spPr>
          <a:xfrm rot="0" flipH="0" flipV="0">
            <a:off x="7267575" y="4152900"/>
            <a:ext cx="4238625" cy="1905000"/>
          </a:xfrm>
          <a:prstGeom prst="roundRect">
            <a:avLst>
              <a:gd name="adj" fmla="val 2000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7477125" y="4391025"/>
            <a:ext cx="38195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225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7477125" y="4714875"/>
            <a:ext cx="3819525" cy="1114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425">
                <a:solidFill>
                  <a:srgbClr val="E8EEF9"/>
                </a:solidFill>
                <a:latin typeface="Source Han Sans SC"/>
                <a:ea typeface="Source Han Sans SC"/>
              </a:rPr>
              <a:t>先手写，再上框架。</a:t>
            </a:r>
            <a:endParaRPr/>
          </a:p>
          <a:p>
            <a:pPr>
              <a:lnSpc>
                <a:spcPct val="170000"/>
              </a:lnSpc>
            </a:pPr>
            <a:r>
              <a:rPr lang="zh-CN" sz="1425">
                <a:solidFill>
                  <a:srgbClr val="E8EEF9"/>
                </a:solidFill>
                <a:latin typeface="Source Han Sans SC"/>
                <a:ea typeface="Source Han Sans SC"/>
              </a:rPr>
              <a:t>跳过手写阶段，出问题时你连</a:t>
            </a:r>
            <a:r>
              <a:rPr lang="zh-CN" sz="1425">
                <a:solidFill>
                  <a:srgbClr val="2AD4EE"/>
                </a:solidFill>
                <a:latin typeface="Source Han Sans SC"/>
                <a:ea typeface="Source Han Sans SC"/>
              </a:rPr>
              <a:t>日志该看哪一行</a:t>
            </a:r>
            <a:r>
              <a:rPr lang="zh-CN" sz="1425">
                <a:solidFill>
                  <a:srgbClr val="E8EEF9"/>
                </a:solidFill>
                <a:latin typeface="Source Han Sans SC"/>
                <a:ea typeface="Source Han Sans SC"/>
              </a:rPr>
              <a:t>都不知道。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14 / 33</a:t>
            </a:r>
            <a:endParaRPr/>
          </a:p>
        </p:txBody>
      </p:sp>
      <p:sp>
        <p:nvSpPr>
          <p:cNvPr id="239" name=""/>
          <p:cNvSpPr/>
          <p:nvPr/>
        </p:nvSpPr>
        <p:spPr>
          <a:xfrm rot="0" flipH="0" flipV="0">
            <a:off x="685800" y="15430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25400">
            <a:solidFill>
              <a:srgbClr val="2AD4EE"/>
            </a:solidFill>
            <a:prstDash val="solid"/>
          </a:ln>
        </p:spPr>
        <p:txBody>
          <a:bodyPr/>
          <a:p/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752475" y="1609725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AD4EE"/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685800" y="1981200"/>
            <a:ext cx="20574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手写</a:t>
            </a:r>
            <a:r>
              <a:rPr lang="en-US" sz="15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ReAct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685800" y="2324100"/>
            <a:ext cx="20574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自己拼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Prompt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、自己正则解析输出，把循环每个环节摸一遍。</a:t>
            </a:r>
            <a:endParaRPr/>
          </a:p>
        </p:txBody>
      </p:sp>
      <p:sp>
        <p:nvSpPr>
          <p:cNvPr id="243" name=""/>
          <p:cNvSpPr/>
          <p:nvPr/>
        </p:nvSpPr>
        <p:spPr>
          <a:xfrm rot="0" flipH="0" flipV="0">
            <a:off x="704850" y="3200400"/>
            <a:ext cx="2057400" cy="371475"/>
          </a:xfrm>
          <a:prstGeom prst="rect">
            <a:avLst/>
          </a:prstGeom>
          <a:solidFill>
            <a:srgbClr val="16233D">
              <a:alpha val="92000"/>
            </a:srgbClr>
          </a:solidFill>
          <a:ln/>
        </p:spPr>
        <p:txBody>
          <a:bodyPr/>
          <a:p/>
        </p:txBody>
      </p:sp>
      <p:sp>
        <p:nvSpPr>
          <p:cNvPr id="244" name=""/>
          <p:cNvSpPr/>
          <p:nvPr/>
        </p:nvSpPr>
        <p:spPr>
          <a:xfrm rot="0" flipH="0" flipV="0">
            <a:off x="685800" y="3200400"/>
            <a:ext cx="2076450" cy="371475"/>
          </a:xfrm>
          <a:custGeom>
            <a:pathLst>
              <a:path w="218" h="39">
                <a:moveTo>
                  <a:pt x="0" y="0"/>
                </a:moveTo>
                <a:lnTo>
                  <a:pt x="2" y="0"/>
                </a:lnTo>
                <a:lnTo>
                  <a:pt x="2" y="39"/>
                </a:lnTo>
                <a:lnTo>
                  <a:pt x="0" y="39"/>
                </a:lnTo>
                <a:close/>
              </a:path>
            </a:pathLst>
          </a:custGeom>
          <a:solidFill>
            <a:srgbClr val="2AD4EE">
              <a:alpha val="55000"/>
            </a:srgbClr>
          </a:solidFill>
          <a:ln/>
        </p:spPr>
        <p:txBody>
          <a:bodyPr/>
          <a:p/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800100" y="3276600"/>
            <a:ext cx="18478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产出</a:t>
            </a:r>
            <a:r>
              <a:rPr lang="en-US" sz="975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一个能跑的</a:t>
            </a:r>
            <a:r>
              <a:rPr lang="en-US" sz="975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while </a:t>
            </a: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循环</a:t>
            </a:r>
            <a:endParaRPr/>
          </a:p>
        </p:txBody>
      </p:sp>
      <p:sp>
        <p:nvSpPr>
          <p:cNvPr id="246" name=""/>
          <p:cNvSpPr/>
          <p:nvPr/>
        </p:nvSpPr>
        <p:spPr>
          <a:xfrm rot="0" flipH="0" flipV="0">
            <a:off x="2876550" y="15430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25400">
            <a:solidFill>
              <a:srgbClr val="2AD4EE"/>
            </a:solidFill>
            <a:prstDash val="solid"/>
          </a:ln>
        </p:spPr>
        <p:txBody>
          <a:bodyPr/>
          <a:p/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2943225" y="1609725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AD4EE"/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2876550" y="1981200"/>
            <a:ext cx="20574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原生</a:t>
            </a:r>
            <a:r>
              <a:rPr lang="en-US" sz="15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FC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2876550" y="2324100"/>
            <a:ext cx="2057400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改用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JSON Schema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声明工具，模型直接返回结构化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tool_calls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250" name=""/>
          <p:cNvSpPr/>
          <p:nvPr/>
        </p:nvSpPr>
        <p:spPr>
          <a:xfrm rot="0" flipH="0" flipV="0">
            <a:off x="2895600" y="3200400"/>
            <a:ext cx="2057400" cy="371475"/>
          </a:xfrm>
          <a:prstGeom prst="rect">
            <a:avLst/>
          </a:prstGeom>
          <a:solidFill>
            <a:srgbClr val="16233D">
              <a:alpha val="92000"/>
            </a:srgbClr>
          </a:solidFill>
          <a:ln/>
        </p:spPr>
        <p:txBody>
          <a:bodyPr/>
          <a:p/>
        </p:txBody>
      </p:sp>
      <p:sp>
        <p:nvSpPr>
          <p:cNvPr id="251" name=""/>
          <p:cNvSpPr/>
          <p:nvPr/>
        </p:nvSpPr>
        <p:spPr>
          <a:xfrm rot="0" flipH="0" flipV="0">
            <a:off x="2876550" y="3200400"/>
            <a:ext cx="2076450" cy="371475"/>
          </a:xfrm>
          <a:custGeom>
            <a:pathLst>
              <a:path w="218" h="39">
                <a:moveTo>
                  <a:pt x="0" y="0"/>
                </a:moveTo>
                <a:lnTo>
                  <a:pt x="2" y="0"/>
                </a:lnTo>
                <a:lnTo>
                  <a:pt x="2" y="39"/>
                </a:lnTo>
                <a:lnTo>
                  <a:pt x="0" y="39"/>
                </a:lnTo>
                <a:close/>
              </a:path>
            </a:pathLst>
          </a:custGeom>
          <a:solidFill>
            <a:srgbClr val="2AD4EE">
              <a:alpha val="55000"/>
            </a:srgbClr>
          </a:solidFill>
          <a:ln/>
        </p:spPr>
        <p:txBody>
          <a:bodyPr/>
          <a:p/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2990850" y="3276600"/>
            <a:ext cx="18478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产出</a:t>
            </a:r>
            <a:r>
              <a:rPr lang="en-US" sz="975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稳定的工具契约</a:t>
            </a:r>
            <a:endParaRPr/>
          </a:p>
        </p:txBody>
      </p:sp>
      <p:sp>
        <p:nvSpPr>
          <p:cNvPr id="253" name=""/>
          <p:cNvSpPr/>
          <p:nvPr/>
        </p:nvSpPr>
        <p:spPr>
          <a:xfrm rot="0" flipH="0" flipV="0">
            <a:off x="5067300" y="15430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25400">
            <a:solidFill>
              <a:srgbClr val="2AD4EE"/>
            </a:solidFill>
            <a:prstDash val="solid"/>
          </a:ln>
        </p:spPr>
        <p:txBody>
          <a:bodyPr/>
          <a:p/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5133975" y="1609725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AD4EE"/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5067300" y="1981200"/>
            <a:ext cx="20574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记忆与</a:t>
            </a:r>
            <a:r>
              <a:rPr lang="en-US" sz="15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RAG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5067300" y="2324100"/>
            <a:ext cx="20574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上下文裁剪、摘要压缩、向量检索，让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记得住事。</a:t>
            </a:r>
            <a:endParaRPr/>
          </a:p>
        </p:txBody>
      </p:sp>
      <p:sp>
        <p:nvSpPr>
          <p:cNvPr id="257" name=""/>
          <p:cNvSpPr/>
          <p:nvPr/>
        </p:nvSpPr>
        <p:spPr>
          <a:xfrm rot="0" flipH="0" flipV="0">
            <a:off x="5086350" y="3200400"/>
            <a:ext cx="2057400" cy="371475"/>
          </a:xfrm>
          <a:prstGeom prst="rect">
            <a:avLst/>
          </a:prstGeom>
          <a:solidFill>
            <a:srgbClr val="16233D">
              <a:alpha val="92000"/>
            </a:srgbClr>
          </a:solidFill>
          <a:ln/>
        </p:spPr>
        <p:txBody>
          <a:bodyPr/>
          <a:p/>
        </p:txBody>
      </p:sp>
      <p:sp>
        <p:nvSpPr>
          <p:cNvPr id="258" name=""/>
          <p:cNvSpPr/>
          <p:nvPr/>
        </p:nvSpPr>
        <p:spPr>
          <a:xfrm rot="0" flipH="0" flipV="0">
            <a:off x="5067300" y="3200400"/>
            <a:ext cx="2076450" cy="371475"/>
          </a:xfrm>
          <a:custGeom>
            <a:pathLst>
              <a:path w="218" h="39">
                <a:moveTo>
                  <a:pt x="0" y="0"/>
                </a:moveTo>
                <a:lnTo>
                  <a:pt x="2" y="0"/>
                </a:lnTo>
                <a:lnTo>
                  <a:pt x="2" y="39"/>
                </a:lnTo>
                <a:lnTo>
                  <a:pt x="0" y="39"/>
                </a:lnTo>
                <a:close/>
              </a:path>
            </a:pathLst>
          </a:custGeom>
          <a:solidFill>
            <a:srgbClr val="2AD4EE">
              <a:alpha val="55000"/>
            </a:srgbClr>
          </a:solidFill>
          <a:ln/>
        </p:spPr>
        <p:txBody>
          <a:bodyPr/>
          <a:p/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5181600" y="3276600"/>
            <a:ext cx="18478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产出</a:t>
            </a:r>
            <a:r>
              <a:rPr lang="en-US" sz="975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可控的上下文预算</a:t>
            </a:r>
            <a:endParaRPr/>
          </a:p>
        </p:txBody>
      </p:sp>
      <p:sp>
        <p:nvSpPr>
          <p:cNvPr id="260" name=""/>
          <p:cNvSpPr/>
          <p:nvPr/>
        </p:nvSpPr>
        <p:spPr>
          <a:xfrm rot="0" flipH="0" flipV="0">
            <a:off x="7258050" y="15430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25400">
            <a:solidFill>
              <a:srgbClr val="2AD4EE"/>
            </a:solidFill>
            <a:prstDash val="solid"/>
          </a:ln>
        </p:spPr>
        <p:txBody>
          <a:bodyPr/>
          <a:p/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7324725" y="1609725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AD4EE"/>
                </a:solidFill>
                <a:latin typeface="JetBrains Mono"/>
                <a:ea typeface="JetBrains Mono"/>
              </a:rPr>
              <a:t>04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7258050" y="1981200"/>
            <a:ext cx="20574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多工具实战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7258050" y="2324100"/>
            <a:ext cx="20574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工具变多、结果变脏、失败变常态，开始处理真实的边界。</a:t>
            </a:r>
            <a:endParaRPr/>
          </a:p>
        </p:txBody>
      </p:sp>
      <p:sp>
        <p:nvSpPr>
          <p:cNvPr id="264" name=""/>
          <p:cNvSpPr/>
          <p:nvPr/>
        </p:nvSpPr>
        <p:spPr>
          <a:xfrm rot="0" flipH="0" flipV="0">
            <a:off x="7277100" y="3200400"/>
            <a:ext cx="2057400" cy="371475"/>
          </a:xfrm>
          <a:prstGeom prst="rect">
            <a:avLst/>
          </a:prstGeom>
          <a:solidFill>
            <a:srgbClr val="16233D">
              <a:alpha val="92000"/>
            </a:srgbClr>
          </a:solidFill>
          <a:ln/>
        </p:spPr>
        <p:txBody>
          <a:bodyPr/>
          <a:p/>
        </p:txBody>
      </p:sp>
      <p:sp>
        <p:nvSpPr>
          <p:cNvPr id="265" name=""/>
          <p:cNvSpPr/>
          <p:nvPr/>
        </p:nvSpPr>
        <p:spPr>
          <a:xfrm rot="0" flipH="0" flipV="0">
            <a:off x="7258050" y="3200400"/>
            <a:ext cx="2076450" cy="371475"/>
          </a:xfrm>
          <a:custGeom>
            <a:pathLst>
              <a:path w="218" h="39">
                <a:moveTo>
                  <a:pt x="0" y="0"/>
                </a:moveTo>
                <a:lnTo>
                  <a:pt x="2" y="0"/>
                </a:lnTo>
                <a:lnTo>
                  <a:pt x="2" y="39"/>
                </a:lnTo>
                <a:lnTo>
                  <a:pt x="0" y="39"/>
                </a:lnTo>
                <a:close/>
              </a:path>
            </a:pathLst>
          </a:custGeom>
          <a:solidFill>
            <a:srgbClr val="2AD4EE">
              <a:alpha val="55000"/>
            </a:srgbClr>
          </a:solidFill>
          <a:ln/>
        </p:spPr>
        <p:txBody>
          <a:bodyPr/>
          <a:p/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7372350" y="3276600"/>
            <a:ext cx="18478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产出</a:t>
            </a:r>
            <a:r>
              <a:rPr lang="en-US" sz="975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敢给业务用的</a:t>
            </a:r>
            <a:r>
              <a:rPr lang="en-US" sz="975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Agent</a:t>
            </a:r>
            <a:endParaRPr/>
          </a:p>
        </p:txBody>
      </p:sp>
      <p:sp>
        <p:nvSpPr>
          <p:cNvPr id="267" name=""/>
          <p:cNvSpPr/>
          <p:nvPr/>
        </p:nvSpPr>
        <p:spPr>
          <a:xfrm rot="0" flipH="0" flipV="0">
            <a:off x="9448800" y="15430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25400">
            <a:solidFill>
              <a:srgbClr val="2AD4EE"/>
            </a:solidFill>
            <a:prstDash val="solid"/>
          </a:ln>
        </p:spPr>
        <p:txBody>
          <a:bodyPr/>
          <a:p/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9515475" y="1609725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AD4EE"/>
                </a:solidFill>
                <a:latin typeface="JetBrains Mono"/>
                <a:ea typeface="JetBrains Mono"/>
              </a:rPr>
              <a:t>05</a:t>
            </a:r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9448800" y="1981200"/>
            <a:ext cx="20574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框架与工程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9448800" y="2324100"/>
            <a:ext cx="20574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上框架、做观测、加护栏、建评测，从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demo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走到系统。</a:t>
            </a:r>
            <a:endParaRPr/>
          </a:p>
        </p:txBody>
      </p:sp>
      <p:sp>
        <p:nvSpPr>
          <p:cNvPr id="271" name=""/>
          <p:cNvSpPr/>
          <p:nvPr/>
        </p:nvSpPr>
        <p:spPr>
          <a:xfrm rot="0" flipH="0" flipV="0">
            <a:off x="9467850" y="3200400"/>
            <a:ext cx="2057400" cy="371475"/>
          </a:xfrm>
          <a:prstGeom prst="rect">
            <a:avLst/>
          </a:prstGeom>
          <a:solidFill>
            <a:srgbClr val="16233D">
              <a:alpha val="92000"/>
            </a:srgbClr>
          </a:solidFill>
          <a:ln/>
        </p:spPr>
        <p:txBody>
          <a:bodyPr/>
          <a:p/>
        </p:txBody>
      </p:sp>
      <p:sp>
        <p:nvSpPr>
          <p:cNvPr id="272" name=""/>
          <p:cNvSpPr/>
          <p:nvPr/>
        </p:nvSpPr>
        <p:spPr>
          <a:xfrm rot="0" flipH="0" flipV="0">
            <a:off x="9448800" y="3200400"/>
            <a:ext cx="2076450" cy="371475"/>
          </a:xfrm>
          <a:custGeom>
            <a:pathLst>
              <a:path w="218" h="39">
                <a:moveTo>
                  <a:pt x="0" y="0"/>
                </a:moveTo>
                <a:lnTo>
                  <a:pt x="2" y="0"/>
                </a:lnTo>
                <a:lnTo>
                  <a:pt x="2" y="39"/>
                </a:lnTo>
                <a:lnTo>
                  <a:pt x="0" y="39"/>
                </a:lnTo>
                <a:close/>
              </a:path>
            </a:pathLst>
          </a:custGeom>
          <a:solidFill>
            <a:srgbClr val="2AD4EE">
              <a:alpha val="55000"/>
            </a:srgbClr>
          </a:solidFill>
          <a:ln/>
        </p:spPr>
        <p:txBody>
          <a:bodyPr/>
          <a:p/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9563100" y="3276600"/>
            <a:ext cx="18478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产出</a:t>
            </a:r>
            <a:r>
              <a:rPr lang="en-US" sz="975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可维护的</a:t>
            </a:r>
            <a:r>
              <a:rPr lang="en-US" sz="975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系统</a:t>
            </a:r>
            <a:endParaRPr/>
          </a:p>
        </p:txBody>
      </p:sp>
      <p:sp>
        <p:nvSpPr>
          <p:cNvPr id="274" name=""/>
          <p:cNvSpPr/>
          <p:nvPr/>
        </p:nvSpPr>
        <p:spPr>
          <a:xfrm rot="0" flipH="0" flipV="0">
            <a:off x="800100" y="1666875"/>
            <a:ext cx="10591800" cy="19050"/>
          </a:xfrm>
          <a:prstGeom prst="rect">
            <a:avLst/>
          </a:prstGeom>
          <a:gradFill>
            <a:gsLst>
              <a:gs pos="0">
                <a:srgbClr val="2AD4EE">
                  <a:alpha val="85000"/>
                </a:srgbClr>
              </a:gs>
              <a:gs pos="100000">
                <a:srgbClr val="2AD4EE">
                  <a:alpha val="18000"/>
                </a:srgbClr>
              </a:gs>
            </a:gsLst>
            <a:lin ang="0" scaled="1"/>
          </a:gradFill>
          <a:ln/>
        </p:spPr>
        <p:txBody>
          <a:bodyPr/>
          <a:p/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275" name="" descr="&lt;Slide style={{ width: 1280, height: 720, padding: '20px 72px', flexDirection: 'column', background: 'linear-gradient(160deg, #0B1220 0%, #16233D 100%)', fontFamily: '&quot;Source Han Sans SC&quot;, &quot;Noto Sans SC&quot;, &quot;Microsoft YaHei&quot;, sans-serif' }}&gt;&#10;    {/* A 区 · 标题块 */}&#10;    &lt;Box style={{ height: 100, flexDirection: 'row', gap: 16, alignItems: 'flex-start', paddingTop: 6 }}&gt;&#10;        &lt;Box style={{ width: 4, height: 36, background: '#2AD4EE', marginTop: 5 }} /&gt;&#10;        &lt;Box style={{ flexDirection: 'column' }}&gt;&#10;            &lt;Text style={{ fontSize: 34, fontWeight: 'bold', color: '#E8EEF9' }}&gt;七层功能地图&lt;/Text&gt;&#10;            &lt;Text style={{ marginTop: 8, fontSize: 17, color: 'rgba(232,238,249,0.52)' }}&gt;Agent 的能力边界不来自模型，来自这七层的工程量&lt;/Text&gt;&#10;        &lt;/Box&gt;&#10;    &lt;/Box&gt;&#10;&#10;    {/* B 区 */}&#10;    &lt;Box style={{ height: 516, flexDirection: 'row', gap: 36 }}&gt;&#10;        {/* 左：巨型数字 + 洞察 */}&#10;        &lt;Box style={{ width: 372, flexDirection: 'column', paddingRight: 34, borderRight: '1px solid rgba(232,238,249,0.12)' }}&gt;&#10;            &lt;Text style={{ fontSize: 15, color: '#2AD4EE', letterSpacing: 3, fontFamily: '&quot;JetBrains Mono&quot;, &quot;Cascadia Mono&quot;, Consolas, monospace' }}&gt;FUNCTION MAP&lt;/Text&gt;&#10;            &lt;Text style={{ marginTop: 8, fontSize: 128, fontWeight: 'bold', color: '#2AD4EE', fontFamily: '&quot;JetBrains Mono&quot;, &quot;Cascadia Mono&quot;, Consolas, monospace', lineHeight: 1 }}&gt;⑦&lt;/Text&gt;&#10;            &lt;Text style={{ marginTop: 18, fontSize: 24, fontWeight: 'bold', color: '#E8EEF9', lineHeight: 1.45 }}&gt;&#10;                七层里&#10;                &lt;br /&gt;&#10;                前五层只是「搭起来」&#10;            &lt;/Text&gt;&#10;            &lt;Text style={{ marginTop: 18, fontSize: 16, color: 'rgba(232,238,249,0.72)', lineHeight: 1.75 }}&gt;&#10;                ①~⑤ 决定它&lt;span style={{ color: '#E8EEF9', fontWeight: '600' }}&gt;能不能跑&lt;/span&gt;；&#10;                ⑥~⑦ 决定它&lt;span style={{ color: '#2AD4EE', fontWeight: '600' }}&gt;敢不敢给别人用、出事查不查得清&lt;/span&gt;。&#10;            &lt;/Text&gt;&#10;            &lt;Box style={{ marginTop: 'auto', paddingTop: 18, paddingBottom: 18, paddingLeft: 18, paddingRight: 18, background: 'rgba(42,212,238,0.08)', border: '1px solid rgba(42,212,238,0.22)', borderRadius: 4 }}&gt;&#10;                &lt;Text style={{ fontSize: 16, color: '#2AD4EE', letterSpacing: 3, fontFamily: '&quot;JetBrains Mono&quot;, &quot;Cascadia Mono&quot;, Consolas, monospace' }}&gt;所以&lt;/Text&gt;&#10;                &lt;Text style={{ marginTop: 12, fontSize: 17, color: '#E8EEF9', lineHeight: 1.7 }}&gt;&#10;                    换模型只动 &lt;span style={{ color: '#2AD4EE', fontFamily: '&quot;JetBrains Mono&quot;, &quot;Cascadia Mono&quot;, Consolas, monospace' }}&gt;①&lt;/span&gt;，加工具只动 &lt;span style={{ color: '#2AD4EE', fontFamily: '&quot;JetBrains Mono&quot;, &quot;Cascadia Mono&quot;, Consolas, monospace' }}&gt;③&lt;/span&gt;——分层，是为了让改动可预测。&#10;                &lt;/Text&gt;&#10;            &lt;/Box&gt;&#10;        &lt;/Box&gt;&#10;&#10;        {/* 右：七层塔 */}&#10;        &lt;Box style={{ flex: 1, flexDirection: 'column' }}&gt;&#10;            &lt;Box style={{ flexDirection: 'row', alignItems: 'center', justifyContent: 'space-between' }}&gt;&#10;                &lt;Text style={{ fontSize: 15, color: 'rgba(232,238,249,0.52)', letterSpacing: 2, fontFamily: '&quot;JetBrains Mono&quot;, &quot;Cascadia Mono&quot;, Consolas, monospace' }}&gt;LAYER STACK · 自下而上读&lt;/Text&gt;&#10;                &lt;Box style={{ flexDirection: 'row', alignItems: 'center', gap: 8 }}&gt;&#10;                    &lt;Box style={{ width: 8, height: 8, background: 'rgba(42,212,238,0.85)' }} /&gt;&#10;                    &lt;Text style={{ fontSize: 13, color: 'rgba(232,238,249,0.52)' }}&gt;越往上，越接近「生产可用」&lt;/Text&gt;&#10;                &lt;/Box&gt;&#10;            &lt;/Box&gt;&#10;&#10;            &lt;Box style={{ flex: 1, marginTop: 12, flexDirection: 'column', alignItems: 'center', justifyContent: 'space-between' }}&gt;&#10;                {[&#10;                    { n: '⑦', t: '运营', d: '观测 · 评测 · 成本', hot: true, w: 520 },&#10;                    { n: '⑥', t: '护栏', d: '输入审查 · 输出脱敏', hot: true, w: 560 },&#10;                    { n: '⑤', t: '控制', d: '循环 · 终止条件', hot: false, w: 600 },&#10;                    { n: '④', t: '记忆', d: '上下文工程', hot: false, w: 632 },&#10;                    { n: '③', t: '工具', d: '手脚与契约', hot: false, w: 664 },&#10;                    { n: '②', t: '提示', d: '角色 · 目标 · 格式', hot: false, w: 692 },&#10;                    { n: '①', t: '模型', d: '选型与接入', hot: false, w: 720 },&#10;                ].map((r, i) =&gt; (&#10;                    &lt;Box key={i} style={{ width: r.w, height: 52, flexDirection: 'row', alignItems: 'center', gap: 14, paddingLeft: 16, paddingRight: 16, background: r.hot ? 'rgba(42,212,238,0.14)' : 'rgba(22,35,61,0.92)', border: r.hot ? '1px solid rgba(42,212,238,0.42)' : '1px solid rgba(232,238,249,0.10)', borderRadius: 3 }}&gt;&#10;                        &lt;Text style={{ width: 26, fontSize: 22, color: '#2AD4EE', fontFamily: '&quot;JetBrains Mono&quot;, &quot;Cascadia Mono&quot;, Consolas, monospace' }}&gt;{r.n}&lt;/Text&gt;&#10;                        &lt;Text style={{ width: 58, fontSize: 21, fontWeight: 'bold', color: '#E8EEF9' }}&gt;{r.t}&lt;/Text&gt;&#10;                        &lt;Box style={{ width: 1, height: 20, background: 'rgba(232,238,249,0.16)' }} /&gt;&#10;                        &lt;Text style={{ fontSize: 15, color: r.hot ? '#2AD4EE' : 'rgba(232,238,249,0.62)' }}&gt;{r.d}&lt;/Text&gt;&#10;                    &lt;/Box&gt;&#10;                ))}&#10;            &lt;/Box&gt;&#10;        &lt;/Box&gt;&#10;    &lt;/Box&gt;&#10;&#10;    {/* C 区 · 页脚 */}&#10;    &lt;Box style={{ height: 40, flexDirection: 'row', alignItems: 'flex-end', justifyContent: 'space-between' }}&gt;&#10;        &lt;Text style={{ fontSize: 14, color: 'rgba(232,238,249,0.42)' }}&gt;从 LLM 到 Agent 再到 Pi Agent&lt;/Text&gt;&#10;        &lt;Text style={{ fontSize: 14, color: 'rgba(232,238,249,0.42)', fontFamily: '&quot;JetBrains Mono&quot;, &quot;Cascadia Mono&quot;, Consolas, monospace' }}&gt;15 / 33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277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36861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七层功能地图</a:t>
            </a:r>
            <a:endParaRPr/>
          </a:p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36861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Agent </a:t>
            </a: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的能力边界不来自模型，来自这七层的工程量</a:t>
            </a:r>
            <a:endParaRPr/>
          </a:p>
        </p:txBody>
      </p:sp>
      <p:sp>
        <p:nvSpPr>
          <p:cNvPr id="280" name=""/>
          <p:cNvSpPr/>
          <p:nvPr/>
        </p:nvSpPr>
        <p:spPr>
          <a:xfrm rot="0" flipH="0" flipV="0">
            <a:off x="685800" y="1143000"/>
            <a:ext cx="3543300" cy="4914900"/>
          </a:xfrm>
          <a:custGeom>
            <a:pathLst>
              <a:path w="372" h="516">
                <a:moveTo>
                  <a:pt x="371" y="0"/>
                </a:moveTo>
                <a:lnTo>
                  <a:pt x="372" y="0"/>
                </a:lnTo>
                <a:lnTo>
                  <a:pt x="372" y="516"/>
                </a:lnTo>
                <a:lnTo>
                  <a:pt x="371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/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32099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FUNCTION MAP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685800" y="1390650"/>
            <a:ext cx="3209925" cy="1466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600" b="1">
                <a:solidFill>
                  <a:srgbClr val="2AD4EE"/>
                </a:solidFill>
                <a:latin typeface="JetBrains Mono"/>
                <a:ea typeface="JetBrains Mono"/>
              </a:rPr>
              <a:t>⑦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685800" y="3028950"/>
            <a:ext cx="3209925" cy="8001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800" b="1">
                <a:solidFill>
                  <a:srgbClr val="E8EEF9"/>
                </a:solidFill>
                <a:latin typeface="Source Han Sans SC"/>
                <a:ea typeface="Source Han Sans SC"/>
              </a:rPr>
              <a:t>七层里</a:t>
            </a:r>
            <a:endParaRPr/>
          </a:p>
          <a:p>
            <a:pPr>
              <a:lnSpc>
                <a:spcPct val="145000"/>
              </a:lnSpc>
            </a:pPr>
            <a:r>
              <a:rPr lang="zh-CN" sz="1800" b="1">
                <a:solidFill>
                  <a:srgbClr val="E8EEF9"/>
                </a:solidFill>
                <a:latin typeface="Source Han Sans SC"/>
                <a:ea typeface="Source Han Sans SC"/>
              </a:rPr>
              <a:t>前五层只是「搭起来」</a:t>
            </a:r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685800" y="4000500"/>
            <a:ext cx="3209925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en-US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①~⑤ 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决定它</a:t>
            </a: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能不能跑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；</a:t>
            </a:r>
            <a:r>
              <a:rPr lang="en-US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⑥~⑦ 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决定它</a:t>
            </a:r>
            <a:r>
              <a:rPr lang="zh-CN" sz="1200" b="1">
                <a:solidFill>
                  <a:srgbClr val="2AD4EE"/>
                </a:solidFill>
                <a:latin typeface="Source Han Sans SC"/>
                <a:ea typeface="Source Han Sans SC"/>
              </a:rPr>
              <a:t>敢不敢给别人用、出事查不查得清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285" name=""/>
          <p:cNvSpPr/>
          <p:nvPr/>
        </p:nvSpPr>
        <p:spPr>
          <a:xfrm rot="0" flipH="0" flipV="0">
            <a:off x="685800" y="4743450"/>
            <a:ext cx="3209925" cy="1314450"/>
          </a:xfrm>
          <a:prstGeom prst="roundRect">
            <a:avLst>
              <a:gd name="adj" fmla="val 2899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857250" y="4914900"/>
            <a:ext cx="2867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225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857250" y="5219700"/>
            <a:ext cx="286702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换模型只动</a:t>
            </a:r>
            <a:r>
              <a:rPr lang="en-US" sz="12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</a:t>
            </a:r>
            <a:r>
              <a:rPr sz="1275">
                <a:solidFill>
                  <a:srgbClr val="2AD4EE"/>
                </a:solidFill>
                <a:latin typeface="Source Han Sans SC"/>
                <a:ea typeface="Source Han Sans SC"/>
              </a:rPr>
              <a:t>①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，加工具只动</a:t>
            </a:r>
            <a:r>
              <a:rPr lang="en-US" sz="12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</a:t>
            </a:r>
            <a:r>
              <a:rPr sz="1275">
                <a:solidFill>
                  <a:srgbClr val="2AD4EE"/>
                </a:solidFill>
                <a:latin typeface="Source Han Sans SC"/>
                <a:ea typeface="Source Han Sans SC"/>
              </a:rPr>
              <a:t>③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——分层，是为了让改动可预测。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4572000" y="1143000"/>
            <a:ext cx="2257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 xml:space="preserve">LAYER STACK · </a:t>
            </a:r>
            <a:r>
              <a:rPr lang="zh-CN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自下而上读</a:t>
            </a:r>
            <a:endParaRPr/>
          </a:p>
        </p:txBody>
      </p:sp>
      <p:sp>
        <p:nvSpPr>
          <p:cNvPr id="289" name=""/>
          <p:cNvSpPr/>
          <p:nvPr/>
        </p:nvSpPr>
        <p:spPr>
          <a:xfrm rot="0" flipH="0" flipV="0">
            <a:off x="9744075" y="1190625"/>
            <a:ext cx="76200" cy="76200"/>
          </a:xfrm>
          <a:prstGeom prst="rect">
            <a:avLst/>
          </a:prstGeom>
          <a:solidFill>
            <a:srgbClr val="2AD4EE">
              <a:alpha val="85000"/>
            </a:srgbClr>
          </a:solidFill>
          <a:ln/>
        </p:spPr>
        <p:txBody>
          <a:bodyPr/>
          <a:p/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9896475" y="1152525"/>
            <a:ext cx="1609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越往上，越接近「生产可用」</a:t>
            </a:r>
            <a:endParaRPr/>
          </a:p>
        </p:txBody>
      </p:sp>
      <p:sp>
        <p:nvSpPr>
          <p:cNvPr id="291" name=""/>
          <p:cNvSpPr/>
          <p:nvPr/>
        </p:nvSpPr>
        <p:spPr>
          <a:xfrm rot="0" flipH="0" flipV="0">
            <a:off x="5562600" y="1428750"/>
            <a:ext cx="4953000" cy="495300"/>
          </a:xfrm>
          <a:prstGeom prst="roundRect">
            <a:avLst>
              <a:gd name="adj" fmla="val 5769"/>
            </a:avLst>
          </a:prstGeom>
          <a:solidFill>
            <a:srgbClr val="2AD4EE">
              <a:alpha val="14000"/>
            </a:srgbClr>
          </a:solidFill>
          <a:ln w="12700">
            <a:solidFill>
              <a:srgbClr val="2AD4EE">
                <a:alpha val="4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5715000" y="1552575"/>
            <a:ext cx="247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AD4EE"/>
                </a:solidFill>
                <a:latin typeface="JetBrains Mono"/>
                <a:ea typeface="JetBrains Mono"/>
              </a:rPr>
              <a:t>⑦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6096000" y="1552575"/>
            <a:ext cx="5524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运营</a:t>
            </a:r>
            <a:endParaRPr/>
          </a:p>
        </p:txBody>
      </p:sp>
      <p:sp>
        <p:nvSpPr>
          <p:cNvPr id="294" name=""/>
          <p:cNvSpPr/>
          <p:nvPr/>
        </p:nvSpPr>
        <p:spPr>
          <a:xfrm rot="0" flipH="0" flipV="0">
            <a:off x="6781800" y="1581150"/>
            <a:ext cx="9525" cy="19050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/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6924675" y="1590675"/>
            <a:ext cx="1276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AD4EE"/>
                </a:solidFill>
                <a:latin typeface="Source Han Sans SC"/>
                <a:ea typeface="Source Han Sans SC"/>
              </a:rPr>
              <a:t>观测</a:t>
            </a:r>
            <a:r>
              <a:rPr lang="en-US" sz="1125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2AD4EE"/>
                </a:solidFill>
                <a:latin typeface="Source Han Sans SC"/>
                <a:ea typeface="Source Han Sans SC"/>
              </a:rPr>
              <a:t>评测</a:t>
            </a:r>
            <a:r>
              <a:rPr lang="en-US" sz="1125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2AD4EE"/>
                </a:solidFill>
                <a:latin typeface="Source Han Sans SC"/>
                <a:ea typeface="Source Han Sans SC"/>
              </a:rPr>
              <a:t>成本</a:t>
            </a:r>
            <a:endParaRPr/>
          </a:p>
        </p:txBody>
      </p:sp>
      <p:sp>
        <p:nvSpPr>
          <p:cNvPr id="296" name=""/>
          <p:cNvSpPr/>
          <p:nvPr/>
        </p:nvSpPr>
        <p:spPr>
          <a:xfrm rot="0" flipH="0" flipV="0">
            <a:off x="5372100" y="2114550"/>
            <a:ext cx="5334000" cy="495300"/>
          </a:xfrm>
          <a:prstGeom prst="roundRect">
            <a:avLst>
              <a:gd name="adj" fmla="val 5769"/>
            </a:avLst>
          </a:prstGeom>
          <a:solidFill>
            <a:srgbClr val="2AD4EE">
              <a:alpha val="14000"/>
            </a:srgbClr>
          </a:solidFill>
          <a:ln w="12700">
            <a:solidFill>
              <a:srgbClr val="2AD4EE">
                <a:alpha val="4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5524500" y="2238375"/>
            <a:ext cx="247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AD4EE"/>
                </a:solidFill>
                <a:latin typeface="JetBrains Mono"/>
                <a:ea typeface="JetBrains Mono"/>
              </a:rPr>
              <a:t>⑥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5905500" y="2238375"/>
            <a:ext cx="5524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护栏</a:t>
            </a:r>
            <a:endParaRPr/>
          </a:p>
        </p:txBody>
      </p:sp>
      <p:sp>
        <p:nvSpPr>
          <p:cNvPr id="299" name=""/>
          <p:cNvSpPr/>
          <p:nvPr/>
        </p:nvSpPr>
        <p:spPr>
          <a:xfrm rot="0" flipH="0" flipV="0">
            <a:off x="6591300" y="2266950"/>
            <a:ext cx="9525" cy="19050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/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6734175" y="2276475"/>
            <a:ext cx="1352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AD4EE"/>
                </a:solidFill>
                <a:latin typeface="Source Han Sans SC"/>
                <a:ea typeface="Source Han Sans SC"/>
              </a:rPr>
              <a:t>输入审查</a:t>
            </a:r>
            <a:r>
              <a:rPr lang="en-US" sz="1125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2AD4EE"/>
                </a:solidFill>
                <a:latin typeface="Source Han Sans SC"/>
                <a:ea typeface="Source Han Sans SC"/>
              </a:rPr>
              <a:t>输出脱敏</a:t>
            </a:r>
            <a:endParaRPr/>
          </a:p>
        </p:txBody>
      </p:sp>
      <p:sp>
        <p:nvSpPr>
          <p:cNvPr id="301" name=""/>
          <p:cNvSpPr/>
          <p:nvPr/>
        </p:nvSpPr>
        <p:spPr>
          <a:xfrm rot="0" flipH="0" flipV="0">
            <a:off x="5181600" y="2809875"/>
            <a:ext cx="5715000" cy="495300"/>
          </a:xfrm>
          <a:prstGeom prst="roundRect">
            <a:avLst>
              <a:gd name="adj" fmla="val 5769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5334000" y="2933700"/>
            <a:ext cx="247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AD4EE"/>
                </a:solidFill>
                <a:latin typeface="JetBrains Mono"/>
                <a:ea typeface="JetBrains Mono"/>
              </a:rPr>
              <a:t>⑤</a:t>
            </a:r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5715000" y="2933700"/>
            <a:ext cx="5524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控制</a:t>
            </a:r>
            <a:endParaRPr/>
          </a:p>
        </p:txBody>
      </p:sp>
      <p:sp>
        <p:nvSpPr>
          <p:cNvPr id="304" name=""/>
          <p:cNvSpPr/>
          <p:nvPr/>
        </p:nvSpPr>
        <p:spPr>
          <a:xfrm rot="0" flipH="0" flipV="0">
            <a:off x="6400800" y="2962275"/>
            <a:ext cx="9525" cy="19050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/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6543675" y="2971800"/>
            <a:ext cx="1066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循环</a:t>
            </a: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终止条件</a:t>
            </a:r>
            <a:endParaRPr/>
          </a:p>
        </p:txBody>
      </p:sp>
      <p:sp>
        <p:nvSpPr>
          <p:cNvPr id="306" name=""/>
          <p:cNvSpPr/>
          <p:nvPr/>
        </p:nvSpPr>
        <p:spPr>
          <a:xfrm rot="0" flipH="0" flipV="0">
            <a:off x="5029200" y="3495675"/>
            <a:ext cx="6019800" cy="495300"/>
          </a:xfrm>
          <a:prstGeom prst="roundRect">
            <a:avLst>
              <a:gd name="adj" fmla="val 5769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5181600" y="3619500"/>
            <a:ext cx="247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AD4EE"/>
                </a:solidFill>
                <a:latin typeface="JetBrains Mono"/>
                <a:ea typeface="JetBrains Mono"/>
              </a:rPr>
              <a:t>④</a:t>
            </a:r>
            <a:endParaRPr/>
          </a:p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5562600" y="3619500"/>
            <a:ext cx="5524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记忆</a:t>
            </a:r>
            <a:endParaRPr/>
          </a:p>
        </p:txBody>
      </p:sp>
      <p:sp>
        <p:nvSpPr>
          <p:cNvPr id="309" name=""/>
          <p:cNvSpPr/>
          <p:nvPr/>
        </p:nvSpPr>
        <p:spPr>
          <a:xfrm rot="0" flipH="0" flipV="0">
            <a:off x="6248400" y="3648075"/>
            <a:ext cx="9525" cy="19050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/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6391275" y="3657600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上下文工程</a:t>
            </a:r>
            <a:endParaRPr/>
          </a:p>
        </p:txBody>
      </p:sp>
      <p:sp>
        <p:nvSpPr>
          <p:cNvPr id="311" name=""/>
          <p:cNvSpPr/>
          <p:nvPr/>
        </p:nvSpPr>
        <p:spPr>
          <a:xfrm rot="0" flipH="0" flipV="0">
            <a:off x="4876800" y="4181475"/>
            <a:ext cx="6324600" cy="495300"/>
          </a:xfrm>
          <a:prstGeom prst="roundRect">
            <a:avLst>
              <a:gd name="adj" fmla="val 5769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5029200" y="4305300"/>
            <a:ext cx="247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AD4EE"/>
                </a:solidFill>
                <a:latin typeface="JetBrains Mono"/>
                <a:ea typeface="JetBrains Mono"/>
              </a:rPr>
              <a:t>③</a:t>
            </a:r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5410200" y="4305300"/>
            <a:ext cx="5524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工具</a:t>
            </a:r>
            <a:endParaRPr/>
          </a:p>
        </p:txBody>
      </p:sp>
      <p:sp>
        <p:nvSpPr>
          <p:cNvPr id="314" name=""/>
          <p:cNvSpPr/>
          <p:nvPr/>
        </p:nvSpPr>
        <p:spPr>
          <a:xfrm rot="0" flipH="0" flipV="0">
            <a:off x="6096000" y="4333875"/>
            <a:ext cx="9525" cy="19050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/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6238875" y="4343400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手脚与契约</a:t>
            </a:r>
            <a:endParaRPr/>
          </a:p>
        </p:txBody>
      </p:sp>
      <p:sp>
        <p:nvSpPr>
          <p:cNvPr id="316" name=""/>
          <p:cNvSpPr/>
          <p:nvPr/>
        </p:nvSpPr>
        <p:spPr>
          <a:xfrm rot="0" flipH="0" flipV="0">
            <a:off x="4743450" y="4876800"/>
            <a:ext cx="6591300" cy="495300"/>
          </a:xfrm>
          <a:prstGeom prst="roundRect">
            <a:avLst>
              <a:gd name="adj" fmla="val 5769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4895850" y="5000625"/>
            <a:ext cx="247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AD4EE"/>
                </a:solidFill>
                <a:latin typeface="JetBrains Mono"/>
                <a:ea typeface="JetBrains Mono"/>
              </a:rPr>
              <a:t>②</a:t>
            </a:r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5276850" y="5000625"/>
            <a:ext cx="5524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提示</a:t>
            </a:r>
            <a:endParaRPr/>
          </a:p>
        </p:txBody>
      </p:sp>
      <p:sp>
        <p:nvSpPr>
          <p:cNvPr id="319" name=""/>
          <p:cNvSpPr/>
          <p:nvPr/>
        </p:nvSpPr>
        <p:spPr>
          <a:xfrm rot="0" flipH="0" flipV="0">
            <a:off x="5962650" y="5029200"/>
            <a:ext cx="9525" cy="19050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/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6105525" y="5038725"/>
            <a:ext cx="1276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角色</a:t>
            </a: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目标</a:t>
            </a: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格式</a:t>
            </a:r>
            <a:endParaRPr/>
          </a:p>
        </p:txBody>
      </p:sp>
      <p:sp>
        <p:nvSpPr>
          <p:cNvPr id="321" name=""/>
          <p:cNvSpPr/>
          <p:nvPr/>
        </p:nvSpPr>
        <p:spPr>
          <a:xfrm rot="0" flipH="0" flipV="0">
            <a:off x="4610100" y="5562600"/>
            <a:ext cx="6858000" cy="495300"/>
          </a:xfrm>
          <a:prstGeom prst="roundRect">
            <a:avLst>
              <a:gd name="adj" fmla="val 5769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4762500" y="5686425"/>
            <a:ext cx="247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AD4EE"/>
                </a:solidFill>
                <a:latin typeface="JetBrains Mono"/>
                <a:ea typeface="JetBrains Mono"/>
              </a:rPr>
              <a:t>①</a:t>
            </a:r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5143500" y="5686425"/>
            <a:ext cx="5524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模型</a:t>
            </a:r>
            <a:endParaRPr/>
          </a:p>
        </p:txBody>
      </p:sp>
      <p:sp>
        <p:nvSpPr>
          <p:cNvPr id="324" name=""/>
          <p:cNvSpPr/>
          <p:nvPr/>
        </p:nvSpPr>
        <p:spPr>
          <a:xfrm rot="0" flipH="0" flipV="0">
            <a:off x="5829300" y="5715000"/>
            <a:ext cx="9525" cy="19050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/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5972175" y="5724525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选型与接入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15 / 33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2026-10-16T18:33:22Z</dcterms:created>
  <dcterms:modified xsi:type="dcterms:W3CDTF">2026-10-16T18:33:22Z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{"AIGC":{"Label":"1","ContentProducer":"00119111010856365494821B355","ProduceID":"01a1441d43c67297b55334a537419e52","ReservedCode1":"","ContentPropagator":"00119111010856365494821B355","PropagateID":"01a1441d43c67297b55334a537419e52","ReservedCode2":""}}</vt:lpwstr>
  </property>
</Properties>
</file>