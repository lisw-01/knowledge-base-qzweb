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Default Extension="png" ContentType="image/png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s/slide31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slides/slide1.xml" ContentType="application/vnd.openxmlformats-officedocument.presentationml.slide+xml"/>
  <Override PartName="/ppt/slides/slide2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25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7.xml" ContentType="application/vnd.openxmlformats-officedocument.presentationml.slide+xml"/>
  <Override PartName="/ppt/viewProps.xml" ContentType="application/vnd.openxmlformats-officedocument.presentationml.viewProps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6.xml" ContentType="application/vnd.openxmlformats-officedocument.presentationml.slide+xml"/>
  <Override PartName="/ppt/slides/slide26.xml" ContentType="application/vnd.openxmlformats-officedocument.presentationml.slide+xml"/>
  <Override PartName="/ppt/slides/slide8.xml" ContentType="application/vnd.openxmlformats-officedocument.presentationml.slide+xml"/>
  <Override PartName="/ppt/slides/slide28.xml" ContentType="application/vnd.openxmlformats-officedocument.presentationml.slide+xml"/>
  <Override PartName="/ppt/slides/slide9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custom-properties" Target="docProps/custom.xml" /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34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2" Type="http://schemas.openxmlformats.org/officeDocument/2006/relationships/slide" Target="slides/slide12.xml" /><Relationship Id="rId3" Type="http://schemas.openxmlformats.org/officeDocument/2006/relationships/slide" Target="slides/slide3.xml" /><Relationship Id="rId0" Type="http://schemas.openxmlformats.org/officeDocument/2006/relationships/slideMaster" Target="slideMasters/slideMaster1.xml" /><Relationship Id="rId13" Type="http://schemas.openxmlformats.org/officeDocument/2006/relationships/slide" Target="slides/slide13.xml" /><Relationship Id="rId21" Type="http://schemas.openxmlformats.org/officeDocument/2006/relationships/slide" Target="slides/slide21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4" Type="http://schemas.openxmlformats.org/officeDocument/2006/relationships/slide" Target="slides/slide14.xml" /><Relationship Id="rId5" Type="http://schemas.openxmlformats.org/officeDocument/2006/relationships/slide" Target="slides/slide5.xml" /><Relationship Id="rId15" Type="http://schemas.openxmlformats.org/officeDocument/2006/relationships/slide" Target="slides/slide15.xml" /><Relationship Id="rId36" Type="http://schemas.openxmlformats.org/officeDocument/2006/relationships/tableStyles" Target="tableStyles.xml" /><Relationship Id="rId16" Type="http://schemas.openxmlformats.org/officeDocument/2006/relationships/slide" Target="slides/slide16.xml" /><Relationship Id="rId37" Type="http://schemas.openxmlformats.org/officeDocument/2006/relationships/viewProps" Target="viewProps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31" Type="http://schemas.openxmlformats.org/officeDocument/2006/relationships/slide" Target="slides/slide31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22" Type="http://schemas.openxmlformats.org/officeDocument/2006/relationships/slide" Target="slides/slide22.xml" /><Relationship Id="rId23" Type="http://schemas.openxmlformats.org/officeDocument/2006/relationships/slide" Target="slides/slide23.xml" /><Relationship Id="rId24" Type="http://schemas.openxmlformats.org/officeDocument/2006/relationships/slide" Target="slides/slide24.xml" /><Relationship Id="rId27" Type="http://schemas.openxmlformats.org/officeDocument/2006/relationships/slide" Target="slides/slide27.xml" /><Relationship Id="rId25" Type="http://schemas.openxmlformats.org/officeDocument/2006/relationships/slide" Target="slides/slide25.xml" /><Relationship Id="rId32" Type="http://schemas.openxmlformats.org/officeDocument/2006/relationships/slide" Target="slides/slide32.xml" /><Relationship Id="rId26" Type="http://schemas.openxmlformats.org/officeDocument/2006/relationships/slide" Target="slides/slide26.xml" /><Relationship Id="rId28" Type="http://schemas.openxmlformats.org/officeDocument/2006/relationships/slide" Target="slides/slide28.xml" /><Relationship Id="rId29" Type="http://schemas.openxmlformats.org/officeDocument/2006/relationships/slide" Target="slides/slide29.xml" /><Relationship Id="rId30" Type="http://schemas.openxmlformats.org/officeDocument/2006/relationships/slide" Target="slides/slide30.xml" /><Relationship Id="rId33" Type="http://schemas.openxmlformats.org/officeDocument/2006/relationships/slide" Target="slides/slide33.xml" /><Relationship Id="rId8" Type="http://schemas.openxmlformats.org/officeDocument/2006/relationships/slide" Target="slides/slide8.xml" /><Relationship Id="rId34" Type="http://schemas.openxmlformats.org/officeDocument/2006/relationships/notesMaster" Target="notesMasters/notesMaster1.xml" /><Relationship Id="rId9" Type="http://schemas.openxmlformats.org/officeDocument/2006/relationships/slide" Target="slides/slide9.xml" /><Relationship Id="rId35" Type="http://schemas.openxmlformats.org/officeDocument/2006/relationships/presProps" Target="presProps.xml" /><Relationship Id="rId4" Type="http://schemas.openxmlformats.org/officeDocument/2006/relationships/slide" Target="slides/slide4.xml" /><Relationship Id="rId6" Type="http://schemas.openxmlformats.org/officeDocument/2006/relationships/slide" Target="slides/slide6.xml" /><Relationship Id="rId7" Type="http://schemas.openxmlformats.org/officeDocument/2006/relationships/slide" Target="slides/slide7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22.pn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1.svg" /><Relationship Id="rId2" Type="http://schemas.openxmlformats.org/officeDocument/2006/relationships/image" Target="media/image32.svg" /><Relationship Id="rId4" Type="http://schemas.openxmlformats.org/officeDocument/2006/relationships/image" Target="media/image34.svg" /><Relationship Id="rId3" Type="http://schemas.openxmlformats.org/officeDocument/2006/relationships/image" Target="media/image33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5.svg" /><Relationship Id="rId2" Type="http://schemas.openxmlformats.org/officeDocument/2006/relationships/image" Target="media/image36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pn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Relationship Id="rId2" Type="http://schemas.openxmlformats.org/officeDocument/2006/relationships/image" Target="media/image4.svg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6" Type="http://schemas.openxmlformats.org/officeDocument/2006/relationships/image" Target="media/image10.svg" /><Relationship Id="rId1" Type="http://schemas.openxmlformats.org/officeDocument/2006/relationships/image" Target="media/image5.svg" /><Relationship Id="rId0" Type="http://schemas.openxmlformats.org/officeDocument/2006/relationships/slideLayout" Target="../slideLayouts/slideLayout1.xml" /><Relationship Id="rId5" Type="http://schemas.openxmlformats.org/officeDocument/2006/relationships/image" Target="media/image9.svg" /><Relationship Id="rId2" Type="http://schemas.openxmlformats.org/officeDocument/2006/relationships/image" Target="media/image6.svg" /><Relationship Id="rId3" Type="http://schemas.openxmlformats.org/officeDocument/2006/relationships/image" Target="media/image7.svg" /><Relationship Id="rId4" Type="http://schemas.openxmlformats.org/officeDocument/2006/relationships/image" Target="media/image8.svg" /><Relationship Id="rId7" Type="http://schemas.openxmlformats.org/officeDocument/2006/relationships/image" Target="media/image11.svg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2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13.svg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4.png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15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16.svg" /><Relationship Id="rId3" Type="http://schemas.openxmlformats.org/officeDocument/2006/relationships/image" Target="media/image17.svg" 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8.svg" /><Relationship Id="rId2" Type="http://schemas.openxmlformats.org/officeDocument/2006/relationships/image" Target="media/image19.svg" /><Relationship Id="rId3" Type="http://schemas.openxmlformats.org/officeDocument/2006/relationships/image" Target="media/image20.svg" /></Relationships>
</file>

<file path=ppt/slides/_rels/slide2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1.png" /></Relationships>
</file>

<file path=ppt/slides/_rels/slide2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0.xml.rels><?xml version="1.0" encoding="UTF-8" standalone="yes"?><Relationships xmlns="http://schemas.openxmlformats.org/package/2006/relationships"><Relationship Id="rId3" Type="http://schemas.openxmlformats.org/officeDocument/2006/relationships/image" Target="media/image25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3.svg" /><Relationship Id="rId2" Type="http://schemas.openxmlformats.org/officeDocument/2006/relationships/image" Target="media/image24.svg" /></Relationships>
</file>

<file path=ppt/slides/_rels/slide3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27.svg" /><Relationship Id="rId1" Type="http://schemas.openxmlformats.org/officeDocument/2006/relationships/image" Target="media/image26.svg" /><Relationship Id="rId3" Type="http://schemas.openxmlformats.org/officeDocument/2006/relationships/image" Target="media/image28.svg" /><Relationship Id="rId4" Type="http://schemas.openxmlformats.org/officeDocument/2006/relationships/image" Target="media/image29.svg" 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image" Target="media/image30.png" /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4630400" cy="9753600"/>
          </a:xfrm>
          <a:custGeom>
            <a:pathLst>
              <a:path w="1536" h="1024">
                <a:moveTo>
                  <a:pt x="1280" y="720"/>
                </a:moveTo>
                <a:lnTo>
                  <a:pt x="0" y="720"/>
                </a:lnTo>
                <a:lnTo>
                  <a:pt x="0" y="0"/>
                </a:lnTo>
                <a:lnTo>
                  <a:pt x="1280" y="0"/>
                </a:lnTo>
                <a:close/>
              </a:path>
            </a:pathLst>
          </a:cu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8953500" cy="6858000"/>
          </a:xfrm>
          <a:prstGeom prst="rect">
            <a:avLst/>
          </a:prstGeom>
          <a:gradFill>
            <a:gsLst>
              <a:gs pos="0">
                <a:srgbClr val="0B1220">
                  <a:alpha val="97000"/>
                </a:srgbClr>
              </a:gs>
              <a:gs pos="52000">
                <a:srgbClr val="0B1220">
                  <a:alpha val="86000"/>
                </a:srgbClr>
              </a:gs>
              <a:gs pos="100000">
                <a:srgbClr val="0B1220">
                  <a:alpha val="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5" name=""/>
          <p:cNvSpPr/>
          <p:nvPr/>
        </p:nvSpPr>
        <p:spPr>
          <a:xfrm rot="0" flipH="0" flipV="0">
            <a:off x="0" y="4762500"/>
            <a:ext cx="12192000" cy="2095500"/>
          </a:xfrm>
          <a:prstGeom prst="rect">
            <a:avLst/>
          </a:prstGeom>
          <a:gradFill>
            <a:gsLst>
              <a:gs pos="0">
                <a:srgbClr val="0B1220">
                  <a:alpha val="94000"/>
                </a:srgbClr>
              </a:gs>
              <a:gs pos="100000">
                <a:srgbClr val="0B1220">
                  <a:alpha val="0"/>
                </a:srgbClr>
              </a:gs>
            </a:gsLst>
            <a:lin ang="16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838200" y="533400"/>
            <a:ext cx="10515600" cy="9525"/>
          </a:xfrm>
          <a:prstGeom prst="rect">
            <a:avLst/>
          </a:pr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838200" y="1190625"/>
            <a:ext cx="438150" cy="2857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409700" y="1104900"/>
            <a:ext cx="1200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300">
                <a:solidFill>
                  <a:srgbClr val="2AD4EE"/>
                </a:solidFill>
                <a:latin typeface="Source Han Sans SC"/>
                <a:ea typeface="Source Han Sans SC"/>
              </a:rPr>
              <a:t>内部技术分享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2743200" y="1104900"/>
            <a:ext cx="733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7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2026.10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838200" y="1628775"/>
            <a:ext cx="7239000" cy="2190750"/>
          </a:xfrm>
          <a:prstGeom prst="rect"/>
        </p:spPr>
        <p:txBody>
          <a:bodyPr wrap="none" lIns="0" tIns="0" rIns="0" bIns="0"/>
          <a:p>
            <a:pPr>
              <a:lnSpc>
                <a:spcPct val="113999"/>
              </a:lnSpc>
            </a:pPr>
            <a:r>
              <a:rPr lang="zh-CN" sz="6300" b="1" spc="75">
                <a:solidFill>
                  <a:srgbClr val="E8EEF9"/>
                </a:solidFill>
                <a:latin typeface="Source Han Sans SC"/>
                <a:ea typeface="Source Han Sans SC"/>
              </a:rPr>
              <a:t>从</a:t>
            </a:r>
            <a:r>
              <a:rPr lang="en-US" sz="6300" b="1" spc="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6300" b="1" spc="75">
                <a:solidFill>
                  <a:srgbClr val="E8EEF9"/>
                </a:solidFill>
                <a:latin typeface="Source Han Sans SC"/>
                <a:ea typeface="Source Han Sans SC"/>
              </a:rPr>
              <a:t>到</a:t>
            </a:r>
            <a:r>
              <a:rPr lang="en-US" sz="6300" b="1" spc="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Agent</a:t>
            </a:r>
            <a:endParaRPr/>
          </a:p>
          <a:p>
            <a:pPr>
              <a:lnSpc>
                <a:spcPct val="113999"/>
              </a:lnSpc>
            </a:pPr>
            <a:r>
              <a:rPr lang="zh-CN" sz="6300" b="1" spc="75">
                <a:solidFill>
                  <a:srgbClr val="2AD4EE"/>
                </a:solidFill>
                <a:latin typeface="Source Han Sans SC"/>
                <a:ea typeface="Source Han Sans SC"/>
              </a:rPr>
              <a:t>再到</a:t>
            </a:r>
            <a:r>
              <a:rPr lang="en-US" sz="6300" b="1" spc="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838200" y="4105275"/>
            <a:ext cx="28575" cy="571500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2AD4EE">
                  <a:alpha val="0"/>
                </a:srgbClr>
              </a:gs>
            </a:gsLst>
            <a:lin ang="54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838200" y="4848225"/>
            <a:ext cx="7239000" cy="1228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模型是原料，工程才是产品。</a:t>
            </a:r>
            <a:endParaRPr/>
          </a:p>
          <a:p>
            <a:pPr>
              <a:lnSpc>
                <a:spcPct val="170000"/>
              </a:lnSpc>
            </a:pPr>
            <a:r>
              <a:rPr lang="zh-CN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一条从「会聊天」到「能干活的系统」的完整链路：认知</a:t>
            </a:r>
            <a:r>
              <a:rPr lang="en-US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工程</a:t>
            </a:r>
            <a:r>
              <a:rPr lang="en-US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框架</a:t>
            </a:r>
            <a:r>
              <a:rPr lang="en-US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落地。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9353550" y="1409700"/>
            <a:ext cx="2000250" cy="1352550"/>
          </a:xfrm>
          <a:prstGeom prst="roundRect">
            <a:avLst>
              <a:gd name="adj" fmla="val 2817"/>
            </a:avLst>
          </a:prstGeom>
          <a:solidFill>
            <a:srgbClr val="0B1220">
              <a:alpha val="72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10525125" y="1495425"/>
            <a:ext cx="180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2AD4EE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10820400" y="1485900"/>
            <a:ext cx="342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E8EEF9">
                    <a:alpha val="86000"/>
                  </a:srgbClr>
                </a:solidFill>
                <a:latin typeface="Source Han Sans SC"/>
                <a:ea typeface="Source Han Sans SC"/>
              </a:rPr>
              <a:t>LLM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10287000" y="1838325"/>
            <a:ext cx="180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2AD4EE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10582275" y="1828800"/>
            <a:ext cx="581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E8EEF9">
                    <a:alpha val="86000"/>
                  </a:srgbClr>
                </a:solidFill>
                <a:latin typeface="Source Han Sans SC"/>
                <a:ea typeface="Source Han Sans SC"/>
              </a:rPr>
              <a:t>AGENT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10039350" y="2181225"/>
            <a:ext cx="180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2AD4EE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0334625" y="2171700"/>
            <a:ext cx="828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E8EEF9">
                    <a:alpha val="86000"/>
                  </a:srgbClr>
                </a:solidFill>
                <a:latin typeface="Source Han Sans SC"/>
                <a:ea typeface="Source Han Sans SC"/>
              </a:rPr>
              <a:t>PI AGENT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10010775" y="2524125"/>
            <a:ext cx="180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2AD4EE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10306050" y="251460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E8EEF9">
                    <a:alpha val="86000"/>
                  </a:srgbClr>
                </a:solidFill>
                <a:latin typeface="Source Han Sans SC"/>
                <a:ea typeface="Source Han Sans SC"/>
              </a:rPr>
              <a:t>PRACTICE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838200" y="6172200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10801350" y="6172200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01 / 33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4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433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5909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目录</a:t>
            </a:r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590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四章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· 33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页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一条从模型到业务系统的完整链路</a:t>
            </a:r>
            <a:endParaRPr/>
          </a:p>
        </p:txBody>
      </p:sp>
      <p:sp>
        <p:nvSpPr>
          <p:cNvPr id="436" name=""/>
          <p:cNvSpPr/>
          <p:nvPr/>
        </p:nvSpPr>
        <p:spPr>
          <a:xfrm rot="0" flipH="0" flipV="0">
            <a:off x="685800" y="1143000"/>
            <a:ext cx="2552700" cy="4914900"/>
          </a:xfrm>
          <a:custGeom>
            <a:pathLst>
              <a:path w="268" h="516">
                <a:moveTo>
                  <a:pt x="267" y="0"/>
                </a:moveTo>
                <a:lnTo>
                  <a:pt x="268" y="0"/>
                </a:lnTo>
                <a:lnTo>
                  <a:pt x="268" y="516"/>
                </a:lnTo>
                <a:lnTo>
                  <a:pt x="267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685800" y="2162175"/>
            <a:ext cx="2314575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2AD4EE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685800" y="3400425"/>
            <a:ext cx="2314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CHAPTERS</a:t>
            </a:r>
            <a:endParaRPr/>
          </a:p>
        </p:txBody>
      </p:sp>
      <p:sp>
        <p:nvSpPr>
          <p:cNvPr id="439" name=""/>
          <p:cNvSpPr/>
          <p:nvPr/>
        </p:nvSpPr>
        <p:spPr>
          <a:xfrm rot="0" flipH="0" flipV="0">
            <a:off x="685800" y="3781425"/>
            <a:ext cx="381000" cy="1905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685800" y="4010025"/>
            <a:ext cx="2314575" cy="10287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先补认知，再建工程观；</a:t>
            </a:r>
            <a:endParaRPr/>
          </a:p>
          <a:p>
            <a:pPr>
              <a:lnSpc>
                <a:spcPct val="175000"/>
              </a:lnSpc>
            </a:pP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然后看一个范本，</a:t>
            </a:r>
            <a:endParaRPr/>
          </a:p>
          <a:p>
            <a:pPr>
              <a:lnSpc>
                <a:spcPct val="175000"/>
              </a:lnSpc>
            </a:pP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最后落进一个真实系统。</a:t>
            </a:r>
            <a:endParaRPr/>
          </a:p>
        </p:txBody>
      </p:sp>
      <p:sp>
        <p:nvSpPr>
          <p:cNvPr id="441" name=""/>
          <p:cNvSpPr/>
          <p:nvPr/>
        </p:nvSpPr>
        <p:spPr>
          <a:xfrm rot="0" flipH="0" flipV="0">
            <a:off x="3619500" y="1143000"/>
            <a:ext cx="7886700" cy="1238250"/>
          </a:xfrm>
          <a:custGeom>
            <a:pathLst>
              <a:path w="828" h="130">
                <a:moveTo>
                  <a:pt x="0" y="129"/>
                </a:moveTo>
                <a:lnTo>
                  <a:pt x="828" y="129"/>
                </a:lnTo>
                <a:lnTo>
                  <a:pt x="828" y="130"/>
                </a:lnTo>
                <a:lnTo>
                  <a:pt x="0" y="130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3619500" y="1304925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2AD4EE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4248150" y="1266825"/>
            <a:ext cx="6629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E8EEF9"/>
                </a:solidFill>
                <a:latin typeface="Source Han Sans SC"/>
                <a:ea typeface="Source Han Sans SC"/>
              </a:rPr>
              <a:t>LLM</a:t>
            </a:r>
            <a:r>
              <a:rPr lang="zh-CN" sz="1800" b="1">
                <a:solidFill>
                  <a:srgbClr val="E8EEF9"/>
                </a:solidFill>
                <a:latin typeface="Source Han Sans SC"/>
                <a:ea typeface="Source Han Sans SC"/>
              </a:rPr>
              <a:t>：一切的地基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4248150" y="1600200"/>
            <a:ext cx="66294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看懂</a:t>
            </a:r>
            <a:r>
              <a:rPr lang="en-US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的无状态本质，理解</a:t>
            </a:r>
            <a:r>
              <a:rPr lang="en-US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为什么必须做上下文工程。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11087100" y="1323975"/>
            <a:ext cx="41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03–09</a:t>
            </a:r>
            <a:endParaRPr/>
          </a:p>
        </p:txBody>
      </p:sp>
      <p:sp>
        <p:nvSpPr>
          <p:cNvPr id="446" name=""/>
          <p:cNvSpPr/>
          <p:nvPr/>
        </p:nvSpPr>
        <p:spPr>
          <a:xfrm rot="0" flipH="0" flipV="0">
            <a:off x="4248150" y="2009775"/>
            <a:ext cx="55245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4343400" y="2047875"/>
            <a:ext cx="361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Source Han Sans SC"/>
                <a:ea typeface="Source Han Sans SC"/>
              </a:rPr>
              <a:t>Token</a:t>
            </a:r>
            <a:endParaRPr/>
          </a:p>
        </p:txBody>
      </p:sp>
      <p:sp>
        <p:nvSpPr>
          <p:cNvPr id="448" name=""/>
          <p:cNvSpPr/>
          <p:nvPr/>
        </p:nvSpPr>
        <p:spPr>
          <a:xfrm rot="0" flipH="0" flipV="0">
            <a:off x="4876800" y="2009775"/>
            <a:ext cx="85725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4972050" y="2047875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上下文窗口</a:t>
            </a:r>
            <a:endParaRPr/>
          </a:p>
        </p:txBody>
      </p:sp>
      <p:sp>
        <p:nvSpPr>
          <p:cNvPr id="450" name=""/>
          <p:cNvSpPr/>
          <p:nvPr/>
        </p:nvSpPr>
        <p:spPr>
          <a:xfrm rot="0" flipH="0" flipV="0">
            <a:off x="5810250" y="2009775"/>
            <a:ext cx="11430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5905500" y="2047875"/>
            <a:ext cx="95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Source Han Sans SC"/>
                <a:ea typeface="Source Han Sans SC"/>
              </a:rPr>
              <a:t>Function Calling</a:t>
            </a:r>
            <a:endParaRPr/>
          </a:p>
        </p:txBody>
      </p:sp>
      <p:sp>
        <p:nvSpPr>
          <p:cNvPr id="452" name=""/>
          <p:cNvSpPr/>
          <p:nvPr/>
        </p:nvSpPr>
        <p:spPr>
          <a:xfrm rot="0" flipH="0" flipV="0">
            <a:off x="3619500" y="2371725"/>
            <a:ext cx="7886700" cy="1247775"/>
          </a:xfrm>
          <a:custGeom>
            <a:pathLst>
              <a:path w="828" h="131">
                <a:moveTo>
                  <a:pt x="0" y="130"/>
                </a:moveTo>
                <a:lnTo>
                  <a:pt x="828" y="130"/>
                </a:lnTo>
                <a:lnTo>
                  <a:pt x="828" y="131"/>
                </a:lnTo>
                <a:lnTo>
                  <a:pt x="0" y="131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3619500" y="25336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2AD4EE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4248150" y="2495550"/>
            <a:ext cx="6629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E8EEF9"/>
                </a:solidFill>
                <a:latin typeface="Source Han Sans SC"/>
                <a:ea typeface="Source Han Sans SC"/>
              </a:rPr>
              <a:t>Agent</a:t>
            </a:r>
            <a:r>
              <a:rPr lang="zh-CN" sz="1800" b="1">
                <a:solidFill>
                  <a:srgbClr val="E8EEF9"/>
                </a:solidFill>
                <a:latin typeface="Source Han Sans SC"/>
                <a:ea typeface="Source Han Sans SC"/>
              </a:rPr>
              <a:t>：从“能聊”到“能干”</a:t>
            </a:r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4248150" y="2828925"/>
            <a:ext cx="66294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掌握</a:t>
            </a:r>
            <a:r>
              <a:rPr lang="en-US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ReAct </a:t>
            </a: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与七层功能地图，说清</a:t>
            </a:r>
            <a:r>
              <a:rPr lang="en-US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的能力边界到底在哪。</a:t>
            </a:r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11087100" y="2552700"/>
            <a:ext cx="41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10–18</a:t>
            </a:r>
            <a:endParaRPr/>
          </a:p>
        </p:txBody>
      </p:sp>
      <p:sp>
        <p:nvSpPr>
          <p:cNvPr id="457" name=""/>
          <p:cNvSpPr/>
          <p:nvPr/>
        </p:nvSpPr>
        <p:spPr>
          <a:xfrm rot="0" flipH="0" flipV="0">
            <a:off x="4248150" y="3238500"/>
            <a:ext cx="523875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4343400" y="3276600"/>
            <a:ext cx="333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Source Han Sans SC"/>
                <a:ea typeface="Source Han Sans SC"/>
              </a:rPr>
              <a:t>ReAct</a:t>
            </a:r>
            <a:endParaRPr/>
          </a:p>
        </p:txBody>
      </p:sp>
      <p:sp>
        <p:nvSpPr>
          <p:cNvPr id="459" name=""/>
          <p:cNvSpPr/>
          <p:nvPr/>
        </p:nvSpPr>
        <p:spPr>
          <a:xfrm rot="0" flipH="0" flipV="0">
            <a:off x="4848225" y="3238500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4943475" y="32766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七层地图</a:t>
            </a:r>
            <a:endParaRPr/>
          </a:p>
        </p:txBody>
      </p:sp>
      <p:sp>
        <p:nvSpPr>
          <p:cNvPr id="461" name=""/>
          <p:cNvSpPr/>
          <p:nvPr/>
        </p:nvSpPr>
        <p:spPr>
          <a:xfrm rot="0" flipH="0" flipV="0">
            <a:off x="5648325" y="3238500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5743575" y="32766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十条原则</a:t>
            </a:r>
            <a:endParaRPr/>
          </a:p>
        </p:txBody>
      </p:sp>
      <p:sp>
        <p:nvSpPr>
          <p:cNvPr id="463" name=""/>
          <p:cNvSpPr/>
          <p:nvPr/>
        </p:nvSpPr>
        <p:spPr>
          <a:xfrm rot="0" flipH="0" flipV="0">
            <a:off x="3619500" y="3609975"/>
            <a:ext cx="7886700" cy="1238250"/>
          </a:xfrm>
          <a:custGeom>
            <a:pathLst>
              <a:path w="828" h="130">
                <a:moveTo>
                  <a:pt x="0" y="129"/>
                </a:moveTo>
                <a:lnTo>
                  <a:pt x="828" y="129"/>
                </a:lnTo>
                <a:lnTo>
                  <a:pt x="828" y="130"/>
                </a:lnTo>
                <a:lnTo>
                  <a:pt x="0" y="130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3619500" y="377190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2AD4EE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4248150" y="3733800"/>
            <a:ext cx="6629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E8EEF9"/>
                </a:solidFill>
                <a:latin typeface="Source Han Sans SC"/>
                <a:ea typeface="Source Han Sans SC"/>
              </a:rPr>
              <a:t>Pi Agent</a:t>
            </a:r>
            <a:r>
              <a:rPr lang="zh-CN" sz="1800" b="1">
                <a:solidFill>
                  <a:srgbClr val="E8EEF9"/>
                </a:solidFill>
                <a:latin typeface="Source Han Sans SC"/>
                <a:ea typeface="Source Han Sans SC"/>
              </a:rPr>
              <a:t>：一个极简范式</a:t>
            </a:r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4248150" y="4067175"/>
            <a:ext cx="66294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理解极简哲学与严格单向的分层架构，看懂它的每一个设计取舍。</a:t>
            </a:r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11087100" y="3790950"/>
            <a:ext cx="41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19–25</a:t>
            </a:r>
            <a:endParaRPr/>
          </a:p>
        </p:txBody>
      </p:sp>
      <p:sp>
        <p:nvSpPr>
          <p:cNvPr id="468" name=""/>
          <p:cNvSpPr/>
          <p:nvPr/>
        </p:nvSpPr>
        <p:spPr>
          <a:xfrm rot="0" flipH="0" flipV="0">
            <a:off x="4248150" y="4476750"/>
            <a:ext cx="828675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4343400" y="4514850"/>
            <a:ext cx="638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418 </a:t>
            </a: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行内核</a:t>
            </a:r>
            <a:endParaRPr/>
          </a:p>
        </p:txBody>
      </p:sp>
      <p:sp>
        <p:nvSpPr>
          <p:cNvPr id="470" name=""/>
          <p:cNvSpPr/>
          <p:nvPr/>
        </p:nvSpPr>
        <p:spPr>
          <a:xfrm rot="0" flipH="0" flipV="0">
            <a:off x="5153025" y="4476750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5248275" y="45148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四层架构</a:t>
            </a:r>
            <a:endParaRPr/>
          </a:p>
        </p:txBody>
      </p:sp>
      <p:sp>
        <p:nvSpPr>
          <p:cNvPr id="472" name=""/>
          <p:cNvSpPr/>
          <p:nvPr/>
        </p:nvSpPr>
        <p:spPr>
          <a:xfrm rot="0" flipH="0" flipV="0">
            <a:off x="5953125" y="4476750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6048375" y="45148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三层定制</a:t>
            </a:r>
            <a:endParaRPr/>
          </a:p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3619500" y="5000625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2AD4EE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4248150" y="4962525"/>
            <a:ext cx="6629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8EEF9"/>
                </a:solidFill>
                <a:latin typeface="Source Han Sans SC"/>
                <a:ea typeface="Source Han Sans SC"/>
              </a:rPr>
              <a:t>落地实践：智数问答</a:t>
            </a:r>
            <a:r>
              <a:rPr lang="en-US" sz="18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agent-DQ</a:t>
            </a:r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4248150" y="5295900"/>
            <a:ext cx="66294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完整拆解一个真实业务系统，带走可直接复用的踩坑经验。</a:t>
            </a:r>
            <a:endParaRPr/>
          </a:p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11087100" y="5019675"/>
            <a:ext cx="41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26–32</a:t>
            </a:r>
            <a:endParaRPr/>
          </a:p>
        </p:txBody>
      </p:sp>
      <p:sp>
        <p:nvSpPr>
          <p:cNvPr id="478" name=""/>
          <p:cNvSpPr/>
          <p:nvPr/>
        </p:nvSpPr>
        <p:spPr>
          <a:xfrm rot="0" flipH="0" flipV="0">
            <a:off x="4248150" y="5705475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4343400" y="57435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三级路由</a:t>
            </a:r>
            <a:endParaRPr/>
          </a:p>
        </p:txBody>
      </p:sp>
      <p:sp>
        <p:nvSpPr>
          <p:cNvPr id="480" name=""/>
          <p:cNvSpPr/>
          <p:nvPr/>
        </p:nvSpPr>
        <p:spPr>
          <a:xfrm rot="0" flipH="0" flipV="0">
            <a:off x="5048250" y="5705475"/>
            <a:ext cx="85725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5143500" y="5743575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发现式注册</a:t>
            </a:r>
            <a:endParaRPr/>
          </a:p>
        </p:txBody>
      </p:sp>
      <p:sp>
        <p:nvSpPr>
          <p:cNvPr id="482" name=""/>
          <p:cNvSpPr/>
          <p:nvPr/>
        </p:nvSpPr>
        <p:spPr>
          <a:xfrm rot="0" flipH="0" flipV="0">
            <a:off x="5981700" y="5705475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6076950" y="57435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流式渲染</a:t>
            </a:r>
            <a:endParaRPr/>
          </a:p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02 / 33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0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009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4630400" cy="9753600"/>
          </a:xfrm>
          <a:custGeom>
            <a:pathLst>
              <a:path w="1536" h="1024">
                <a:moveTo>
                  <a:pt x="1280" y="720"/>
                </a:moveTo>
                <a:lnTo>
                  <a:pt x="0" y="720"/>
                </a:lnTo>
                <a:lnTo>
                  <a:pt x="0" y="0"/>
                </a:lnTo>
                <a:lnTo>
                  <a:pt x="1280" y="0"/>
                </a:lnTo>
                <a:close/>
              </a:path>
            </a:pathLst>
          </a:custGeom>
          <a:ln/>
        </p:spPr>
      </p:pic>
      <p:sp>
        <p:nvSpPr>
          <p:cNvPr id="1010" name=""/>
          <p:cNvSpPr/>
          <p:nvPr/>
        </p:nvSpPr>
        <p:spPr>
          <a:xfrm rot="0" flipH="0" flipV="0">
            <a:off x="0" y="0"/>
            <a:ext cx="9906000" cy="6858000"/>
          </a:xfrm>
          <a:prstGeom prst="rect">
            <a:avLst/>
          </a:prstGeom>
          <a:gradFill>
            <a:gsLst>
              <a:gs pos="0">
                <a:srgbClr val="0B1220">
                  <a:alpha val="97000"/>
                </a:srgbClr>
              </a:gs>
              <a:gs pos="50000">
                <a:srgbClr val="0B1220">
                  <a:alpha val="84000"/>
                </a:srgbClr>
              </a:gs>
              <a:gs pos="100000">
                <a:srgbClr val="0B1220">
                  <a:alpha val="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011" name=""/>
          <p:cNvSpPr/>
          <p:nvPr/>
        </p:nvSpPr>
        <p:spPr>
          <a:xfrm rot="0" flipH="0" flipV="0">
            <a:off x="0" y="0"/>
            <a:ext cx="57150" cy="6858000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2AD4EE">
                  <a:alpha val="0"/>
                </a:srgbClr>
              </a:gs>
            </a:gsLst>
            <a:lin ang="54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012" name="" descr="{&quot;isTemplate&quot;:true,&quot;type&quot;:&quot;text&quot;}"/>
          <p:cNvSpPr txBox="1"/>
          <p:nvPr/>
        </p:nvSpPr>
        <p:spPr>
          <a:xfrm rot="0" flipH="0" flipV="0">
            <a:off x="838200" y="1447800"/>
            <a:ext cx="6667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525">
                <a:solidFill>
                  <a:srgbClr val="2AD4EE"/>
                </a:solidFill>
                <a:latin typeface="JetBrains Mono"/>
                <a:ea typeface="JetBrains Mono"/>
              </a:rPr>
              <a:t>CHAPTER 01</a:t>
            </a:r>
            <a:endParaRPr/>
          </a:p>
        </p:txBody>
      </p:sp>
      <p:sp>
        <p:nvSpPr>
          <p:cNvPr id="1013" name="" descr="{&quot;isTemplate&quot;:true,&quot;type&quot;:&quot;text&quot;}"/>
          <p:cNvSpPr txBox="1"/>
          <p:nvPr/>
        </p:nvSpPr>
        <p:spPr>
          <a:xfrm rot="0" flipH="0" flipV="0">
            <a:off x="838200" y="1866900"/>
            <a:ext cx="6667500" cy="17621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4800" b="1" spc="75">
                <a:solidFill>
                  <a:srgbClr val="E8EEF9"/>
                </a:solidFill>
                <a:latin typeface="Source Han Sans SC"/>
                <a:ea typeface="Source Han Sans SC"/>
              </a:rPr>
              <a:t>LLM</a:t>
            </a:r>
            <a:r>
              <a:rPr lang="zh-CN" sz="4800" b="1" spc="75">
                <a:solidFill>
                  <a:srgbClr val="E8EEF9"/>
                </a:solidFill>
                <a:latin typeface="Source Han Sans SC"/>
                <a:ea typeface="Source Han Sans SC"/>
              </a:rPr>
              <a:t>：</a:t>
            </a:r>
            <a:endParaRPr/>
          </a:p>
          <a:p>
            <a:pPr>
              <a:lnSpc>
                <a:spcPct val="120000"/>
              </a:lnSpc>
            </a:pPr>
            <a:r>
              <a:rPr lang="zh-CN" sz="4800" b="1" spc="75">
                <a:solidFill>
                  <a:srgbClr val="2AD4EE"/>
                </a:solidFill>
                <a:latin typeface="Source Han Sans SC"/>
                <a:ea typeface="Source Han Sans SC"/>
              </a:rPr>
              <a:t>一切的地基</a:t>
            </a:r>
            <a:endParaRPr/>
          </a:p>
        </p:txBody>
      </p:sp>
      <p:sp>
        <p:nvSpPr>
          <p:cNvPr id="1014" name=""/>
          <p:cNvSpPr/>
          <p:nvPr/>
        </p:nvSpPr>
        <p:spPr>
          <a:xfrm rot="0" flipH="0" flipV="0">
            <a:off x="838200" y="3810000"/>
            <a:ext cx="723900" cy="381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015" name="" descr="{&quot;isTemplate&quot;:true,&quot;type&quot;:&quot;text&quot;}"/>
          <p:cNvSpPr txBox="1"/>
          <p:nvPr/>
        </p:nvSpPr>
        <p:spPr>
          <a:xfrm rot="0" flipH="0" flipV="0">
            <a:off x="838200" y="4076700"/>
            <a:ext cx="6667500" cy="84772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不认识</a:t>
            </a:r>
            <a:r>
              <a:rPr lang="en-US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的「无状态」，</a:t>
            </a:r>
            <a:endParaRPr/>
          </a:p>
          <a:p>
            <a:pPr>
              <a:lnSpc>
                <a:spcPct val="175000"/>
              </a:lnSpc>
            </a:pP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就理解不了</a:t>
            </a:r>
            <a:r>
              <a:rPr lang="en-US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的上下文工程。</a:t>
            </a:r>
            <a:endParaRPr/>
          </a:p>
        </p:txBody>
      </p:sp>
      <p:sp>
        <p:nvSpPr>
          <p:cNvPr id="1016" name=""/>
          <p:cNvSpPr/>
          <p:nvPr/>
        </p:nvSpPr>
        <p:spPr>
          <a:xfrm rot="0" flipH="0" flipV="0">
            <a:off x="838200" y="5105400"/>
            <a:ext cx="4000500" cy="9525"/>
          </a:xfrm>
          <a:prstGeom prst="rect">
            <a:avLst/>
          </a:prstGeom>
          <a:solidFill>
            <a:srgbClr val="E8EEF9">
              <a:alpha val="1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17" name="" descr="{&quot;isTemplate&quot;:true,&quot;type&quot;:&quot;text&quot;}"/>
          <p:cNvSpPr txBox="1"/>
          <p:nvPr/>
        </p:nvSpPr>
        <p:spPr>
          <a:xfrm rot="0" flipH="0" flipV="0">
            <a:off x="838200" y="5267325"/>
            <a:ext cx="666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本章要回答</a:t>
            </a:r>
            <a:endParaRPr/>
          </a:p>
        </p:txBody>
      </p:sp>
      <p:sp>
        <p:nvSpPr>
          <p:cNvPr id="1018" name=""/>
          <p:cNvSpPr/>
          <p:nvPr/>
        </p:nvSpPr>
        <p:spPr>
          <a:xfrm rot="0" flipH="0" flipV="0">
            <a:off x="838200" y="5610225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019" name="" descr="{&quot;isTemplate&quot;:true,&quot;type&quot;:&quot;text&quot;}"/>
          <p:cNvSpPr txBox="1"/>
          <p:nvPr/>
        </p:nvSpPr>
        <p:spPr>
          <a:xfrm rot="0" flipH="0" flipV="0">
            <a:off x="1000125" y="5534025"/>
            <a:ext cx="2276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LLM </a:t>
            </a: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每次请求到底记住了什么？</a:t>
            </a:r>
            <a:endParaRPr/>
          </a:p>
        </p:txBody>
      </p:sp>
      <p:sp>
        <p:nvSpPr>
          <p:cNvPr id="1020" name=""/>
          <p:cNvSpPr/>
          <p:nvPr/>
        </p:nvSpPr>
        <p:spPr>
          <a:xfrm rot="0" flipH="0" flipV="0">
            <a:off x="838200" y="588645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021" name="" descr="{&quot;isTemplate&quot;:true,&quot;type&quot;:&quot;text&quot;}"/>
          <p:cNvSpPr txBox="1"/>
          <p:nvPr/>
        </p:nvSpPr>
        <p:spPr>
          <a:xfrm rot="0" flipH="0" flipV="0">
            <a:off x="1000125" y="5810250"/>
            <a:ext cx="1781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为什么必须用工具调用？</a:t>
            </a:r>
            <a:endParaRPr/>
          </a:p>
        </p:txBody>
      </p:sp>
      <p:sp>
        <p:nvSpPr>
          <p:cNvPr id="1022" name=""/>
          <p:cNvSpPr/>
          <p:nvPr/>
        </p:nvSpPr>
        <p:spPr>
          <a:xfrm rot="0" flipH="0" flipV="0">
            <a:off x="838200" y="6162675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023" name="" descr="{&quot;isTemplate&quot;:true,&quot;type&quot;:&quot;text&quot;}"/>
          <p:cNvSpPr txBox="1"/>
          <p:nvPr/>
        </p:nvSpPr>
        <p:spPr>
          <a:xfrm rot="0" flipH="0" flipV="0">
            <a:off x="1000125" y="6086475"/>
            <a:ext cx="2324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手写</a:t>
            </a:r>
            <a:r>
              <a:rPr lang="en-US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 Prompt </a:t>
            </a: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与原生</a:t>
            </a:r>
            <a:r>
              <a:rPr lang="en-US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 FC </a:t>
            </a: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差在哪？</a:t>
            </a:r>
            <a:endParaRPr/>
          </a:p>
        </p:txBody>
      </p:sp>
      <p:sp>
        <p:nvSpPr>
          <p:cNvPr id="1024" name=""/>
          <p:cNvSpPr/>
          <p:nvPr/>
        </p:nvSpPr>
        <p:spPr>
          <a:xfrm rot="0" flipH="0" flipV="0">
            <a:off x="7620000" y="3200400"/>
            <a:ext cx="3733800" cy="2295525"/>
          </a:xfrm>
          <a:prstGeom prst="roundRect">
            <a:avLst>
              <a:gd name="adj" fmla="val 1660"/>
            </a:avLst>
          </a:prstGeom>
          <a:solidFill>
            <a:srgbClr val="0B1220">
              <a:alpha val="82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25" name="" descr="{&quot;isTemplate&quot;:true,&quot;type&quot;:&quot;text&quot;}"/>
          <p:cNvSpPr txBox="1"/>
          <p:nvPr/>
        </p:nvSpPr>
        <p:spPr>
          <a:xfrm rot="0" flipH="0" flipV="0">
            <a:off x="7848600" y="3409950"/>
            <a:ext cx="8572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2AD4EE">
                    <a:alpha val="55000"/>
                  </a:srgbClr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1026" name="" descr="{&quot;isTemplate&quot;:true,&quot;type&quot;:&quot;text&quot;}"/>
          <p:cNvSpPr txBox="1"/>
          <p:nvPr/>
        </p:nvSpPr>
        <p:spPr>
          <a:xfrm rot="0" flipH="0" flipV="0">
            <a:off x="9801225" y="4057650"/>
            <a:ext cx="1323975" cy="228600"/>
          </a:xfrm>
          <a:prstGeom prst="rect"/>
        </p:spPr>
        <p:txBody>
          <a:bodyPr wrap="none" lIns="0" tIns="0" rIns="0" bIns="5715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PAGES 03 – 09</a:t>
            </a:r>
            <a:endParaRPr/>
          </a:p>
        </p:txBody>
      </p:sp>
      <p:sp>
        <p:nvSpPr>
          <p:cNvPr id="1027" name=""/>
          <p:cNvSpPr/>
          <p:nvPr/>
        </p:nvSpPr>
        <p:spPr>
          <a:xfrm rot="0" flipH="0" flipV="0">
            <a:off x="7848600" y="455295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28" name="" descr="{&quot;isTemplate&quot;:true,&quot;type&quot;:&quot;text&quot;}"/>
          <p:cNvSpPr txBox="1"/>
          <p:nvPr/>
        </p:nvSpPr>
        <p:spPr>
          <a:xfrm rot="0" flipH="0" flipV="0">
            <a:off x="8134350" y="4457700"/>
            <a:ext cx="1457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无状态与上下文窗口</a:t>
            </a:r>
            <a:endParaRPr/>
          </a:p>
        </p:txBody>
      </p:sp>
      <p:sp>
        <p:nvSpPr>
          <p:cNvPr id="1029" name=""/>
          <p:cNvSpPr/>
          <p:nvPr/>
        </p:nvSpPr>
        <p:spPr>
          <a:xfrm rot="0" flipH="0" flipV="0">
            <a:off x="7848600" y="4867275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30" name="" descr="{&quot;isTemplate&quot;:true,&quot;type&quot;:&quot;text&quot;}"/>
          <p:cNvSpPr txBox="1"/>
          <p:nvPr/>
        </p:nvSpPr>
        <p:spPr>
          <a:xfrm rot="0" flipH="0" flipV="0">
            <a:off x="8134350" y="4772025"/>
            <a:ext cx="1457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四个必记的核心概念</a:t>
            </a:r>
            <a:endParaRPr/>
          </a:p>
        </p:txBody>
      </p:sp>
      <p:sp>
        <p:nvSpPr>
          <p:cNvPr id="1031" name=""/>
          <p:cNvSpPr/>
          <p:nvPr/>
        </p:nvSpPr>
        <p:spPr>
          <a:xfrm rot="0" flipH="0" flipV="0">
            <a:off x="7848600" y="518160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32" name="" descr="{&quot;isTemplate&quot;:true,&quot;type&quot;:&quot;text&quot;}"/>
          <p:cNvSpPr txBox="1"/>
          <p:nvPr/>
        </p:nvSpPr>
        <p:spPr>
          <a:xfrm rot="0" flipH="0" flipV="0">
            <a:off x="8134350" y="5086350"/>
            <a:ext cx="2324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两种调用方式与</a:t>
            </a:r>
            <a:r>
              <a:rPr lang="en-US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 xml:space="preserve"> Function Calling</a:t>
            </a:r>
            <a:endParaRPr/>
          </a:p>
        </p:txBody>
      </p:sp>
      <p:sp>
        <p:nvSpPr>
          <p:cNvPr id="1033" name="" descr="{&quot;isTemplate&quot;:true,&quot;type&quot;:&quot;text&quot;}"/>
          <p:cNvSpPr txBox="1"/>
          <p:nvPr/>
        </p:nvSpPr>
        <p:spPr>
          <a:xfrm rot="0" flipH="0" flipV="0">
            <a:off x="838200" y="6419850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03 / 33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1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195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196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5434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LLM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是「无状态的文本预测器」</a:t>
            </a:r>
            <a:endParaRPr/>
          </a:p>
        </p:txBody>
      </p:sp>
      <p:sp>
        <p:nvSpPr>
          <p:cNvPr id="1197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543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理解这一点，才理解为什么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的上下文要自己算</a:t>
            </a:r>
            <a:endParaRPr/>
          </a:p>
        </p:txBody>
      </p:sp>
      <p:sp>
        <p:nvSpPr>
          <p:cNvPr id="1198" name=""/>
          <p:cNvSpPr/>
          <p:nvPr/>
        </p:nvSpPr>
        <p:spPr>
          <a:xfrm rot="0" flipH="0" flipV="0">
            <a:off x="685800" y="1143000"/>
            <a:ext cx="3429000" cy="5534025"/>
          </a:xfrm>
          <a:custGeom>
            <a:pathLst>
              <a:path w="360" h="581">
                <a:moveTo>
                  <a:pt x="359" y="0"/>
                </a:moveTo>
                <a:lnTo>
                  <a:pt x="360" y="0"/>
                </a:lnTo>
                <a:lnTo>
                  <a:pt x="360" y="581"/>
                </a:lnTo>
                <a:lnTo>
                  <a:pt x="359" y="581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99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3133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DEFINITION</a:t>
            </a:r>
            <a:endParaRPr/>
          </a:p>
        </p:txBody>
      </p:sp>
      <p:sp>
        <p:nvSpPr>
          <p:cNvPr id="1200" name="" descr="{&quot;isTemplate&quot;:true,&quot;type&quot;:&quot;text&quot;}"/>
          <p:cNvSpPr txBox="1"/>
          <p:nvPr/>
        </p:nvSpPr>
        <p:spPr>
          <a:xfrm rot="0" flipH="0" flipV="0">
            <a:off x="685800" y="1485900"/>
            <a:ext cx="3133725" cy="895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模型本身</a:t>
            </a:r>
            <a:endParaRPr/>
          </a:p>
          <a:p>
            <a:pPr>
              <a:lnSpc>
                <a:spcPct val="150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没有内存</a:t>
            </a:r>
            <a:endParaRPr/>
          </a:p>
        </p:txBody>
      </p:sp>
      <p:sp>
        <p:nvSpPr>
          <p:cNvPr id="1201" name="" descr="{&quot;isTemplate&quot;:true,&quot;type&quot;:&quot;text&quot;}"/>
          <p:cNvSpPr txBox="1"/>
          <p:nvPr/>
        </p:nvSpPr>
        <p:spPr>
          <a:xfrm rot="0" flipH="0" flipV="0">
            <a:off x="685800" y="2571750"/>
            <a:ext cx="3133725" cy="1362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它不会主动记住上一次对话。你不把历史消息完整塞回</a:t>
            </a:r>
            <a:r>
              <a:rPr lang="en-US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</a:t>
            </a:r>
            <a:r>
              <a:rPr lang="en-US" sz="1275">
                <a:solidFill>
                  <a:srgbClr val="2AD4EE"/>
                </a:solidFill>
                <a:latin typeface="Source Han Sans SC"/>
                <a:ea typeface="Source Han Sans SC"/>
              </a:rPr>
              <a:t>messages</a:t>
            </a: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，它就完全不知道之前聊过什么——所谓「记忆」，每次请求都由你重建。</a:t>
            </a:r>
            <a:endParaRPr/>
          </a:p>
        </p:txBody>
      </p:sp>
      <p:sp>
        <p:nvSpPr>
          <p:cNvPr id="1202" name=""/>
          <p:cNvSpPr/>
          <p:nvPr/>
        </p:nvSpPr>
        <p:spPr>
          <a:xfrm rot="0" flipH="0" flipV="0">
            <a:off x="685800" y="4143375"/>
            <a:ext cx="59055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03" name="" descr="{&quot;isTemplate&quot;:true,&quot;type&quot;:&quot;text&quot;}"/>
          <p:cNvSpPr txBox="1"/>
          <p:nvPr/>
        </p:nvSpPr>
        <p:spPr>
          <a:xfrm rot="0" flipH="0" flipV="0">
            <a:off x="781050" y="418147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无状态</a:t>
            </a:r>
            <a:endParaRPr/>
          </a:p>
        </p:txBody>
      </p:sp>
      <p:sp>
        <p:nvSpPr>
          <p:cNvPr id="1204" name=""/>
          <p:cNvSpPr/>
          <p:nvPr/>
        </p:nvSpPr>
        <p:spPr>
          <a:xfrm rot="0" flipH="0" flipV="0">
            <a:off x="1352550" y="4143375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05" name="" descr="{&quot;isTemplate&quot;:true,&quot;type&quot;:&quot;text&quot;}"/>
          <p:cNvSpPr txBox="1"/>
          <p:nvPr/>
        </p:nvSpPr>
        <p:spPr>
          <a:xfrm rot="0" flipH="0" flipV="0">
            <a:off x="1447800" y="41814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每次重发</a:t>
            </a:r>
            <a:endParaRPr/>
          </a:p>
        </p:txBody>
      </p:sp>
      <p:sp>
        <p:nvSpPr>
          <p:cNvPr id="1206" name=""/>
          <p:cNvSpPr/>
          <p:nvPr/>
        </p:nvSpPr>
        <p:spPr>
          <a:xfrm rot="0" flipH="0" flipV="0">
            <a:off x="2152650" y="4143375"/>
            <a:ext cx="10668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07" name="" descr="{&quot;isTemplate&quot;:true,&quot;type&quot;:&quot;text&quot;}"/>
          <p:cNvSpPr txBox="1"/>
          <p:nvPr/>
        </p:nvSpPr>
        <p:spPr>
          <a:xfrm rot="0" flipH="0" flipV="0">
            <a:off x="2247900" y="4181475"/>
            <a:ext cx="876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messages </a:t>
            </a: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数组</a:t>
            </a:r>
            <a:endParaRPr/>
          </a:p>
        </p:txBody>
      </p:sp>
      <p:sp>
        <p:nvSpPr>
          <p:cNvPr id="1208" name=""/>
          <p:cNvSpPr/>
          <p:nvPr/>
        </p:nvSpPr>
        <p:spPr>
          <a:xfrm rot="0" flipH="0" flipV="0">
            <a:off x="685800" y="4629150"/>
            <a:ext cx="3133725" cy="9525"/>
          </a:xfrm>
          <a:prstGeom prst="rect">
            <a:avLst/>
          </a:pr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09" name="" descr="{&quot;isTemplate&quot;:true,&quot;type&quot;:&quot;text&quot;}"/>
          <p:cNvSpPr txBox="1"/>
          <p:nvPr/>
        </p:nvSpPr>
        <p:spPr>
          <a:xfrm rot="0" flipH="0" flipV="0">
            <a:off x="685800" y="4810125"/>
            <a:ext cx="3133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ACTIONS ·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两个必做动作</a:t>
            </a:r>
            <a:endParaRPr/>
          </a:p>
        </p:txBody>
      </p:sp>
      <p:sp>
        <p:nvSpPr>
          <p:cNvPr id="1210" name="" descr="{&quot;isTemplate&quot;:true,&quot;type&quot;:&quot;text&quot;}"/>
          <p:cNvSpPr txBox="1"/>
          <p:nvPr/>
        </p:nvSpPr>
        <p:spPr>
          <a:xfrm rot="0" flipH="0" flipV="0">
            <a:off x="685800" y="5095875"/>
            <a:ext cx="3133725" cy="6858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超窗之前：摘要压缩（</a:t>
            </a:r>
            <a:r>
              <a:rPr lang="en-US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compaction</a:t>
            </a: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）</a:t>
            </a:r>
            <a:endParaRPr/>
          </a:p>
          <a:p>
            <a:pPr>
              <a:lnSpc>
                <a:spcPct val="175000"/>
              </a:lnSpc>
            </a:pP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进上下文前：工具返回精简</a:t>
            </a:r>
            <a:r>
              <a:rPr lang="en-US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脱敏</a:t>
            </a:r>
            <a:endParaRPr/>
          </a:p>
        </p:txBody>
      </p:sp>
      <p:sp>
        <p:nvSpPr>
          <p:cNvPr id="1211" name=""/>
          <p:cNvSpPr/>
          <p:nvPr/>
        </p:nvSpPr>
        <p:spPr>
          <a:xfrm rot="0" flipH="0" flipV="0">
            <a:off x="714375" y="5781675"/>
            <a:ext cx="3133725" cy="895350"/>
          </a:xfrm>
          <a:prstGeom prst="rect">
            <a:avLst/>
          </a:prstGeom>
          <a:solidFill>
            <a:srgbClr val="2AD4EE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12" name=""/>
          <p:cNvSpPr/>
          <p:nvPr/>
        </p:nvSpPr>
        <p:spPr>
          <a:xfrm rot="0" flipH="0" flipV="0">
            <a:off x="685800" y="5781675"/>
            <a:ext cx="3162300" cy="895350"/>
          </a:xfrm>
          <a:custGeom>
            <a:pathLst>
              <a:path w="332" h="94">
                <a:moveTo>
                  <a:pt x="0" y="0"/>
                </a:moveTo>
                <a:lnTo>
                  <a:pt x="3" y="0"/>
                </a:lnTo>
                <a:lnTo>
                  <a:pt x="3" y="94"/>
                </a:lnTo>
                <a:lnTo>
                  <a:pt x="0" y="94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213" name="" descr="{&quot;isTemplate&quot;:true,&quot;type&quot;:&quot;text&quot;}"/>
          <p:cNvSpPr txBox="1"/>
          <p:nvPr/>
        </p:nvSpPr>
        <p:spPr>
          <a:xfrm rot="0" flipH="0" flipV="0">
            <a:off x="866775" y="5915025"/>
            <a:ext cx="28003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上下文窗口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= 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一次能读完的</a:t>
            </a:r>
            <a:r>
              <a:rPr lang="zh-CN" sz="1275">
                <a:solidFill>
                  <a:srgbClr val="2AD4EE"/>
                </a:solidFill>
                <a:latin typeface="Source Han Sans SC"/>
                <a:ea typeface="Source Han Sans SC"/>
              </a:rPr>
              <a:t>总量上限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（输入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输出）。</a:t>
            </a:r>
            <a:endParaRPr/>
          </a:p>
        </p:txBody>
      </p:sp>
      <p:sp>
        <p:nvSpPr>
          <p:cNvPr id="1214" name="" descr="{&quot;isTemplate&quot;:true,&quot;type&quot;:&quot;text&quot;}"/>
          <p:cNvSpPr txBox="1"/>
          <p:nvPr/>
        </p:nvSpPr>
        <p:spPr>
          <a:xfrm rot="0" flipH="0" flipV="0">
            <a:off x="4457700" y="1143000"/>
            <a:ext cx="7048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CONTEXT WINDOW ·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以</a:t>
            </a: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 128k token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为例</a:t>
            </a:r>
            <a:endParaRPr/>
          </a:p>
        </p:txBody>
      </p:sp>
      <p:sp>
        <p:nvSpPr>
          <p:cNvPr id="1215" name=""/>
          <p:cNvSpPr/>
          <p:nvPr/>
        </p:nvSpPr>
        <p:spPr>
          <a:xfrm rot="0" flipH="0" flipV="0">
            <a:off x="4457700" y="1466850"/>
            <a:ext cx="7048500" cy="742950"/>
          </a:xfrm>
          <a:prstGeom prst="roundRect">
            <a:avLst>
              <a:gd name="adj" fmla="val 5128"/>
            </a:avLst>
          </a:prstGeom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16" name=""/>
          <p:cNvSpPr/>
          <p:nvPr/>
        </p:nvSpPr>
        <p:spPr>
          <a:xfrm rot="0" flipH="0" flipV="0">
            <a:off x="4457700" y="1466850"/>
            <a:ext cx="3990975" cy="742950"/>
          </a:xfrm>
          <a:prstGeom prst="rect">
            <a:avLst/>
          </a:prstGeom>
          <a:solidFill>
            <a:srgbClr val="2AD4EE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17" name=""/>
          <p:cNvSpPr/>
          <p:nvPr/>
        </p:nvSpPr>
        <p:spPr>
          <a:xfrm rot="0" flipH="0" flipV="0">
            <a:off x="4457700" y="1466850"/>
            <a:ext cx="4000500" cy="742950"/>
          </a:xfrm>
          <a:custGeom>
            <a:pathLst>
              <a:path w="420" h="78">
                <a:moveTo>
                  <a:pt x="419" y="0"/>
                </a:moveTo>
                <a:lnTo>
                  <a:pt x="420" y="0"/>
                </a:lnTo>
                <a:lnTo>
                  <a:pt x="420" y="78"/>
                </a:lnTo>
                <a:lnTo>
                  <a:pt x="419" y="78"/>
                </a:lnTo>
                <a:close/>
              </a:path>
            </a:pathLst>
          </a:custGeom>
          <a:solidFill>
            <a:srgbClr val="2AD4EE">
              <a:alpha val="2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18" name="" descr="{&quot;isTemplate&quot;:true,&quot;type&quot;:&quot;text&quot;}"/>
          <p:cNvSpPr txBox="1"/>
          <p:nvPr/>
        </p:nvSpPr>
        <p:spPr>
          <a:xfrm rot="0" flipH="0" flipV="0">
            <a:off x="4591050" y="1647825"/>
            <a:ext cx="3752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历史对话</a:t>
            </a:r>
            <a:endParaRPr/>
          </a:p>
        </p:txBody>
      </p:sp>
      <p:sp>
        <p:nvSpPr>
          <p:cNvPr id="1219" name="" descr="{&quot;isTemplate&quot;:true,&quot;type&quot;:&quot;text&quot;}"/>
          <p:cNvSpPr txBox="1"/>
          <p:nvPr/>
        </p:nvSpPr>
        <p:spPr>
          <a:xfrm rot="0" flipH="0" flipV="0">
            <a:off x="4591050" y="1876425"/>
            <a:ext cx="3752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system + </a:t>
            </a:r>
            <a:r>
              <a:rPr lang="zh-CN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多轮</a:t>
            </a:r>
            <a:r>
              <a:rPr lang="en-US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messages + </a:t>
            </a:r>
            <a:r>
              <a:rPr lang="zh-CN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工具返回</a:t>
            </a:r>
            <a:endParaRPr/>
          </a:p>
        </p:txBody>
      </p:sp>
      <p:sp>
        <p:nvSpPr>
          <p:cNvPr id="1220" name=""/>
          <p:cNvSpPr/>
          <p:nvPr/>
        </p:nvSpPr>
        <p:spPr>
          <a:xfrm rot="0" flipH="0" flipV="0">
            <a:off x="8448675" y="1466850"/>
            <a:ext cx="1647825" cy="742950"/>
          </a:xfrm>
          <a:prstGeom prst="rect">
            <a:avLst/>
          </a:prstGeom>
          <a:solidFill>
            <a:srgbClr val="2AD4EE">
              <a:alpha val="3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21" name=""/>
          <p:cNvSpPr/>
          <p:nvPr/>
        </p:nvSpPr>
        <p:spPr>
          <a:xfrm rot="0" flipH="0" flipV="0">
            <a:off x="8448675" y="1466850"/>
            <a:ext cx="1657350" cy="742950"/>
          </a:xfrm>
          <a:custGeom>
            <a:pathLst>
              <a:path w="174" h="78">
                <a:moveTo>
                  <a:pt x="173" y="0"/>
                </a:moveTo>
                <a:lnTo>
                  <a:pt x="174" y="0"/>
                </a:lnTo>
                <a:lnTo>
                  <a:pt x="174" y="78"/>
                </a:lnTo>
                <a:lnTo>
                  <a:pt x="173" y="78"/>
                </a:lnTo>
                <a:close/>
              </a:path>
            </a:pathLst>
          </a:custGeom>
          <a:solidFill>
            <a:srgbClr val="2AD4EE">
              <a:alpha val="2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22" name="" descr="{&quot;isTemplate&quot;:true,&quot;type&quot;:&quot;text&quot;}"/>
          <p:cNvSpPr txBox="1"/>
          <p:nvPr/>
        </p:nvSpPr>
        <p:spPr>
          <a:xfrm rot="0" flipH="0" flipV="0">
            <a:off x="8562975" y="1647825"/>
            <a:ext cx="1447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220"/>
                </a:solidFill>
                <a:latin typeface="Source Han Sans SC"/>
                <a:ea typeface="Source Han Sans SC"/>
              </a:rPr>
              <a:t>本轮输入</a:t>
            </a:r>
            <a:endParaRPr/>
          </a:p>
        </p:txBody>
      </p:sp>
      <p:sp>
        <p:nvSpPr>
          <p:cNvPr id="1223" name="" descr="{&quot;isTemplate&quot;:true,&quot;type&quot;:&quot;text&quot;}"/>
          <p:cNvSpPr txBox="1"/>
          <p:nvPr/>
        </p:nvSpPr>
        <p:spPr>
          <a:xfrm rot="0" flipH="0" flipV="0">
            <a:off x="8562975" y="1876425"/>
            <a:ext cx="1447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B1220">
                    <a:alpha val="72000"/>
                  </a:srgbClr>
                </a:solidFill>
                <a:latin typeface="Source Han Sans SC"/>
                <a:ea typeface="Source Han Sans SC"/>
              </a:rPr>
              <a:t>用户问题</a:t>
            </a:r>
            <a:endParaRPr/>
          </a:p>
        </p:txBody>
      </p:sp>
      <p:sp>
        <p:nvSpPr>
          <p:cNvPr id="1224" name=""/>
          <p:cNvSpPr/>
          <p:nvPr/>
        </p:nvSpPr>
        <p:spPr>
          <a:xfrm rot="0" flipH="0" flipV="0">
            <a:off x="10096500" y="1466850"/>
            <a:ext cx="1409700" cy="742950"/>
          </a:xfrm>
          <a:prstGeom prst="rect">
            <a:avLst/>
          </a:prstGeom>
          <a:solidFill>
            <a:srgbClr val="2AD4EE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25" name="" descr="{&quot;isTemplate&quot;:true,&quot;type&quot;:&quot;text&quot;}"/>
          <p:cNvSpPr txBox="1"/>
          <p:nvPr/>
        </p:nvSpPr>
        <p:spPr>
          <a:xfrm rot="0" flipH="0" flipV="0">
            <a:off x="10210800" y="1647825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预留输出</a:t>
            </a:r>
            <a:endParaRPr/>
          </a:p>
        </p:txBody>
      </p:sp>
      <p:sp>
        <p:nvSpPr>
          <p:cNvPr id="1226" name="" descr="{&quot;isTemplate&quot;:true,&quot;type&quot;:&quot;text&quot;}"/>
          <p:cNvSpPr txBox="1"/>
          <p:nvPr/>
        </p:nvSpPr>
        <p:spPr>
          <a:xfrm rot="0" flipH="0" flipV="0">
            <a:off x="10210800" y="1876425"/>
            <a:ext cx="1219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maxTokens</a:t>
            </a:r>
            <a:endParaRPr/>
          </a:p>
        </p:txBody>
      </p:sp>
      <p:sp>
        <p:nvSpPr>
          <p:cNvPr id="1227" name="" descr="{&quot;isTemplate&quot;:true,&quot;type&quot;:&quot;text&quot;}"/>
          <p:cNvSpPr txBox="1"/>
          <p:nvPr/>
        </p:nvSpPr>
        <p:spPr>
          <a:xfrm rot="0" flipH="0" flipV="0">
            <a:off x="4457700" y="2286000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</a:t>
            </a:r>
            <a:endParaRPr/>
          </a:p>
        </p:txBody>
      </p:sp>
      <p:sp>
        <p:nvSpPr>
          <p:cNvPr id="1228" name="" descr="{&quot;isTemplate&quot;:true,&quot;type&quot;:&quot;text&quot;}"/>
          <p:cNvSpPr txBox="1"/>
          <p:nvPr/>
        </p:nvSpPr>
        <p:spPr>
          <a:xfrm rot="0" flipH="0" flipV="0">
            <a:off x="6981825" y="2286000"/>
            <a:ext cx="1790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超过上限</a:t>
            </a:r>
            <a:r>
              <a:rPr lang="en-US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最前面的信息被丢弃</a:t>
            </a:r>
            <a:endParaRPr/>
          </a:p>
        </p:txBody>
      </p:sp>
      <p:sp>
        <p:nvSpPr>
          <p:cNvPr id="1229" name="" descr="{&quot;isTemplate&quot;:true,&quot;type&quot;:&quot;text&quot;}"/>
          <p:cNvSpPr txBox="1"/>
          <p:nvPr/>
        </p:nvSpPr>
        <p:spPr>
          <a:xfrm rot="0" flipH="0" flipV="0">
            <a:off x="11210925" y="2286000"/>
            <a:ext cx="2952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128k</a:t>
            </a:r>
            <a:endParaRPr/>
          </a:p>
        </p:txBody>
      </p:sp>
      <p:sp>
        <p:nvSpPr>
          <p:cNvPr id="1230" name="" descr="{&quot;isTemplate&quot;:true,&quot;type&quot;:&quot;text&quot;}"/>
          <p:cNvSpPr txBox="1"/>
          <p:nvPr/>
        </p:nvSpPr>
        <p:spPr>
          <a:xfrm rot="0" flipH="0" flipV="0">
            <a:off x="4457700" y="2724150"/>
            <a:ext cx="7048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TOKEN ·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计费与窗口的最小单位</a:t>
            </a:r>
            <a:endParaRPr/>
          </a:p>
        </p:txBody>
      </p:sp>
      <p:sp>
        <p:nvSpPr>
          <p:cNvPr id="1231" name="" descr="{&quot;isTemplate&quot;:true,&quot;type&quot;:&quot;text&quot;}"/>
          <p:cNvSpPr txBox="1"/>
          <p:nvPr/>
        </p:nvSpPr>
        <p:spPr>
          <a:xfrm rot="0" flipH="0" flipV="0">
            <a:off x="4457700" y="3028950"/>
            <a:ext cx="7048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E8EEF9"/>
                </a:solidFill>
                <a:latin typeface="Source Han Sans SC"/>
                <a:ea typeface="Source Han Sans SC"/>
              </a:rPr>
              <a:t>「企业</a:t>
            </a:r>
            <a:r>
              <a:rPr lang="en-US" sz="15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2025 </a:t>
            </a:r>
            <a:r>
              <a:rPr lang="zh-CN" sz="1500">
                <a:solidFill>
                  <a:srgbClr val="E8EEF9"/>
                </a:solidFill>
                <a:latin typeface="Source Han Sans SC"/>
                <a:ea typeface="Source Han Sans SC"/>
              </a:rPr>
              <a:t>年营收</a:t>
            </a:r>
            <a:r>
              <a:rPr lang="en-US" sz="15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3.2 </a:t>
            </a:r>
            <a:r>
              <a:rPr lang="zh-CN" sz="1500">
                <a:solidFill>
                  <a:srgbClr val="E8EEF9"/>
                </a:solidFill>
                <a:latin typeface="Source Han Sans SC"/>
                <a:ea typeface="Source Han Sans SC"/>
              </a:rPr>
              <a:t>亿元」</a:t>
            </a:r>
            <a:endParaRPr/>
          </a:p>
        </p:txBody>
      </p:sp>
      <p:sp>
        <p:nvSpPr>
          <p:cNvPr id="1232" name=""/>
          <p:cNvSpPr/>
          <p:nvPr/>
        </p:nvSpPr>
        <p:spPr>
          <a:xfrm rot="0" flipH="0" flipV="0">
            <a:off x="4457700" y="3390900"/>
            <a:ext cx="495300" cy="266700"/>
          </a:xfrm>
          <a:prstGeom prst="roundRect">
            <a:avLst>
              <a:gd name="adj" fmla="val 10714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33" name="" descr="{&quot;isTemplate&quot;:true,&quot;type&quot;:&quot;text&quot;}"/>
          <p:cNvSpPr txBox="1"/>
          <p:nvPr/>
        </p:nvSpPr>
        <p:spPr>
          <a:xfrm rot="0" flipH="0" flipV="0">
            <a:off x="4562475" y="343852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AD4EE"/>
                </a:solidFill>
                <a:latin typeface="JetBrains Mono"/>
                <a:ea typeface="JetBrains Mono"/>
              </a:rPr>
              <a:t>企业</a:t>
            </a:r>
            <a:endParaRPr/>
          </a:p>
        </p:txBody>
      </p:sp>
      <p:sp>
        <p:nvSpPr>
          <p:cNvPr id="1234" name=""/>
          <p:cNvSpPr/>
          <p:nvPr/>
        </p:nvSpPr>
        <p:spPr>
          <a:xfrm rot="0" flipH="0" flipV="0">
            <a:off x="5029200" y="3390900"/>
            <a:ext cx="552450" cy="266700"/>
          </a:xfrm>
          <a:prstGeom prst="roundRect">
            <a:avLst>
              <a:gd name="adj" fmla="val 10714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35" name="" descr="{&quot;isTemplate&quot;:true,&quot;type&quot;:&quot;text&quot;}"/>
          <p:cNvSpPr txBox="1"/>
          <p:nvPr/>
        </p:nvSpPr>
        <p:spPr>
          <a:xfrm rot="0" flipH="0" flipV="0">
            <a:off x="5133975" y="3438525"/>
            <a:ext cx="342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AD4EE"/>
                </a:solidFill>
                <a:latin typeface="JetBrains Mono"/>
                <a:ea typeface="JetBrains Mono"/>
              </a:rPr>
              <a:t>2025</a:t>
            </a:r>
            <a:endParaRPr/>
          </a:p>
        </p:txBody>
      </p:sp>
      <p:sp>
        <p:nvSpPr>
          <p:cNvPr id="1236" name=""/>
          <p:cNvSpPr/>
          <p:nvPr/>
        </p:nvSpPr>
        <p:spPr>
          <a:xfrm rot="0" flipH="0" flipV="0">
            <a:off x="5657850" y="3390900"/>
            <a:ext cx="352425" cy="266700"/>
          </a:xfrm>
          <a:prstGeom prst="roundRect">
            <a:avLst>
              <a:gd name="adj" fmla="val 10714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37" name="" descr="{&quot;isTemplate&quot;:true,&quot;type&quot;:&quot;text&quot;}"/>
          <p:cNvSpPr txBox="1"/>
          <p:nvPr/>
        </p:nvSpPr>
        <p:spPr>
          <a:xfrm rot="0" flipH="0" flipV="0">
            <a:off x="5762625" y="343852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AD4EE"/>
                </a:solidFill>
                <a:latin typeface="JetBrains Mono"/>
                <a:ea typeface="JetBrains Mono"/>
              </a:rPr>
              <a:t>年</a:t>
            </a:r>
            <a:endParaRPr/>
          </a:p>
        </p:txBody>
      </p:sp>
      <p:sp>
        <p:nvSpPr>
          <p:cNvPr id="1238" name=""/>
          <p:cNvSpPr/>
          <p:nvPr/>
        </p:nvSpPr>
        <p:spPr>
          <a:xfrm rot="0" flipH="0" flipV="0">
            <a:off x="6086475" y="3390900"/>
            <a:ext cx="352425" cy="266700"/>
          </a:xfrm>
          <a:prstGeom prst="roundRect">
            <a:avLst>
              <a:gd name="adj" fmla="val 10714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39" name="" descr="{&quot;isTemplate&quot;:true,&quot;type&quot;:&quot;text&quot;}"/>
          <p:cNvSpPr txBox="1"/>
          <p:nvPr/>
        </p:nvSpPr>
        <p:spPr>
          <a:xfrm rot="0" flipH="0" flipV="0">
            <a:off x="6191250" y="343852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AD4EE"/>
                </a:solidFill>
                <a:latin typeface="JetBrains Mono"/>
                <a:ea typeface="JetBrains Mono"/>
              </a:rPr>
              <a:t>营</a:t>
            </a:r>
            <a:endParaRPr/>
          </a:p>
        </p:txBody>
      </p:sp>
      <p:sp>
        <p:nvSpPr>
          <p:cNvPr id="1240" name=""/>
          <p:cNvSpPr/>
          <p:nvPr/>
        </p:nvSpPr>
        <p:spPr>
          <a:xfrm rot="0" flipH="0" flipV="0">
            <a:off x="6515100" y="3390900"/>
            <a:ext cx="352425" cy="266700"/>
          </a:xfrm>
          <a:prstGeom prst="roundRect">
            <a:avLst>
              <a:gd name="adj" fmla="val 10714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41" name="" descr="{&quot;isTemplate&quot;:true,&quot;type&quot;:&quot;text&quot;}"/>
          <p:cNvSpPr txBox="1"/>
          <p:nvPr/>
        </p:nvSpPr>
        <p:spPr>
          <a:xfrm rot="0" flipH="0" flipV="0">
            <a:off x="6619875" y="343852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AD4EE"/>
                </a:solidFill>
                <a:latin typeface="JetBrains Mono"/>
                <a:ea typeface="JetBrains Mono"/>
              </a:rPr>
              <a:t>收</a:t>
            </a:r>
            <a:endParaRPr/>
          </a:p>
        </p:txBody>
      </p:sp>
      <p:sp>
        <p:nvSpPr>
          <p:cNvPr id="1242" name=""/>
          <p:cNvSpPr/>
          <p:nvPr/>
        </p:nvSpPr>
        <p:spPr>
          <a:xfrm rot="0" flipH="0" flipV="0">
            <a:off x="6943725" y="3390900"/>
            <a:ext cx="466725" cy="266700"/>
          </a:xfrm>
          <a:prstGeom prst="roundRect">
            <a:avLst>
              <a:gd name="adj" fmla="val 10714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43" name="" descr="{&quot;isTemplate&quot;:true,&quot;type&quot;:&quot;text&quot;}"/>
          <p:cNvSpPr txBox="1"/>
          <p:nvPr/>
        </p:nvSpPr>
        <p:spPr>
          <a:xfrm rot="0" flipH="0" flipV="0">
            <a:off x="7048500" y="3438525"/>
            <a:ext cx="25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AD4EE"/>
                </a:solidFill>
                <a:latin typeface="JetBrains Mono"/>
                <a:ea typeface="JetBrains Mono"/>
              </a:rPr>
              <a:t>3.2</a:t>
            </a:r>
            <a:endParaRPr/>
          </a:p>
        </p:txBody>
      </p:sp>
      <p:sp>
        <p:nvSpPr>
          <p:cNvPr id="1244" name=""/>
          <p:cNvSpPr/>
          <p:nvPr/>
        </p:nvSpPr>
        <p:spPr>
          <a:xfrm rot="0" flipH="0" flipV="0">
            <a:off x="7486650" y="3390900"/>
            <a:ext cx="352425" cy="266700"/>
          </a:xfrm>
          <a:prstGeom prst="roundRect">
            <a:avLst>
              <a:gd name="adj" fmla="val 10714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45" name="" descr="{&quot;isTemplate&quot;:true,&quot;type&quot;:&quot;text&quot;}"/>
          <p:cNvSpPr txBox="1"/>
          <p:nvPr/>
        </p:nvSpPr>
        <p:spPr>
          <a:xfrm rot="0" flipH="0" flipV="0">
            <a:off x="7591425" y="343852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AD4EE"/>
                </a:solidFill>
                <a:latin typeface="JetBrains Mono"/>
                <a:ea typeface="JetBrains Mono"/>
              </a:rPr>
              <a:t>亿</a:t>
            </a:r>
            <a:endParaRPr/>
          </a:p>
        </p:txBody>
      </p:sp>
      <p:sp>
        <p:nvSpPr>
          <p:cNvPr id="1246" name="" descr="{&quot;isTemplate&quot;:true,&quot;type&quot;:&quot;text&quot;}"/>
          <p:cNvSpPr txBox="1"/>
          <p:nvPr/>
        </p:nvSpPr>
        <p:spPr>
          <a:xfrm rot="0" flipH="0" flipV="0">
            <a:off x="7972425" y="3438525"/>
            <a:ext cx="247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→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约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9 token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（中文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1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汉字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≈ 2 token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）</a:t>
            </a:r>
            <a:endParaRPr/>
          </a:p>
        </p:txBody>
      </p:sp>
      <p:sp>
        <p:nvSpPr>
          <p:cNvPr id="1247" name=""/>
          <p:cNvSpPr/>
          <p:nvPr/>
        </p:nvSpPr>
        <p:spPr>
          <a:xfrm rot="0" flipH="0" flipV="0">
            <a:off x="4457700" y="5419725"/>
            <a:ext cx="7048500" cy="638175"/>
          </a:xfrm>
          <a:prstGeom prst="roundRect">
            <a:avLst>
              <a:gd name="adj" fmla="val 5970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48" name="" descr="{&quot;isTemplate&quot;:true,&quot;type&quot;:&quot;text&quot;}"/>
          <p:cNvSpPr txBox="1"/>
          <p:nvPr/>
        </p:nvSpPr>
        <p:spPr>
          <a:xfrm rot="0" flipH="0" flipV="0">
            <a:off x="4629150" y="5629275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1249" name="" descr="{&quot;isTemplate&quot;:true,&quot;type&quot;:&quot;text&quot;}"/>
          <p:cNvSpPr txBox="1"/>
          <p:nvPr/>
        </p:nvSpPr>
        <p:spPr>
          <a:xfrm rot="0" flipH="0" flipV="0">
            <a:off x="5143500" y="5572125"/>
            <a:ext cx="619125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35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多轮工具调用后上下文膨胀是</a:t>
            </a:r>
            <a:r>
              <a:rPr lang="zh-CN" sz="1350">
                <a:solidFill>
                  <a:srgbClr val="2AD4EE"/>
                </a:solidFill>
                <a:latin typeface="Source Han Sans SC"/>
                <a:ea typeface="Source Han Sans SC"/>
              </a:rPr>
              <a:t>必然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，不是意外——预算要自己管。</a:t>
            </a:r>
            <a:endParaRPr/>
          </a:p>
        </p:txBody>
      </p:sp>
      <p:sp>
        <p:nvSpPr>
          <p:cNvPr id="1250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251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04 / 33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2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254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255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3719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四个必须先记住的概念</a:t>
            </a:r>
            <a:endParaRPr/>
          </a:p>
        </p:txBody>
      </p:sp>
      <p:sp>
        <p:nvSpPr>
          <p:cNvPr id="1256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371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它们分别管着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说什么、怎么说、会不会编、记不记得住</a:t>
            </a:r>
            <a:endParaRPr/>
          </a:p>
        </p:txBody>
      </p:sp>
      <p:sp>
        <p:nvSpPr>
          <p:cNvPr id="1257" name=""/>
          <p:cNvSpPr/>
          <p:nvPr/>
        </p:nvSpPr>
        <p:spPr>
          <a:xfrm rot="0" flipH="0" flipV="0">
            <a:off x="685800" y="1143000"/>
            <a:ext cx="6505575" cy="4914900"/>
          </a:xfrm>
          <a:custGeom>
            <a:pathLst>
              <a:path w="683" h="516">
                <a:moveTo>
                  <a:pt x="682" y="0"/>
                </a:moveTo>
                <a:lnTo>
                  <a:pt x="683" y="0"/>
                </a:lnTo>
                <a:lnTo>
                  <a:pt x="683" y="516"/>
                </a:lnTo>
                <a:lnTo>
                  <a:pt x="682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58" name=""/>
          <p:cNvSpPr/>
          <p:nvPr/>
        </p:nvSpPr>
        <p:spPr>
          <a:xfrm rot="0" flipH="0" flipV="0">
            <a:off x="685800" y="1143000"/>
            <a:ext cx="6162675" cy="1085850"/>
          </a:xfrm>
          <a:custGeom>
            <a:pathLst>
              <a:path w="647" h="114">
                <a:moveTo>
                  <a:pt x="0" y="113"/>
                </a:moveTo>
                <a:lnTo>
                  <a:pt x="647" y="113"/>
                </a:lnTo>
                <a:lnTo>
                  <a:pt x="647" y="114"/>
                </a:lnTo>
                <a:lnTo>
                  <a:pt x="0" y="114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59" name=""/>
          <p:cNvSpPr/>
          <p:nvPr/>
        </p:nvSpPr>
        <p:spPr>
          <a:xfrm rot="0" flipH="0" flipV="0">
            <a:off x="685800" y="1238250"/>
            <a:ext cx="400050" cy="400050"/>
          </a:xfrm>
          <a:prstGeom prst="roundRect">
            <a:avLst>
              <a:gd name="adj" fmla="val 9524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126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90575" y="1343025"/>
            <a:ext cx="200025" cy="200025"/>
          </a:xfrm>
          <a:prstGeom prst="rect">
            <a:avLst/>
          </a:prstGeom>
          <a:ln/>
        </p:spPr>
      </p:pic>
      <p:sp>
        <p:nvSpPr>
          <p:cNvPr id="1261" name="" descr="{&quot;isTemplate&quot;:true,&quot;type&quot;:&quot;text&quot;}"/>
          <p:cNvSpPr txBox="1"/>
          <p:nvPr/>
        </p:nvSpPr>
        <p:spPr>
          <a:xfrm rot="0" flipH="0" flipV="0">
            <a:off x="1238250" y="1238250"/>
            <a:ext cx="5610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Prompt · </a:t>
            </a: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提示词</a:t>
            </a:r>
            <a:endParaRPr/>
          </a:p>
        </p:txBody>
      </p:sp>
      <p:sp>
        <p:nvSpPr>
          <p:cNvPr id="1262" name="" descr="{&quot;isTemplate&quot;:true,&quot;type&quot;:&quot;text&quot;}"/>
          <p:cNvSpPr txBox="1"/>
          <p:nvPr/>
        </p:nvSpPr>
        <p:spPr>
          <a:xfrm rot="0" flipH="0" flipV="0">
            <a:off x="1238250" y="1524000"/>
            <a:ext cx="56102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定角色、定任务、定边界、定输出格式。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的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System Prompt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就是它的岗位说明书。</a:t>
            </a:r>
            <a:endParaRPr/>
          </a:p>
        </p:txBody>
      </p:sp>
      <p:sp>
        <p:nvSpPr>
          <p:cNvPr id="1263" name=""/>
          <p:cNvSpPr/>
          <p:nvPr/>
        </p:nvSpPr>
        <p:spPr>
          <a:xfrm rot="0" flipH="0" flipV="0">
            <a:off x="685800" y="2524125"/>
            <a:ext cx="6162675" cy="790575"/>
          </a:xfrm>
          <a:custGeom>
            <a:pathLst>
              <a:path w="647" h="83">
                <a:moveTo>
                  <a:pt x="0" y="82"/>
                </a:moveTo>
                <a:lnTo>
                  <a:pt x="647" y="82"/>
                </a:lnTo>
                <a:lnTo>
                  <a:pt x="647" y="83"/>
                </a:lnTo>
                <a:lnTo>
                  <a:pt x="0" y="83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64" name=""/>
          <p:cNvSpPr/>
          <p:nvPr/>
        </p:nvSpPr>
        <p:spPr>
          <a:xfrm rot="0" flipH="0" flipV="0">
            <a:off x="685800" y="2619375"/>
            <a:ext cx="400050" cy="400050"/>
          </a:xfrm>
          <a:prstGeom prst="roundRect">
            <a:avLst>
              <a:gd name="adj" fmla="val 9524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126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90575" y="2724150"/>
            <a:ext cx="200025" cy="200025"/>
          </a:xfrm>
          <a:prstGeom prst="rect">
            <a:avLst/>
          </a:prstGeom>
          <a:ln/>
        </p:spPr>
      </p:pic>
      <p:sp>
        <p:nvSpPr>
          <p:cNvPr id="1266" name="" descr="{&quot;isTemplate&quot;:true,&quot;type&quot;:&quot;text&quot;}"/>
          <p:cNvSpPr txBox="1"/>
          <p:nvPr/>
        </p:nvSpPr>
        <p:spPr>
          <a:xfrm rot="0" flipH="0" flipV="0">
            <a:off x="1238250" y="2619375"/>
            <a:ext cx="5610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Temperature · </a:t>
            </a: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温度</a:t>
            </a:r>
            <a:endParaRPr/>
          </a:p>
        </p:txBody>
      </p:sp>
      <p:sp>
        <p:nvSpPr>
          <p:cNvPr id="1267" name="" descr="{&quot;isTemplate&quot;:true,&quot;type&quot;:&quot;text&quot;}"/>
          <p:cNvSpPr txBox="1"/>
          <p:nvPr/>
        </p:nvSpPr>
        <p:spPr>
          <a:xfrm rot="0" flipH="0" flipV="0">
            <a:off x="1238250" y="2905125"/>
            <a:ext cx="561022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控制随机性。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0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最确定，适合工具调用与结构化输出；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0.7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有创造力；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&gt;1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容易胡编。</a:t>
            </a:r>
            <a:endParaRPr/>
          </a:p>
        </p:txBody>
      </p:sp>
      <p:sp>
        <p:nvSpPr>
          <p:cNvPr id="1268" name=""/>
          <p:cNvSpPr/>
          <p:nvPr/>
        </p:nvSpPr>
        <p:spPr>
          <a:xfrm rot="0" flipH="0" flipV="0">
            <a:off x="685800" y="3609975"/>
            <a:ext cx="6162675" cy="1085850"/>
          </a:xfrm>
          <a:custGeom>
            <a:pathLst>
              <a:path w="647" h="114">
                <a:moveTo>
                  <a:pt x="0" y="113"/>
                </a:moveTo>
                <a:lnTo>
                  <a:pt x="647" y="113"/>
                </a:lnTo>
                <a:lnTo>
                  <a:pt x="647" y="114"/>
                </a:lnTo>
                <a:lnTo>
                  <a:pt x="0" y="114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69" name=""/>
          <p:cNvSpPr/>
          <p:nvPr/>
        </p:nvSpPr>
        <p:spPr>
          <a:xfrm rot="0" flipH="0" flipV="0">
            <a:off x="685800" y="3705225"/>
            <a:ext cx="400050" cy="400050"/>
          </a:xfrm>
          <a:prstGeom prst="roundRect">
            <a:avLst>
              <a:gd name="adj" fmla="val 9524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127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90575" y="3810000"/>
            <a:ext cx="200025" cy="200025"/>
          </a:xfrm>
          <a:prstGeom prst="rect">
            <a:avLst/>
          </a:prstGeom>
          <a:ln/>
        </p:spPr>
      </p:pic>
      <p:sp>
        <p:nvSpPr>
          <p:cNvPr id="1271" name="" descr="{&quot;isTemplate&quot;:true,&quot;type&quot;:&quot;text&quot;}"/>
          <p:cNvSpPr txBox="1"/>
          <p:nvPr/>
        </p:nvSpPr>
        <p:spPr>
          <a:xfrm rot="0" flipH="0" flipV="0">
            <a:off x="1238250" y="3705225"/>
            <a:ext cx="5610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幻觉</a:t>
            </a:r>
            <a:r>
              <a:rPr lang="en-US" sz="15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Hallucination</a:t>
            </a:r>
            <a:endParaRPr/>
          </a:p>
        </p:txBody>
      </p:sp>
      <p:sp>
        <p:nvSpPr>
          <p:cNvPr id="1272" name="" descr="{&quot;isTemplate&quot;:true,&quot;type&quot;:&quot;text&quot;}"/>
          <p:cNvSpPr txBox="1"/>
          <p:nvPr/>
        </p:nvSpPr>
        <p:spPr>
          <a:xfrm rot="0" flipH="0" flipV="0">
            <a:off x="1238250" y="3990975"/>
            <a:ext cx="56102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模型会编造不存在的事实、参数、表名。压制的可靠办法只有一个：让它基于工具返回的真实数据作答。</a:t>
            </a:r>
            <a:endParaRPr/>
          </a:p>
        </p:txBody>
      </p:sp>
      <p:sp>
        <p:nvSpPr>
          <p:cNvPr id="1273" name=""/>
          <p:cNvSpPr/>
          <p:nvPr/>
        </p:nvSpPr>
        <p:spPr>
          <a:xfrm rot="0" flipH="0" flipV="0">
            <a:off x="685800" y="5086350"/>
            <a:ext cx="400050" cy="400050"/>
          </a:xfrm>
          <a:prstGeom prst="roundRect">
            <a:avLst>
              <a:gd name="adj" fmla="val 9524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127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90575" y="5191125"/>
            <a:ext cx="200025" cy="200025"/>
          </a:xfrm>
          <a:prstGeom prst="rect">
            <a:avLst/>
          </a:prstGeom>
          <a:ln/>
        </p:spPr>
      </p:pic>
      <p:sp>
        <p:nvSpPr>
          <p:cNvPr id="1275" name="" descr="{&quot;isTemplate&quot;:true,&quot;type&quot;:&quot;text&quot;}"/>
          <p:cNvSpPr txBox="1"/>
          <p:nvPr/>
        </p:nvSpPr>
        <p:spPr>
          <a:xfrm rot="0" flipH="0" flipV="0">
            <a:off x="1238250" y="5086350"/>
            <a:ext cx="5610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Embedding · </a:t>
            </a: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嵌入向量</a:t>
            </a:r>
            <a:endParaRPr/>
          </a:p>
        </p:txBody>
      </p:sp>
      <p:sp>
        <p:nvSpPr>
          <p:cNvPr id="1276" name="" descr="{&quot;isTemplate&quot;:true,&quot;type&quot;:&quot;text&quot;}"/>
          <p:cNvSpPr txBox="1"/>
          <p:nvPr/>
        </p:nvSpPr>
        <p:spPr>
          <a:xfrm rot="0" flipH="0" flipV="0">
            <a:off x="1238250" y="5372100"/>
            <a:ext cx="56102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把文本转成向量，用相似度衡量语义远近（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1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相似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0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无关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-1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相反），是长期记忆的地基。</a:t>
            </a:r>
            <a:endParaRPr/>
          </a:p>
        </p:txBody>
      </p:sp>
      <p:sp>
        <p:nvSpPr>
          <p:cNvPr id="1277" name="" descr="{&quot;isTemplate&quot;:true,&quot;type&quot;:&quot;text&quot;}"/>
          <p:cNvSpPr txBox="1"/>
          <p:nvPr/>
        </p:nvSpPr>
        <p:spPr>
          <a:xfrm rot="0" flipH="0" flipV="0">
            <a:off x="7524750" y="1143000"/>
            <a:ext cx="3981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PUT TOGETHER</a:t>
            </a:r>
            <a:endParaRPr/>
          </a:p>
        </p:txBody>
      </p:sp>
      <p:sp>
        <p:nvSpPr>
          <p:cNvPr id="1278" name="" descr="{&quot;isTemplate&quot;:true,&quot;type&quot;:&quot;text&quot;}"/>
          <p:cNvSpPr txBox="1"/>
          <p:nvPr/>
        </p:nvSpPr>
        <p:spPr>
          <a:xfrm rot="0" flipH="0" flipV="0">
            <a:off x="7524750" y="1485900"/>
            <a:ext cx="3981450" cy="762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四个概念，</a:t>
            </a:r>
            <a:endParaRPr/>
          </a:p>
          <a:p>
            <a:pPr>
              <a:lnSpc>
                <a:spcPct val="15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四道稳定性的闸门</a:t>
            </a:r>
            <a:endParaRPr/>
          </a:p>
        </p:txBody>
      </p:sp>
      <p:sp>
        <p:nvSpPr>
          <p:cNvPr id="1279" name="" descr="{&quot;isTemplate&quot;:true,&quot;type&quot;:&quot;text&quot;}"/>
          <p:cNvSpPr txBox="1"/>
          <p:nvPr/>
        </p:nvSpPr>
        <p:spPr>
          <a:xfrm rot="0" flipH="0" flipV="0">
            <a:off x="7524750" y="247650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说什么</a:t>
            </a:r>
            <a:endParaRPr/>
          </a:p>
        </p:txBody>
      </p:sp>
      <p:sp>
        <p:nvSpPr>
          <p:cNvPr id="1280" name="" descr="{&quot;isTemplate&quot;:true,&quot;type&quot;:&quot;text&quot;}"/>
          <p:cNvSpPr txBox="1"/>
          <p:nvPr/>
        </p:nvSpPr>
        <p:spPr>
          <a:xfrm rot="0" flipH="0" flipV="0">
            <a:off x="11029950" y="2476500"/>
            <a:ext cx="476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Prompt</a:t>
            </a:r>
            <a:endParaRPr/>
          </a:p>
        </p:txBody>
      </p:sp>
      <p:sp>
        <p:nvSpPr>
          <p:cNvPr id="1281" name=""/>
          <p:cNvSpPr/>
          <p:nvPr/>
        </p:nvSpPr>
        <p:spPr>
          <a:xfrm rot="0" flipH="0" flipV="0">
            <a:off x="7524750" y="2724150"/>
            <a:ext cx="3981450" cy="28575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16233D"/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282" name="" descr="{&quot;isTemplate&quot;:true,&quot;type&quot;:&quot;text&quot;}"/>
          <p:cNvSpPr txBox="1"/>
          <p:nvPr/>
        </p:nvSpPr>
        <p:spPr>
          <a:xfrm rot="0" flipH="0" flipV="0">
            <a:off x="7524750" y="2867025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怎么答</a:t>
            </a:r>
            <a:endParaRPr/>
          </a:p>
        </p:txBody>
      </p:sp>
      <p:sp>
        <p:nvSpPr>
          <p:cNvPr id="1283" name="" descr="{&quot;isTemplate&quot;:true,&quot;type&quot;:&quot;text&quot;}"/>
          <p:cNvSpPr txBox="1"/>
          <p:nvPr/>
        </p:nvSpPr>
        <p:spPr>
          <a:xfrm rot="0" flipH="0" flipV="0">
            <a:off x="10325100" y="2867025"/>
            <a:ext cx="1181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Temperature = 0</a:t>
            </a:r>
            <a:endParaRPr/>
          </a:p>
        </p:txBody>
      </p:sp>
      <p:sp>
        <p:nvSpPr>
          <p:cNvPr id="1284" name=""/>
          <p:cNvSpPr/>
          <p:nvPr/>
        </p:nvSpPr>
        <p:spPr>
          <a:xfrm rot="0" flipH="0" flipV="0">
            <a:off x="7524750" y="3114675"/>
            <a:ext cx="3105150" cy="28575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16233D"/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285" name="" descr="{&quot;isTemplate&quot;:true,&quot;type&quot;:&quot;text&quot;}"/>
          <p:cNvSpPr txBox="1"/>
          <p:nvPr/>
        </p:nvSpPr>
        <p:spPr>
          <a:xfrm rot="0" flipH="0" flipV="0">
            <a:off x="7524750" y="32575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会不会编</a:t>
            </a:r>
            <a:endParaRPr/>
          </a:p>
        </p:txBody>
      </p:sp>
      <p:sp>
        <p:nvSpPr>
          <p:cNvPr id="1286" name="" descr="{&quot;isTemplate&quot;:true,&quot;type&quot;:&quot;text&quot;}"/>
          <p:cNvSpPr txBox="1"/>
          <p:nvPr/>
        </p:nvSpPr>
        <p:spPr>
          <a:xfrm rot="0" flipH="0" flipV="0">
            <a:off x="10706100" y="3257550"/>
            <a:ext cx="800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JetBrains Mono"/>
                <a:ea typeface="JetBrains Mono"/>
              </a:rPr>
              <a:t>工具真实数据</a:t>
            </a:r>
            <a:endParaRPr/>
          </a:p>
        </p:txBody>
      </p:sp>
      <p:sp>
        <p:nvSpPr>
          <p:cNvPr id="1287" name=""/>
          <p:cNvSpPr/>
          <p:nvPr/>
        </p:nvSpPr>
        <p:spPr>
          <a:xfrm rot="0" flipH="0" flipV="0">
            <a:off x="7524750" y="3505200"/>
            <a:ext cx="2466975" cy="28575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16233D"/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288" name="" descr="{&quot;isTemplate&quot;:true,&quot;type&quot;:&quot;text&quot;}"/>
          <p:cNvSpPr txBox="1"/>
          <p:nvPr/>
        </p:nvSpPr>
        <p:spPr>
          <a:xfrm rot="0" flipH="0" flipV="0">
            <a:off x="7524750" y="364807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记得住吗</a:t>
            </a:r>
            <a:endParaRPr/>
          </a:p>
        </p:txBody>
      </p:sp>
      <p:sp>
        <p:nvSpPr>
          <p:cNvPr id="1289" name="" descr="{&quot;isTemplate&quot;:true,&quot;type&quot;:&quot;text&quot;}"/>
          <p:cNvSpPr txBox="1"/>
          <p:nvPr/>
        </p:nvSpPr>
        <p:spPr>
          <a:xfrm rot="0" flipH="0" flipV="0">
            <a:off x="10163175" y="3648075"/>
            <a:ext cx="1343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 xml:space="preserve">Embedding + </a:t>
            </a:r>
            <a:r>
              <a:rPr lang="zh-CN" sz="1050">
                <a:solidFill>
                  <a:srgbClr val="2AD4EE"/>
                </a:solidFill>
                <a:latin typeface="JetBrains Mono"/>
                <a:ea typeface="JetBrains Mono"/>
              </a:rPr>
              <a:t>向量库</a:t>
            </a:r>
            <a:endParaRPr/>
          </a:p>
        </p:txBody>
      </p:sp>
      <p:sp>
        <p:nvSpPr>
          <p:cNvPr id="1290" name=""/>
          <p:cNvSpPr/>
          <p:nvPr/>
        </p:nvSpPr>
        <p:spPr>
          <a:xfrm rot="0" flipH="0" flipV="0">
            <a:off x="7524750" y="3895725"/>
            <a:ext cx="1828800" cy="28575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16233D"/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291" name=""/>
          <p:cNvSpPr/>
          <p:nvPr/>
        </p:nvSpPr>
        <p:spPr>
          <a:xfrm rot="0" flipH="0" flipV="0">
            <a:off x="7524750" y="5067300"/>
            <a:ext cx="3981450" cy="990600"/>
          </a:xfrm>
          <a:prstGeom prst="roundRect">
            <a:avLst>
              <a:gd name="adj" fmla="val 3846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92" name="" descr="{&quot;isTemplate&quot;:true,&quot;type&quot;:&quot;text&quot;}"/>
          <p:cNvSpPr txBox="1"/>
          <p:nvPr/>
        </p:nvSpPr>
        <p:spPr>
          <a:xfrm rot="0" flipH="0" flipV="0">
            <a:off x="7696200" y="5219700"/>
            <a:ext cx="363855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这四点决定了</a:t>
            </a:r>
            <a:r>
              <a:rPr lang="en-US" sz="135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的</a:t>
            </a:r>
            <a:r>
              <a:rPr lang="zh-CN" sz="1350">
                <a:solidFill>
                  <a:srgbClr val="2AD4EE"/>
                </a:solidFill>
                <a:latin typeface="Source Han Sans SC"/>
                <a:ea typeface="Source Han Sans SC"/>
              </a:rPr>
              <a:t>稳定性上限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——它们出问题，模型再强也救不回来。</a:t>
            </a:r>
            <a:endParaRPr/>
          </a:p>
        </p:txBody>
      </p:sp>
      <p:sp>
        <p:nvSpPr>
          <p:cNvPr id="1293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294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05 / 33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2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297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298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6958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两种调用方式：对话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vs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工具调用</a:t>
            </a:r>
            <a:endParaRPr/>
          </a:p>
        </p:txBody>
      </p:sp>
      <p:sp>
        <p:nvSpPr>
          <p:cNvPr id="1299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695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从「只会说」到「能动手」，差别就在出口是文本还是结构化参数</a:t>
            </a:r>
            <a:endParaRPr/>
          </a:p>
        </p:txBody>
      </p:sp>
      <p:sp>
        <p:nvSpPr>
          <p:cNvPr id="1300" name=""/>
          <p:cNvSpPr/>
          <p:nvPr/>
        </p:nvSpPr>
        <p:spPr>
          <a:xfrm rot="0" flipH="0" flipV="0">
            <a:off x="685800" y="1143000"/>
            <a:ext cx="3238500" cy="4095750"/>
          </a:xfrm>
          <a:custGeom>
            <a:pathLst>
              <a:path w="340" h="430">
                <a:moveTo>
                  <a:pt x="339" y="0"/>
                </a:moveTo>
                <a:lnTo>
                  <a:pt x="340" y="0"/>
                </a:lnTo>
                <a:lnTo>
                  <a:pt x="340" y="430"/>
                </a:lnTo>
                <a:lnTo>
                  <a:pt x="339" y="430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01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962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THE DIVIDE</a:t>
            </a:r>
            <a:endParaRPr/>
          </a:p>
        </p:txBody>
      </p:sp>
      <p:sp>
        <p:nvSpPr>
          <p:cNvPr id="1302" name="" descr="{&quot;isTemplate&quot;:true,&quot;type&quot;:&quot;text&quot;}"/>
          <p:cNvSpPr txBox="1"/>
          <p:nvPr/>
        </p:nvSpPr>
        <p:spPr>
          <a:xfrm rot="0" flipH="0" flipV="0">
            <a:off x="685800" y="1466850"/>
            <a:ext cx="2962275" cy="1000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2250" b="1">
                <a:solidFill>
                  <a:srgbClr val="E8EEF9"/>
                </a:solidFill>
                <a:latin typeface="Source Han Sans SC"/>
                <a:ea typeface="Source Han Sans SC"/>
              </a:rPr>
              <a:t>模型只说，</a:t>
            </a:r>
            <a:endParaRPr/>
          </a:p>
          <a:p>
            <a:pPr>
              <a:lnSpc>
                <a:spcPct val="145000"/>
              </a:lnSpc>
            </a:pPr>
            <a:r>
              <a:rPr lang="zh-CN" sz="2250" b="1">
                <a:solidFill>
                  <a:srgbClr val="E8EEF9"/>
                </a:solidFill>
                <a:latin typeface="Source Han Sans SC"/>
                <a:ea typeface="Source Han Sans SC"/>
              </a:rPr>
              <a:t>不做</a:t>
            </a:r>
            <a:endParaRPr/>
          </a:p>
        </p:txBody>
      </p:sp>
      <p:sp>
        <p:nvSpPr>
          <p:cNvPr id="1303" name="" descr="{&quot;isTemplate&quot;:true,&quot;type&quot;:&quot;text&quot;}"/>
          <p:cNvSpPr txBox="1"/>
          <p:nvPr/>
        </p:nvSpPr>
        <p:spPr>
          <a:xfrm rot="0" flipH="0" flipV="0">
            <a:off x="685800" y="2638425"/>
            <a:ext cx="2962275" cy="1362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两种方式里，模型都只负责「说要调什么」；真正执行函数的永远是我们的代码。这就是</a:t>
            </a:r>
            <a:r>
              <a:rPr lang="en-US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安全的关键——</a:t>
            </a:r>
            <a:r>
              <a:rPr lang="zh-CN" sz="1275">
                <a:solidFill>
                  <a:srgbClr val="2AD4EE"/>
                </a:solidFill>
                <a:latin typeface="Source Han Sans SC"/>
                <a:ea typeface="Source Han Sans SC"/>
              </a:rPr>
              <a:t>模型没有权限，只有建议权</a:t>
            </a: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304" name=""/>
          <p:cNvSpPr/>
          <p:nvPr/>
        </p:nvSpPr>
        <p:spPr>
          <a:xfrm rot="0" flipH="0" flipV="0">
            <a:off x="685800" y="4191000"/>
            <a:ext cx="9906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05" name="" descr="{&quot;isTemplate&quot;:true,&quot;type&quot;:&quot;text&quot;}"/>
          <p:cNvSpPr txBox="1"/>
          <p:nvPr/>
        </p:nvSpPr>
        <p:spPr>
          <a:xfrm rot="0" flipH="0" flipV="0">
            <a:off x="781050" y="422910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建议权在模型</a:t>
            </a:r>
            <a:endParaRPr/>
          </a:p>
        </p:txBody>
      </p:sp>
      <p:sp>
        <p:nvSpPr>
          <p:cNvPr id="1306" name=""/>
          <p:cNvSpPr/>
          <p:nvPr/>
        </p:nvSpPr>
        <p:spPr>
          <a:xfrm rot="0" flipH="0" flipV="0">
            <a:off x="1752600" y="4191000"/>
            <a:ext cx="9906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07" name="" descr="{&quot;isTemplate&quot;:true,&quot;type&quot;:&quot;text&quot;}"/>
          <p:cNvSpPr txBox="1"/>
          <p:nvPr/>
        </p:nvSpPr>
        <p:spPr>
          <a:xfrm rot="0" flipH="0" flipV="0">
            <a:off x="1847850" y="422910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执行权在代码</a:t>
            </a:r>
            <a:endParaRPr/>
          </a:p>
        </p:txBody>
      </p:sp>
      <p:sp>
        <p:nvSpPr>
          <p:cNvPr id="1308" name=""/>
          <p:cNvSpPr/>
          <p:nvPr/>
        </p:nvSpPr>
        <p:spPr>
          <a:xfrm rot="0" flipH="0" flipV="0">
            <a:off x="685800" y="4505325"/>
            <a:ext cx="85725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09" name="" descr="{&quot;isTemplate&quot;:true,&quot;type&quot;:&quot;text&quot;}"/>
          <p:cNvSpPr txBox="1"/>
          <p:nvPr/>
        </p:nvSpPr>
        <p:spPr>
          <a:xfrm rot="0" flipH="0" flipV="0">
            <a:off x="781050" y="4543425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结构化参数</a:t>
            </a:r>
            <a:endParaRPr/>
          </a:p>
        </p:txBody>
      </p:sp>
      <p:pic>
        <p:nvPicPr>
          <p:cNvPr id="131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267200" y="1171575"/>
            <a:ext cx="152400" cy="152400"/>
          </a:xfrm>
          <a:prstGeom prst="rect">
            <a:avLst/>
          </a:prstGeom>
          <a:ln/>
        </p:spPr>
      </p:pic>
      <p:sp>
        <p:nvSpPr>
          <p:cNvPr id="1311" name="" descr="{&quot;isTemplate&quot;:true,&quot;type&quot;:&quot;text&quot;}"/>
          <p:cNvSpPr txBox="1"/>
          <p:nvPr/>
        </p:nvSpPr>
        <p:spPr>
          <a:xfrm rot="0" flipH="0" flipV="0">
            <a:off x="4514850" y="1143000"/>
            <a:ext cx="2362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① </a:t>
            </a:r>
            <a:r>
              <a:rPr lang="zh-CN" sz="1275" b="1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普通对话</a:t>
            </a:r>
            <a:r>
              <a:rPr lang="en-US" sz="1275" b="1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· Chat Completions</a:t>
            </a:r>
            <a:endParaRPr/>
          </a:p>
        </p:txBody>
      </p:sp>
      <p:sp>
        <p:nvSpPr>
          <p:cNvPr id="1312" name=""/>
          <p:cNvSpPr/>
          <p:nvPr/>
        </p:nvSpPr>
        <p:spPr>
          <a:xfrm rot="0" flipH="0" flipV="0">
            <a:off x="4267200" y="1476375"/>
            <a:ext cx="1428750" cy="762000"/>
          </a:xfrm>
          <a:prstGeom prst="roundRect">
            <a:avLst>
              <a:gd name="adj" fmla="val 5000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E8EEF9">
                <a:alpha val="1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13" name="" descr="{&quot;isTemplate&quot;:true,&quot;type&quot;:&quot;text&quot;}"/>
          <p:cNvSpPr txBox="1"/>
          <p:nvPr/>
        </p:nvSpPr>
        <p:spPr>
          <a:xfrm rot="0" flipH="0" flipV="0">
            <a:off x="4676775" y="166687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用户输入</a:t>
            </a:r>
            <a:endParaRPr/>
          </a:p>
        </p:txBody>
      </p:sp>
      <p:sp>
        <p:nvSpPr>
          <p:cNvPr id="1314" name="" descr="{&quot;isTemplate&quot;:true,&quot;type&quot;:&quot;text&quot;}"/>
          <p:cNvSpPr txBox="1"/>
          <p:nvPr/>
        </p:nvSpPr>
        <p:spPr>
          <a:xfrm rot="0" flipH="0" flipV="0">
            <a:off x="4572000" y="1895475"/>
            <a:ext cx="819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messages </a:t>
            </a:r>
            <a:r>
              <a:rPr lang="zh-CN" sz="9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数组</a:t>
            </a:r>
            <a:endParaRPr/>
          </a:p>
        </p:txBody>
      </p:sp>
      <p:sp>
        <p:nvSpPr>
          <p:cNvPr id="1315" name="" descr="{&quot;isTemplate&quot;:true,&quot;type&quot;:&quot;text&quot;}"/>
          <p:cNvSpPr txBox="1"/>
          <p:nvPr/>
        </p:nvSpPr>
        <p:spPr>
          <a:xfrm rot="0" flipH="0" flipV="0">
            <a:off x="5695950" y="1743075"/>
            <a:ext cx="43815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316" name=""/>
          <p:cNvSpPr/>
          <p:nvPr/>
        </p:nvSpPr>
        <p:spPr>
          <a:xfrm rot="0" flipH="0" flipV="0">
            <a:off x="6134100" y="1476375"/>
            <a:ext cx="1428750" cy="762000"/>
          </a:xfrm>
          <a:prstGeom prst="roundRect">
            <a:avLst>
              <a:gd name="adj" fmla="val 5000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E8EEF9">
                <a:alpha val="1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17" name="" descr="{&quot;isTemplate&quot;:true,&quot;type&quot;:&quot;text&quot;}"/>
          <p:cNvSpPr txBox="1"/>
          <p:nvPr/>
        </p:nvSpPr>
        <p:spPr>
          <a:xfrm rot="0" flipH="0" flipV="0">
            <a:off x="6715125" y="1666875"/>
            <a:ext cx="2762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>LLM</a:t>
            </a:r>
            <a:endParaRPr/>
          </a:p>
        </p:txBody>
      </p:sp>
      <p:sp>
        <p:nvSpPr>
          <p:cNvPr id="1318" name="" descr="{&quot;isTemplate&quot;:true,&quot;type&quot;:&quot;text&quot;}"/>
          <p:cNvSpPr txBox="1"/>
          <p:nvPr/>
        </p:nvSpPr>
        <p:spPr>
          <a:xfrm rot="0" flipH="0" flipV="0">
            <a:off x="6724650" y="18954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生成</a:t>
            </a:r>
            <a:endParaRPr/>
          </a:p>
        </p:txBody>
      </p:sp>
      <p:sp>
        <p:nvSpPr>
          <p:cNvPr id="1319" name="" descr="{&quot;isTemplate&quot;:true,&quot;type&quot;:&quot;text&quot;}"/>
          <p:cNvSpPr txBox="1"/>
          <p:nvPr/>
        </p:nvSpPr>
        <p:spPr>
          <a:xfrm rot="0" flipH="0" flipV="0">
            <a:off x="7562850" y="1743075"/>
            <a:ext cx="43815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320" name=""/>
          <p:cNvSpPr/>
          <p:nvPr/>
        </p:nvSpPr>
        <p:spPr>
          <a:xfrm rot="0" flipH="0" flipV="0">
            <a:off x="8001000" y="1476375"/>
            <a:ext cx="2209800" cy="762000"/>
          </a:xfrm>
          <a:prstGeom prst="roundRect">
            <a:avLst>
              <a:gd name="adj" fmla="val 5000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E8EEF9">
                <a:alpha val="1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21" name="" descr="{&quot;isTemplate&quot;:true,&quot;type&quot;:&quot;text&quot;}"/>
          <p:cNvSpPr txBox="1"/>
          <p:nvPr/>
        </p:nvSpPr>
        <p:spPr>
          <a:xfrm rot="0" flipH="0" flipV="0">
            <a:off x="8724900" y="1666875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纯文本输出</a:t>
            </a:r>
            <a:endParaRPr/>
          </a:p>
        </p:txBody>
      </p:sp>
      <p:sp>
        <p:nvSpPr>
          <p:cNvPr id="1322" name="" descr="{&quot;isTemplate&quot;:true,&quot;type&quot;:&quot;text&quot;}"/>
          <p:cNvSpPr txBox="1"/>
          <p:nvPr/>
        </p:nvSpPr>
        <p:spPr>
          <a:xfrm rot="0" flipH="0" flipV="0">
            <a:off x="8181975" y="1895475"/>
            <a:ext cx="1857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程序只拿到一个字符串，到此为止</a:t>
            </a:r>
            <a:endParaRPr/>
          </a:p>
        </p:txBody>
      </p:sp>
      <p:pic>
        <p:nvPicPr>
          <p:cNvPr id="132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267200" y="4019550"/>
            <a:ext cx="152400" cy="152400"/>
          </a:xfrm>
          <a:prstGeom prst="rect">
            <a:avLst/>
          </a:prstGeom>
          <a:ln/>
        </p:spPr>
      </p:pic>
      <p:sp>
        <p:nvSpPr>
          <p:cNvPr id="1324" name="" descr="{&quot;isTemplate&quot;:true,&quot;type&quot;:&quot;text&quot;}"/>
          <p:cNvSpPr txBox="1"/>
          <p:nvPr/>
        </p:nvSpPr>
        <p:spPr>
          <a:xfrm rot="0" flipH="0" flipV="0">
            <a:off x="4514850" y="3990975"/>
            <a:ext cx="22383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② </a:t>
            </a: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工具调用</a:t>
            </a: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Function Calling</a:t>
            </a:r>
            <a:endParaRPr/>
          </a:p>
        </p:txBody>
      </p:sp>
      <p:sp>
        <p:nvSpPr>
          <p:cNvPr id="1325" name=""/>
          <p:cNvSpPr/>
          <p:nvPr/>
        </p:nvSpPr>
        <p:spPr>
          <a:xfrm rot="0" flipH="0" flipV="0">
            <a:off x="4267200" y="4324350"/>
            <a:ext cx="1314450" cy="914400"/>
          </a:xfrm>
          <a:prstGeom prst="roundRect">
            <a:avLst>
              <a:gd name="adj" fmla="val 4167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26" name="" descr="{&quot;isTemplate&quot;:true,&quot;type&quot;:&quot;text&quot;}"/>
          <p:cNvSpPr txBox="1"/>
          <p:nvPr/>
        </p:nvSpPr>
        <p:spPr>
          <a:xfrm rot="0" flipH="0" flipV="0">
            <a:off x="4619625" y="45910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用户输入</a:t>
            </a:r>
            <a:endParaRPr/>
          </a:p>
        </p:txBody>
      </p:sp>
      <p:sp>
        <p:nvSpPr>
          <p:cNvPr id="1327" name="" descr="{&quot;isTemplate&quot;:true,&quot;type&quot;:&quot;text&quot;}"/>
          <p:cNvSpPr txBox="1"/>
          <p:nvPr/>
        </p:nvSpPr>
        <p:spPr>
          <a:xfrm rot="0" flipH="0" flipV="0">
            <a:off x="4343400" y="4819650"/>
            <a:ext cx="1162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「</a:t>
            </a:r>
            <a:r>
              <a:rPr lang="en-US" sz="9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128×456 </a:t>
            </a:r>
            <a:r>
              <a:rPr lang="zh-CN" sz="9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等于几」</a:t>
            </a:r>
            <a:endParaRPr/>
          </a:p>
        </p:txBody>
      </p:sp>
      <p:sp>
        <p:nvSpPr>
          <p:cNvPr id="1328" name="" descr="{&quot;isTemplate&quot;:true,&quot;type&quot;:&quot;text&quot;}"/>
          <p:cNvSpPr txBox="1"/>
          <p:nvPr/>
        </p:nvSpPr>
        <p:spPr>
          <a:xfrm rot="0" flipH="0" flipV="0">
            <a:off x="5581650" y="4667250"/>
            <a:ext cx="3429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2AD4EE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329" name=""/>
          <p:cNvSpPr/>
          <p:nvPr/>
        </p:nvSpPr>
        <p:spPr>
          <a:xfrm rot="0" flipH="0" flipV="0">
            <a:off x="5924550" y="4324350"/>
            <a:ext cx="1695450" cy="914400"/>
          </a:xfrm>
          <a:prstGeom prst="roundRect">
            <a:avLst>
              <a:gd name="adj" fmla="val 4167"/>
            </a:avLst>
          </a:prstGeom>
          <a:solidFill>
            <a:srgbClr val="2AD4EE">
              <a:alpha val="14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30" name="" descr="{&quot;isTemplate&quot;:true,&quot;type&quot;:&quot;text&quot;}"/>
          <p:cNvSpPr txBox="1"/>
          <p:nvPr/>
        </p:nvSpPr>
        <p:spPr>
          <a:xfrm rot="0" flipH="0" flipV="0">
            <a:off x="6124575" y="4591050"/>
            <a:ext cx="1295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LLM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输出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tool_calls</a:t>
            </a:r>
            <a:endParaRPr/>
          </a:p>
        </p:txBody>
      </p:sp>
      <p:sp>
        <p:nvSpPr>
          <p:cNvPr id="1331" name="" descr="{&quot;isTemplate&quot;:true,&quot;type&quot;:&quot;text&quot;}"/>
          <p:cNvSpPr txBox="1"/>
          <p:nvPr/>
        </p:nvSpPr>
        <p:spPr>
          <a:xfrm rot="0" flipH="0" flipV="0">
            <a:off x="6467475" y="481965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62000"/>
                  </a:srgbClr>
                </a:solidFill>
                <a:latin typeface="JetBrains Mono"/>
                <a:ea typeface="JetBrains Mono"/>
              </a:rPr>
              <a:t xml:space="preserve">JSON </a:t>
            </a:r>
            <a:r>
              <a:rPr lang="zh-CN" sz="975">
                <a:solidFill>
                  <a:srgbClr val="E8EEF9">
                    <a:alpha val="62000"/>
                  </a:srgbClr>
                </a:solidFill>
                <a:latin typeface="JetBrains Mono"/>
                <a:ea typeface="JetBrains Mono"/>
              </a:rPr>
              <a:t>参数</a:t>
            </a:r>
            <a:endParaRPr/>
          </a:p>
        </p:txBody>
      </p:sp>
      <p:sp>
        <p:nvSpPr>
          <p:cNvPr id="1332" name="" descr="{&quot;isTemplate&quot;:true,&quot;type&quot;:&quot;text&quot;}"/>
          <p:cNvSpPr txBox="1"/>
          <p:nvPr/>
        </p:nvSpPr>
        <p:spPr>
          <a:xfrm rot="0" flipH="0" flipV="0">
            <a:off x="7620000" y="4667250"/>
            <a:ext cx="3810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2AD4EE"/>
                </a:solidFill>
                <a:latin typeface="Source Han Sans SC"/>
                <a:ea typeface="Source Han Sans SC"/>
              </a:rPr>
              <a:t>⇄</a:t>
            </a:r>
            <a:endParaRPr/>
          </a:p>
        </p:txBody>
      </p:sp>
      <p:sp>
        <p:nvSpPr>
          <p:cNvPr id="1333" name=""/>
          <p:cNvSpPr/>
          <p:nvPr/>
        </p:nvSpPr>
        <p:spPr>
          <a:xfrm rot="0" flipH="0" flipV="0">
            <a:off x="8001000" y="4324350"/>
            <a:ext cx="1695450" cy="914400"/>
          </a:xfrm>
          <a:prstGeom prst="roundRect">
            <a:avLst>
              <a:gd name="adj" fmla="val 4167"/>
            </a:avLst>
          </a:prstGeom>
          <a:solidFill>
            <a:srgbClr val="2AD4EE">
              <a:alpha val="14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34" name="" descr="{&quot;isTemplate&quot;:true,&quot;type&quot;:&quot;text&quot;}"/>
          <p:cNvSpPr txBox="1"/>
          <p:nvPr/>
        </p:nvSpPr>
        <p:spPr>
          <a:xfrm rot="0" flipH="0" flipV="0">
            <a:off x="8239125" y="459105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你的代码真正执行</a:t>
            </a:r>
            <a:endParaRPr/>
          </a:p>
        </p:txBody>
      </p:sp>
      <p:sp>
        <p:nvSpPr>
          <p:cNvPr id="1335" name="" descr="{&quot;isTemplate&quot;:true,&quot;type&quot;:&quot;text&quot;}"/>
          <p:cNvSpPr txBox="1"/>
          <p:nvPr/>
        </p:nvSpPr>
        <p:spPr>
          <a:xfrm rot="0" flipH="0" flipV="0">
            <a:off x="8343900" y="4819650"/>
            <a:ext cx="1019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role=tool </a:t>
            </a:r>
            <a:r>
              <a:rPr lang="zh-CN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结果回填</a:t>
            </a:r>
            <a:endParaRPr/>
          </a:p>
        </p:txBody>
      </p:sp>
      <p:sp>
        <p:nvSpPr>
          <p:cNvPr id="1336" name="" descr="{&quot;isTemplate&quot;:true,&quot;type&quot;:&quot;text&quot;}"/>
          <p:cNvSpPr txBox="1"/>
          <p:nvPr/>
        </p:nvSpPr>
        <p:spPr>
          <a:xfrm rot="0" flipH="0" flipV="0">
            <a:off x="9696450" y="4667250"/>
            <a:ext cx="3429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2AD4EE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337" name=""/>
          <p:cNvSpPr/>
          <p:nvPr/>
        </p:nvSpPr>
        <p:spPr>
          <a:xfrm rot="0" flipH="0" flipV="0">
            <a:off x="10039350" y="4324350"/>
            <a:ext cx="1314450" cy="914400"/>
          </a:xfrm>
          <a:prstGeom prst="roundRect">
            <a:avLst>
              <a:gd name="adj" fmla="val 4167"/>
            </a:avLst>
          </a:prstGeom>
          <a:solidFill>
            <a:srgbClr val="2AD4EE">
              <a:alpha val="22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38" name="" descr="{&quot;isTemplate&quot;:true,&quot;type&quot;:&quot;text&quot;}"/>
          <p:cNvSpPr txBox="1"/>
          <p:nvPr/>
        </p:nvSpPr>
        <p:spPr>
          <a:xfrm rot="0" flipH="0" flipV="0">
            <a:off x="10391775" y="45910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220"/>
                </a:solidFill>
                <a:latin typeface="Source Han Sans SC"/>
                <a:ea typeface="Source Han Sans SC"/>
              </a:rPr>
              <a:t>最终回答</a:t>
            </a:r>
            <a:endParaRPr/>
          </a:p>
        </p:txBody>
      </p:sp>
      <p:sp>
        <p:nvSpPr>
          <p:cNvPr id="1339" name="" descr="{&quot;isTemplate&quot;:true,&quot;type&quot;:&quot;text&quot;}"/>
          <p:cNvSpPr txBox="1"/>
          <p:nvPr/>
        </p:nvSpPr>
        <p:spPr>
          <a:xfrm rot="0" flipH="0" flipV="0">
            <a:off x="10515600" y="481965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B1220">
                    <a:alpha val="72000"/>
                  </a:srgbClr>
                </a:solidFill>
                <a:latin typeface="JetBrains Mono"/>
                <a:ea typeface="JetBrains Mono"/>
              </a:rPr>
              <a:t>58368</a:t>
            </a:r>
            <a:endParaRPr/>
          </a:p>
        </p:txBody>
      </p:sp>
      <p:sp>
        <p:nvSpPr>
          <p:cNvPr id="1340" name=""/>
          <p:cNvSpPr/>
          <p:nvPr/>
        </p:nvSpPr>
        <p:spPr>
          <a:xfrm rot="0" flipH="0" flipV="0">
            <a:off x="685800" y="5372100"/>
            <a:ext cx="10820400" cy="685800"/>
          </a:xfrm>
          <a:prstGeom prst="roundRect">
            <a:avLst>
              <a:gd name="adj" fmla="val 5556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41" name="" descr="{&quot;isTemplate&quot;:true,&quot;type&quot;:&quot;text&quot;}"/>
          <p:cNvSpPr txBox="1"/>
          <p:nvPr/>
        </p:nvSpPr>
        <p:spPr>
          <a:xfrm rot="0" flipH="0" flipV="0">
            <a:off x="876300" y="561022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AD4EE"/>
                </a:solidFill>
                <a:latin typeface="JetBrains Mono"/>
                <a:ea typeface="JetBrains Mono"/>
              </a:rPr>
              <a:t>共同点</a:t>
            </a:r>
            <a:endParaRPr/>
          </a:p>
        </p:txBody>
      </p:sp>
      <p:sp>
        <p:nvSpPr>
          <p:cNvPr id="1342" name=""/>
          <p:cNvSpPr/>
          <p:nvPr/>
        </p:nvSpPr>
        <p:spPr>
          <a:xfrm rot="0" flipH="0" flipV="0">
            <a:off x="1543050" y="5572125"/>
            <a:ext cx="9525" cy="285750"/>
          </a:xfrm>
          <a:prstGeom prst="rect">
            <a:avLst/>
          </a:prstGeom>
          <a:solidFill>
            <a:srgbClr val="2AD4EE">
              <a:alpha val="3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43" name="" descr="{&quot;isTemplate&quot;:true,&quot;type&quot;:&quot;text&quot;}"/>
          <p:cNvSpPr txBox="1"/>
          <p:nvPr/>
        </p:nvSpPr>
        <p:spPr>
          <a:xfrm rot="0" flipH="0" flipV="0">
            <a:off x="1704975" y="5381625"/>
            <a:ext cx="961072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模型不碰真实世界，它只输出「调哪个工具、传什么参数」；执行永远发生在你的进程里——这就是工具调用成为「聊天机器人」与「</a:t>
            </a:r>
            <a:r>
              <a:rPr lang="en-US" sz="1350">
                <a:solidFill>
                  <a:srgbClr val="E8EEF9"/>
                </a:solidFill>
                <a:latin typeface="Source Han Sans SC"/>
                <a:ea typeface="Source Han Sans SC"/>
              </a:rPr>
              <a:t>Agent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」分水岭的原因。</a:t>
            </a:r>
            <a:endParaRPr/>
          </a:p>
        </p:txBody>
      </p:sp>
      <p:sp>
        <p:nvSpPr>
          <p:cNvPr id="1344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345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06 / 33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3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348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349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50196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方案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：手写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Prompt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的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ReAct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循环</a:t>
            </a:r>
            <a:endParaRPr/>
          </a:p>
        </p:txBody>
      </p:sp>
      <p:sp>
        <p:nvSpPr>
          <p:cNvPr id="1350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5019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自己发明格式、自己解析、自己执行——理解原理最直观的一条路</a:t>
            </a:r>
            <a:endParaRPr/>
          </a:p>
        </p:txBody>
      </p:sp>
      <p:sp>
        <p:nvSpPr>
          <p:cNvPr id="1351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1238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2AD4EE"/>
                </a:solidFill>
                <a:latin typeface="JetBrains Mono"/>
                <a:ea typeface="JetBrains Mono"/>
              </a:rPr>
              <a:t>fc_demo_a.py</a:t>
            </a:r>
            <a:endParaRPr/>
          </a:p>
        </p:txBody>
      </p:sp>
      <p:sp>
        <p:nvSpPr>
          <p:cNvPr id="1352" name=""/>
          <p:cNvSpPr/>
          <p:nvPr/>
        </p:nvSpPr>
        <p:spPr>
          <a:xfrm rot="0" flipH="0" flipV="0">
            <a:off x="2038350" y="1162050"/>
            <a:ext cx="9525" cy="133350"/>
          </a:xfrm>
          <a:prstGeom prst="rect">
            <a:avLst/>
          </a:prstGeom>
          <a:solidFill>
            <a:srgbClr val="E8EEF9">
              <a:alpha val="2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53" name="" descr="{&quot;isTemplate&quot;:true,&quot;type&quot;:&quot;text&quot;}"/>
          <p:cNvSpPr txBox="1"/>
          <p:nvPr/>
        </p:nvSpPr>
        <p:spPr>
          <a:xfrm rot="0" flipH="0" flipV="0">
            <a:off x="2162175" y="1143000"/>
            <a:ext cx="5438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PROMPT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约定：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Thought → Action: tool[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参数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] → Answer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，并明令禁止编造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Observation</a:t>
            </a:r>
            <a:endParaRPr/>
          </a:p>
        </p:txBody>
      </p:sp>
      <p:sp>
        <p:nvSpPr>
          <p:cNvPr id="1354" name=""/>
          <p:cNvSpPr/>
          <p:nvPr/>
        </p:nvSpPr>
        <p:spPr>
          <a:xfrm rot="0" flipH="0" flipV="0">
            <a:off x="685800" y="4514850"/>
            <a:ext cx="3619500" cy="1543050"/>
          </a:xfrm>
          <a:custGeom>
            <a:pathLst>
              <a:path w="380" h="162">
                <a:moveTo>
                  <a:pt x="379" y="0"/>
                </a:moveTo>
                <a:lnTo>
                  <a:pt x="380" y="0"/>
                </a:lnTo>
                <a:lnTo>
                  <a:pt x="380" y="162"/>
                </a:lnTo>
                <a:lnTo>
                  <a:pt x="379" y="162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55" name="" descr="{&quot;isTemplate&quot;:true,&quot;type&quot;:&quot;text&quot;}"/>
          <p:cNvSpPr txBox="1"/>
          <p:nvPr/>
        </p:nvSpPr>
        <p:spPr>
          <a:xfrm rot="0" flipH="0" flipV="0">
            <a:off x="685800" y="4514850"/>
            <a:ext cx="335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坑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01</a:t>
            </a:r>
            <a:endParaRPr/>
          </a:p>
        </p:txBody>
      </p:sp>
      <p:sp>
        <p:nvSpPr>
          <p:cNvPr id="1356" name="" descr="{&quot;isTemplate&quot;:true,&quot;type&quot;:&quot;text&quot;}"/>
          <p:cNvSpPr txBox="1"/>
          <p:nvPr/>
        </p:nvSpPr>
        <p:spPr>
          <a:xfrm rot="0" flipH="0" flipV="0">
            <a:off x="685800" y="4752975"/>
            <a:ext cx="3352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模型自演</a:t>
            </a:r>
            <a:r>
              <a:rPr lang="en-US" sz="142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Observation</a:t>
            </a:r>
            <a:endParaRPr/>
          </a:p>
        </p:txBody>
      </p:sp>
      <p:sp>
        <p:nvSpPr>
          <p:cNvPr id="1357" name="" descr="{&quot;isTemplate&quot;:true,&quot;type&quot;:&quot;text&quot;}"/>
          <p:cNvSpPr txBox="1"/>
          <p:nvPr/>
        </p:nvSpPr>
        <p:spPr>
          <a:xfrm rot="0" flipH="0" flipV="0">
            <a:off x="685800" y="5048250"/>
            <a:ext cx="33528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Prompt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太弱时，模型会把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Thought / Action / Observation / Answer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一口气全「演」出来，甚至编造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Observation: 58848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（真实值是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58368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）。</a:t>
            </a:r>
            <a:endParaRPr/>
          </a:p>
        </p:txBody>
      </p:sp>
      <p:sp>
        <p:nvSpPr>
          <p:cNvPr id="1358" name=""/>
          <p:cNvSpPr/>
          <p:nvPr/>
        </p:nvSpPr>
        <p:spPr>
          <a:xfrm rot="0" flipH="0" flipV="0">
            <a:off x="4295775" y="4514850"/>
            <a:ext cx="3609975" cy="1543050"/>
          </a:xfrm>
          <a:custGeom>
            <a:pathLst>
              <a:path w="379" h="162">
                <a:moveTo>
                  <a:pt x="378" y="0"/>
                </a:moveTo>
                <a:lnTo>
                  <a:pt x="379" y="0"/>
                </a:lnTo>
                <a:lnTo>
                  <a:pt x="379" y="162"/>
                </a:lnTo>
                <a:lnTo>
                  <a:pt x="378" y="162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59" name="" descr="{&quot;isTemplate&quot;:true,&quot;type&quot;:&quot;text&quot;}"/>
          <p:cNvSpPr txBox="1"/>
          <p:nvPr/>
        </p:nvSpPr>
        <p:spPr>
          <a:xfrm rot="0" flipH="0" flipV="0">
            <a:off x="4543425" y="4514850"/>
            <a:ext cx="3095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坑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02</a:t>
            </a:r>
            <a:endParaRPr/>
          </a:p>
        </p:txBody>
      </p:sp>
      <p:sp>
        <p:nvSpPr>
          <p:cNvPr id="1360" name="" descr="{&quot;isTemplate&quot;:true,&quot;type&quot;:&quot;text&quot;}"/>
          <p:cNvSpPr txBox="1"/>
          <p:nvPr/>
        </p:nvSpPr>
        <p:spPr>
          <a:xfrm rot="0" flipH="0" flipV="0">
            <a:off x="4543425" y="4752975"/>
            <a:ext cx="30956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编造结果被原样拼回</a:t>
            </a:r>
            <a:endParaRPr/>
          </a:p>
        </p:txBody>
      </p:sp>
      <p:sp>
        <p:nvSpPr>
          <p:cNvPr id="1361" name="" descr="{&quot;isTemplate&quot;:true,&quot;type&quot;:&quot;text&quot;}"/>
          <p:cNvSpPr txBox="1"/>
          <p:nvPr/>
        </p:nvSpPr>
        <p:spPr>
          <a:xfrm rot="0" flipH="0" flipV="0">
            <a:off x="4543425" y="5048250"/>
            <a:ext cx="3095625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把模型输出整段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append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进历史，编造的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Observation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与真实结果打架，模型每轮重复同样的幻觉，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5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轮全部耗尽。</a:t>
            </a:r>
            <a:endParaRPr/>
          </a:p>
        </p:txBody>
      </p:sp>
      <p:sp>
        <p:nvSpPr>
          <p:cNvPr id="1362" name="" descr="{&quot;isTemplate&quot;:true,&quot;type&quot;:&quot;text&quot;}"/>
          <p:cNvSpPr txBox="1"/>
          <p:nvPr/>
        </p:nvSpPr>
        <p:spPr>
          <a:xfrm rot="0" flipH="0" flipV="0">
            <a:off x="8143875" y="4514850"/>
            <a:ext cx="3362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坑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03</a:t>
            </a:r>
            <a:endParaRPr/>
          </a:p>
        </p:txBody>
      </p:sp>
      <p:sp>
        <p:nvSpPr>
          <p:cNvPr id="1363" name="" descr="{&quot;isTemplate&quot;:true,&quot;type&quot;:&quot;text&quot;}"/>
          <p:cNvSpPr txBox="1"/>
          <p:nvPr/>
        </p:nvSpPr>
        <p:spPr>
          <a:xfrm rot="0" flipH="0" flipV="0">
            <a:off x="8143875" y="4752975"/>
            <a:ext cx="33623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循环耗尽返回</a:t>
            </a:r>
            <a:r>
              <a:rPr lang="en-US" sz="142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None</a:t>
            </a:r>
            <a:endParaRPr/>
          </a:p>
        </p:txBody>
      </p:sp>
      <p:sp>
        <p:nvSpPr>
          <p:cNvPr id="1364" name="" descr="{&quot;isTemplate&quot;:true,&quot;type&quot;:&quot;text&quot;}"/>
          <p:cNvSpPr txBox="1"/>
          <p:nvPr/>
        </p:nvSpPr>
        <p:spPr>
          <a:xfrm rot="0" flipH="0" flipV="0">
            <a:off x="8143875" y="5048250"/>
            <a:ext cx="33623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run()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没有兜底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return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，最终打印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None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；报错信息只有一个空值，排查全靠猜。</a:t>
            </a:r>
            <a:endParaRPr/>
          </a:p>
        </p:txBody>
      </p:sp>
      <p:sp>
        <p:nvSpPr>
          <p:cNvPr id="1365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366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07 / 33</a:t>
            </a:r>
            <a:endParaRPr/>
          </a:p>
        </p:txBody>
      </p:sp>
      <p:sp>
        <p:nvSpPr>
          <p:cNvPr id="1367" name=""/>
          <p:cNvSpPr/>
          <p:nvPr/>
        </p:nvSpPr>
        <p:spPr>
          <a:xfrm rot="0" flipH="0" flipV="0">
            <a:off x="685800" y="1390650"/>
            <a:ext cx="10820400" cy="2962275"/>
          </a:xfrm>
          <a:prstGeom prst="roundRect">
            <a:avLst>
              <a:gd name="adj" fmla="val 2572"/>
            </a:avLst>
          </a:prstGeom>
          <a:solidFill>
            <a:srgbClr val="0E1116"/>
          </a:solidFill>
          <a:ln/>
        </p:spPr>
        <p:txBody>
          <a:bodyPr/>
          <a:p>
            <a:pPr/>
            <a:endParaRPr/>
          </a:p>
        </p:txBody>
      </p:sp>
      <p:sp>
        <p:nvSpPr>
          <p:cNvPr id="1368" name=""/>
          <p:cNvSpPr txBox="1"/>
          <p:nvPr/>
        </p:nvSpPr>
        <p:spPr>
          <a:xfrm rot="0" flipH="0" flipV="0">
            <a:off x="838200" y="1524000"/>
            <a:ext cx="10515600" cy="2695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def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1050">
                <a:solidFill>
                  <a:srgbClr val="B392F0"/>
                </a:solidFill>
                <a:latin typeface="Menlo"/>
                <a:ea typeface="Menlo"/>
              </a:rPr>
              <a:t>run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(q):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messages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[{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"role"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: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"system"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,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"content"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: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PROMPT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}, {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"role"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: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"user"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,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"content"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:q}]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for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_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in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range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(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5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):                                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最大轮数兜底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out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llm(messages, </a:t>
            </a:r>
            <a:r>
              <a:rPr sz="1050">
                <a:solidFill>
                  <a:srgbClr val="FFAB70"/>
                </a:solidFill>
                <a:latin typeface="Menlo"/>
                <a:ea typeface="Menlo"/>
              </a:rPr>
              <a:t>stop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[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"Observation:"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])    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生成阶段强制截断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hit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re.search(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r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</a:t>
            </a:r>
            <a:r>
              <a:rPr sz="1050">
                <a:solidFill>
                  <a:srgbClr val="DBEDFF"/>
                </a:solidFill>
                <a:latin typeface="Menlo"/>
                <a:ea typeface="Menlo"/>
              </a:rPr>
              <a:t>Action: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\s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*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(\w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+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)</a:t>
            </a:r>
            <a:r>
              <a:rPr sz="1050" b="1">
                <a:solidFill>
                  <a:srgbClr val="85E89D"/>
                </a:solidFill>
                <a:latin typeface="Menlo"/>
                <a:ea typeface="Menlo"/>
              </a:rPr>
              <a:t>\[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(.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+?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)</a:t>
            </a:r>
            <a:r>
              <a:rPr sz="1050" b="1">
                <a:solidFill>
                  <a:srgbClr val="85E89D"/>
                </a:solidFill>
                <a:latin typeface="Menlo"/>
                <a:ea typeface="Menlo"/>
              </a:rPr>
              <a:t>\]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, out)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if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not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hit:                                   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没有 Action = 答完了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   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return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re.search(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r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</a:t>
            </a:r>
            <a:r>
              <a:rPr sz="1050">
                <a:solidFill>
                  <a:srgbClr val="DBEDFF"/>
                </a:solidFill>
                <a:latin typeface="Menlo"/>
                <a:ea typeface="Menlo"/>
              </a:rPr>
              <a:t>Answer: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\s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*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(.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+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)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, out).group(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1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)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result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globals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()[hit.group(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1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)](hit.group(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2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))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真正执行工具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messages.append({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"role"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: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"assistant"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                 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"content"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: out.split(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"Observation:"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)[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0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]})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截干净再拼回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messages.append({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"role"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: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"user"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, 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"content"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f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 xml:space="preserve">"Observation: 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{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result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}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})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return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"达到最大轮数，未能得到答案"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         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兜底返回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3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371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372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55721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方案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B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：原生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Function Calling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（推荐）</a:t>
            </a:r>
            <a:endParaRPr/>
          </a:p>
        </p:txBody>
      </p:sp>
      <p:sp>
        <p:nvSpPr>
          <p:cNvPr id="1373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55721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工具用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JSON Schema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声明，模型直接返回结构化参数——不用正则</a:t>
            </a:r>
            <a:endParaRPr/>
          </a:p>
        </p:txBody>
      </p:sp>
      <p:sp>
        <p:nvSpPr>
          <p:cNvPr id="1374" name=""/>
          <p:cNvSpPr/>
          <p:nvPr/>
        </p:nvSpPr>
        <p:spPr>
          <a:xfrm rot="0" flipH="0" flipV="0">
            <a:off x="685800" y="1143000"/>
            <a:ext cx="3200400" cy="4381500"/>
          </a:xfrm>
          <a:custGeom>
            <a:pathLst>
              <a:path w="336" h="460">
                <a:moveTo>
                  <a:pt x="335" y="0"/>
                </a:moveTo>
                <a:lnTo>
                  <a:pt x="336" y="0"/>
                </a:lnTo>
                <a:lnTo>
                  <a:pt x="336" y="460"/>
                </a:lnTo>
                <a:lnTo>
                  <a:pt x="335" y="460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75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924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WHY BETTER</a:t>
            </a:r>
            <a:endParaRPr/>
          </a:p>
        </p:txBody>
      </p:sp>
      <p:sp>
        <p:nvSpPr>
          <p:cNvPr id="1376" name="" descr="{&quot;isTemplate&quot;:true,&quot;type&quot;:&quot;text&quot;}"/>
          <p:cNvSpPr txBox="1"/>
          <p:nvPr/>
        </p:nvSpPr>
        <p:spPr>
          <a:xfrm rot="0" flipH="0" flipV="0">
            <a:off x="685800" y="1466850"/>
            <a:ext cx="2924175" cy="895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格式是官方标准，</a:t>
            </a:r>
            <a:endParaRPr/>
          </a:p>
          <a:p>
            <a:pPr>
              <a:lnSpc>
                <a:spcPct val="150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不用自己发明</a:t>
            </a:r>
            <a:endParaRPr/>
          </a:p>
        </p:txBody>
      </p:sp>
      <p:sp>
        <p:nvSpPr>
          <p:cNvPr id="1377" name="" descr="{&quot;isTemplate&quot;:true,&quot;type&quot;:&quot;text&quot;}"/>
          <p:cNvSpPr txBox="1"/>
          <p:nvPr/>
        </p:nvSpPr>
        <p:spPr>
          <a:xfrm rot="0" flipH="0" flipV="0">
            <a:off x="685800" y="2533650"/>
            <a:ext cx="2924175" cy="1362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工具用</a:t>
            </a:r>
            <a:r>
              <a:rPr lang="en-US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JSON Schema </a:t>
            </a: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正式声明并随请求传入；模型开启特训过的「工具模式」，返回值直接是结构化</a:t>
            </a:r>
            <a:r>
              <a:rPr lang="en-US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JSON</a:t>
            </a: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，稳定性和兼容性都由模型侧保证。</a:t>
            </a:r>
            <a:endParaRPr/>
          </a:p>
        </p:txBody>
      </p:sp>
      <p:sp>
        <p:nvSpPr>
          <p:cNvPr id="1378" name=""/>
          <p:cNvSpPr/>
          <p:nvPr/>
        </p:nvSpPr>
        <p:spPr>
          <a:xfrm rot="0" flipH="0" flipV="0">
            <a:off x="685800" y="4067175"/>
            <a:ext cx="1038225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79" name="" descr="{&quot;isTemplate&quot;:true,&quot;type&quot;:&quot;text&quot;}"/>
          <p:cNvSpPr txBox="1"/>
          <p:nvPr/>
        </p:nvSpPr>
        <p:spPr>
          <a:xfrm rot="0" flipH="0" flipV="0">
            <a:off x="781050" y="4105275"/>
            <a:ext cx="847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Source Han Sans SC"/>
                <a:ea typeface="Source Han Sans SC"/>
              </a:rPr>
              <a:t>JSON Schema</a:t>
            </a:r>
            <a:endParaRPr/>
          </a:p>
        </p:txBody>
      </p:sp>
      <p:sp>
        <p:nvSpPr>
          <p:cNvPr id="1380" name=""/>
          <p:cNvSpPr/>
          <p:nvPr/>
        </p:nvSpPr>
        <p:spPr>
          <a:xfrm rot="0" flipH="0" flipV="0">
            <a:off x="1800225" y="4067175"/>
            <a:ext cx="7620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81" name="" descr="{&quot;isTemplate&quot;:true,&quot;type&quot;:&quot;text&quot;}"/>
          <p:cNvSpPr txBox="1"/>
          <p:nvPr/>
        </p:nvSpPr>
        <p:spPr>
          <a:xfrm rot="0" flipH="0" flipV="0">
            <a:off x="1895475" y="4105275"/>
            <a:ext cx="571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Source Han Sans SC"/>
                <a:ea typeface="Source Han Sans SC"/>
              </a:rPr>
              <a:t>tool_calls</a:t>
            </a:r>
            <a:endParaRPr/>
          </a:p>
        </p:txBody>
      </p:sp>
      <p:sp>
        <p:nvSpPr>
          <p:cNvPr id="1382" name=""/>
          <p:cNvSpPr/>
          <p:nvPr/>
        </p:nvSpPr>
        <p:spPr>
          <a:xfrm rot="0" flipH="0" flipV="0">
            <a:off x="2638425" y="4067175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83" name="" descr="{&quot;isTemplate&quot;:true,&quot;type&quot;:&quot;text&quot;}"/>
          <p:cNvSpPr txBox="1"/>
          <p:nvPr/>
        </p:nvSpPr>
        <p:spPr>
          <a:xfrm rot="0" flipH="0" flipV="0">
            <a:off x="2733675" y="41052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无需正则</a:t>
            </a:r>
            <a:endParaRPr/>
          </a:p>
        </p:txBody>
      </p:sp>
      <p:sp>
        <p:nvSpPr>
          <p:cNvPr id="1384" name=""/>
          <p:cNvSpPr/>
          <p:nvPr/>
        </p:nvSpPr>
        <p:spPr>
          <a:xfrm rot="0" flipH="0" flipV="0">
            <a:off x="714375" y="4343400"/>
            <a:ext cx="2924175" cy="1181100"/>
          </a:xfrm>
          <a:prstGeom prst="roundRect">
            <a:avLst>
              <a:gd name="adj" fmla="val 3226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85" name=""/>
          <p:cNvSpPr/>
          <p:nvPr/>
        </p:nvSpPr>
        <p:spPr>
          <a:xfrm rot="0" flipH="0" flipV="0">
            <a:off x="714375" y="4343400"/>
            <a:ext cx="2924175" cy="1181100"/>
          </a:xfrm>
          <a:custGeom>
            <a:pathLst>
              <a:path w="307" h="124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123"/>
                </a:lnTo>
                <a:cubicBezTo>
                  <a:pt x="3" y="123"/>
                  <a:pt x="3" y="124"/>
                  <a:pt x="4" y="124"/>
                </a:cubicBezTo>
                <a:cubicBezTo>
                  <a:pt x="2" y="124"/>
                  <a:pt x="0" y="122"/>
                  <a:pt x="0" y="12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386" name="" descr="{&quot;isTemplate&quot;:true,&quot;type&quot;:&quot;text&quot;}"/>
          <p:cNvSpPr txBox="1"/>
          <p:nvPr/>
        </p:nvSpPr>
        <p:spPr>
          <a:xfrm rot="0" flipH="0" flipV="0">
            <a:off x="866775" y="4476750"/>
            <a:ext cx="2590800" cy="914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description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就是写给模型看的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API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文档——模型选错工具，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90%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是这里写得烂。</a:t>
            </a:r>
            <a:endParaRPr/>
          </a:p>
        </p:txBody>
      </p:sp>
      <p:sp>
        <p:nvSpPr>
          <p:cNvPr id="1387" name="" descr="{&quot;isTemplate&quot;:true,&quot;type&quot;:&quot;text&quot;}"/>
          <p:cNvSpPr txBox="1"/>
          <p:nvPr/>
        </p:nvSpPr>
        <p:spPr>
          <a:xfrm rot="0" flipH="0" flipV="0">
            <a:off x="4229100" y="1143000"/>
            <a:ext cx="1238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2AD4EE"/>
                </a:solidFill>
                <a:latin typeface="JetBrains Mono"/>
                <a:ea typeface="JetBrains Mono"/>
              </a:rPr>
              <a:t>fc_demo_b.js</a:t>
            </a:r>
            <a:endParaRPr/>
          </a:p>
        </p:txBody>
      </p:sp>
      <p:sp>
        <p:nvSpPr>
          <p:cNvPr id="1388" name=""/>
          <p:cNvSpPr/>
          <p:nvPr/>
        </p:nvSpPr>
        <p:spPr>
          <a:xfrm rot="0" flipH="0" flipV="0">
            <a:off x="5581650" y="1162050"/>
            <a:ext cx="9525" cy="133350"/>
          </a:xfrm>
          <a:prstGeom prst="rect">
            <a:avLst/>
          </a:prstGeom>
          <a:solidFill>
            <a:srgbClr val="E8EEF9">
              <a:alpha val="2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89" name="" descr="{&quot;isTemplate&quot;:true,&quot;type&quot;:&quot;text&quot;}"/>
          <p:cNvSpPr txBox="1"/>
          <p:nvPr/>
        </p:nvSpPr>
        <p:spPr>
          <a:xfrm rot="0" flipH="0" flipV="0">
            <a:off x="5705475" y="1143000"/>
            <a:ext cx="1990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声明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调用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回填，三步走完</a:t>
            </a:r>
            <a:endParaRPr/>
          </a:p>
        </p:txBody>
      </p:sp>
      <p:sp>
        <p:nvSpPr>
          <p:cNvPr id="1390" name=""/>
          <p:cNvSpPr/>
          <p:nvPr/>
        </p:nvSpPr>
        <p:spPr>
          <a:xfrm rot="0" flipH="0" flipV="0">
            <a:off x="685800" y="5619750"/>
            <a:ext cx="10820400" cy="438150"/>
          </a:xfrm>
          <a:prstGeom prst="roundRect">
            <a:avLst>
              <a:gd name="adj" fmla="val 8696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91" name="" descr="{&quot;isTemplate&quot;:true,&quot;type&quot;:&quot;text&quot;}"/>
          <p:cNvSpPr txBox="1"/>
          <p:nvPr/>
        </p:nvSpPr>
        <p:spPr>
          <a:xfrm rot="0" flipH="0" flipV="0">
            <a:off x="876300" y="5734050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AD4EE"/>
                </a:solidFill>
                <a:latin typeface="JetBrains Mono"/>
                <a:ea typeface="JetBrains Mono"/>
              </a:rPr>
              <a:t>结论</a:t>
            </a:r>
            <a:endParaRPr/>
          </a:p>
        </p:txBody>
      </p:sp>
      <p:sp>
        <p:nvSpPr>
          <p:cNvPr id="1392" name=""/>
          <p:cNvSpPr/>
          <p:nvPr/>
        </p:nvSpPr>
        <p:spPr>
          <a:xfrm rot="0" flipH="0" flipV="0">
            <a:off x="1371600" y="5705475"/>
            <a:ext cx="9525" cy="266700"/>
          </a:xfrm>
          <a:prstGeom prst="rect">
            <a:avLst/>
          </a:prstGeom>
          <a:solidFill>
            <a:srgbClr val="2AD4EE">
              <a:alpha val="3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93" name="" descr="{&quot;isTemplate&quot;:true,&quot;type&quot;:&quot;text&quot;}"/>
          <p:cNvSpPr txBox="1"/>
          <p:nvPr/>
        </p:nvSpPr>
        <p:spPr>
          <a:xfrm rot="0" flipH="0" flipV="0">
            <a:off x="1533525" y="5686425"/>
            <a:ext cx="9782175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实际项目一律用原生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Function Calling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；手写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Prompt 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只用来理解原理——模型自动把「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128 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乘以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456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」翻译成了表达式，靠的就是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description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394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395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08 / 33</a:t>
            </a:r>
            <a:endParaRPr/>
          </a:p>
        </p:txBody>
      </p:sp>
      <p:sp>
        <p:nvSpPr>
          <p:cNvPr id="1396" name=""/>
          <p:cNvSpPr/>
          <p:nvPr/>
        </p:nvSpPr>
        <p:spPr>
          <a:xfrm rot="0" flipH="0" flipV="0">
            <a:off x="4229100" y="1390650"/>
            <a:ext cx="7277100" cy="3152775"/>
          </a:xfrm>
          <a:prstGeom prst="roundRect">
            <a:avLst>
              <a:gd name="adj" fmla="val 2417"/>
            </a:avLst>
          </a:prstGeom>
          <a:solidFill>
            <a:srgbClr val="0E1116"/>
          </a:solidFill>
          <a:ln/>
        </p:spPr>
        <p:txBody>
          <a:bodyPr/>
          <a:p>
            <a:pPr/>
            <a:endParaRPr/>
          </a:p>
        </p:txBody>
      </p:sp>
      <p:sp>
        <p:nvSpPr>
          <p:cNvPr id="1397" name=""/>
          <p:cNvSpPr txBox="1"/>
          <p:nvPr/>
        </p:nvSpPr>
        <p:spPr>
          <a:xfrm rot="0" flipH="0" flipV="0">
            <a:off x="4381500" y="1524000"/>
            <a:ext cx="6972300" cy="2886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00">
                <a:solidFill>
                  <a:srgbClr val="6A737D"/>
                </a:solidFill>
                <a:latin typeface="Menlo"/>
                <a:ea typeface="Menlo"/>
              </a:rPr>
              <a:t>// ① 用 JSON Schema 声明工具（name / description / parameters）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const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tools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[{ type: 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"function"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, function: {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name: 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"calculate"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description: 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"计算数学表达式的值，如加减乘除"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parameters: { type: 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"object"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, required: [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"expression"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],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  properties: { expression: { type: 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"string"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    description: 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"数学表达式，如 128*456"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} } },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}}];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6A737D"/>
                </a:solidFill>
                <a:latin typeface="Menlo"/>
                <a:ea typeface="Menlo"/>
              </a:rPr>
              <a:t>// ② tools 随请求传入；模型返回结构化 tool_calls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const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msg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await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B392F0"/>
                </a:solidFill>
                <a:latin typeface="Menlo"/>
                <a:ea typeface="Menlo"/>
              </a:rPr>
              <a:t>llm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(messages, tools);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for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(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const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tc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of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msg.tool_calls) {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const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args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JSON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.</a:t>
            </a:r>
            <a:r>
              <a:rPr sz="900">
                <a:solidFill>
                  <a:srgbClr val="B392F0"/>
                </a:solidFill>
                <a:latin typeface="Menlo"/>
                <a:ea typeface="Menlo"/>
              </a:rPr>
              <a:t>parse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(tc.function.arguments);      </a:t>
            </a:r>
            <a:r>
              <a:rPr sz="900">
                <a:solidFill>
                  <a:srgbClr val="6A737D"/>
                </a:solidFill>
                <a:latin typeface="Menlo"/>
                <a:ea typeface="Menlo"/>
              </a:rPr>
              <a:t>// 参数直接是 JSON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const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r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TOOLS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[tc.function.name](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...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Object.</a:t>
            </a:r>
            <a:r>
              <a:rPr sz="900">
                <a:solidFill>
                  <a:srgbClr val="B392F0"/>
                </a:solidFill>
                <a:latin typeface="Menlo"/>
                <a:ea typeface="Menlo"/>
              </a:rPr>
              <a:t>values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(args));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messages.</a:t>
            </a:r>
            <a:r>
              <a:rPr sz="900">
                <a:solidFill>
                  <a:srgbClr val="B392F0"/>
                </a:solidFill>
                <a:latin typeface="Menlo"/>
                <a:ea typeface="Menlo"/>
              </a:rPr>
              <a:t>push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({ role: 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"tool"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, tool_call_id: tc.id, content: </a:t>
            </a:r>
            <a:r>
              <a:rPr sz="900">
                <a:solidFill>
                  <a:srgbClr val="B392F0"/>
                </a:solidFill>
                <a:latin typeface="Menlo"/>
                <a:ea typeface="Menlo"/>
              </a:rPr>
              <a:t>String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(r) });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}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3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400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401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505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A/B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对比与一条安全红线</a:t>
            </a:r>
            <a:endParaRPr/>
          </a:p>
        </p:txBody>
      </p:sp>
      <p:sp>
        <p:nvSpPr>
          <p:cNvPr id="1402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505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五个维度看差别，一条原则定生死</a:t>
            </a:r>
            <a:endParaRPr/>
          </a:p>
        </p:txBody>
      </p:sp>
      <p:graphicFrame>
        <p:nvGraphicFramePr>
          <p:cNvPr id="1403" name=""/>
          <p:cNvGraphicFramePr/>
          <p:nvPr/>
        </p:nvGraphicFramePr>
        <p:xfrm rot="0" flipH="0" flipV="0">
          <a:off x="685800" y="1143000"/>
          <a:ext cx="10820400" cy="3238500"/>
        </p:xfrm>
        <a:graphic>
          <a:graphicData uri="http://schemas.openxmlformats.org/drawingml/2006/table">
            <a:tbl>
              <a:tblGrid>
                <a:gridCol w="1339603">
                  <a:extLst>
                    <a:ext uri="{9D8B030D-6E8A-4147-A177-3AD203B41FA5}">
                      <a16:colId val="1"/>
                    </a:ext>
                  </a:extLst>
                </a:gridCol>
                <a:gridCol w="4723136">
                  <a:extLst>
                    <a:ext uri="{9D8B030D-6E8A-4147-A177-3AD203B41FA5}">
                      <a16:colId val="2"/>
                    </a:ext>
                  </a:extLst>
                </a:gridCol>
                <a:gridCol w="4757662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539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2AD4EE"/>
                          </a:solidFill>
                          <a:latin typeface="Microsoft YaHei"/>
                          <a:ea typeface="Microsoft YaHei"/>
                        </a:rPr>
                        <a:t>维度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D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E8EEF9">
                              <a:alpha val="70000"/>
                            </a:srgbClr>
                          </a:solidFill>
                          <a:latin typeface="Microsoft YaHei"/>
                          <a:ea typeface="Microsoft YaHei"/>
                        </a:rPr>
                        <a:t>方案 A · 手写 Prompt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D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2AD4EE"/>
                          </a:solidFill>
                          <a:latin typeface="Microsoft YaHei"/>
                          <a:ea typeface="Microsoft YaHei"/>
                        </a:rPr>
                        <a:t>方案 B · 原生 Function Calling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D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539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格式约定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自己发明（Action:工具名[参数]）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官方标准（JSON Schema）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539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模型输出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普通文本，要正则抠参数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结构化 tool_calls JSON，直接解析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539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稳定性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模型可能不守格式，需各种兜底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模型专门训练过，非常稳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539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兼容性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任何模型都能用（哪怕不支持 FC）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需要模型支持（GLM-4 / GPT 等）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539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使用建议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理解原理用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2AD4EE"/>
                          </a:solidFill>
                          <a:latin typeface="Microsoft YaHei"/>
                          <a:ea typeface="Microsoft YaHei"/>
                        </a:rPr>
                        <a:t>实际项目一律用这个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1404" name=""/>
          <p:cNvSpPr/>
          <p:nvPr/>
        </p:nvSpPr>
        <p:spPr>
          <a:xfrm rot="0" flipH="0" flipV="0">
            <a:off x="685800" y="4514850"/>
            <a:ext cx="5314950" cy="1543050"/>
          </a:xfrm>
          <a:prstGeom prst="roundRect">
            <a:avLst>
              <a:gd name="adj" fmla="val 2469"/>
            </a:avLst>
          </a:prstGeom>
          <a:solidFill>
            <a:srgbClr val="16233D">
              <a:alpha val="95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05" name="" descr="{&quot;isTemplate&quot;:true,&quot;type&quot;:&quot;text&quot;}"/>
          <p:cNvSpPr txBox="1"/>
          <p:nvPr/>
        </p:nvSpPr>
        <p:spPr>
          <a:xfrm rot="0" flipH="0" flipV="0">
            <a:off x="876300" y="4667250"/>
            <a:ext cx="4933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2AD4EE"/>
                </a:solidFill>
                <a:latin typeface="JetBrains Mono"/>
                <a:ea typeface="JetBrains Mono"/>
              </a:rPr>
              <a:t>选型结论</a:t>
            </a:r>
            <a:endParaRPr/>
          </a:p>
        </p:txBody>
      </p:sp>
      <p:sp>
        <p:nvSpPr>
          <p:cNvPr id="1406" name="" descr="{&quot;isTemplate&quot;:true,&quot;type&quot;:&quot;text&quot;}"/>
          <p:cNvSpPr txBox="1"/>
          <p:nvPr/>
        </p:nvSpPr>
        <p:spPr>
          <a:xfrm rot="0" flipH="0" flipV="0">
            <a:off x="876300" y="4953000"/>
            <a:ext cx="493395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能用原生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Function Calling 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就不用自己发明格式。手写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Prompt 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的价值在于让你看清循环内部长什么样——理解原理，而不是交付方案。</a:t>
            </a:r>
            <a:endParaRPr/>
          </a:p>
        </p:txBody>
      </p:sp>
      <p:sp>
        <p:nvSpPr>
          <p:cNvPr id="1407" name=""/>
          <p:cNvSpPr/>
          <p:nvPr/>
        </p:nvSpPr>
        <p:spPr>
          <a:xfrm rot="0" flipH="0" flipV="0">
            <a:off x="6191250" y="4514850"/>
            <a:ext cx="5314950" cy="1543050"/>
          </a:xfrm>
          <a:prstGeom prst="roundRect">
            <a:avLst>
              <a:gd name="adj" fmla="val 2469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08" name="" descr="{&quot;isTemplate&quot;:true,&quot;type&quot;:&quot;text&quot;}"/>
          <p:cNvSpPr txBox="1"/>
          <p:nvPr/>
        </p:nvSpPr>
        <p:spPr>
          <a:xfrm rot="0" flipH="0" flipV="0">
            <a:off x="6381750" y="4667250"/>
            <a:ext cx="4933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2AD4EE"/>
                </a:solidFill>
                <a:latin typeface="JetBrains Mono"/>
                <a:ea typeface="JetBrains Mono"/>
              </a:rPr>
              <a:t>安全红线</a:t>
            </a:r>
            <a:endParaRPr/>
          </a:p>
        </p:txBody>
      </p:sp>
      <p:sp>
        <p:nvSpPr>
          <p:cNvPr id="1409" name="" descr="{&quot;isTemplate&quot;:true,&quot;type&quot;:&quot;text&quot;}"/>
          <p:cNvSpPr txBox="1"/>
          <p:nvPr/>
        </p:nvSpPr>
        <p:spPr>
          <a:xfrm rot="0" flipH="0" flipV="0">
            <a:off x="6381750" y="4953000"/>
            <a:ext cx="493395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两种方案里，模型都只负责「说要调什么」，真正执行函数的永远是我们的代码——</a:t>
            </a:r>
            <a:r>
              <a:rPr lang="zh-CN" sz="1275">
                <a:solidFill>
                  <a:srgbClr val="2AD4EE"/>
                </a:solidFill>
                <a:latin typeface="Source Han Sans SC"/>
                <a:ea typeface="Source Han Sans SC"/>
              </a:rPr>
              <a:t>模型没有权限，只有建议权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410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411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09 / 33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>
            <a:pPr/>
            <a:endParaRPr/>
          </a:p>
        </p:txBody>
      </p:sp>
      <p:pic>
        <p:nvPicPr>
          <p:cNvPr id="26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4630400" cy="9753600"/>
          </a:xfrm>
          <a:custGeom>
            <a:pathLst>
              <a:path w="1536" h="1024">
                <a:moveTo>
                  <a:pt x="1280" y="720"/>
                </a:moveTo>
                <a:lnTo>
                  <a:pt x="0" y="720"/>
                </a:lnTo>
                <a:lnTo>
                  <a:pt x="0" y="0"/>
                </a:lnTo>
                <a:lnTo>
                  <a:pt x="1280" y="0"/>
                </a:lnTo>
                <a:close/>
              </a:path>
            </a:pathLst>
          </a:custGeom>
          <a:ln/>
        </p:spPr>
      </p:pic>
      <p:sp>
        <p:nvSpPr>
          <p:cNvPr id="27" name=""/>
          <p:cNvSpPr/>
          <p:nvPr/>
        </p:nvSpPr>
        <p:spPr>
          <a:xfrm rot="0" flipH="0" flipV="0">
            <a:off x="0" y="0"/>
            <a:ext cx="9906000" cy="6858000"/>
          </a:xfrm>
          <a:prstGeom prst="rect">
            <a:avLst/>
          </a:prstGeom>
          <a:gradFill>
            <a:gsLst>
              <a:gs pos="0">
                <a:srgbClr val="0B1220">
                  <a:alpha val="97000"/>
                </a:srgbClr>
              </a:gs>
              <a:gs pos="50000">
                <a:srgbClr val="0B1220">
                  <a:alpha val="84000"/>
                </a:srgbClr>
              </a:gs>
              <a:gs pos="100000">
                <a:srgbClr val="0B1220">
                  <a:alpha val="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0" y="0"/>
            <a:ext cx="57150" cy="6858000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2AD4EE">
                  <a:alpha val="0"/>
                </a:srgbClr>
              </a:gs>
            </a:gsLst>
            <a:lin ang="54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838200" y="1447800"/>
            <a:ext cx="6667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525">
                <a:solidFill>
                  <a:srgbClr val="2AD4EE"/>
                </a:solidFill>
                <a:latin typeface="JetBrains Mono"/>
                <a:ea typeface="JetBrains Mono"/>
              </a:rPr>
              <a:t>CHAPTER 02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838200" y="1866900"/>
            <a:ext cx="6667500" cy="17621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4800" b="1" spc="75">
                <a:solidFill>
                  <a:srgbClr val="E8EEF9"/>
                </a:solidFill>
                <a:latin typeface="Source Han Sans SC"/>
                <a:ea typeface="Source Han Sans SC"/>
              </a:rPr>
              <a:t>Agent</a:t>
            </a:r>
            <a:r>
              <a:rPr lang="zh-CN" sz="4800" b="1" spc="75">
                <a:solidFill>
                  <a:srgbClr val="E8EEF9"/>
                </a:solidFill>
                <a:latin typeface="Source Han Sans SC"/>
                <a:ea typeface="Source Han Sans SC"/>
              </a:rPr>
              <a:t>：</a:t>
            </a:r>
            <a:endParaRPr/>
          </a:p>
          <a:p>
            <a:pPr>
              <a:lnSpc>
                <a:spcPct val="120000"/>
              </a:lnSpc>
            </a:pPr>
            <a:r>
              <a:rPr lang="zh-CN" sz="4800" b="1" spc="75">
                <a:solidFill>
                  <a:srgbClr val="2AD4EE"/>
                </a:solidFill>
                <a:latin typeface="Source Han Sans SC"/>
                <a:ea typeface="Source Han Sans SC"/>
              </a:rPr>
              <a:t>从“能聊”到“能干”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838200" y="3810000"/>
            <a:ext cx="723900" cy="381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838200" y="4076700"/>
            <a:ext cx="6667500" cy="84772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的核心代码就一个</a:t>
            </a:r>
            <a:r>
              <a:rPr lang="en-US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while </a:t>
            </a: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循环；</a:t>
            </a:r>
            <a:endParaRPr/>
          </a:p>
          <a:p>
            <a:pPr>
              <a:lnSpc>
                <a:spcPct val="175000"/>
              </a:lnSpc>
            </a:pP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真正的开发量，全在循环之外。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838200" y="5105400"/>
            <a:ext cx="4000500" cy="9525"/>
          </a:xfrm>
          <a:prstGeom prst="rect">
            <a:avLst/>
          </a:prstGeom>
          <a:solidFill>
            <a:srgbClr val="E8EEF9">
              <a:alpha val="1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838200" y="5267325"/>
            <a:ext cx="666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本章要回答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838200" y="5610225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1000125" y="5534025"/>
            <a:ext cx="2066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的能力边界到底在哪？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838200" y="588645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1000125" y="5810250"/>
            <a:ext cx="259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一个</a:t>
            </a:r>
            <a:r>
              <a:rPr lang="en-US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系统要处理哪些功能点？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838200" y="6162675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000125" y="6086475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怎么写才不翻车？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7620000" y="3200400"/>
            <a:ext cx="3733800" cy="2295525"/>
          </a:xfrm>
          <a:prstGeom prst="roundRect">
            <a:avLst>
              <a:gd name="adj" fmla="val 1660"/>
            </a:avLst>
          </a:prstGeom>
          <a:solidFill>
            <a:srgbClr val="0B1220">
              <a:alpha val="82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7848600" y="3409950"/>
            <a:ext cx="8572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2AD4EE">
                    <a:alpha val="55000"/>
                  </a:srgbClr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9801225" y="4057650"/>
            <a:ext cx="1323975" cy="228600"/>
          </a:xfrm>
          <a:prstGeom prst="rect"/>
        </p:spPr>
        <p:txBody>
          <a:bodyPr wrap="none" lIns="0" tIns="0" rIns="0" bIns="5715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PAGES 10 – 18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7848600" y="455295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8134350" y="4457700"/>
            <a:ext cx="1581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 xml:space="preserve">ReAct </a:t>
            </a: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循环与终止条件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7848600" y="4867275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8134350" y="4772025"/>
            <a:ext cx="1457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工具、记忆与控制层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7848600" y="518160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8134350" y="5086350"/>
            <a:ext cx="1781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七层功能地图与十条原则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838200" y="6419850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10 / 33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591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Agent = LLM +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工具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记忆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规划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591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让模型从「只会聊天」变成「能干活、会决策、可循环」的程序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685800" y="1143000"/>
            <a:ext cx="10820400" cy="1152525"/>
          </a:xfrm>
          <a:custGeom>
            <a:pathLst>
              <a:path w="1136" h="121">
                <a:moveTo>
                  <a:pt x="0" y="120"/>
                </a:moveTo>
                <a:lnTo>
                  <a:pt x="1136" y="120"/>
                </a:lnTo>
                <a:lnTo>
                  <a:pt x="1136" y="121"/>
                </a:lnTo>
                <a:lnTo>
                  <a:pt x="0" y="121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1885950" y="1219200"/>
            <a:ext cx="2009775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2AD4EE"/>
                </a:solidFill>
                <a:latin typeface="JetBrains Mono"/>
                <a:ea typeface="JetBrains Mono"/>
              </a:rPr>
              <a:t>Agent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4124325" y="1381125"/>
            <a:ext cx="2190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=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4572000" y="1314450"/>
            <a:ext cx="96202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E8EEF9"/>
                </a:solidFill>
                <a:latin typeface="Source Han Sans SC"/>
                <a:ea typeface="Source Han Sans SC"/>
              </a:rPr>
              <a:t>LLM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5686425" y="1390650"/>
            <a:ext cx="2190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+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057900" y="1314450"/>
            <a:ext cx="10668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E8EEF9"/>
                </a:solidFill>
                <a:latin typeface="Source Han Sans SC"/>
                <a:ea typeface="Source Han Sans SC"/>
              </a:rPr>
              <a:t>工具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7277100" y="1390650"/>
            <a:ext cx="2190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+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7648575" y="1314450"/>
            <a:ext cx="10668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E8EEF9"/>
                </a:solidFill>
                <a:latin typeface="Source Han Sans SC"/>
                <a:ea typeface="Source Han Sans SC"/>
              </a:rPr>
              <a:t>记忆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8867775" y="1390650"/>
            <a:ext cx="2190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+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9239250" y="1314450"/>
            <a:ext cx="10668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E8EEF9"/>
                </a:solidFill>
                <a:latin typeface="Source Han Sans SC"/>
                <a:ea typeface="Source Han Sans SC"/>
              </a:rPr>
              <a:t>规划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685800" y="2495550"/>
            <a:ext cx="2714625" cy="2819400"/>
          </a:xfrm>
          <a:custGeom>
            <a:pathLst>
              <a:path w="285" h="296">
                <a:moveTo>
                  <a:pt x="284" y="0"/>
                </a:moveTo>
                <a:lnTo>
                  <a:pt x="285" y="0"/>
                </a:lnTo>
                <a:lnTo>
                  <a:pt x="285" y="296"/>
                </a:lnTo>
                <a:lnTo>
                  <a:pt x="284" y="296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85800" y="2495550"/>
            <a:ext cx="2466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1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</a:t>
            </a: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大脑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685800" y="2771775"/>
            <a:ext cx="24669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E8EEF9"/>
                </a:solidFill>
                <a:latin typeface="Source Han Sans SC"/>
                <a:ea typeface="Source Han Sans SC"/>
              </a:rPr>
              <a:t>LLM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685800" y="3124200"/>
            <a:ext cx="24669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无状态的推理引擎。它决定「下一步该干什么」，但自己不记得任何事。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3390900" y="2495550"/>
            <a:ext cx="2714625" cy="2819400"/>
          </a:xfrm>
          <a:custGeom>
            <a:pathLst>
              <a:path w="285" h="296">
                <a:moveTo>
                  <a:pt x="284" y="0"/>
                </a:moveTo>
                <a:lnTo>
                  <a:pt x="285" y="0"/>
                </a:lnTo>
                <a:lnTo>
                  <a:pt x="285" y="296"/>
                </a:lnTo>
                <a:lnTo>
                  <a:pt x="284" y="296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3619500" y="2495550"/>
            <a:ext cx="2238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2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</a:t>
            </a: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手脚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3619500" y="2771775"/>
            <a:ext cx="22383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工具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3619500" y="3124200"/>
            <a:ext cx="2238375" cy="914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你写的普通函数。模型只能「说要调用哪个」，执行权始终在你手里。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6096000" y="2495550"/>
            <a:ext cx="2714625" cy="2819400"/>
          </a:xfrm>
          <a:custGeom>
            <a:pathLst>
              <a:path w="285" h="296">
                <a:moveTo>
                  <a:pt x="284" y="0"/>
                </a:moveTo>
                <a:lnTo>
                  <a:pt x="285" y="0"/>
                </a:lnTo>
                <a:lnTo>
                  <a:pt x="285" y="296"/>
                </a:lnTo>
                <a:lnTo>
                  <a:pt x="284" y="296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324600" y="2495550"/>
            <a:ext cx="2238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3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</a:t>
            </a: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上下文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6324600" y="2771775"/>
            <a:ext cx="22383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记忆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6324600" y="3124200"/>
            <a:ext cx="22383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短期靠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messages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，长期靠向量库。近期带原文，远期压摘要。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9029700" y="2495550"/>
            <a:ext cx="2476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4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</a:t>
            </a: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循环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9029700" y="2771775"/>
            <a:ext cx="2476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规划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9029700" y="3124200"/>
            <a:ext cx="24765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简单任务单循环就够，复杂任务先拆步骤。别一上来就过度设计。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685800" y="5467350"/>
            <a:ext cx="10820400" cy="590550"/>
          </a:xfrm>
          <a:prstGeom prst="roundRect">
            <a:avLst>
              <a:gd name="adj" fmla="val 6452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876300" y="5657850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1371600" y="5629275"/>
            <a:ext cx="9525" cy="266700"/>
          </a:xfrm>
          <a:prstGeom prst="rect">
            <a:avLst/>
          </a:prstGeom>
          <a:solidFill>
            <a:srgbClr val="2AD4EE">
              <a:alpha val="3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1533525" y="5600700"/>
            <a:ext cx="9782175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四要素缺任何一项，它都只是一个</a:t>
            </a:r>
            <a:r>
              <a:rPr lang="zh-CN" sz="1350">
                <a:solidFill>
                  <a:srgbClr val="2AD4EE"/>
                </a:solidFill>
                <a:latin typeface="Source Han Sans SC"/>
                <a:ea typeface="Source Han Sans SC"/>
              </a:rPr>
              <a:t>会聊天的模型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——而不是一个能自己把活干完的程序。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11 / 33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591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Agent = LLM +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工具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记忆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规划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591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让模型从「只会聊天」变成「能干活、会决策、可循环」的程序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685800" y="1143000"/>
            <a:ext cx="10820400" cy="1152525"/>
          </a:xfrm>
          <a:custGeom>
            <a:pathLst>
              <a:path w="1136" h="121">
                <a:moveTo>
                  <a:pt x="0" y="120"/>
                </a:moveTo>
                <a:lnTo>
                  <a:pt x="1136" y="120"/>
                </a:lnTo>
                <a:lnTo>
                  <a:pt x="1136" y="121"/>
                </a:lnTo>
                <a:lnTo>
                  <a:pt x="0" y="121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1885950" y="1219200"/>
            <a:ext cx="2009775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2AD4EE"/>
                </a:solidFill>
                <a:latin typeface="JetBrains Mono"/>
                <a:ea typeface="JetBrains Mono"/>
              </a:rPr>
              <a:t>Agent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4124325" y="1381125"/>
            <a:ext cx="2190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=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4572000" y="1314450"/>
            <a:ext cx="96202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E8EEF9"/>
                </a:solidFill>
                <a:latin typeface="Source Han Sans SC"/>
                <a:ea typeface="Source Han Sans SC"/>
              </a:rPr>
              <a:t>LLM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5686425" y="1390650"/>
            <a:ext cx="2190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+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6057900" y="1314450"/>
            <a:ext cx="10668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E8EEF9"/>
                </a:solidFill>
                <a:latin typeface="Source Han Sans SC"/>
                <a:ea typeface="Source Han Sans SC"/>
              </a:rPr>
              <a:t>工具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7277100" y="1390650"/>
            <a:ext cx="2190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+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7648575" y="1314450"/>
            <a:ext cx="10668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E8EEF9"/>
                </a:solidFill>
                <a:latin typeface="Source Han Sans SC"/>
                <a:ea typeface="Source Han Sans SC"/>
              </a:rPr>
              <a:t>记忆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8867775" y="1390650"/>
            <a:ext cx="2190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+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9239250" y="1314450"/>
            <a:ext cx="10668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E8EEF9"/>
                </a:solidFill>
                <a:latin typeface="Source Han Sans SC"/>
                <a:ea typeface="Source Han Sans SC"/>
              </a:rPr>
              <a:t>规划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685800" y="2495550"/>
            <a:ext cx="2714625" cy="2819400"/>
          </a:xfrm>
          <a:custGeom>
            <a:pathLst>
              <a:path w="285" h="296">
                <a:moveTo>
                  <a:pt x="284" y="0"/>
                </a:moveTo>
                <a:lnTo>
                  <a:pt x="285" y="0"/>
                </a:lnTo>
                <a:lnTo>
                  <a:pt x="285" y="296"/>
                </a:lnTo>
                <a:lnTo>
                  <a:pt x="284" y="296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685800" y="2495550"/>
            <a:ext cx="2466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1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</a:t>
            </a: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大脑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685800" y="2771775"/>
            <a:ext cx="24669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E8EEF9"/>
                </a:solidFill>
                <a:latin typeface="Source Han Sans SC"/>
                <a:ea typeface="Source Han Sans SC"/>
              </a:rPr>
              <a:t>LLM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685800" y="3124200"/>
            <a:ext cx="24669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无状态的推理引擎。它决定「下一步该干什么」，但自己不记得任何事。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3390900" y="2495550"/>
            <a:ext cx="2714625" cy="2819400"/>
          </a:xfrm>
          <a:custGeom>
            <a:pathLst>
              <a:path w="285" h="296">
                <a:moveTo>
                  <a:pt x="284" y="0"/>
                </a:moveTo>
                <a:lnTo>
                  <a:pt x="285" y="0"/>
                </a:lnTo>
                <a:lnTo>
                  <a:pt x="285" y="296"/>
                </a:lnTo>
                <a:lnTo>
                  <a:pt x="284" y="296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3619500" y="2495550"/>
            <a:ext cx="2238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2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</a:t>
            </a: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手脚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3619500" y="2771775"/>
            <a:ext cx="22383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工具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3619500" y="3124200"/>
            <a:ext cx="2238375" cy="914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你写的普通函数。模型只能「说要调用哪个」，执行权始终在你手里。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6096000" y="2495550"/>
            <a:ext cx="2714625" cy="2819400"/>
          </a:xfrm>
          <a:custGeom>
            <a:pathLst>
              <a:path w="285" h="296">
                <a:moveTo>
                  <a:pt x="284" y="0"/>
                </a:moveTo>
                <a:lnTo>
                  <a:pt x="285" y="0"/>
                </a:lnTo>
                <a:lnTo>
                  <a:pt x="285" y="296"/>
                </a:lnTo>
                <a:lnTo>
                  <a:pt x="284" y="296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6324600" y="2495550"/>
            <a:ext cx="2238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3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</a:t>
            </a: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上下文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6324600" y="2771775"/>
            <a:ext cx="22383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记忆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6324600" y="3124200"/>
            <a:ext cx="22383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短期靠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messages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，长期靠向量库。近期带原文，远期压摘要。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9029700" y="2495550"/>
            <a:ext cx="2476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4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</a:t>
            </a: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循环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9029700" y="2771775"/>
            <a:ext cx="2476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规划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9029700" y="3124200"/>
            <a:ext cx="24765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简单任务单循环就够，复杂任务先拆步骤。别一上来就过度设计。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685800" y="5467350"/>
            <a:ext cx="10820400" cy="590550"/>
          </a:xfrm>
          <a:prstGeom prst="roundRect">
            <a:avLst>
              <a:gd name="adj" fmla="val 6452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876300" y="5657850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1371600" y="5629275"/>
            <a:ext cx="9525" cy="266700"/>
          </a:xfrm>
          <a:prstGeom prst="rect">
            <a:avLst/>
          </a:prstGeom>
          <a:solidFill>
            <a:srgbClr val="2AD4EE">
              <a:alpha val="3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1533525" y="5600700"/>
            <a:ext cx="9782175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四要素缺任何一项，它都只是一个</a:t>
            </a:r>
            <a:r>
              <a:rPr lang="zh-CN" sz="1350">
                <a:solidFill>
                  <a:srgbClr val="2AD4EE"/>
                </a:solidFill>
                <a:latin typeface="Source Han Sans SC"/>
                <a:ea typeface="Source Han Sans SC"/>
              </a:rPr>
              <a:t>会聊天的模型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——而不是一个能自己把活干完的程序。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11 / 33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50673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>ReAct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：思考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行动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观察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5067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Reasoning + Acting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：让模型交替输出「思考」与「行动」，直到能回答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685800" y="1143000"/>
            <a:ext cx="3200400" cy="4914900"/>
          </a:xfrm>
          <a:custGeom>
            <a:pathLst>
              <a:path w="336" h="516">
                <a:moveTo>
                  <a:pt x="335" y="0"/>
                </a:moveTo>
                <a:lnTo>
                  <a:pt x="336" y="0"/>
                </a:lnTo>
                <a:lnTo>
                  <a:pt x="336" y="516"/>
                </a:lnTo>
                <a:lnTo>
                  <a:pt x="335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924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REASONING + ACTING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685800" y="1466850"/>
            <a:ext cx="2924175" cy="9334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2100" b="1">
                <a:solidFill>
                  <a:srgbClr val="E8EEF9"/>
                </a:solidFill>
                <a:latin typeface="Source Han Sans SC"/>
                <a:ea typeface="Source Han Sans SC"/>
              </a:rPr>
              <a:t>一段话，</a:t>
            </a:r>
            <a:endParaRPr/>
          </a:p>
          <a:p>
            <a:pPr>
              <a:lnSpc>
                <a:spcPct val="145000"/>
              </a:lnSpc>
            </a:pPr>
            <a:r>
              <a:rPr lang="zh-CN" sz="2100" b="1">
                <a:solidFill>
                  <a:srgbClr val="E8EEF9"/>
                </a:solidFill>
                <a:latin typeface="Source Han Sans SC"/>
                <a:ea typeface="Source Han Sans SC"/>
              </a:rPr>
              <a:t>拆成思考与行动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685800" y="2571750"/>
            <a:ext cx="2924175" cy="1362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模型不再一次性给答案，而是交替输出「我要做什么」和「我调用什么工具」；系统执行后把结果作为</a:t>
            </a:r>
            <a:r>
              <a:rPr lang="en-US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Observation </a:t>
            </a: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喂回去，模型再决定下一步。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685800" y="4105275"/>
            <a:ext cx="7048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781050" y="4143375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Thought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1466850" y="4105275"/>
            <a:ext cx="6286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1562100" y="4143375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Action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2171700" y="4105275"/>
            <a:ext cx="99060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2266950" y="4143375"/>
            <a:ext cx="800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Observation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685800" y="5181600"/>
            <a:ext cx="2924175" cy="876300"/>
          </a:xfrm>
          <a:prstGeom prst="roundRect">
            <a:avLst>
              <a:gd name="adj" fmla="val 4348"/>
            </a:avLst>
          </a:prstGeom>
          <a:solidFill>
            <a:srgbClr val="16233D">
              <a:alpha val="95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838200" y="5314950"/>
            <a:ext cx="26193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没有最大轮数兜底的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Agent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，一次死循环就能烧掉一个月的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token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预算。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4229100" y="1143000"/>
            <a:ext cx="7277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THE LOOP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4229100" y="1685925"/>
            <a:ext cx="2009775" cy="1104900"/>
          </a:xfrm>
          <a:prstGeom prst="roundRect">
            <a:avLst>
              <a:gd name="adj" fmla="val 3448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4400550" y="1838325"/>
            <a:ext cx="17240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思考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4400550" y="2133600"/>
            <a:ext cx="1724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Thought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4400550" y="2381250"/>
            <a:ext cx="17240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我要先查北京天气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238875" y="2114550"/>
            <a:ext cx="41910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650">
                <a:solidFill>
                  <a:srgbClr val="2AD4EE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6657975" y="1685925"/>
            <a:ext cx="2000250" cy="1104900"/>
          </a:xfrm>
          <a:prstGeom prst="roundRect">
            <a:avLst>
              <a:gd name="adj" fmla="val 3448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6829425" y="1838325"/>
            <a:ext cx="1714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行动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6829425" y="213360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Action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6829425" y="2381250"/>
            <a:ext cx="1714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get_weather[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北京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]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8658225" y="2114550"/>
            <a:ext cx="41910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650">
                <a:solidFill>
                  <a:srgbClr val="2AD4EE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9077325" y="1685925"/>
            <a:ext cx="2428875" cy="1104900"/>
          </a:xfrm>
          <a:prstGeom prst="roundRect">
            <a:avLst>
              <a:gd name="adj" fmla="val 3448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9248775" y="1838325"/>
            <a:ext cx="2143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观察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9248775" y="2133600"/>
            <a:ext cx="2143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Observation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9248775" y="2381250"/>
            <a:ext cx="21431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晴，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28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度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4229100" y="3200400"/>
            <a:ext cx="7277100" cy="495300"/>
          </a:xfrm>
          <a:prstGeom prst="roundRect">
            <a:avLst>
              <a:gd name="adj" fmla="val 7692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45000"/>
              </a:srgbClr>
            </a:solidFill>
            <a:prstDash val="dash"/>
          </a:ln>
        </p:spPr>
        <p:txBody>
          <a:bodyPr/>
          <a:p>
            <a:pPr/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4400550" y="333375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AD4EE"/>
                </a:solidFill>
                <a:latin typeface="Source Han Sans SC"/>
                <a:ea typeface="Source Han Sans SC"/>
              </a:rPr>
              <a:t>↺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4629150" y="3352800"/>
            <a:ext cx="4162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还没拿到答案</a:t>
            </a:r>
            <a:r>
              <a:rPr lang="en-US" sz="1200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200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带着</a:t>
            </a:r>
            <a:r>
              <a:rPr lang="en-US" sz="1200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 Observation </a:t>
            </a:r>
            <a:r>
              <a:rPr lang="zh-CN" sz="1200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回到「思考」，进入下一轮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4229100" y="4105275"/>
            <a:ext cx="2095500" cy="800100"/>
          </a:xfrm>
          <a:prstGeom prst="roundRect">
            <a:avLst>
              <a:gd name="adj" fmla="val 4762"/>
            </a:avLst>
          </a:prstGeom>
          <a:solidFill>
            <a:srgbClr val="2AD4EE">
              <a:alpha val="22000"/>
            </a:srgbClr>
          </a:solidFill>
          <a:ln w="12700">
            <a:solidFill>
              <a:srgbClr val="2AD4EE">
                <a:alpha val="4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5067300" y="42862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B1220"/>
                </a:solidFill>
                <a:latin typeface="Source Han Sans SC"/>
                <a:ea typeface="Source Han Sans SC"/>
              </a:rPr>
              <a:t>回答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5057775" y="4581525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B1220">
                    <a:alpha val="72000"/>
                  </a:srgbClr>
                </a:solidFill>
                <a:latin typeface="JetBrains Mono"/>
                <a:ea typeface="JetBrains Mono"/>
              </a:rPr>
              <a:t>Answer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6496050" y="4410075"/>
            <a:ext cx="5010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证据足够</a:t>
            </a:r>
            <a:r>
              <a:rPr lang="en-US" sz="1200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200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输出最终答案，退出循环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4229100" y="5334000"/>
            <a:ext cx="7277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终止条件</a:t>
            </a:r>
            <a:r>
              <a:rPr lang="en-US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 xml:space="preserve"> · </a:t>
            </a:r>
            <a:r>
              <a:rPr lang="zh-CN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四个都要有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4229100" y="5600700"/>
            <a:ext cx="1752600" cy="457200"/>
          </a:xfrm>
          <a:prstGeom prst="roundRect">
            <a:avLst>
              <a:gd name="adj" fmla="val 8333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4572000" y="5743575"/>
            <a:ext cx="1066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模型输出</a:t>
            </a: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Answer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6076950" y="5600700"/>
            <a:ext cx="1743075" cy="457200"/>
          </a:xfrm>
          <a:prstGeom prst="roundRect">
            <a:avLst>
              <a:gd name="adj" fmla="val 8333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6667500" y="57435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最大轮数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7915275" y="5600700"/>
            <a:ext cx="1752600" cy="457200"/>
          </a:xfrm>
          <a:prstGeom prst="roundRect">
            <a:avLst>
              <a:gd name="adj" fmla="val 8333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8648700" y="574357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超时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9763125" y="5600700"/>
            <a:ext cx="1743075" cy="457200"/>
          </a:xfrm>
          <a:prstGeom prst="roundRect">
            <a:avLst>
              <a:gd name="adj" fmla="val 8333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10296525" y="5743575"/>
            <a:ext cx="676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token 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预算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12 / 33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工具与记忆：手脚和上下文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886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真正干活的地方，和真正决定成本的地方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685800" y="1143000"/>
            <a:ext cx="6086475" cy="4914900"/>
          </a:xfrm>
          <a:custGeom>
            <a:pathLst>
              <a:path w="639" h="516">
                <a:moveTo>
                  <a:pt x="638" y="0"/>
                </a:moveTo>
                <a:lnTo>
                  <a:pt x="639" y="0"/>
                </a:lnTo>
                <a:lnTo>
                  <a:pt x="639" y="516"/>
                </a:lnTo>
                <a:lnTo>
                  <a:pt x="638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17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1190625"/>
            <a:ext cx="171450" cy="171450"/>
          </a:xfrm>
          <a:prstGeom prst="rect">
            <a:avLst/>
          </a:prstGeom>
          <a:ln/>
        </p:spPr>
      </p:pic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952500" y="1143000"/>
            <a:ext cx="1047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工具：手脚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2095500" y="11906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TOOLS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685800" y="1495425"/>
            <a:ext cx="5762625" cy="1028700"/>
          </a:xfrm>
          <a:custGeom>
            <a:pathLst>
              <a:path w="605" h="108">
                <a:moveTo>
                  <a:pt x="0" y="107"/>
                </a:moveTo>
                <a:lnTo>
                  <a:pt x="605" y="107"/>
                </a:lnTo>
                <a:lnTo>
                  <a:pt x="605" y="108"/>
                </a:lnTo>
                <a:lnTo>
                  <a:pt x="0" y="108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685800" y="1590675"/>
            <a:ext cx="323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1162050" y="1590675"/>
            <a:ext cx="5286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小而专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1162050" y="1857375"/>
            <a:ext cx="52863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 xml:space="preserve">search_order + refund_order </a:t>
            </a:r>
            <a:r>
              <a:rPr lang="zh-CN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优于</a:t>
            </a:r>
            <a:r>
              <a:rPr lang="en-US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 xml:space="preserve"> handle_anything</a:t>
            </a:r>
            <a:r>
              <a:rPr lang="zh-CN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。一个工具干一件事，模型才用得准。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685800" y="2952750"/>
            <a:ext cx="5762625" cy="752475"/>
          </a:xfrm>
          <a:custGeom>
            <a:pathLst>
              <a:path w="605" h="79">
                <a:moveTo>
                  <a:pt x="0" y="78"/>
                </a:moveTo>
                <a:lnTo>
                  <a:pt x="605" y="78"/>
                </a:lnTo>
                <a:lnTo>
                  <a:pt x="605" y="79"/>
                </a:lnTo>
                <a:lnTo>
                  <a:pt x="0" y="79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685800" y="3048000"/>
            <a:ext cx="323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2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1162050" y="3048000"/>
            <a:ext cx="5286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描述大于实现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1162050" y="3314700"/>
            <a:ext cx="52863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 xml:space="preserve">description </a:t>
            </a:r>
            <a:r>
              <a:rPr lang="zh-CN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就是给模型看的</a:t>
            </a:r>
            <a:r>
              <a:rPr lang="en-US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 xml:space="preserve"> API </a:t>
            </a:r>
            <a:r>
              <a:rPr lang="zh-CN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文档。模型选错工具，</a:t>
            </a:r>
            <a:r>
              <a:rPr lang="en-US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 xml:space="preserve">90% </a:t>
            </a:r>
            <a:r>
              <a:rPr lang="zh-CN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的原因是这里写得烂。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685800" y="4143375"/>
            <a:ext cx="5762625" cy="752475"/>
          </a:xfrm>
          <a:custGeom>
            <a:pathLst>
              <a:path w="605" h="79">
                <a:moveTo>
                  <a:pt x="0" y="78"/>
                </a:moveTo>
                <a:lnTo>
                  <a:pt x="605" y="78"/>
                </a:lnTo>
                <a:lnTo>
                  <a:pt x="605" y="79"/>
                </a:lnTo>
                <a:lnTo>
                  <a:pt x="0" y="79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685800" y="4238625"/>
            <a:ext cx="323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1162050" y="4238625"/>
            <a:ext cx="5286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参数先校验再执行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1162050" y="4505325"/>
            <a:ext cx="52863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模型真的会瞎传参数，类型与范围都要验；「合法」也不等于「安全」。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685800" y="5419725"/>
            <a:ext cx="323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4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1162050" y="5419725"/>
            <a:ext cx="5286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失败要回喂，不要吞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1162050" y="5686425"/>
            <a:ext cx="52863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工具抛错别让程序崩，把报错拼回上下文，让模型下一轮自己调整。</a:t>
            </a:r>
            <a:endParaRPr/>
          </a:p>
        </p:txBody>
      </p:sp>
      <p:pic>
        <p:nvPicPr>
          <p:cNvPr id="19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105650" y="1190625"/>
            <a:ext cx="171450" cy="171450"/>
          </a:xfrm>
          <a:prstGeom prst="rect">
            <a:avLst/>
          </a:prstGeom>
          <a:ln/>
        </p:spPr>
      </p:pic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7372350" y="1143000"/>
            <a:ext cx="1257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记忆：上下文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8724900" y="1190625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MEMORY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7105650" y="1590675"/>
            <a:ext cx="885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近期</a:t>
            </a: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原文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8086725" y="1590675"/>
            <a:ext cx="1809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system + </a:t>
            </a:r>
            <a:r>
              <a:rPr lang="zh-CN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历史</a:t>
            </a:r>
            <a:r>
              <a:rPr lang="en-US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本轮</a:t>
            </a:r>
            <a:r>
              <a:rPr lang="en-US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messages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7105650" y="1857375"/>
            <a:ext cx="4400550" cy="762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2AD4EE"/>
              </a:gs>
              <a:gs pos="100000">
                <a:srgbClr val="2AD4EE">
                  <a:alpha val="15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7105650" y="2066925"/>
            <a:ext cx="885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远期</a:t>
            </a: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摘要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8086725" y="2066925"/>
            <a:ext cx="1647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超窗裁剪</a:t>
            </a:r>
            <a:r>
              <a:rPr lang="en-US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/ compaction </a:t>
            </a:r>
            <a:r>
              <a:rPr lang="zh-CN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压缩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7105650" y="2333625"/>
            <a:ext cx="3343275" cy="762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2AD4EE"/>
              </a:gs>
              <a:gs pos="100000">
                <a:srgbClr val="2AD4EE">
                  <a:alpha val="15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7105650" y="2543175"/>
            <a:ext cx="885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事实</a:t>
            </a: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卡片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8086725" y="2543175"/>
            <a:ext cx="1333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结构化字段，稳定可查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7105650" y="2809875"/>
            <a:ext cx="2371725" cy="762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2AD4EE"/>
              </a:gs>
              <a:gs pos="100000">
                <a:srgbClr val="2AD4EE">
                  <a:alpha val="15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7105650" y="3019425"/>
            <a:ext cx="1047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知识</a:t>
            </a: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向量库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8248650" y="3019425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Embedding </a:t>
            </a:r>
            <a:r>
              <a:rPr lang="zh-CN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检索</a:t>
            </a:r>
            <a:r>
              <a:rPr lang="en-US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topK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7105650" y="3286125"/>
            <a:ext cx="1495425" cy="762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2AD4EE"/>
              </a:gs>
              <a:gs pos="100000">
                <a:srgbClr val="2AD4EE">
                  <a:alpha val="15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7105650" y="4838700"/>
            <a:ext cx="4400550" cy="1219200"/>
          </a:xfrm>
          <a:prstGeom prst="roundRect">
            <a:avLst>
              <a:gd name="adj" fmla="val 3125"/>
            </a:avLst>
          </a:prstGeom>
          <a:solidFill>
            <a:srgbClr val="16233D">
              <a:alpha val="95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7277100" y="4991100"/>
            <a:ext cx="4057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2AD4EE"/>
                </a:solidFill>
                <a:latin typeface="JetBrains Mono"/>
                <a:ea typeface="JetBrains Mono"/>
              </a:rPr>
              <a:t>口诀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7277100" y="5257800"/>
            <a:ext cx="4057650" cy="6477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近期带原文，远期压摘要；</a:t>
            </a:r>
            <a:endParaRPr/>
          </a:p>
          <a:p>
            <a:pPr>
              <a:lnSpc>
                <a:spcPct val="165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事实存卡片，知识进向量库。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13 / 33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2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0481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学习路径：五个阶段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0481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从「手写一遍」到「工程化」，每个阶段解决一类新问题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695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LEARNING PATH · 5 STAGES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9801225" y="1143000"/>
            <a:ext cx="1704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难度与工程量</a:t>
            </a:r>
            <a:r>
              <a:rPr lang="en-US" sz="112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: </a:t>
            </a:r>
            <a:r>
              <a:rPr lang="zh-CN" sz="112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依次递增</a:t>
            </a:r>
            <a:r>
              <a:rPr lang="en-US" sz="112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→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685800" y="4152900"/>
            <a:ext cx="6362700" cy="1905000"/>
          </a:xfrm>
          <a:custGeom>
            <a:pathLst>
              <a:path w="668" h="200">
                <a:moveTo>
                  <a:pt x="667" y="0"/>
                </a:moveTo>
                <a:lnTo>
                  <a:pt x="668" y="0"/>
                </a:lnTo>
                <a:lnTo>
                  <a:pt x="668" y="200"/>
                </a:lnTo>
                <a:lnTo>
                  <a:pt x="667" y="200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685800" y="4152900"/>
            <a:ext cx="6115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为什么顺序不能颠倒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685800" y="457200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828675" y="4495800"/>
            <a:ext cx="59721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阶段</a:t>
            </a: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1–2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是「看穿黑盒」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：不亲手拼一次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Prompt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，你永远不知道模型为什么不听话。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685800" y="495300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828675" y="4876800"/>
            <a:ext cx="59721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阶段</a:t>
            </a: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3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是「成本与记忆」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：上下文是所有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问题的共同源头。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685800" y="533400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828675" y="5257800"/>
            <a:ext cx="59721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阶段</a:t>
            </a: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4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是「边界」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：真实世界的错误，几乎都发生在工具与数据的接缝处。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685800" y="571500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828675" y="5638800"/>
            <a:ext cx="59721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阶段</a:t>
            </a: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5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才轮到工程化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：没有前四步的直觉，框架只会让你更糊涂。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7267575" y="4152900"/>
            <a:ext cx="4238625" cy="1905000"/>
          </a:xfrm>
          <a:prstGeom prst="roundRect">
            <a:avLst>
              <a:gd name="adj" fmla="val 2000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7477125" y="4391025"/>
            <a:ext cx="38195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7477125" y="4714875"/>
            <a:ext cx="3819525" cy="1114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425">
                <a:solidFill>
                  <a:srgbClr val="E8EEF9"/>
                </a:solidFill>
                <a:latin typeface="Source Han Sans SC"/>
                <a:ea typeface="Source Han Sans SC"/>
              </a:rPr>
              <a:t>先手写，再上框架。</a:t>
            </a:r>
            <a:endParaRPr/>
          </a:p>
          <a:p>
            <a:pPr>
              <a:lnSpc>
                <a:spcPct val="170000"/>
              </a:lnSpc>
            </a:pPr>
            <a:r>
              <a:rPr lang="zh-CN" sz="1425">
                <a:solidFill>
                  <a:srgbClr val="E8EEF9"/>
                </a:solidFill>
                <a:latin typeface="Source Han Sans SC"/>
                <a:ea typeface="Source Han Sans SC"/>
              </a:rPr>
              <a:t>跳过手写阶段，出问题时你连</a:t>
            </a:r>
            <a:r>
              <a:rPr lang="zh-CN" sz="1425">
                <a:solidFill>
                  <a:srgbClr val="2AD4EE"/>
                </a:solidFill>
                <a:latin typeface="Source Han Sans SC"/>
                <a:ea typeface="Source Han Sans SC"/>
              </a:rPr>
              <a:t>日志该看哪一行</a:t>
            </a:r>
            <a:r>
              <a:rPr lang="zh-CN" sz="1425">
                <a:solidFill>
                  <a:srgbClr val="E8EEF9"/>
                </a:solidFill>
                <a:latin typeface="Source Han Sans SC"/>
                <a:ea typeface="Source Han Sans SC"/>
              </a:rPr>
              <a:t>都不知道。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14 / 33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685800" y="154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25400">
            <a:solidFill>
              <a:srgbClr val="2AD4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752475" y="160972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685800" y="1981200"/>
            <a:ext cx="2057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手写</a:t>
            </a: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ReAct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685800" y="2324100"/>
            <a:ext cx="2057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自己拼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Prompt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、自己正则解析输出，把循环每个环节摸一遍。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704850" y="3200400"/>
            <a:ext cx="2057400" cy="371475"/>
          </a:xfrm>
          <a:prstGeom prst="rect">
            <a:avLst/>
          </a:prstGeom>
          <a:solidFill>
            <a:srgbClr val="16233D">
              <a:alpha val="9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685800" y="3200400"/>
            <a:ext cx="2076450" cy="371475"/>
          </a:xfrm>
          <a:custGeom>
            <a:pathLst>
              <a:path w="218" h="39">
                <a:moveTo>
                  <a:pt x="0" y="0"/>
                </a:moveTo>
                <a:lnTo>
                  <a:pt x="2" y="0"/>
                </a:lnTo>
                <a:lnTo>
                  <a:pt x="2" y="39"/>
                </a:lnTo>
                <a:lnTo>
                  <a:pt x="0" y="39"/>
                </a:ln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800100" y="3276600"/>
            <a:ext cx="18478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产出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一个能跑的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while </a:t>
            </a: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循环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2876550" y="154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25400">
            <a:solidFill>
              <a:srgbClr val="2AD4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2943225" y="160972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2876550" y="1981200"/>
            <a:ext cx="2057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原生</a:t>
            </a: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FC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2876550" y="2324100"/>
            <a:ext cx="20574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改用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JSON Schema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声明工具，模型直接返回结构化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tool_calls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2895600" y="3200400"/>
            <a:ext cx="2057400" cy="371475"/>
          </a:xfrm>
          <a:prstGeom prst="rect">
            <a:avLst/>
          </a:prstGeom>
          <a:solidFill>
            <a:srgbClr val="16233D">
              <a:alpha val="9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2876550" y="3200400"/>
            <a:ext cx="2076450" cy="371475"/>
          </a:xfrm>
          <a:custGeom>
            <a:pathLst>
              <a:path w="218" h="39">
                <a:moveTo>
                  <a:pt x="0" y="0"/>
                </a:moveTo>
                <a:lnTo>
                  <a:pt x="2" y="0"/>
                </a:lnTo>
                <a:lnTo>
                  <a:pt x="2" y="39"/>
                </a:lnTo>
                <a:lnTo>
                  <a:pt x="0" y="39"/>
                </a:ln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2990850" y="3276600"/>
            <a:ext cx="18478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产出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稳定的工具契约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5067300" y="154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25400">
            <a:solidFill>
              <a:srgbClr val="2AD4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5133975" y="160972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5067300" y="1981200"/>
            <a:ext cx="2057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记忆与</a:t>
            </a: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RAG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5067300" y="2324100"/>
            <a:ext cx="2057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上下文裁剪、摘要压缩、向量检索，让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记得住事。</a:t>
            </a:r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5086350" y="3200400"/>
            <a:ext cx="2057400" cy="371475"/>
          </a:xfrm>
          <a:prstGeom prst="rect">
            <a:avLst/>
          </a:prstGeom>
          <a:solidFill>
            <a:srgbClr val="16233D">
              <a:alpha val="9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5067300" y="3200400"/>
            <a:ext cx="2076450" cy="371475"/>
          </a:xfrm>
          <a:custGeom>
            <a:pathLst>
              <a:path w="218" h="39">
                <a:moveTo>
                  <a:pt x="0" y="0"/>
                </a:moveTo>
                <a:lnTo>
                  <a:pt x="2" y="0"/>
                </a:lnTo>
                <a:lnTo>
                  <a:pt x="2" y="39"/>
                </a:lnTo>
                <a:lnTo>
                  <a:pt x="0" y="39"/>
                </a:ln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5181600" y="3276600"/>
            <a:ext cx="18478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产出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可控的上下文预算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7258050" y="154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25400">
            <a:solidFill>
              <a:srgbClr val="2AD4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7324725" y="160972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7258050" y="1981200"/>
            <a:ext cx="2057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多工具实战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7258050" y="2324100"/>
            <a:ext cx="2057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工具变多、结果变脏、失败变常态，开始处理真实的边界。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7277100" y="3200400"/>
            <a:ext cx="2057400" cy="371475"/>
          </a:xfrm>
          <a:prstGeom prst="rect">
            <a:avLst/>
          </a:prstGeom>
          <a:solidFill>
            <a:srgbClr val="16233D">
              <a:alpha val="9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7258050" y="3200400"/>
            <a:ext cx="2076450" cy="371475"/>
          </a:xfrm>
          <a:custGeom>
            <a:pathLst>
              <a:path w="218" h="39">
                <a:moveTo>
                  <a:pt x="0" y="0"/>
                </a:moveTo>
                <a:lnTo>
                  <a:pt x="2" y="0"/>
                </a:lnTo>
                <a:lnTo>
                  <a:pt x="2" y="39"/>
                </a:lnTo>
                <a:lnTo>
                  <a:pt x="0" y="39"/>
                </a:ln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7372350" y="3276600"/>
            <a:ext cx="18478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产出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敢给业务用的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Agent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9448800" y="154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25400">
            <a:solidFill>
              <a:srgbClr val="2AD4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9515475" y="160972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05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9448800" y="1981200"/>
            <a:ext cx="2057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框架与工程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9448800" y="2324100"/>
            <a:ext cx="2057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上框架、做观测、加护栏、建评测，从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demo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走到系统。</a:t>
            </a:r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9467850" y="3200400"/>
            <a:ext cx="2057400" cy="371475"/>
          </a:xfrm>
          <a:prstGeom prst="rect">
            <a:avLst/>
          </a:prstGeom>
          <a:solidFill>
            <a:srgbClr val="16233D">
              <a:alpha val="9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9448800" y="3200400"/>
            <a:ext cx="2076450" cy="371475"/>
          </a:xfrm>
          <a:custGeom>
            <a:pathLst>
              <a:path w="218" h="39">
                <a:moveTo>
                  <a:pt x="0" y="0"/>
                </a:moveTo>
                <a:lnTo>
                  <a:pt x="2" y="0"/>
                </a:lnTo>
                <a:lnTo>
                  <a:pt x="2" y="39"/>
                </a:lnTo>
                <a:lnTo>
                  <a:pt x="0" y="39"/>
                </a:ln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9563100" y="3276600"/>
            <a:ext cx="18478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产出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可维护的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系统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800100" y="1666875"/>
            <a:ext cx="10591800" cy="19050"/>
          </a:xfrm>
          <a:prstGeom prst="rect">
            <a:avLst/>
          </a:prstGeom>
          <a:gradFill>
            <a:gsLst>
              <a:gs pos="0">
                <a:srgbClr val="2AD4EE">
                  <a:alpha val="85000"/>
                </a:srgbClr>
              </a:gs>
              <a:gs pos="100000">
                <a:srgbClr val="2AD4EE">
                  <a:alpha val="18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75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0;    {/* A 区 · 标题块 */}&#10;    &lt;Box style={{ height: 100, flexDirection: 'row', gap: 16, alignItems: 'flex-start', paddingTop: 6 }}&gt;&#10;        &lt;Box style={{ width: 4, height: 36, background: '#2AD4EE', marginTop: 5 }} /&gt;&#10;        &lt;Box style={{ flexDirection: 'column' }}&gt;&#10;            &lt;Text style={{ fontSize: 34, fontWeight: 'bold', color: '#E8EEF9' }}&gt;逐层拆解：每层到底要写什么&lt;/Text&gt;&#10;            &lt;Text style={{ marginTop: 8, fontSize: 17, color: 'rgba(232,238,249,0.52)' }}&gt;少写一层，问题就会以最难查的方式冒出来&lt;/Text&gt;&#10;        &lt;/Box&gt;&#10;    &lt;/Box&gt;&#10;&#10;    {/* B 区 · 左标题 + 右内容 */}&#10;    &lt;Box style={{ height: 516, flexDirection: 'row', gap: 34 }}&gt;&#10;        {/* 左：标题栏 */}&#10;        &lt;Box style={{ width: 292, flexDirection: 'column', paddingRight: 30, borderRight: '1px solid rgba(232,238,249,0.12)' }}&gt;&#10;            &lt;Text style={{ fontSize: 15, color: '#2AD4EE', letterSpacing: 3, fontFamily: '&quot;JetBrains Mono&quot;, &quot;Cascadia Mono&quot;, Consolas, monospace' }}&gt;LAYER BY LAYER&lt;/Text&gt;&#10;            &lt;Text style={{ marginTop: 18, fontSize: 26, fontWeight: 'bold', color: '#E8EEF9', lineHeight: 1.45 }}&gt;&#10;                把七层&#10;                &lt;br /&gt;&#10;                摊成一张清单&#10;            &lt;/Text&gt;&#10;            &lt;Text style={{ marginTop: 18, fontSize: 16, color: 'rgba(232,238,249,0.72)', lineHeight: 1.75 }}&gt;&#10;                每一层都有必须落地的动作项。它们不写进代码，就会在某个凌晨的线上事故里，以最难查的方式出现。&#10;            &lt;/Text&gt;&#10;            &lt;Box style={{ marginTop: 'auto', paddingTop: 16, paddingBottom: 16, paddingLeft: 16, paddingRight: 16, background: 'rgba(42,212,238,0.08)', border: '1px solid rgba(42,212,238,0.22)', borderRadius: 4 }}&gt;&#10;                &lt;Text style={{ fontSize: 14, color: '#2AD4EE', letterSpacing: 3, fontFamily: '&quot;JetBrains Mono&quot;, &quot;Cascadia Mono&quot;, Consolas, monospace' }}&gt;所以&lt;/Text&gt;&#10;                &lt;Text style={{ marginTop: 10, fontSize: 16, color: '#E8EEF9', lineHeight: 1.7 }}&gt;&#10;                    ①~⑤ 写不好，系统跑不起来；&#10;                    &lt;br /&gt;&#10;                    ⑥~⑦ 不写，系统跑起来之后你不敢让人用。&#10;                &lt;/Text&gt;&#10;            &lt;/Box&gt;&#10;        &lt;/Box&gt;&#10;&#10;        {/* 右：7 层动作项 */}&#10;        &lt;Box style={{ flex: 1, flexDirection: 'row', gap: 24 }}&gt;&#10;            {[&#10;                [&#10;                    { n: '①', t: '模型', i: 'microchip', d: '密钥与多模型切换 · 超时重试与降级 · 流式输出' },&#10;                    { n: '②', t: '提示', i: 'comment-dots', d: '角色 / 目标 / 边界 / 输出格式 · 少样本示例 · 系统提示版本化' },&#10;                    { n: '③', t: '工具', i: 'wrench', d: 'JSON Schema 描述 · 参数类型与范围校验 · 错误信息回喂' },&#10;                    { n: '④', t: '记忆', i: 'layer-group', d: '上下文裁剪与摘要压缩 · 事实卡片 · 向量检索 topK' },&#10;                ],&#10;                [&#10;                    { n: '⑤', t: '控制', i: 'arrows-rotate', d: '四个终止条件：Answer / 最大轮数 / 超时 / token 预算' },&#10;                    { n: '⑥', t: '护栏', i: 'shield-halved', d: '输入审查 · 输出脱敏 · 高危操作二次确认' },&#10;                    { n: '⑦', t: '运营', i: 'chart-line', d: '全链路日志与耗时 · token 成本统计 · 离线评测集' },&#10;                ],&#10;            ].map((col, ci) =&gt; (&#10;                &lt;Box key={ci} style={{ flex: 1, flexDirection: 'column', gap: 10 }}&gt;&#10;                    {col.map((r, i) =&gt; (&#10;                        &lt;Box key={i} style={{ flex: 1, flexDirection: 'row', gap: 12, alignItems: 'center', paddingTop: 12, paddingBottom: 12, paddingLeft: 14, paddingRight: 14, background: 'rgba(22,35,61,0.85)', borderLeft: '2px solid rgba(42,212,238,0.55)', borderRadius: 3 }}&gt;&#10;                            &lt;FAIcon name={r.i} style={{ fill: '#2AD4EE', width: 17, height: 17 }} /&gt;&#10;                            &lt;Box style={{ flexDirection: 'column', flex: 1 }}&gt;&#10;                                &lt;Box style={{ flexDirection: 'row', alignItems: 'baseline', gap: 8 }}&gt;&#10;                                    &lt;Text style={{ fontSize: 15, color: '#2AD4EE', fontFamily: '&quot;JetBrains Mono&quot;, &quot;Cascadia Mono&quot;, Consolas, monospace' }}&gt;{r.n}&lt;/Text&gt;&#10;                                    &lt;Text style={{ fontSize: 19, fontWeight: 'bold', color: '#E8EEF9' }}&gt;{r.t}&lt;/Text&gt;&#10;                                &lt;/Box&gt;&#10;                                &lt;Text style={{ marginTop: 6, fontSize: 13.5, color: 'rgba(232,238,249,0.62)', lineHeight: 1.6 }}&gt;{r.d}&lt;/Text&gt;&#10;                            &lt;/Box&gt;&#10;                        &lt;/Box&gt;&#10;                    ))}&#10;                &lt;/Box&gt;&#10;            ))}&#10;        &lt;/Box&gt;&#10;    &lt;/Box&gt;&#10;&#10;    {/* C 区 · 页脚 */}&#10;    &lt;Box style={{ height: 40, flexDirection: 'row', alignItems: 'flex-end', justifyContent: 'space-between' }}&gt;&#10;        &lt;Text style={{ fontSize: 14, color: 'rgba(232,238,249,0.42)' }}&gt;从 LLM 到 Agent 再到 Pi Agent&lt;/Text&gt;&#10;        &lt;Text style={{ fontSize: 14, color: 'rgba(232,238,249,0.42)', fontFamily: '&quot;JetBrains Mono&quot;, &quot;Cascadia Mono&quot;, Consolas, monospace' }}&gt;16 / 3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277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逐层拆解：每层到底要写什么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210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少写一层，问题就会以最难查的方式冒出来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685800" y="1143000"/>
            <a:ext cx="2781300" cy="4914900"/>
          </a:xfrm>
          <a:custGeom>
            <a:pathLst>
              <a:path w="292" h="516">
                <a:moveTo>
                  <a:pt x="291" y="0"/>
                </a:moveTo>
                <a:lnTo>
                  <a:pt x="292" y="0"/>
                </a:lnTo>
                <a:lnTo>
                  <a:pt x="292" y="516"/>
                </a:lnTo>
                <a:lnTo>
                  <a:pt x="291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486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LAYER BY LAYER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685800" y="1485900"/>
            <a:ext cx="2486025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把七层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摊成一张清单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685800" y="2524125"/>
            <a:ext cx="2486025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每一层都有必须落地的动作项。它们不写进代码，就会在某个凌晨的线上事故里，以最难查的方式出现。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685800" y="4562475"/>
            <a:ext cx="2486025" cy="1495425"/>
          </a:xfrm>
          <a:prstGeom prst="roundRect">
            <a:avLst>
              <a:gd name="adj" fmla="val 2548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838200" y="4714875"/>
            <a:ext cx="2181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838200" y="4972050"/>
            <a:ext cx="218122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①~⑤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写不好，系统跑不起来；</a:t>
            </a:r>
            <a:endParaRPr/>
          </a:p>
          <a:p>
            <a:pPr>
              <a:lnSpc>
                <a:spcPct val="170000"/>
              </a:lnSpc>
            </a:pP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⑥~⑦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不写，系统跑起来之后你不敢让人用。</a:t>
            </a:r>
            <a:endParaRPr/>
          </a:p>
        </p:txBody>
      </p:sp>
      <p:sp>
        <p:nvSpPr>
          <p:cNvPr id="287" name=""/>
          <p:cNvSpPr/>
          <p:nvPr/>
        </p:nvSpPr>
        <p:spPr>
          <a:xfrm rot="0" flipH="0" flipV="0">
            <a:off x="3810000" y="1143000"/>
            <a:ext cx="3743325" cy="1038225"/>
          </a:xfrm>
          <a:prstGeom prst="roundRect">
            <a:avLst>
              <a:gd name="adj" fmla="val 2752"/>
            </a:avLst>
          </a:prstGeom>
          <a:solidFill>
            <a:srgbClr val="16233D">
              <a:alpha val="85000"/>
            </a:srgbClr>
          </a:solidFill>
          <a:ln/>
        </p:spPr>
        <p:txBody>
          <a:bodyPr/>
          <a:p/>
        </p:txBody>
      </p:sp>
      <p:sp>
        <p:nvSpPr>
          <p:cNvPr id="288" name=""/>
          <p:cNvSpPr/>
          <p:nvPr/>
        </p:nvSpPr>
        <p:spPr>
          <a:xfrm rot="0" flipH="0" flipV="0">
            <a:off x="3810000" y="1143000"/>
            <a:ext cx="3743325" cy="1038225"/>
          </a:xfrm>
          <a:custGeom>
            <a:pathLst>
              <a:path w="393" h="109">
                <a:moveTo>
                  <a:pt x="3" y="0"/>
                </a:moveTo>
                <a:cubicBezTo>
                  <a:pt x="2" y="0"/>
                  <a:pt x="2" y="0"/>
                  <a:pt x="2" y="1"/>
                </a:cubicBezTo>
                <a:lnTo>
                  <a:pt x="2" y="108"/>
                </a:lnTo>
                <a:cubicBezTo>
                  <a:pt x="2" y="108"/>
                  <a:pt x="2" y="109"/>
                  <a:pt x="3" y="109"/>
                </a:cubicBezTo>
                <a:cubicBezTo>
                  <a:pt x="1" y="109"/>
                  <a:pt x="0" y="108"/>
                  <a:pt x="0" y="106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/>
        </p:txBody>
      </p:sp>
      <p:pic>
        <p:nvPicPr>
          <p:cNvPr id="28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943350" y="1581150"/>
            <a:ext cx="161925" cy="161925"/>
          </a:xfrm>
          <a:prstGeom prst="rect">
            <a:avLst/>
          </a:prstGeom>
          <a:ln/>
        </p:spPr>
      </p:pic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4219575" y="1400175"/>
            <a:ext cx="85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AD4EE"/>
                </a:solidFill>
                <a:latin typeface="JetBrains Mono"/>
                <a:ea typeface="JetBrains Mono"/>
              </a:rPr>
              <a:t>①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4381500" y="1400175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模型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4219575" y="1676400"/>
            <a:ext cx="318135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密钥与多模型切换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超时重试与降级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流式输出</a:t>
            </a:r>
            <a:endParaRPr/>
          </a:p>
        </p:txBody>
      </p:sp>
      <p:sp>
        <p:nvSpPr>
          <p:cNvPr id="293" name=""/>
          <p:cNvSpPr/>
          <p:nvPr/>
        </p:nvSpPr>
        <p:spPr>
          <a:xfrm rot="0" flipH="0" flipV="0">
            <a:off x="3810000" y="2276475"/>
            <a:ext cx="3743325" cy="1276350"/>
          </a:xfrm>
          <a:prstGeom prst="roundRect">
            <a:avLst>
              <a:gd name="adj" fmla="val 2239"/>
            </a:avLst>
          </a:prstGeom>
          <a:solidFill>
            <a:srgbClr val="16233D">
              <a:alpha val="85000"/>
            </a:srgbClr>
          </a:solidFill>
          <a:ln/>
        </p:spPr>
        <p:txBody>
          <a:bodyPr/>
          <a:p/>
        </p:txBody>
      </p:sp>
      <p:sp>
        <p:nvSpPr>
          <p:cNvPr id="294" name=""/>
          <p:cNvSpPr/>
          <p:nvPr/>
        </p:nvSpPr>
        <p:spPr>
          <a:xfrm rot="0" flipH="0" flipV="0">
            <a:off x="3810000" y="2276475"/>
            <a:ext cx="3743325" cy="1276350"/>
          </a:xfrm>
          <a:custGeom>
            <a:pathLst>
              <a:path w="393" h="134">
                <a:moveTo>
                  <a:pt x="3" y="0"/>
                </a:moveTo>
                <a:cubicBezTo>
                  <a:pt x="2" y="0"/>
                  <a:pt x="2" y="0"/>
                  <a:pt x="2" y="1"/>
                </a:cubicBezTo>
                <a:lnTo>
                  <a:pt x="2" y="133"/>
                </a:lnTo>
                <a:cubicBezTo>
                  <a:pt x="2" y="133"/>
                  <a:pt x="2" y="134"/>
                  <a:pt x="3" y="134"/>
                </a:cubicBezTo>
                <a:cubicBezTo>
                  <a:pt x="1" y="134"/>
                  <a:pt x="0" y="133"/>
                  <a:pt x="0" y="13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/>
        </p:txBody>
      </p:sp>
      <p:pic>
        <p:nvPicPr>
          <p:cNvPr id="29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943350" y="2838450"/>
            <a:ext cx="161925" cy="161925"/>
          </a:xfrm>
          <a:prstGeom prst="rect">
            <a:avLst/>
          </a:prstGeom>
          <a:ln/>
        </p:spPr>
      </p:pic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4219575" y="2533650"/>
            <a:ext cx="85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AD4EE"/>
                </a:solidFill>
                <a:latin typeface="JetBrains Mono"/>
                <a:ea typeface="JetBrains Mono"/>
              </a:rPr>
              <a:t>②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4381500" y="2533650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提示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4219575" y="2809875"/>
            <a:ext cx="31813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角色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目标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边界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输出格式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少样本示例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系统提示版本化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3810000" y="3648075"/>
            <a:ext cx="3743325" cy="1285875"/>
          </a:xfrm>
          <a:prstGeom prst="roundRect">
            <a:avLst>
              <a:gd name="adj" fmla="val 2222"/>
            </a:avLst>
          </a:prstGeom>
          <a:solidFill>
            <a:srgbClr val="16233D">
              <a:alpha val="85000"/>
            </a:srgbClr>
          </a:solidFill>
          <a:ln/>
        </p:spPr>
        <p:txBody>
          <a:bodyPr/>
          <a:p/>
        </p:txBody>
      </p:sp>
      <p:sp>
        <p:nvSpPr>
          <p:cNvPr id="300" name=""/>
          <p:cNvSpPr/>
          <p:nvPr/>
        </p:nvSpPr>
        <p:spPr>
          <a:xfrm rot="0" flipH="0" flipV="0">
            <a:off x="3810000" y="3648075"/>
            <a:ext cx="3743325" cy="1285875"/>
          </a:xfrm>
          <a:custGeom>
            <a:pathLst>
              <a:path w="393" h="135">
                <a:moveTo>
                  <a:pt x="3" y="0"/>
                </a:moveTo>
                <a:cubicBezTo>
                  <a:pt x="2" y="0"/>
                  <a:pt x="2" y="0"/>
                  <a:pt x="2" y="1"/>
                </a:cubicBezTo>
                <a:lnTo>
                  <a:pt x="2" y="134"/>
                </a:lnTo>
                <a:cubicBezTo>
                  <a:pt x="2" y="134"/>
                  <a:pt x="2" y="135"/>
                  <a:pt x="3" y="135"/>
                </a:cubicBezTo>
                <a:cubicBezTo>
                  <a:pt x="1" y="135"/>
                  <a:pt x="0" y="134"/>
                  <a:pt x="0" y="13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/>
        </p:txBody>
      </p:sp>
      <p:pic>
        <p:nvPicPr>
          <p:cNvPr id="30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3943350" y="4210050"/>
            <a:ext cx="161925" cy="161925"/>
          </a:xfrm>
          <a:prstGeom prst="rect">
            <a:avLst/>
          </a:prstGeom>
          <a:ln/>
        </p:spPr>
      </p:pic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4219575" y="3905250"/>
            <a:ext cx="85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AD4EE"/>
                </a:solidFill>
                <a:latin typeface="JetBrains Mono"/>
                <a:ea typeface="JetBrains Mono"/>
              </a:rPr>
              <a:t>③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4381500" y="3905250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工具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4219575" y="4181475"/>
            <a:ext cx="31813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JSON Schema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描述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参数类型与范围校验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错误信息回喂</a:t>
            </a:r>
            <a:endParaRPr/>
          </a:p>
        </p:txBody>
      </p:sp>
      <p:sp>
        <p:nvSpPr>
          <p:cNvPr id="305" name=""/>
          <p:cNvSpPr/>
          <p:nvPr/>
        </p:nvSpPr>
        <p:spPr>
          <a:xfrm rot="0" flipH="0" flipV="0">
            <a:off x="3810000" y="5029200"/>
            <a:ext cx="3743325" cy="1028700"/>
          </a:xfrm>
          <a:prstGeom prst="roundRect">
            <a:avLst>
              <a:gd name="adj" fmla="val 2778"/>
            </a:avLst>
          </a:prstGeom>
          <a:solidFill>
            <a:srgbClr val="16233D">
              <a:alpha val="85000"/>
            </a:srgbClr>
          </a:solidFill>
          <a:ln/>
        </p:spPr>
        <p:txBody>
          <a:bodyPr/>
          <a:p/>
        </p:txBody>
      </p:sp>
      <p:sp>
        <p:nvSpPr>
          <p:cNvPr id="306" name=""/>
          <p:cNvSpPr/>
          <p:nvPr/>
        </p:nvSpPr>
        <p:spPr>
          <a:xfrm rot="0" flipH="0" flipV="0">
            <a:off x="3810000" y="5029200"/>
            <a:ext cx="3743325" cy="1028700"/>
          </a:xfrm>
          <a:custGeom>
            <a:pathLst>
              <a:path w="393" h="108">
                <a:moveTo>
                  <a:pt x="3" y="0"/>
                </a:moveTo>
                <a:cubicBezTo>
                  <a:pt x="2" y="0"/>
                  <a:pt x="2" y="0"/>
                  <a:pt x="2" y="1"/>
                </a:cubicBezTo>
                <a:lnTo>
                  <a:pt x="2" y="107"/>
                </a:lnTo>
                <a:cubicBezTo>
                  <a:pt x="2" y="107"/>
                  <a:pt x="2" y="108"/>
                  <a:pt x="3" y="108"/>
                </a:cubicBezTo>
                <a:cubicBezTo>
                  <a:pt x="1" y="108"/>
                  <a:pt x="0" y="107"/>
                  <a:pt x="0" y="105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/>
        </p:txBody>
      </p:sp>
      <p:pic>
        <p:nvPicPr>
          <p:cNvPr id="30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3943350" y="5467350"/>
            <a:ext cx="161925" cy="161925"/>
          </a:xfrm>
          <a:prstGeom prst="rect">
            <a:avLst/>
          </a:prstGeom>
          <a:ln/>
        </p:spPr>
      </p:pic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4219575" y="5286375"/>
            <a:ext cx="85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AD4EE"/>
                </a:solidFill>
                <a:latin typeface="JetBrains Mono"/>
                <a:ea typeface="JetBrains Mono"/>
              </a:rPr>
              <a:t>④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4381500" y="5286375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记忆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4219575" y="5562600"/>
            <a:ext cx="318135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上下文裁剪与摘要压缩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事实卡片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向量检索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topK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7781925" y="1143000"/>
            <a:ext cx="3743325" cy="1571625"/>
          </a:xfrm>
          <a:prstGeom prst="roundRect">
            <a:avLst>
              <a:gd name="adj" fmla="val 1818"/>
            </a:avLst>
          </a:prstGeom>
          <a:solidFill>
            <a:srgbClr val="16233D">
              <a:alpha val="85000"/>
            </a:srgbClr>
          </a:solidFill>
          <a:ln/>
        </p:spPr>
        <p:txBody>
          <a:bodyPr/>
          <a:p/>
        </p:txBody>
      </p:sp>
      <p:sp>
        <p:nvSpPr>
          <p:cNvPr id="312" name=""/>
          <p:cNvSpPr/>
          <p:nvPr/>
        </p:nvSpPr>
        <p:spPr>
          <a:xfrm rot="0" flipH="0" flipV="0">
            <a:off x="7781925" y="1143000"/>
            <a:ext cx="3743325" cy="1571625"/>
          </a:xfrm>
          <a:custGeom>
            <a:pathLst>
              <a:path w="393" h="165">
                <a:moveTo>
                  <a:pt x="3" y="0"/>
                </a:moveTo>
                <a:cubicBezTo>
                  <a:pt x="2" y="0"/>
                  <a:pt x="2" y="0"/>
                  <a:pt x="2" y="1"/>
                </a:cubicBezTo>
                <a:lnTo>
                  <a:pt x="2" y="164"/>
                </a:lnTo>
                <a:cubicBezTo>
                  <a:pt x="2" y="164"/>
                  <a:pt x="2" y="165"/>
                  <a:pt x="3" y="165"/>
                </a:cubicBezTo>
                <a:cubicBezTo>
                  <a:pt x="1" y="165"/>
                  <a:pt x="0" y="164"/>
                  <a:pt x="0" y="16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/>
        </p:txBody>
      </p:sp>
      <p:pic>
        <p:nvPicPr>
          <p:cNvPr id="3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7915275" y="1847850"/>
            <a:ext cx="161925" cy="161925"/>
          </a:xfrm>
          <a:prstGeom prst="rect">
            <a:avLst/>
          </a:prstGeom>
          <a:ln/>
        </p:spPr>
      </p:pic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8191500" y="1666875"/>
            <a:ext cx="85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AD4EE"/>
                </a:solidFill>
                <a:latin typeface="JetBrains Mono"/>
                <a:ea typeface="JetBrains Mono"/>
              </a:rPr>
              <a:t>⑤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8353425" y="1666875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控制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8191500" y="1943100"/>
            <a:ext cx="318135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四个终止条件：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Answer /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最大轮数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超时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/ token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预算</a:t>
            </a:r>
            <a:endParaRPr/>
          </a:p>
        </p:txBody>
      </p:sp>
      <p:sp>
        <p:nvSpPr>
          <p:cNvPr id="317" name=""/>
          <p:cNvSpPr/>
          <p:nvPr/>
        </p:nvSpPr>
        <p:spPr>
          <a:xfrm rot="0" flipH="0" flipV="0">
            <a:off x="7781925" y="2809875"/>
            <a:ext cx="3743325" cy="1581150"/>
          </a:xfrm>
          <a:prstGeom prst="roundRect">
            <a:avLst>
              <a:gd name="adj" fmla="val 1807"/>
            </a:avLst>
          </a:prstGeom>
          <a:solidFill>
            <a:srgbClr val="16233D">
              <a:alpha val="85000"/>
            </a:srgbClr>
          </a:solidFill>
          <a:ln/>
        </p:spPr>
        <p:txBody>
          <a:bodyPr/>
          <a:p/>
        </p:txBody>
      </p:sp>
      <p:sp>
        <p:nvSpPr>
          <p:cNvPr id="318" name=""/>
          <p:cNvSpPr/>
          <p:nvPr/>
        </p:nvSpPr>
        <p:spPr>
          <a:xfrm rot="0" flipH="0" flipV="0">
            <a:off x="7781925" y="2809875"/>
            <a:ext cx="3743325" cy="1581150"/>
          </a:xfrm>
          <a:custGeom>
            <a:pathLst>
              <a:path w="393" h="166">
                <a:moveTo>
                  <a:pt x="3" y="0"/>
                </a:moveTo>
                <a:cubicBezTo>
                  <a:pt x="2" y="0"/>
                  <a:pt x="2" y="0"/>
                  <a:pt x="2" y="1"/>
                </a:cubicBezTo>
                <a:lnTo>
                  <a:pt x="2" y="165"/>
                </a:lnTo>
                <a:cubicBezTo>
                  <a:pt x="2" y="165"/>
                  <a:pt x="2" y="166"/>
                  <a:pt x="3" y="166"/>
                </a:cubicBezTo>
                <a:cubicBezTo>
                  <a:pt x="1" y="166"/>
                  <a:pt x="0" y="165"/>
                  <a:pt x="0" y="16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/>
        </p:txBody>
      </p:sp>
      <p:pic>
        <p:nvPicPr>
          <p:cNvPr id="31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7915275" y="3524250"/>
            <a:ext cx="161925" cy="161925"/>
          </a:xfrm>
          <a:prstGeom prst="rect">
            <a:avLst/>
          </a:prstGeom>
          <a:ln/>
        </p:spPr>
      </p:pic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8191500" y="3343275"/>
            <a:ext cx="85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AD4EE"/>
                </a:solidFill>
                <a:latin typeface="JetBrains Mono"/>
                <a:ea typeface="JetBrains Mono"/>
              </a:rPr>
              <a:t>⑥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8353425" y="3343275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护栏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8191500" y="3619500"/>
            <a:ext cx="318135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输入审查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输出脱敏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高危操作二次确认</a:t>
            </a:r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7781925" y="4486275"/>
            <a:ext cx="3743325" cy="1571625"/>
          </a:xfrm>
          <a:prstGeom prst="roundRect">
            <a:avLst>
              <a:gd name="adj" fmla="val 1818"/>
            </a:avLst>
          </a:prstGeom>
          <a:solidFill>
            <a:srgbClr val="16233D">
              <a:alpha val="85000"/>
            </a:srgbClr>
          </a:solidFill>
          <a:ln/>
        </p:spPr>
        <p:txBody>
          <a:bodyPr/>
          <a:p/>
        </p:txBody>
      </p:sp>
      <p:sp>
        <p:nvSpPr>
          <p:cNvPr id="324" name=""/>
          <p:cNvSpPr/>
          <p:nvPr/>
        </p:nvSpPr>
        <p:spPr>
          <a:xfrm rot="0" flipH="0" flipV="0">
            <a:off x="7781925" y="4486275"/>
            <a:ext cx="3743325" cy="1571625"/>
          </a:xfrm>
          <a:custGeom>
            <a:pathLst>
              <a:path w="393" h="165">
                <a:moveTo>
                  <a:pt x="3" y="0"/>
                </a:moveTo>
                <a:cubicBezTo>
                  <a:pt x="2" y="0"/>
                  <a:pt x="2" y="0"/>
                  <a:pt x="2" y="1"/>
                </a:cubicBezTo>
                <a:lnTo>
                  <a:pt x="2" y="164"/>
                </a:lnTo>
                <a:cubicBezTo>
                  <a:pt x="2" y="164"/>
                  <a:pt x="2" y="165"/>
                  <a:pt x="3" y="165"/>
                </a:cubicBezTo>
                <a:cubicBezTo>
                  <a:pt x="1" y="165"/>
                  <a:pt x="0" y="164"/>
                  <a:pt x="0" y="16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/>
        </p:txBody>
      </p:sp>
      <p:pic>
        <p:nvPicPr>
          <p:cNvPr id="3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 rot="0" flipH="0" flipV="0">
            <a:off x="7915275" y="5191125"/>
            <a:ext cx="161925" cy="161925"/>
          </a:xfrm>
          <a:prstGeom prst="rect">
            <a:avLst/>
          </a:prstGeom>
          <a:ln/>
        </p:spPr>
      </p:pic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8191500" y="5010150"/>
            <a:ext cx="85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AD4EE"/>
                </a:solidFill>
                <a:latin typeface="JetBrains Mono"/>
                <a:ea typeface="JetBrains Mono"/>
              </a:rPr>
              <a:t>⑦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8353425" y="5010150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运营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8191500" y="5286375"/>
            <a:ext cx="318135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全链路日志与耗时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token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成本统计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离线评测集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16 / 33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331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0;    {/* A 区 · 标题块 */}&#10;    &lt;Box style={{ height: 100, flexDirection: 'row', gap: 16, alignItems: 'flex-start', paddingTop: 6 }}&gt;&#10;        &lt;Box style={{ width: 4, height: 36, background: '#2AD4EE', marginTop: 5 }} /&gt;&#10;        &lt;Box style={{ flexDirection: 'column' }}&gt;&#10;            &lt;Text style={{ fontSize: 34, fontWeight: 'bold', color: '#E8EEF9' }}&gt;十条设计原则&lt;/Text&gt;&#10;            &lt;Text style={{ marginTop: 8, fontSize: 17, color: 'rgba(232,238,249,0.52)' }}&gt;前三条定生死，后七条定维护成本&lt;/Text&gt;&#10;        &lt;/Box&gt;&#10;    &lt;/Box&gt;&#10;&#10;    {/* B 区 · 非对称双栏 66:34 */}&#10;    &lt;Box style={{ height: 516, flexDirection: 'row', gap: 24 }}&gt;&#10;        {/* 宽侧：十条原则表 */}&#10;        &lt;Box style={{ flex: 66, flexDirection: 'column' }}&gt;&#10;            &lt;Box style={{ flexDirection: 'row', alignItems: 'center', justifyContent: 'space-between' }}&gt;&#10;                &lt;Text style={{ fontSize: 15, color: '#2AD4EE', letterSpacing: 3, fontFamily: '&quot;JetBrains Mono&quot;, &quot;Cascadia Mono&quot;, Consolas, monospace' }}&gt;TEN PRINCIPLES&lt;/Text&gt;&#10;                &lt;Text style={{ fontSize: 14, color: 'rgba(232,238,249,0.42)' }}&gt;违背 = 线上事故的常见来源&lt;/Text&gt;&#10;            &lt;/Box&gt;&#10;            &lt;Box style={{ height: 486, marginTop: 12 }}&gt;&#10;                &lt;Table&#10;                    style={{ width: '100%', height: '100%' }}&#10;                    defaultTextStyle={{ fontSize: 13.5, textAlign: 'left', color: '#E8EEF9' }}&#10;                    defaultCellStyle={{&#10;                        border: {&#10;                            bottom: { width: 1, color: 'rgba(232,238,249,0.12)' },&#10;                        },&#10;                    }}&#10;                    cells={[&#10;                        [&#10;                            { text: '1', textStyle: { color: '#2AD4EE', fontFamily: '&quot;JetBrains Mono&quot;, &quot;Cascadia Mono&quot;, Consolas, monospace' } },&#10;                            { text: '能用固定流程就不上自主循环', textStyle: { bold: true, color: '#E8EEF9' } },&#10;                            '步骤确定就写死 workflow；要「见机行事」才把自主权交给模型',&#10;                        ],&#10;                        [&#10;                            { text: '2', textStyle: { color: '#2AD4EE', fontFamily: '&quot;JetBrains Mono&quot;, &quot;Cascadia Mono&quot;, Consolas, monospace' } },&#10;                            { text: '控制流在代码，判断在模型', textStyle: { bold: true, color: '#E8EEF9' } },&#10;                            '分支 / 循环 / 重试用代码写死，模型只决定「调哪个工具、传什么参数」',&#10;                        ],&#10;                        [&#10;                            { text: '3', textStyle: { color: '#2AD4EE', fontFamily: '&quot;JetBrains Mono&quot;, &quot;Cascadia Mono&quot;, Consolas, monospace' } },&#10;                            { text: '模型输出 = 不可信输入', textStyle: { bold: true, color: '#2AD4EE' } },&#10;                            '解析前一律校验格式、类型、范围——幻觉出的参数不该直接进工具',&#10;                        ],&#10;                        [&#10;                            { text: '4', textStyle: { color: '#2AD4EE', fontFamily: '&quot;JetBrains Mono&quot;, &quot;Cascadia Mono&quot;, Consolas, monospace' } },&#10;                            { text: '工具小而专，描述大于实现', textStyle: { bold: true, color: '#E8EEF9' } },&#10;                            '一个工具干一件事，description 当 API 文档写',&#10;                        ],&#10;                        [&#10;                            { text: '5', textStyle: { color: '#2AD4EE', fontFamily: '&quot;JetBrains Mono&quot;, &quot;Cascadia Mono&quot;, Consolas, monospace' } },&#10;                            { text: '确定性优先', textStyle: { bold: true, color: '#E8EEF9' } },&#10;                            'temperature = 0，尽量走结构化输出',&#10;                        ],&#10;                        [&#10;                            { text: '6', textStyle: { color: '#2AD4EE', fontFamily: '&quot;JetBrains Mono&quot;, &quot;Cascadia Mono&quot;, Consolas, monospace' } },&#10;                            { text: '失败要回喂，不要吞', textStyle: { bold: true, color: '#E8EEF9' } },&#10;                            '错误信息拼回上下文，让模型下一轮自救',&#10;                        ],&#10;                        [&#10;                            { text: '7', textStyle: { color: '#2AD4EE', fontFamily: '&quot;JetBrains Mono&quot;, &quot;Cascadia Mono&quot;, Consolas, monospace' } },&#10;                            { text: '高风险必过人', textStyle: { bold: true, color: '#E8EEF9' } },&#10;                            '删除 / 支付 / 对外发消息，执行前必须人工确认',&#10;                        ],&#10;                        [&#10;                            { text: '8', textStyle: { color: '#2AD4EE', fontFamily: '&quot;JetBrains Mono&quot;, &quot;Cascadia Mono&quot;, Consolas, monospace' } },&#10;                            { text: '可观测先行', textStyle: { bold: true, color: '#E8EEF9' } },&#10;                            '先加日志，再调 prompt——出了问题不能全靠猜',&#10;                        ],&#10;                        [&#10;                            { text: '9', textStyle: { color: '#2AD4EE', fontFamily: '&quot;JetBrains Mono&quot;, &quot;Cascadia Mono&quot;, Consolas, monospace' } },&#10;                            { text: 'token 是钱，上下文是预算', textStyle: { bold: true, color: '#E8EEF9' } },&#10;                            '及时摘要压缩，工具返回要精简——膨胀的大头是工具返回',&#10;                        ],&#10;                        [&#10;                            { text: '10', textStyle: { color: '#2AD4EE', fontFamily: '&quot;JetBrains Mono&quot;, &quot;Cascadia Mono&quot;, Consolas, monospace' } },&#10;                            { text: '从最简单的开始', textStyle: { bold: true, color: '#E8EEF9' } },&#10;                            '单 Agent + 2 个工具 + 一个循环，按需再加复杂度',&#10;                        ],&#10;                    ]}&#10;                /&gt;&#10;            &lt;/Box&gt;&#10;        &lt;/Box&gt;&#10;&#10;        {/* 窄侧：两档总纲 */}&#10;        &lt;Box style={{ flex: 34, flexDirection: 'column', paddingLeft: 24, borderLeft: '1px solid rgba(232,238,249,0.12)' }}&gt;&#10;            &lt;Text style={{ fontSize: 15, color: 'rgba(232,238,249,0.52)', letterSpacing: 2, fontFamily: '&quot;JetBrains Mono&quot;, &quot;Cascadia Mono&quot;, Consolas, monospace' }}&gt;TWO TIERS&lt;/Text&gt;&#10;&#10;            &lt;Box style={{ marginTop: 16, paddingTop: 18, paddingBottom: 18, paddingLeft: 18, paddingRight: 18, background: 'rgba(42,212,238,0.12)', border: '1px solid rgba(42,212,238,0.42)', borderRadius: 4 }}&gt;&#10;                &lt;Box style={{ flexDirection: 'row', alignItems: 'baseline', gap: 10 }}&gt;&#10;                    &lt;Text style={{ fontSize: 40, fontWeight: 'bold', color: '#2AD4EE', fontFamily: '&quot;JetBrains Mono&quot;, &quot;Cascadia Mono&quot;, Consolas, monospace', lineHeight: 1 }}&gt;3&lt;/Text&gt;&#10;                    &lt;Text style={{ fontSize: 20, fontWeight: 'bold', color: '#E8EEF9' }}&gt;条 · 架构级&lt;/Text&gt;&#10;                &lt;/Box&gt;&#10;                &lt;Text style={{ marginTop: 12, fontSize: 15, color: 'rgba(232,238,249,0.78)', lineHeight: 1.7 }}&gt;&#10;                    第 1~3 条决定项目&lt;span style={{ color: '#2AD4EE', fontWeight: '600' }}&gt;成败&lt;/span&gt;。选错了，后面写得多漂亮都是在给错误的路铺砖。&#10;                &lt;/Text&gt;&#10;            &lt;/Box&gt;&#10;&#10;            &lt;Box style={{ marginTop: 14, paddingTop: 18, paddingBottom: 18, paddingLeft: 18, paddingRight: 18, background: 'rgba(22,35,61,0.92)', border: '1px solid rgba(232,238,249,0.12)', borderRadius: 4 }}&gt;&#10;                &lt;Box style={{ flexDirection: 'row', alignItems: 'baseline', gap: 10 }}&gt;&#10;                    &lt;Text style={{ fontSize: 40, fontWeight: 'bold', color: 'rgba(232,238,249,0.55)', fontFamily: '&quot;JetBrains Mono&quot;, &quot;Cascadia Mono&quot;, Consolas, monospace', lineHeight: 1 }}&gt;7&lt;/Text&gt;&#10;                    &lt;Text style={{ fontSize: 20, fontWeight: 'bold', color: '#E8EEF9' }}&gt;条 · 工程习惯级&lt;/Text&gt;&#10;                &lt;/Box&gt;&#10;                &lt;Text style={{ marginTop: 12, fontSize: 15, color: 'rgba(232,238,249,0.72)', lineHeight: 1.7 }}&gt;&#10;                    第 4~10 条决定&lt;span style={{ color: '#E8EEF9', fontWeight: '600' }}&gt;维护成本&lt;/span&gt;。单条不致命，累积起来就是「能跑的 demo」和「敢用的系统」的差距。&#10;                &lt;/Text&gt;&#10;            &lt;/Box&gt;&#10;&#10;            &lt;Box style={{ marginTop: 'auto', paddingTop: 16, paddingBottom: 16, paddingLeft: 18, paddingRight: 18, background: 'rgba(42,212,238,0.06)', borderLeft: '3px solid #2AD4EE' }}&gt;&#10;                &lt;Text style={{ fontSize: 17, color: '#E8EEF9', lineHeight: 1.7 }}&gt;&#10;                    架构级靠&lt;span style={{ color: '#2AD4EE' }}&gt;判断&lt;/span&gt;，习惯级靠&lt;span style={{ color: '#2AD4EE' }}&gt;复盘&lt;/span&gt;。&#10;                &lt;/Text&gt;&#10;            &lt;/Box&gt;&#10;        &lt;/Box&gt;&#10;    &lt;/Box&gt;&#10;&#10;    {/* C 区 · 页脚 */}&#10;    &lt;Box style={{ height: 40, flexDirection: 'row', alignItems: 'flex-end', justifyContent: 'space-between' }}&gt;&#10;        &lt;Text style={{ fontSize: 14, color: 'rgba(232,238,249,0.42)' }}&gt;从 LLM 到 Agent 再到 Pi Agent&lt;/Text&gt;&#10;        &lt;Text style={{ fontSize: 14, color: 'rgba(232,238,249,0.42)', fontFamily: '&quot;JetBrains Mono&quot;, &quot;Cascadia Mono&quot;, Consolas, monospace' }}&gt;17 / 3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333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24288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十条设计原则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2428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前三条定生死，后七条定维护成本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1581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TEN PRINCIPLES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6076950" y="115252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违背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=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线上事故的常见来源</a:t>
            </a:r>
            <a:endParaRPr/>
          </a:p>
        </p:txBody>
      </p:sp>
      <p:graphicFrame>
        <p:nvGraphicFramePr>
          <p:cNvPr id="338" name=""/>
          <p:cNvGraphicFramePr/>
          <p:nvPr/>
        </p:nvGraphicFramePr>
        <p:xfrm rot="0" flipH="0" flipV="0">
          <a:off x="685800" y="1428750"/>
          <a:ext cx="6991350" cy="4629150"/>
        </p:xfrm>
        <a:graphic>
          <a:graphicData uri="http://schemas.openxmlformats.org/drawingml/2006/table">
            <a:tbl>
              <a:tblGrid>
                <a:gridCol w="273751">
                  <a:extLst>
                    <a:ext uri="{9D8B030D-6E8A-4147-A177-3AD203B41FA5}">
                      <a16:colId val="1"/>
                    </a:ext>
                  </a:extLst>
                </a:gridCol>
                <a:gridCol w="1984696">
                  <a:extLst>
                    <a:ext uri="{9D8B030D-6E8A-4147-A177-3AD203B41FA5}">
                      <a16:colId val="2"/>
                    </a:ext>
                  </a:extLst>
                </a:gridCol>
                <a:gridCol w="4732902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能用固定流程就不上自主循环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步骤确定就写死 workflow；要「见机行事」才把自主权交给模型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控制流在代码，判断在模型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分支 / 循环 / 重试用代码写死，模型只决定「调哪个工具、传什么参数」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2AD4EE"/>
                          </a:solidFill>
                          <a:latin typeface="Microsoft YaHei"/>
                          <a:ea typeface="Microsoft YaHei"/>
                        </a:rPr>
                        <a:t>模型输出 = 不可信输入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解析前一律校验格式、类型、范围——幻觉出的参数不该直接进工具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工具小而专，描述大于实现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一个工具干一件事，description 当 API 文档写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确定性优先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temperature = 0，尽量走结构化输出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失败要回喂，不要吞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错误信息拼回上下文，让模型下一轮自救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高风险必过人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删除 / 支付 / 对外发消息，执行前必须人工确认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可观测先行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先加日志，再调 prompt——出了问题不能全靠猜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9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token 是钱，上下文是预算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及时摘要压缩，工具返回要精简——膨胀的大头是工具返回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9"/>
                  </a:ext>
                </a:extLst>
              </a:tr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10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从最简单的开始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单 Agent + 2 个工具 + 一个循环，按需再加复杂度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10"/>
                  </a:ext>
                </a:extLst>
              </a:tr>
            </a:tbl>
          </a:graphicData>
        </a:graphic>
      </p:graphicFrame>
      <p:sp>
        <p:nvSpPr>
          <p:cNvPr id="339" name=""/>
          <p:cNvSpPr/>
          <p:nvPr/>
        </p:nvSpPr>
        <p:spPr>
          <a:xfrm rot="0" flipH="0" flipV="0">
            <a:off x="7905750" y="1143000"/>
            <a:ext cx="3609975" cy="4914900"/>
          </a:xfrm>
          <a:custGeom>
            <a:pathLst>
              <a:path w="379" h="516">
                <a:moveTo>
                  <a:pt x="0" y="0"/>
                </a:moveTo>
                <a:lnTo>
                  <a:pt x="1" y="0"/>
                </a:lnTo>
                <a:lnTo>
                  <a:pt x="1" y="516"/>
                </a:lnTo>
                <a:lnTo>
                  <a:pt x="0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8143875" y="1143000"/>
            <a:ext cx="3362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TWO TIERS</a:t>
            </a:r>
            <a:endParaRPr/>
          </a:p>
        </p:txBody>
      </p:sp>
      <p:sp>
        <p:nvSpPr>
          <p:cNvPr id="341" name=""/>
          <p:cNvSpPr/>
          <p:nvPr/>
        </p:nvSpPr>
        <p:spPr>
          <a:xfrm rot="0" flipH="0" flipV="0">
            <a:off x="8143875" y="1466850"/>
            <a:ext cx="3362325" cy="1504950"/>
          </a:xfrm>
          <a:prstGeom prst="roundRect">
            <a:avLst>
              <a:gd name="adj" fmla="val 2532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4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8315325" y="1638300"/>
            <a:ext cx="2286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AD4EE"/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8639175" y="1638300"/>
            <a:ext cx="103822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条</a:t>
            </a:r>
            <a:r>
              <a:rPr lang="en-US" sz="15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架构级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8315325" y="2209800"/>
            <a:ext cx="30194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第</a:t>
            </a:r>
            <a:r>
              <a:rPr lang="en-US" sz="112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 1~3 </a:t>
            </a:r>
            <a:r>
              <a:rPr lang="zh-CN" sz="112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条决定项目</a:t>
            </a:r>
            <a:r>
              <a:rPr lang="zh-CN" sz="1125" b="1">
                <a:solidFill>
                  <a:srgbClr val="2AD4EE"/>
                </a:solidFill>
                <a:latin typeface="Source Han Sans SC"/>
                <a:ea typeface="Source Han Sans SC"/>
              </a:rPr>
              <a:t>成败</a:t>
            </a:r>
            <a:r>
              <a:rPr lang="zh-CN" sz="112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。选错了，后面写得多漂亮都是在给错误的路铺砖。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8143875" y="3105150"/>
            <a:ext cx="3362325" cy="1790700"/>
          </a:xfrm>
          <a:prstGeom prst="roundRect">
            <a:avLst>
              <a:gd name="adj" fmla="val 2128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8315325" y="3276600"/>
            <a:ext cx="2286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>7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8639175" y="3276600"/>
            <a:ext cx="141922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条</a:t>
            </a:r>
            <a:r>
              <a:rPr lang="en-US" sz="15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工程习惯级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8315325" y="3848100"/>
            <a:ext cx="3019425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第</a:t>
            </a:r>
            <a:r>
              <a:rPr lang="en-US" sz="112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4~10 </a:t>
            </a:r>
            <a:r>
              <a:rPr lang="zh-CN" sz="112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条决定</a:t>
            </a: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维护成本</a:t>
            </a:r>
            <a:r>
              <a:rPr lang="zh-CN" sz="112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。单条不致命，累积起来就是「能跑的</a:t>
            </a:r>
            <a:r>
              <a:rPr lang="en-US" sz="112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demo</a:t>
            </a:r>
            <a:r>
              <a:rPr lang="zh-CN" sz="112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」和「敢用的系统」的差距。</a:t>
            </a:r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8172450" y="5419725"/>
            <a:ext cx="3362325" cy="638175"/>
          </a:xfrm>
          <a:prstGeom prst="rect">
            <a:avLst/>
          </a:prstGeom>
          <a:solidFill>
            <a:srgbClr val="2AD4EE">
              <a:alpha val="6000"/>
            </a:srgbClr>
          </a:solidFill>
          <a:ln/>
        </p:spPr>
        <p:txBody>
          <a:bodyPr/>
          <a:p/>
        </p:txBody>
      </p:sp>
      <p:sp>
        <p:nvSpPr>
          <p:cNvPr id="350" name=""/>
          <p:cNvSpPr/>
          <p:nvPr/>
        </p:nvSpPr>
        <p:spPr>
          <a:xfrm rot="0" flipH="0" flipV="0">
            <a:off x="8143875" y="5419725"/>
            <a:ext cx="3390900" cy="638175"/>
          </a:xfrm>
          <a:custGeom>
            <a:pathLst>
              <a:path w="356" h="67">
                <a:moveTo>
                  <a:pt x="0" y="0"/>
                </a:moveTo>
                <a:lnTo>
                  <a:pt x="3" y="0"/>
                </a:lnTo>
                <a:lnTo>
                  <a:pt x="3" y="67"/>
                </a:lnTo>
                <a:lnTo>
                  <a:pt x="0" y="67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/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8343900" y="5572125"/>
            <a:ext cx="2990850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架构级靠</a:t>
            </a:r>
            <a:r>
              <a:rPr lang="zh-CN" sz="1275">
                <a:solidFill>
                  <a:srgbClr val="2AD4EE"/>
                </a:solidFill>
                <a:latin typeface="Source Han Sans SC"/>
                <a:ea typeface="Source Han Sans SC"/>
              </a:rPr>
              <a:t>判断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，习惯级靠</a:t>
            </a:r>
            <a:r>
              <a:rPr lang="zh-CN" sz="1275">
                <a:solidFill>
                  <a:srgbClr val="2AD4EE"/>
                </a:solidFill>
                <a:latin typeface="Source Han Sans SC"/>
                <a:ea typeface="Source Han Sans SC"/>
              </a:rPr>
              <a:t>复盘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17 / 33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54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0;    {/* A 区 · 标题块 */}&#10;    &lt;Box style={{ height: 100, flexDirection: 'row', gap: 16, alignItems: 'flex-start', paddingTop: 6 }}&gt;&#10;        &lt;Box style={{ width: 4, height: 36, background: '#2AD4EE', marginTop: 5 }} /&gt;&#10;        &lt;Box style={{ flexDirection: 'column' }}&gt;&#10;            &lt;Text style={{ fontSize: 34, fontWeight: 'bold', color: '#E8EEF9' }}&gt;避坑清单与上线自查&lt;/Text&gt;&#10;            &lt;Text style={{ marginTop: 8, fontSize: 17, color: 'rgba(232,238,249,0.52)' }}&gt;左边是写之前要记住的，右边是发之前要打勾的&lt;/Text&gt;&#10;        &lt;/Box&gt;&#10;    &lt;/Box&gt;&#10;&#10;    {/* B 区 · 左标题 + 右双列清单 */}&#10;    &lt;Box style={{ height: 516, flexDirection: 'row', gap: 34 }}&gt;&#10;        {/* 左：标题栏 */}&#10;        &lt;Box style={{ width: 268, flexDirection: 'column', paddingRight: 28, borderRight: '1px solid rgba(232,238,249,0.12)' }}&gt;&#10;            &lt;Text style={{ fontSize: 15, color: '#2AD4EE', letterSpacing: 3, fontFamily: '&quot;JetBrains Mono&quot;, &quot;Cascadia Mono&quot;, Consolas, monospace' }}&gt;CHECKLIST&lt;/Text&gt;&#10;            &lt;Text style={{ marginTop: 18, fontSize: 26, fontWeight: 'bold', color: '#E8EEF9', lineHeight: 1.45 }}&gt;&#10;                两份清单&#10;                &lt;br /&gt;&#10;                十四条勾&#10;            &lt;/Text&gt;&#10;            &lt;Text style={{ marginTop: 18, fontSize: 16, color: 'rgba(232,238,249,0.72)', lineHeight: 1.75 }}&gt;&#10;                左边的七条几乎不花成本，但能省下大量排查时间；右边的七条是「敢给别人用」的最低门槛。&#10;            &lt;/Text&gt;&#10;            &lt;Box style={{ marginTop: 'auto', paddingTop: 16, paddingBottom: 16, paddingLeft: 16, paddingRight: 16, background: 'rgba(42,212,238,0.08)', border: '1px solid rgba(42,212,238,0.22)', borderRadius: 4 }}&gt;&#10;                &lt;Text style={{ fontSize: 14, color: '#2AD4EE', letterSpacing: 3, fontFamily: '&quot;JetBrains Mono&quot;, &quot;Cascadia Mono&quot;, Consolas, monospace' }}&gt;所以&lt;/Text&gt;&#10;                &lt;Text style={{ marginTop: 10, fontSize: 16, color: '#E8EEF9', lineHeight: 1.7 }}&gt;&#10;                    全部打勾，才算从「能跑的 demo」变成「敢给别人用的 Agent」。&#10;                &lt;/Text&gt;&#10;            &lt;/Box&gt;&#10;        &lt;/Box&gt;&#10;&#10;        {/* 右：双列清单 */}&#10;        &lt;Box style={{ flex: 1, flexDirection: 'row', gap: 30 }}&gt;&#10;            {[&#10;                {&#10;                    tag: 'BEFORE YOU BUILD',&#10;                    title: '开发避坑 · 七条',&#10;                    items: [&#10;                        ['不要一开始就上框架', '先手写 ReAct，否则出问题完全不会排查'],&#10;                        ['工具描述写清楚', '模型选错工具，90% 是因为 description 写得烂'],&#10;                        ['循环要有终止条件', '最大轮数兜底，防止死循环烧 token'],&#10;                        ['temperature 设 0', '工具调用与结构化输出都要确定性'],&#10;                        ['幻觉应对', '强制模型基于工具返回的真实数据作答'],&#10;                        ['上下文膨胀', '多轮工具调用后及时摘要压缩'],&#10;                        ['危险操作加确认', '执行前让用户点一下，或加白名单'],&#10;                    ],&#10;                },&#10;                {&#10;                    tag: 'BEFORE YOU SHIP',&#10;                    title: '上线自查 · 七条',&#10;                    items: [&#10;                        ['有兜底', '最大轮数 / token 上限，防死循环烧钱'],&#10;                        ['不崩程序', '工具报错被回喂给模型，而不是抛出异常'],&#10;                        ['先校验再执行', '模型输出的格式、类型、范围都验一遍'],&#10;                        ['人工确认位', '删除、支付、对外发消息必须过人'],&#10;                        ['日志可回放', '每轮 Thought / Action / Observation 落盘'],&#10;                        ['密钥与提示词归位', 'key 不在代码里，prompt 不散落在业务代码'],&#10;                        ['回归测试集', '有固定问题集，改 prompt / 换模型后能回归'],&#10;                    ],&#10;                },&#10;            ].map((g, gi) =&gt; (&#10;                &lt;Box key={gi} style={{ flex: 1, flexDirection: 'column' }}&gt;&#10;                    &lt;Box style={{ flexDirection: 'row', alignItems: 'center', gap: 10 }}&gt;&#10;                        &lt;Box style={{ width: 22, height: 22, borderRadius: 11, background: gi === 0 ? 'rgba(42,212,238,0.14)' : 'rgba(42,212,238,0.28)', alignItems: 'center', justifyContent: 'center' }}&gt;&#10;                            &lt;Text style={{ fontSize: 12, color: '#2AD4EE', fontFamily: '&quot;JetBrains Mono&quot;, &quot;Cascadia Mono&quot;, Consolas, monospace' }}&gt;{gi + 1}&lt;/Text&gt;&#10;                        &lt;/Box&gt;&#10;                        &lt;Text style={{ fontSize: 19, fontWeight: 'bold', color: '#E8EEF9' }}&gt;{g.title}&lt;/Text&gt;&#10;                    &lt;/Box&gt;&#10;                    &lt;Text style={{ marginTop: 8, fontSize: 13, color: 'rgba(232,238,249,0.38)', letterSpacing: 2, fontFamily: '&quot;JetBrains Mono&quot;, &quot;Cascadia Mono&quot;, Consolas, monospace' }}&gt;{g.tag}&lt;/Text&gt;&#10;&#10;                    &lt;Box style={{ flex: 1, marginTop: 12, flexDirection: 'column', justifyContent: 'space-between' }}&gt;&#10;                        {g.items.map((it, i) =&gt; (&#10;                            &lt;Box key={i} style={{ flexDirection: 'row', gap: 11, alignItems: 'flex-start' }}&gt;&#10;                                &lt;FAIcon name='circle-check' style={{ fill: gi === 0 ? 'rgba(42,212,238,0.7)' : '#2AD4EE', width: 16, height: 16, marginTop: 3 }} /&gt;&#10;                                &lt;Text style={{ flex: 1, fontSize: 15, color: 'rgba(232,238,249,0.66)', lineHeight: 1.55 }}&gt;&#10;                                    &lt;span style={{ color: '#E8EEF9', fontWeight: '600' }}&gt;{it[0]}&lt;/span&gt;&#10;                                    &lt;span style={{ color: 'rgba(232,238,249,0.45)' }}&gt; · &lt;/span&gt;&#10;                                    {it[1]}&#10;                                &lt;/Text&gt;&#10;                            &lt;/Box&gt;&#10;                        ))}&#10;                    &lt;/Box&gt;&#10;                &lt;/Box&gt;&#10;            ))}&#10;        &lt;/Box&gt;&#10;    &lt;/Box&gt;&#10;&#10;    {/* C 区 · 页脚 */}&#10;    &lt;Box style={{ height: 40, flexDirection: 'row', alignItems: 'flex-end', justifyContent: 'space-between' }}&gt;&#10;        &lt;Text style={{ fontSize: 14, color: 'rgba(232,238,249,0.42)' }}&gt;从 LLM 到 Agent 再到 Pi Agent&lt;/Text&gt;&#10;        &lt;Text style={{ fontSize: 14, color: 'rgba(232,238,249,0.42)', fontFamily: '&quot;JetBrains Mono&quot;, &quot;Cascadia Mono&quot;, Consolas, monospace' }}&gt;18 / 3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356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4004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避坑清单与上线自查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400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左边是写之前要记住的，右边是发之前要打勾的</a:t>
            </a:r>
            <a:endParaRPr/>
          </a:p>
        </p:txBody>
      </p:sp>
      <p:sp>
        <p:nvSpPr>
          <p:cNvPr id="359" name=""/>
          <p:cNvSpPr/>
          <p:nvPr/>
        </p:nvSpPr>
        <p:spPr>
          <a:xfrm rot="0" flipH="0" flipV="0">
            <a:off x="685800" y="1143000"/>
            <a:ext cx="2552700" cy="4914900"/>
          </a:xfrm>
          <a:custGeom>
            <a:pathLst>
              <a:path w="268" h="516">
                <a:moveTo>
                  <a:pt x="267" y="0"/>
                </a:moveTo>
                <a:lnTo>
                  <a:pt x="268" y="0"/>
                </a:lnTo>
                <a:lnTo>
                  <a:pt x="268" y="516"/>
                </a:lnTo>
                <a:lnTo>
                  <a:pt x="267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276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CHECKLIST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685800" y="1485900"/>
            <a:ext cx="2276475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两份清单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十四条勾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685800" y="2524125"/>
            <a:ext cx="2276475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左边的七条几乎不花成本，但能省下大量排查时间；右边的七条是「敢给别人用」的最低门槛。</a:t>
            </a:r>
            <a:endParaRPr/>
          </a:p>
        </p:txBody>
      </p:sp>
      <p:sp>
        <p:nvSpPr>
          <p:cNvPr id="363" name=""/>
          <p:cNvSpPr/>
          <p:nvPr/>
        </p:nvSpPr>
        <p:spPr>
          <a:xfrm rot="0" flipH="0" flipV="0">
            <a:off x="685800" y="4562475"/>
            <a:ext cx="2276475" cy="1495425"/>
          </a:xfrm>
          <a:prstGeom prst="roundRect">
            <a:avLst>
              <a:gd name="adj" fmla="val 2548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838200" y="4714875"/>
            <a:ext cx="1971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838200" y="4972050"/>
            <a:ext cx="197167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全部打勾，才算从「能跑的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demo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」变成「敢给别人用的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Agent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」。</a:t>
            </a:r>
            <a:endParaRPr/>
          </a:p>
        </p:txBody>
      </p:sp>
      <p:sp>
        <p:nvSpPr>
          <p:cNvPr id="366" name=""/>
          <p:cNvSpPr/>
          <p:nvPr/>
        </p:nvSpPr>
        <p:spPr>
          <a:xfrm rot="0" flipH="0" flipV="0">
            <a:off x="3562350" y="11525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2AD4EE">
              <a:alpha val="14000"/>
            </a:srgbClr>
          </a:solidFill>
          <a:ln/>
        </p:spPr>
        <p:txBody>
          <a:bodyPr/>
          <a:p/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3629025" y="1190625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3867150" y="1143000"/>
            <a:ext cx="1352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开发避坑</a:t>
            </a:r>
            <a:r>
              <a:rPr lang="en-US" sz="142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七条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3562350" y="1438275"/>
            <a:ext cx="3829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>BEFORE YOU BUILD</a:t>
            </a:r>
            <a:endParaRPr/>
          </a:p>
        </p:txBody>
      </p:sp>
      <p:pic>
        <p:nvPicPr>
          <p:cNvPr id="37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562350" y="1733550"/>
            <a:ext cx="152400" cy="152400"/>
          </a:xfrm>
          <a:prstGeom prst="rect">
            <a:avLst/>
          </a:prstGeom>
          <a:ln/>
        </p:spPr>
      </p:pic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3819525" y="1704975"/>
            <a:ext cx="35718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不要一开始就上框架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先手写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ReAct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，否则出问题完全不会排查</a:t>
            </a:r>
            <a:endParaRPr/>
          </a:p>
        </p:txBody>
      </p:sp>
      <p:pic>
        <p:nvPicPr>
          <p:cNvPr id="37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562350" y="2552700"/>
            <a:ext cx="152400" cy="152400"/>
          </a:xfrm>
          <a:prstGeom prst="rect">
            <a:avLst/>
          </a:prstGeom>
          <a:ln/>
        </p:spPr>
      </p:pic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3819525" y="2524125"/>
            <a:ext cx="35718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工具描述写清楚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模型选错工具，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90%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是因为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description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写得烂</a:t>
            </a:r>
            <a:endParaRPr/>
          </a:p>
        </p:txBody>
      </p:sp>
      <p:pic>
        <p:nvPicPr>
          <p:cNvPr id="37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562350" y="3362325"/>
            <a:ext cx="152400" cy="152400"/>
          </a:xfrm>
          <a:prstGeom prst="rect">
            <a:avLst/>
          </a:prstGeom>
          <a:ln/>
        </p:spPr>
      </p:pic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3819525" y="3333750"/>
            <a:ext cx="35718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循环要有终止条件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最大轮数兜底，防止死循环烧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token</a:t>
            </a:r>
            <a:endParaRPr/>
          </a:p>
        </p:txBody>
      </p:sp>
      <p:pic>
        <p:nvPicPr>
          <p:cNvPr id="37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562350" y="4181475"/>
            <a:ext cx="152400" cy="152400"/>
          </a:xfrm>
          <a:prstGeom prst="rect">
            <a:avLst/>
          </a:prstGeom>
          <a:ln/>
        </p:spPr>
      </p:pic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3819525" y="4152900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temperature </a:t>
            </a: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设</a:t>
            </a:r>
            <a:r>
              <a:rPr lang="en-US" sz="112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0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工具调用与结构化输出都要确定性</a:t>
            </a:r>
            <a:endParaRPr/>
          </a:p>
        </p:txBody>
      </p:sp>
      <p:pic>
        <p:nvPicPr>
          <p:cNvPr id="37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562350" y="4724400"/>
            <a:ext cx="152400" cy="152400"/>
          </a:xfrm>
          <a:prstGeom prst="rect">
            <a:avLst/>
          </a:prstGeom>
          <a:ln/>
        </p:spPr>
      </p:pic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3819525" y="4695825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幻觉应对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强制模型基于工具返回的真实数据作答</a:t>
            </a:r>
            <a:endParaRPr/>
          </a:p>
        </p:txBody>
      </p:sp>
      <p:pic>
        <p:nvPicPr>
          <p:cNvPr id="38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562350" y="5276850"/>
            <a:ext cx="152400" cy="152400"/>
          </a:xfrm>
          <a:prstGeom prst="rect">
            <a:avLst/>
          </a:prstGeom>
          <a:ln/>
        </p:spPr>
      </p:pic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3819525" y="5248275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上下文膨胀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多轮工具调用后及时摘要压缩</a:t>
            </a:r>
            <a:endParaRPr/>
          </a:p>
        </p:txBody>
      </p:sp>
      <p:pic>
        <p:nvPicPr>
          <p:cNvPr id="38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562350" y="5819775"/>
            <a:ext cx="152400" cy="152400"/>
          </a:xfrm>
          <a:prstGeom prst="rect">
            <a:avLst/>
          </a:prstGeom>
          <a:ln/>
        </p:spPr>
      </p:pic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3819525" y="5791200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危险操作加确认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执行前让用户点一下，或加白名单</a:t>
            </a:r>
            <a:endParaRPr/>
          </a:p>
        </p:txBody>
      </p:sp>
      <p:sp>
        <p:nvSpPr>
          <p:cNvPr id="384" name=""/>
          <p:cNvSpPr/>
          <p:nvPr/>
        </p:nvSpPr>
        <p:spPr>
          <a:xfrm rot="0" flipH="0" flipV="0">
            <a:off x="7677150" y="11525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2AD4EE">
              <a:alpha val="28000"/>
            </a:srgbClr>
          </a:solidFill>
          <a:ln/>
        </p:spPr>
        <p:txBody>
          <a:bodyPr/>
          <a:p/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7743825" y="1190625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2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7981950" y="1143000"/>
            <a:ext cx="1352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上线自查</a:t>
            </a:r>
            <a:r>
              <a:rPr lang="en-US" sz="142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七条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7677150" y="1438275"/>
            <a:ext cx="3829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>BEFORE YOU SHIP</a:t>
            </a:r>
            <a:endParaRPr/>
          </a:p>
        </p:txBody>
      </p:sp>
      <p:pic>
        <p:nvPicPr>
          <p:cNvPr id="38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77150" y="1733550"/>
            <a:ext cx="152400" cy="152400"/>
          </a:xfrm>
          <a:prstGeom prst="rect">
            <a:avLst/>
          </a:prstGeom>
          <a:ln/>
        </p:spPr>
      </p:pic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7934325" y="1704975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有兜底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最大轮数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token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上限，防死循环烧钱</a:t>
            </a:r>
            <a:endParaRPr/>
          </a:p>
        </p:txBody>
      </p:sp>
      <p:pic>
        <p:nvPicPr>
          <p:cNvPr id="39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77150" y="2324100"/>
            <a:ext cx="152400" cy="152400"/>
          </a:xfrm>
          <a:prstGeom prst="rect">
            <a:avLst/>
          </a:prstGeom>
          <a:ln/>
        </p:spPr>
      </p:pic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7934325" y="2295525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不崩程序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工具报错被回喂给模型，而不是抛出异常</a:t>
            </a:r>
            <a:endParaRPr/>
          </a:p>
        </p:txBody>
      </p:sp>
      <p:pic>
        <p:nvPicPr>
          <p:cNvPr id="39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77150" y="2914650"/>
            <a:ext cx="152400" cy="152400"/>
          </a:xfrm>
          <a:prstGeom prst="rect">
            <a:avLst/>
          </a:prstGeom>
          <a:ln/>
        </p:spPr>
      </p:pic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7934325" y="2886075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先校验再执行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模型输出的格式、类型、范围都验一遍</a:t>
            </a:r>
            <a:endParaRPr/>
          </a:p>
        </p:txBody>
      </p:sp>
      <p:pic>
        <p:nvPicPr>
          <p:cNvPr id="39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77150" y="3514725"/>
            <a:ext cx="152400" cy="152400"/>
          </a:xfrm>
          <a:prstGeom prst="rect">
            <a:avLst/>
          </a:prstGeom>
          <a:ln/>
        </p:spPr>
      </p:pic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7934325" y="3486150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人工确认位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删除、支付、对外发消息必须过人</a:t>
            </a:r>
            <a:endParaRPr/>
          </a:p>
        </p:txBody>
      </p:sp>
      <p:pic>
        <p:nvPicPr>
          <p:cNvPr id="39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77150" y="4105275"/>
            <a:ext cx="152400" cy="152400"/>
          </a:xfrm>
          <a:prstGeom prst="rect">
            <a:avLst/>
          </a:prstGeom>
          <a:ln/>
        </p:spPr>
      </p:pic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7934325" y="4076700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日志可回放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每轮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Thought / Action / Observation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落盘</a:t>
            </a:r>
            <a:endParaRPr/>
          </a:p>
        </p:txBody>
      </p:sp>
      <p:pic>
        <p:nvPicPr>
          <p:cNvPr id="39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77150" y="4695825"/>
            <a:ext cx="152400" cy="152400"/>
          </a:xfrm>
          <a:prstGeom prst="rect">
            <a:avLst/>
          </a:prstGeom>
          <a:ln/>
        </p:spPr>
      </p:pic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7934325" y="4667250"/>
            <a:ext cx="35718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密钥与提示词归位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key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不在代码里，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prompt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不散落在业务代码</a:t>
            </a:r>
            <a:endParaRPr/>
          </a:p>
        </p:txBody>
      </p:sp>
      <p:pic>
        <p:nvPicPr>
          <p:cNvPr id="40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77150" y="5553075"/>
            <a:ext cx="152400" cy="152400"/>
          </a:xfrm>
          <a:prstGeom prst="rect">
            <a:avLst/>
          </a:prstGeom>
          <a:ln/>
        </p:spPr>
      </p:pic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7934325" y="5524500"/>
            <a:ext cx="35718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回归测试集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有固定问题集，改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prompt /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换模型后能回归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18 / 33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04" name="" descr="&lt;Slide style={{ width: 1280, height: 720, position: 'relative', overflow: 'hidden', background: '#0B1220', fontFamily: '&quot;Source Han Sans SC&quot;, &quot;Noto Sans SC&quot;, &quot;Microsoft YaHei&quot;, sans-serif' }}&gt;&#10;    &lt;Image src=&quot;assets/sec_pi.png&quot; style={{ position: 'absolute', left: 0, top: 0, width: 1536, height: 1024 }} /&gt;&#10;&#10;    &lt;Box style={{ position: 'absolute', left: 0, top: 0, width: 1040, height: 720, background: 'linear-gradient(90deg, rgba(11,18,32,0.97) 0%, rgba(11,18,32,0.84) 50%, rgba(11,18,32,0) 100%)' }} /&gt;&#10;    &lt;Box style={{ position: 'absolute', left: 0, top: 0, width: 6, height: 720, background: 'linear-gradient(180deg, #2AD4EE 0%, rgba(42,212,238,0) 100%)' }} /&gt;&#10;&#10;    {/* 左：整列分布 */}&#10;    &lt;Box style={{ position: 'absolute', left: 88, top: 152, width: 700, height: 508, flexDirection: 'column', justifyContent: 'space-between' }}&gt;&#10;        &lt;Box style={{ flexDirection: 'column' }}&gt;&#10;            &lt;Text style={{ fontSize: 18, color: '#2AD4EE', letterSpacing: 7, fontFamily: '&quot;JetBrains Mono&quot;, &quot;Cascadia Mono&quot;, Consolas, monospace' }}&gt;CHAPTER 03&lt;/Text&gt;&#10;            &lt;Text style={{ marginTop: 22, fontSize: 64, fontWeight: 'bold', color: '#E8EEF9', letterSpacing: 1, lineHeight: 1.2 }}&gt;&#10;                Pi Agent：&#10;                &lt;br /&gt;&#10;                &lt;span style={{ color: '#2AD4EE' }}&gt;一个极简范式&lt;/span&gt;&#10;            &lt;/Text&gt;&#10;        &lt;/Box&gt;&#10;&#10;        &lt;Box style={{ flexDirection: 'column' }}&gt;&#10;            &lt;Box style={{ width: 76, height: 4, background: '#2AD4EE' }} /&gt;&#10;            &lt;Text style={{ marginTop: 24, fontSize: 21, color: 'rgba(232,238,249,0.72)', lineHeight: 1.75 }}&gt;&#10;                自主智能体本质就是 LLM + 工具 + 循环；&#10;                &lt;br /&gt;&#10;                Pi 把这条公式工程化到了极致。&#10;            &lt;/Text&gt;&#10;        &lt;/Box&gt;&#10;&#10;        &lt;Box style={{ flexDirection: 'column' }}&gt;&#10;            &lt;Box style={{ width: 420, height: 1, background: 'rgba(232,238,249,0.18)' }} /&gt;&#10;            &lt;Text style={{ marginTop: 16, fontSize: 13, color: 'rgba(232,238,249,0.42)', letterSpacing: 3, fontFamily: '&quot;JetBrains Mono&quot;, &quot;Cascadia Mono&quot;, Consolas, monospace' }}&gt;本章要回答&lt;/Text&gt;&#10;            &lt;Box style={{ marginTop: 12, flexDirection: 'column', gap: 8 }}&gt;&#10;                {['「极简」具体体现在哪几个数字上？', '四层架构为什么要严格单向依赖？', '想改一处能力，该走哪条定制路线？'].map((t, i) =&gt; (&#10;                    &lt;Box key={i} style={{ flexDirection: 'row', alignItems: 'center', gap: 12 }}&gt;&#10;                        &lt;Box style={{ width: 5, height: 5, background: '#2AD4EE' }} /&gt;&#10;                        &lt;Text style={{ fontSize: 17, color: 'rgba(232,238,249,0.78)' }}&gt;{t}&lt;/Text&gt;&#10;                    &lt;/Box&gt;&#10;                ))}&#10;            &lt;/Box&gt;&#10;        &lt;/Box&gt;&#10;    &lt;/Box&gt;&#10;&#10;    {/* 右：章节号 + 目录 */}&#10;    &lt;Box style={{ position: 'absolute', right: 88, top: 336, width: 392, flexDirection: 'column', paddingTop: 22, paddingBottom: 22, paddingLeft: 24, paddingRight: 24, background: 'rgba(11,18,32,0.82)', border: '1px solid rgba(42,212,238,0.22)', borderRadius: 4 }}&gt;&#10;        &lt;Box style={{ flexDirection: 'row', alignItems: 'flex-end', justifyContent: 'space-between' }}&gt;&#10;            &lt;Text style={{ fontSize: 76, fontWeight: 'bold', color: 'rgba(42,212,238,0.55)', fontFamily: '&quot;JetBrains Mono&quot;, &quot;Cascadia Mono&quot;, Consolas, monospace', lineHeight: 1 }}&gt;03&lt;/Text&gt;&#10;            &lt;Text style={{ fontSize: 13, color: 'rgba(232,238,249,0.42)', letterSpacing: 3, fontFamily: '&quot;JetBrains Mono&quot;, &quot;Cascadia Mono&quot;, Consolas, monospace', paddingBottom: 8 }}&gt;PAGES 19 – 25&lt;/Text&gt;&#10;        &lt;/Box&gt;&#10;        &lt;Box style={{ marginTop: 18, flexDirection: 'column', gap: 12 }}&gt;&#10;            {['三个反常识设计与极简的数字', '分层架构与一次调用的数据流', '九个设计点与三层定制能力'].map((t, i) =&gt; (&#10;                &lt;Box key={i} style={{ flexDirection: 'row', alignItems: 'center', gap: 12 }}&gt;&#10;                    &lt;Box style={{ width: 18, height: 1, background: 'rgba(42,212,238,0.6)' }} /&gt;&#10;                    &lt;Text style={{ fontSize: 17, color: 'rgba(232,238,249,0.82)' }}&gt;{t}&lt;/Text&gt;&#10;                &lt;/Box&gt;&#10;            ))}&#10;        &lt;/Box&gt;&#10;    &lt;/Box&gt;&#10;&#10;    &lt;Text style={{ position: 'absolute', left: 88, top: 674, fontSize: 14, color: 'rgba(232,238,249,0.42)', fontFamily: '&quot;JetBrains Mono&quot;, &quot;Cascadia Mono&quot;, Consolas, monospace' }}&gt;19 / 33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pic>
        <p:nvPicPr>
          <p:cNvPr id="406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4630400" cy="9753600"/>
          </a:xfrm>
          <a:custGeom>
            <a:pathLst>
              <a:path w="1536" h="1024">
                <a:moveTo>
                  <a:pt x="1280" y="720"/>
                </a:moveTo>
                <a:lnTo>
                  <a:pt x="0" y="720"/>
                </a:lnTo>
                <a:lnTo>
                  <a:pt x="0" y="0"/>
                </a:lnTo>
                <a:lnTo>
                  <a:pt x="1280" y="0"/>
                </a:lnTo>
                <a:close/>
              </a:path>
            </a:pathLst>
          </a:custGeom>
          <a:ln/>
        </p:spPr>
      </p:pic>
      <p:sp>
        <p:nvSpPr>
          <p:cNvPr id="407" name=""/>
          <p:cNvSpPr/>
          <p:nvPr/>
        </p:nvSpPr>
        <p:spPr>
          <a:xfrm rot="0" flipH="0" flipV="0">
            <a:off x="0" y="0"/>
            <a:ext cx="9906000" cy="6858000"/>
          </a:xfrm>
          <a:prstGeom prst="rect">
            <a:avLst/>
          </a:prstGeom>
          <a:gradFill>
            <a:gsLst>
              <a:gs pos="0">
                <a:srgbClr val="0B1220">
                  <a:alpha val="97000"/>
                </a:srgbClr>
              </a:gs>
              <a:gs pos="50000">
                <a:srgbClr val="0B1220">
                  <a:alpha val="84000"/>
                </a:srgbClr>
              </a:gs>
              <a:gs pos="100000">
                <a:srgbClr val="0B1220">
                  <a:alpha val="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408" name=""/>
          <p:cNvSpPr/>
          <p:nvPr/>
        </p:nvSpPr>
        <p:spPr>
          <a:xfrm rot="0" flipH="0" flipV="0">
            <a:off x="0" y="0"/>
            <a:ext cx="57150" cy="6858000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2AD4EE">
                  <a:alpha val="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838200" y="1447800"/>
            <a:ext cx="6667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525">
                <a:solidFill>
                  <a:srgbClr val="2AD4EE"/>
                </a:solidFill>
                <a:latin typeface="JetBrains Mono"/>
                <a:ea typeface="JetBrains Mono"/>
              </a:rPr>
              <a:t>CHAPTER 03</a:t>
            </a:r>
            <a:endParaRPr/>
          </a:p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838200" y="1866900"/>
            <a:ext cx="6667500" cy="17621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4800" b="1" spc="75">
                <a:solidFill>
                  <a:srgbClr val="E8EEF9"/>
                </a:solidFill>
                <a:latin typeface="Source Han Sans SC"/>
                <a:ea typeface="Source Han Sans SC"/>
              </a:rPr>
              <a:t>Pi Agent</a:t>
            </a:r>
            <a:r>
              <a:rPr lang="zh-CN" sz="4800" b="1" spc="75">
                <a:solidFill>
                  <a:srgbClr val="E8EEF9"/>
                </a:solidFill>
                <a:latin typeface="Source Han Sans SC"/>
                <a:ea typeface="Source Han Sans SC"/>
              </a:rPr>
              <a:t>：</a:t>
            </a:r>
            <a:endParaRPr/>
          </a:p>
          <a:p>
            <a:pPr>
              <a:lnSpc>
                <a:spcPct val="120000"/>
              </a:lnSpc>
            </a:pPr>
            <a:r>
              <a:rPr lang="zh-CN" sz="4800" b="1" spc="75">
                <a:solidFill>
                  <a:srgbClr val="2AD4EE"/>
                </a:solidFill>
                <a:latin typeface="Source Han Sans SC"/>
                <a:ea typeface="Source Han Sans SC"/>
              </a:rPr>
              <a:t>一个极简范式</a:t>
            </a:r>
            <a:endParaRPr/>
          </a:p>
        </p:txBody>
      </p:sp>
      <p:sp>
        <p:nvSpPr>
          <p:cNvPr id="411" name=""/>
          <p:cNvSpPr/>
          <p:nvPr/>
        </p:nvSpPr>
        <p:spPr>
          <a:xfrm rot="0" flipH="0" flipV="0">
            <a:off x="838200" y="3810000"/>
            <a:ext cx="723900" cy="381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838200" y="4076700"/>
            <a:ext cx="6667500" cy="84772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自主智能体本质就是</a:t>
            </a:r>
            <a:r>
              <a:rPr lang="en-US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LLM + </a:t>
            </a: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工具</a:t>
            </a:r>
            <a:r>
              <a:rPr lang="en-US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循环；</a:t>
            </a:r>
            <a:endParaRPr/>
          </a:p>
          <a:p>
            <a:pPr>
              <a:lnSpc>
                <a:spcPct val="175000"/>
              </a:lnSpc>
            </a:pPr>
            <a:r>
              <a:rPr lang="en-US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Pi </a:t>
            </a: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把这条公式工程化到了极致。</a:t>
            </a:r>
            <a:endParaRPr/>
          </a:p>
        </p:txBody>
      </p:sp>
      <p:sp>
        <p:nvSpPr>
          <p:cNvPr id="413" name=""/>
          <p:cNvSpPr/>
          <p:nvPr/>
        </p:nvSpPr>
        <p:spPr>
          <a:xfrm rot="0" flipH="0" flipV="0">
            <a:off x="838200" y="5105400"/>
            <a:ext cx="4000500" cy="9525"/>
          </a:xfrm>
          <a:prstGeom prst="rect">
            <a:avLst/>
          </a:prstGeom>
          <a:solidFill>
            <a:srgbClr val="E8EEF9">
              <a:alpha val="18000"/>
            </a:srgbClr>
          </a:solidFill>
          <a:ln/>
        </p:spPr>
        <p:txBody>
          <a:bodyPr/>
          <a:p/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838200" y="5267325"/>
            <a:ext cx="666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本章要回答</a:t>
            </a:r>
            <a:endParaRPr/>
          </a:p>
        </p:txBody>
      </p:sp>
      <p:sp>
        <p:nvSpPr>
          <p:cNvPr id="415" name=""/>
          <p:cNvSpPr/>
          <p:nvPr/>
        </p:nvSpPr>
        <p:spPr>
          <a:xfrm rot="0" flipH="0" flipV="0">
            <a:off x="838200" y="5610225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1000125" y="5534025"/>
            <a:ext cx="259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「极简」具体体现在哪几个数字上？</a:t>
            </a:r>
            <a:endParaRPr/>
          </a:p>
        </p:txBody>
      </p:sp>
      <p:sp>
        <p:nvSpPr>
          <p:cNvPr id="417" name=""/>
          <p:cNvSpPr/>
          <p:nvPr/>
        </p:nvSpPr>
        <p:spPr>
          <a:xfrm rot="0" flipH="0" flipV="0">
            <a:off x="838200" y="588645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1000125" y="5810250"/>
            <a:ext cx="2428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四层架构为什么要严格单向依赖？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838200" y="6162675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1000125" y="6086475"/>
            <a:ext cx="259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想改一处能力，该走哪条定制路线？</a:t>
            </a:r>
            <a:endParaRPr/>
          </a:p>
        </p:txBody>
      </p:sp>
      <p:sp>
        <p:nvSpPr>
          <p:cNvPr id="421" name=""/>
          <p:cNvSpPr/>
          <p:nvPr/>
        </p:nvSpPr>
        <p:spPr>
          <a:xfrm rot="0" flipH="0" flipV="0">
            <a:off x="7620000" y="3200400"/>
            <a:ext cx="3733800" cy="2295525"/>
          </a:xfrm>
          <a:prstGeom prst="roundRect">
            <a:avLst>
              <a:gd name="adj" fmla="val 1660"/>
            </a:avLst>
          </a:prstGeom>
          <a:solidFill>
            <a:srgbClr val="0B1220">
              <a:alpha val="82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7848600" y="3409950"/>
            <a:ext cx="8572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2AD4EE">
                    <a:alpha val="55000"/>
                  </a:srgbClr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9801225" y="4057650"/>
            <a:ext cx="1323975" cy="228600"/>
          </a:xfrm>
          <a:prstGeom prst="rect"/>
        </p:spPr>
        <p:txBody>
          <a:bodyPr wrap="none" lIns="0" tIns="0" rIns="0" bIns="5715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PAGES 19 – 25</a:t>
            </a:r>
            <a:endParaRPr/>
          </a:p>
        </p:txBody>
      </p:sp>
      <p:sp>
        <p:nvSpPr>
          <p:cNvPr id="424" name=""/>
          <p:cNvSpPr/>
          <p:nvPr/>
        </p:nvSpPr>
        <p:spPr>
          <a:xfrm rot="0" flipH="0" flipV="0">
            <a:off x="7848600" y="455295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/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8134350" y="4457700"/>
            <a:ext cx="2105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三个反常识设计与极简的数字</a:t>
            </a:r>
            <a:endParaRPr/>
          </a:p>
        </p:txBody>
      </p:sp>
      <p:sp>
        <p:nvSpPr>
          <p:cNvPr id="426" name=""/>
          <p:cNvSpPr/>
          <p:nvPr/>
        </p:nvSpPr>
        <p:spPr>
          <a:xfrm rot="0" flipH="0" flipV="0">
            <a:off x="7848600" y="4867275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/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8134350" y="4772025"/>
            <a:ext cx="2105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分层架构与一次调用的数据流</a:t>
            </a:r>
            <a:endParaRPr/>
          </a:p>
        </p:txBody>
      </p:sp>
      <p:sp>
        <p:nvSpPr>
          <p:cNvPr id="428" name=""/>
          <p:cNvSpPr/>
          <p:nvPr/>
        </p:nvSpPr>
        <p:spPr>
          <a:xfrm rot="0" flipH="0" flipV="0">
            <a:off x="7848600" y="518160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/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8134350" y="5086350"/>
            <a:ext cx="1943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九个设计点与三层定制能力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838200" y="6419850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19 / 33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86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0;    {/* A 区 · 标题块 */}&#10;    &lt;Box style={{ height: 100, flexDirection: 'row', gap: 16, alignItems: 'flex-start', paddingTop: 6 }}&gt;&#10;        &lt;Box style={{ width: 4, height: 36, background: '#2AD4EE', marginTop: 5 }} /&gt;&#10;        &lt;Box style={{ flexDirection: 'column' }}&gt;&#10;            &lt;Text style={{ fontSize: 34, fontWeight: 'bold', color: '#E8EEF9' }}&gt;Pi 是什么：三个反常识设计&lt;/Text&gt;&#10;            &lt;Text style={{ marginTop: 8, fontSize: 17, color: 'rgba(232,238,249,0.52)' }}&gt;它把「不做什么」写成了设计原则&lt;/Text&gt;&#10;        &lt;/Box&gt;&#10;    &lt;/Box&gt;&#10;&#10;    {/* B 区 · 非对称双栏 58:42 */}&#10;    &lt;Box style={{ height: 516, flexDirection: 'row', gap: 34 }}&gt;&#10;        {/* 左：三个反常识 */}&#10;        &lt;Box style={{ flex: 58, flexDirection: 'column', paddingRight: 32, borderRight: '1px solid rgba(232,238,249,0.12)' }}&gt;&#10;            &lt;Text style={{ fontSize: 15, color: '#2AD4EE', letterSpacing: 3, fontFamily: '&quot;JetBrains Mono&quot;, &quot;Cascadia Mono&quot;, Consolas, monospace' }}&gt;COUNTER-INTUITIVE BY DESIGN&lt;/Text&gt;&#10;&#10;            &lt;Box style={{ flex: 1, marginTop: 14, flexDirection: 'column', justifyContent: 'space-between' }}&gt;&#10;                {[&#10;                    { i: 'box', n: '01', t: '刻意「不内置」', d: '不内置 MCP、子智能体、计划模式、任务清单、权限弹窗。核心只保留最必要的部分，多余能力全部外置成扩展——需要什么，自己装。' },&#10;                    { i: 'unlock', n: '02', t: '没有沙箱', d: '以启动用户的完整权限运行。这既是它「真能干完活」的原因，也意味着生产环境必须自己做容器化隔离，或用扩展钩子自建拦截。' },&#10;                    { i: 'compass', n: '03', t: '不给「计划模式」', d: '怎么拆步骤、先做哪一步，交给模型自己判断。框架不预设流程，也就不会用错误的流程绑住模型的手脚。' },&#10;                ].map((c, i) =&gt; (&#10;                    &lt;Box key={i} style={{ flex: 1, flexDirection: 'row', gap: 18, paddingTop: 14, paddingBottom: 14, borderTop: i === 0 ? 'none' : '1px solid rgba(232,238,249,0.08)' }}&gt;&#10;                        &lt;Box style={{ width: 44, height: 44, borderRadius: 4, background: 'rgba(42,212,238,0.12)', border: '1px solid rgba(42,212,238,0.35)', alignItems: 'center', justifyContent: 'center' }}&gt;&#10;                            &lt;FAIcon name={c.i} style={{ fill: '#2AD4EE', width: 20, height: 20 }} /&gt;&#10;                        &lt;/Box&gt;&#10;                        &lt;Box style={{ flexDirection: 'column', flex: 1 }}&gt;&#10;                            &lt;Box style={{ flexDirection: 'row', alignItems: 'baseline', gap: 10 }}&gt;&#10;                                &lt;Text style={{ fontSize: 14, color: '#2AD4EE', fontFamily: '&quot;JetBrains Mono&quot;, &quot;Cascadia Mono&quot;, Consolas, monospace' }}&gt;{c.n}&lt;/Text&gt;&#10;                                &lt;Text style={{ fontSize: 22, fontWeight: 'bold', color: '#E8EEF9' }}&gt;{c.t}&lt;/Text&gt;&#10;                            &lt;/Box&gt;&#10;                            &lt;Text style={{ marginTop: 10, fontSize: 16, color: 'rgba(232,238,249,0.68)', lineHeight: 1.7 }}&gt;{c.d}&lt;/Text&gt;&#10;                        &lt;/Box&gt;&#10;                    &lt;/Box&gt;&#10;                ))}&#10;            &lt;/Box&gt;&#10;        &lt;/Box&gt;&#10;&#10;        {/* 右：定位 + 判断 */}&#10;        &lt;Box style={{ flex: 42, flexDirection: 'column' }}&gt;&#10;            &lt;Text style={{ fontSize: 15, color: 'rgba(232,238,249,0.52)', letterSpacing: 2, fontFamily: '&quot;JetBrains Mono&quot;, &quot;Cascadia Mono&quot;, Consolas, monospace' }}&gt;WHAT IT IS&lt;/Text&gt;&#10;&#10;            &lt;Box style={{ marginTop: 14, paddingTop: 18, paddingBottom: 18, paddingLeft: 18, paddingRight: 18, background: 'rgba(22,35,61,0.92)', border: '1px solid rgba(42,212,238,0.28)', borderRadius: 4 }}&gt;&#10;                &lt;Text style={{ fontSize: 15, color: '#2AD4EE', fontFamily: '&quot;JetBrains Mono&quot;, &quot;Cascadia Mono&quot;, Consolas, monospace', lineHeight: 1.5 }}&gt;minimal terminal{&quot;\n&quot;}coding harness&lt;/Text&gt;&#10;                &lt;Text style={{ marginTop: 12, fontSize: 15.5, color: 'rgba(232,238,249,0.72)', lineHeight: 1.7 }}&gt;&#10;                    不是聊天机器人，也不是 IDE 插件，而是把模型、工具、上下文、会话与扩展串起来的终端执行框架。&#10;                &lt;/Text&gt;&#10;            &lt;/Box&gt;&#10;&#10;            &lt;Box style={{ marginTop: 14, flexDirection: 'column', gap: 8 }}&gt;&#10;                {[&#10;                    ['协议', 'MIT · 完全开源，可商用'],&#10;                    ['运行', '完全本地，模型调用走自己的 Key / 订阅'],&#10;                    ['默认工具', 'read · write · edit · bash，只有 4 个'],&#10;                    ['模型接入', '内置 30+ 家，/model 一键切换'],&#10;                ].map((r, i) =&gt; (&#10;                    &lt;Box key={i} style={{ flexDirection: 'row', alignItems: 'center', gap: 12, paddingTop: 6, paddingBottom: 6, borderBottom: '1px solid rgba(232,238,249,0.08)' }}&gt;&#10;                        &lt;Text style={{ width: 68, fontSize: 14, color: 'rgba(232,238,249,0.45)', fontFamily: '&quot;JetBrains Mono&quot;, &quot;Cascadia Mono&quot;, Consolas, monospace' }}&gt;{r[0]}&lt;/Text&gt;&#10;                        &lt;Text style={{ flex: 1, fontSize: 15, color: '#E8EEF9', lineHeight: 1.5 }}&gt;{r[1]}&lt;/Text&gt;&#10;                    &lt;/Box&gt;&#10;                ))}&#10;            &lt;/Box&gt;&#10;&#10;            &lt;Box style={{ marginTop: 'auto', paddingTop: 16, paddingBottom: 16, paddingLeft: 18, paddingRight: 18, background: 'rgba(42,212,238,0.08)', border: '1px solid rgba(42,212,238,0.22)', borderRadius: 4 }}&gt;&#10;                &lt;Text style={{ fontSize: 15, color: '#2AD4EE', letterSpacing: 3, fontFamily: '&quot;JetBrains Mono&quot;, &quot;Cascadia Mono&quot;, Consolas, monospace' }}&gt;所以&lt;/Text&gt;&#10;                &lt;Text style={{ marginTop: 10, fontSize: 17, color: '#E8EEF9', lineHeight: 1.7 }}&gt;&#10;                    这不是功能少，而是把&lt;span style={{ color: '#2AD4EE' }}&gt;指导权还给了模型&lt;/span&gt;。&#10;                &lt;/Text&gt;&#10;            &lt;/Box&gt;&#10;        &lt;/Box&gt;&#10;    &lt;/Box&gt;&#10;&#10;    {/* C 区 · 页脚 */}&#10;    &lt;Box style={{ height: 40, flexDirection: 'row', alignItems: 'flex-end', justifyContent: 'space-between' }}&gt;&#10;        &lt;Text style={{ fontSize: 14, color: 'rgba(232,238,249,0.42)' }}&gt;从 LLM 到 Agent 再到 Pi Agent&lt;/Text&gt;&#10;        &lt;Text style={{ fontSize: 14, color: 'rgba(232,238,249,0.42)', fontFamily: '&quot;JetBrains Mono&quot;, &quot;Cascadia Mono&quot;, Consolas, monospace' }}&gt;20 / 3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488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9147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Pi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是什么：三个反常识设计</a:t>
            </a:r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91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它把「不做什么」写成了设计原则</a:t>
            </a:r>
            <a:endParaRPr/>
          </a:p>
        </p:txBody>
      </p:sp>
      <p:sp>
        <p:nvSpPr>
          <p:cNvPr id="491" name=""/>
          <p:cNvSpPr/>
          <p:nvPr/>
        </p:nvSpPr>
        <p:spPr>
          <a:xfrm rot="0" flipH="0" flipV="0">
            <a:off x="685800" y="1143000"/>
            <a:ext cx="6096000" cy="4914900"/>
          </a:xfrm>
          <a:custGeom>
            <a:pathLst>
              <a:path w="640" h="516">
                <a:moveTo>
                  <a:pt x="639" y="0"/>
                </a:moveTo>
                <a:lnTo>
                  <a:pt x="640" y="0"/>
                </a:lnTo>
                <a:lnTo>
                  <a:pt x="640" y="516"/>
                </a:lnTo>
                <a:lnTo>
                  <a:pt x="639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5772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COUNTER-INTUITIVE BY DESIGN</a:t>
            </a:r>
            <a:endParaRPr/>
          </a:p>
        </p:txBody>
      </p:sp>
      <p:sp>
        <p:nvSpPr>
          <p:cNvPr id="493" name=""/>
          <p:cNvSpPr/>
          <p:nvPr/>
        </p:nvSpPr>
        <p:spPr>
          <a:xfrm rot="0" flipH="0" flipV="0">
            <a:off x="685800" y="1581150"/>
            <a:ext cx="419100" cy="419100"/>
          </a:xfrm>
          <a:prstGeom prst="roundRect">
            <a:avLst>
              <a:gd name="adj" fmla="val 9091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9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0100" y="1695450"/>
            <a:ext cx="190500" cy="190500"/>
          </a:xfrm>
          <a:prstGeom prst="rect">
            <a:avLst/>
          </a:prstGeom>
          <a:ln/>
        </p:spPr>
      </p:pic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1276350" y="1581150"/>
            <a:ext cx="1619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1533525" y="1581150"/>
            <a:ext cx="1466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刻意「不内置」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1276350" y="1933575"/>
            <a:ext cx="51816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不内置</a:t>
            </a:r>
            <a:r>
              <a:rPr lang="en-US" sz="12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MCP</a:t>
            </a:r>
            <a:r>
              <a:rPr lang="zh-CN" sz="12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、子智能体、计划模式、任务清单、权限弹窗。核心只保留最必要的部分，多余能力全部外置成扩展——需要什么，自己装。</a:t>
            </a:r>
            <a:endParaRPr/>
          </a:p>
        </p:txBody>
      </p:sp>
      <p:sp>
        <p:nvSpPr>
          <p:cNvPr id="498" name=""/>
          <p:cNvSpPr/>
          <p:nvPr/>
        </p:nvSpPr>
        <p:spPr>
          <a:xfrm rot="0" flipH="0" flipV="0">
            <a:off x="685800" y="2981325"/>
            <a:ext cx="5772150" cy="1543050"/>
          </a:xfrm>
          <a:custGeom>
            <a:pathLst>
              <a:path w="606" h="162">
                <a:moveTo>
                  <a:pt x="0" y="0"/>
                </a:moveTo>
                <a:lnTo>
                  <a:pt x="606" y="0"/>
                </a:lnTo>
                <a:lnTo>
                  <a:pt x="606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/>
        </p:txBody>
      </p:sp>
      <p:sp>
        <p:nvSpPr>
          <p:cNvPr id="499" name=""/>
          <p:cNvSpPr/>
          <p:nvPr/>
        </p:nvSpPr>
        <p:spPr>
          <a:xfrm rot="0" flipH="0" flipV="0">
            <a:off x="685800" y="3124200"/>
            <a:ext cx="419100" cy="419100"/>
          </a:xfrm>
          <a:prstGeom prst="roundRect">
            <a:avLst>
              <a:gd name="adj" fmla="val 9091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0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00100" y="3238500"/>
            <a:ext cx="190500" cy="190500"/>
          </a:xfrm>
          <a:prstGeom prst="rect">
            <a:avLst/>
          </a:prstGeom>
          <a:ln/>
        </p:spPr>
      </p:pic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1276350" y="3124200"/>
            <a:ext cx="1619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1533525" y="3124200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没有沙箱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1276350" y="3476625"/>
            <a:ext cx="51816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以启动用户的完整权限运行。这既是它「真能干完活」的原因，也意味着生产环境必须自己做容器化隔离，或用扩展钩子自建拦截。</a:t>
            </a:r>
            <a:endParaRPr/>
          </a:p>
        </p:txBody>
      </p:sp>
      <p:sp>
        <p:nvSpPr>
          <p:cNvPr id="504" name=""/>
          <p:cNvSpPr/>
          <p:nvPr/>
        </p:nvSpPr>
        <p:spPr>
          <a:xfrm rot="0" flipH="0" flipV="0">
            <a:off x="685800" y="4514850"/>
            <a:ext cx="5772150" cy="1552575"/>
          </a:xfrm>
          <a:custGeom>
            <a:pathLst>
              <a:path w="606" h="163">
                <a:moveTo>
                  <a:pt x="0" y="0"/>
                </a:moveTo>
                <a:lnTo>
                  <a:pt x="606" y="0"/>
                </a:lnTo>
                <a:lnTo>
                  <a:pt x="606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/>
        </p:txBody>
      </p:sp>
      <p:sp>
        <p:nvSpPr>
          <p:cNvPr id="505" name=""/>
          <p:cNvSpPr/>
          <p:nvPr/>
        </p:nvSpPr>
        <p:spPr>
          <a:xfrm rot="0" flipH="0" flipV="0">
            <a:off x="685800" y="4657725"/>
            <a:ext cx="419100" cy="419100"/>
          </a:xfrm>
          <a:prstGeom prst="roundRect">
            <a:avLst>
              <a:gd name="adj" fmla="val 9091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0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00100" y="4772025"/>
            <a:ext cx="190500" cy="190500"/>
          </a:xfrm>
          <a:prstGeom prst="rect">
            <a:avLst/>
          </a:prstGeom>
          <a:ln/>
        </p:spPr>
      </p:pic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1276350" y="4657725"/>
            <a:ext cx="1619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1533525" y="4657725"/>
            <a:ext cx="1676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不给「计划模式」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1276350" y="5010150"/>
            <a:ext cx="51816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怎么拆步骤、先做哪一步，交给模型自己判断。框架不预设流程，也就不会用错误的流程绑住模型的手脚。</a:t>
            </a:r>
            <a:endParaRPr/>
          </a:p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7096125" y="1143000"/>
            <a:ext cx="4410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WHAT IT IS</a:t>
            </a:r>
            <a:endParaRPr/>
          </a:p>
        </p:txBody>
      </p:sp>
      <p:sp>
        <p:nvSpPr>
          <p:cNvPr id="511" name=""/>
          <p:cNvSpPr/>
          <p:nvPr/>
        </p:nvSpPr>
        <p:spPr>
          <a:xfrm rot="0" flipH="0" flipV="0">
            <a:off x="7096125" y="1447800"/>
            <a:ext cx="4410075" cy="1581150"/>
          </a:xfrm>
          <a:prstGeom prst="roundRect">
            <a:avLst>
              <a:gd name="adj" fmla="val 2410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2AD4EE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7267575" y="1619250"/>
            <a:ext cx="4067175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2AD4EE"/>
                </a:solidFill>
                <a:latin typeface="JetBrains Mono"/>
                <a:ea typeface="JetBrains Mono"/>
              </a:rPr>
              <a:t>minimal terminal</a:t>
            </a:r>
            <a:endParaRPr/>
          </a:p>
          <a:p>
            <a:pPr>
              <a:lnSpc>
                <a:spcPct val="150000"/>
              </a:lnSpc>
            </a:pPr>
            <a:r>
              <a:rPr lang="en-US" sz="1125">
                <a:solidFill>
                  <a:srgbClr val="2AD4EE"/>
                </a:solidFill>
                <a:latin typeface="JetBrains Mono"/>
                <a:ea typeface="JetBrains Mono"/>
              </a:rPr>
              <a:t>coding harness</a:t>
            </a:r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7267575" y="2247900"/>
            <a:ext cx="40671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6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不是聊天机器人，也不是</a:t>
            </a:r>
            <a:r>
              <a:rPr lang="en-US" sz="116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IDE </a:t>
            </a:r>
            <a:r>
              <a:rPr lang="zh-CN" sz="116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插件，而是把模型、工具、上下文、会话与扩展串起来的终端执行框架。</a:t>
            </a:r>
            <a:endParaRPr/>
          </a:p>
        </p:txBody>
      </p:sp>
      <p:sp>
        <p:nvSpPr>
          <p:cNvPr id="514" name=""/>
          <p:cNvSpPr/>
          <p:nvPr/>
        </p:nvSpPr>
        <p:spPr>
          <a:xfrm rot="0" flipH="0" flipV="0">
            <a:off x="7096125" y="3162300"/>
            <a:ext cx="4410075" cy="390525"/>
          </a:xfrm>
          <a:custGeom>
            <a:pathLst>
              <a:path w="463" h="41">
                <a:moveTo>
                  <a:pt x="0" y="40"/>
                </a:moveTo>
                <a:lnTo>
                  <a:pt x="463" y="40"/>
                </a:lnTo>
                <a:lnTo>
                  <a:pt x="463" y="41"/>
                </a:lnTo>
                <a:lnTo>
                  <a:pt x="0" y="41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/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7096125" y="3267075"/>
            <a:ext cx="64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协议</a:t>
            </a:r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7858125" y="3219450"/>
            <a:ext cx="36480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MIT · 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完全开源，可商用</a:t>
            </a:r>
            <a:endParaRPr/>
          </a:p>
        </p:txBody>
      </p:sp>
      <p:sp>
        <p:nvSpPr>
          <p:cNvPr id="517" name=""/>
          <p:cNvSpPr/>
          <p:nvPr/>
        </p:nvSpPr>
        <p:spPr>
          <a:xfrm rot="0" flipH="0" flipV="0">
            <a:off x="7096125" y="3619500"/>
            <a:ext cx="4410075" cy="390525"/>
          </a:xfrm>
          <a:custGeom>
            <a:pathLst>
              <a:path w="463" h="41">
                <a:moveTo>
                  <a:pt x="0" y="40"/>
                </a:moveTo>
                <a:lnTo>
                  <a:pt x="463" y="40"/>
                </a:lnTo>
                <a:lnTo>
                  <a:pt x="463" y="41"/>
                </a:lnTo>
                <a:lnTo>
                  <a:pt x="0" y="41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/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7096125" y="3724275"/>
            <a:ext cx="64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运行</a:t>
            </a:r>
            <a:endParaRPr/>
          </a:p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7858125" y="3676650"/>
            <a:ext cx="36480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完全本地，模型调用走自己的</a:t>
            </a: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Key / 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订阅</a:t>
            </a:r>
            <a:endParaRPr/>
          </a:p>
        </p:txBody>
      </p:sp>
      <p:sp>
        <p:nvSpPr>
          <p:cNvPr id="520" name=""/>
          <p:cNvSpPr/>
          <p:nvPr/>
        </p:nvSpPr>
        <p:spPr>
          <a:xfrm rot="0" flipH="0" flipV="0">
            <a:off x="7096125" y="4076700"/>
            <a:ext cx="4410075" cy="390525"/>
          </a:xfrm>
          <a:custGeom>
            <a:pathLst>
              <a:path w="463" h="41">
                <a:moveTo>
                  <a:pt x="0" y="40"/>
                </a:moveTo>
                <a:lnTo>
                  <a:pt x="463" y="40"/>
                </a:lnTo>
                <a:lnTo>
                  <a:pt x="463" y="41"/>
                </a:lnTo>
                <a:lnTo>
                  <a:pt x="0" y="41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/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7096125" y="4181475"/>
            <a:ext cx="64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默认工具</a:t>
            </a:r>
            <a:endParaRPr/>
          </a:p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7858125" y="4133850"/>
            <a:ext cx="36480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>read · write · edit · bash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，只有</a:t>
            </a: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4 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个</a:t>
            </a:r>
            <a:endParaRPr/>
          </a:p>
        </p:txBody>
      </p:sp>
      <p:sp>
        <p:nvSpPr>
          <p:cNvPr id="523" name=""/>
          <p:cNvSpPr/>
          <p:nvPr/>
        </p:nvSpPr>
        <p:spPr>
          <a:xfrm rot="0" flipH="0" flipV="0">
            <a:off x="7096125" y="4533900"/>
            <a:ext cx="4410075" cy="390525"/>
          </a:xfrm>
          <a:custGeom>
            <a:pathLst>
              <a:path w="463" h="41">
                <a:moveTo>
                  <a:pt x="0" y="40"/>
                </a:moveTo>
                <a:lnTo>
                  <a:pt x="463" y="40"/>
                </a:lnTo>
                <a:lnTo>
                  <a:pt x="463" y="41"/>
                </a:lnTo>
                <a:lnTo>
                  <a:pt x="0" y="41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/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7096125" y="4638675"/>
            <a:ext cx="64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模型接入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7858125" y="4591050"/>
            <a:ext cx="36480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内置</a:t>
            </a: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30+ 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家，</a:t>
            </a: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/model 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一键切换</a:t>
            </a:r>
            <a:endParaRPr/>
          </a:p>
        </p:txBody>
      </p:sp>
      <p:sp>
        <p:nvSpPr>
          <p:cNvPr id="526" name=""/>
          <p:cNvSpPr/>
          <p:nvPr/>
        </p:nvSpPr>
        <p:spPr>
          <a:xfrm rot="0" flipH="0" flipV="0">
            <a:off x="7096125" y="5153025"/>
            <a:ext cx="4410075" cy="904875"/>
          </a:xfrm>
          <a:prstGeom prst="roundRect">
            <a:avLst>
              <a:gd name="adj" fmla="val 4211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7267575" y="530542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7267575" y="5572125"/>
            <a:ext cx="4067175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这不是功能少，而是把</a:t>
            </a:r>
            <a:r>
              <a:rPr lang="zh-CN" sz="1275">
                <a:solidFill>
                  <a:srgbClr val="2AD4EE"/>
                </a:solidFill>
                <a:latin typeface="Source Han Sans SC"/>
                <a:ea typeface="Source Han Sans SC"/>
              </a:rPr>
              <a:t>指导权还给了模型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20 / 33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531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0;    {/* A 区 · 标题块 */}&#10;    &lt;Box style={{ height: 100, flexDirection: 'row', gap: 16, alignItems: 'flex-start', paddingTop: 6 }}&gt;&#10;        &lt;Box style={{ width: 4, height: 36, background: '#2AD4EE', marginTop: 5 }} /&gt;&#10;        &lt;Box style={{ flexDirection: 'column' }}&gt;&#10;            &lt;Text style={{ fontSize: 34, fontWeight: 'bold', color: '#E8EEF9' }}&gt;极简的代价与回报&lt;/Text&gt;&#10;            &lt;Text style={{ marginTop: 8, fontSize: 17, color: 'rgba(232,238,249,0.52)' }}&gt;三个数字，说明它凭什么又快又便宜&lt;/Text&gt;&#10;        &lt;/Box&gt;&#10;    &lt;/Box&gt;&#10;&#10;    {/* B 区 */}&#10;    &lt;Box style={{ height: 516, flexDirection: 'column' }}&gt;&#10;        {/* 三个数字 */}&#10;        &lt;Box style={{ flex: 1, flexDirection: 'row', alignItems: 'flex-start', paddingBottom: 26, borderBottom: '1px solid rgba(232,238,249,0.12)' }}&gt;&#10;            {[&#10;                { num: '418', unit: '行', size: 132, label: '核心 Agent 循环的代码量', note: '同类工具的核心实现通常是数千行 TypeScript' },&#10;                { num: '4', unit: '个', size: 104, label: '默认工具', note: 'read · write · edit · bash，够完成绝大多数编码任务' },&#10;                { num: '1/3', unit: '×', size: 84, label: '每轮发送的上下文', note: 'Databricks 基准测试的实测结果' },&#10;            ].map((c, i) =&gt; (&#10;                &lt;Box key={i} style={{ flex: i === 0 ? 40 : 30, flexDirection: 'column', paddingLeft: i === 0 ? 0 : 34, paddingRight: 34, borderRight: i === 2 ? 'none' : '1px solid rgba(232,238,249,0.10)' }}&gt;&#10;                    &lt;Box style={{ height: 146, flexDirection: 'row', alignItems: 'flex-end', gap: 8 }}&gt;&#10;                        &lt;Text style={{ fontSize: c.size, fontWeight: 'bold', color: '#2AD4EE', fontFamily: '&quot;JetBrains Mono&quot;, &quot;Cascadia Mono&quot;, Consolas, monospace', lineHeight: 0.92 }}&gt;{c.num}&lt;/Text&gt;&#10;                        &lt;Text style={{ fontSize: 24, color: 'rgba(42,212,238,0.62)', fontFamily: '&quot;JetBrains Mono&quot;, &quot;Cascadia Mono&quot;, Consolas, monospace', paddingBottom: 10 }}&gt;{c.unit}&lt;/Text&gt;&#10;                    &lt;/Box&gt;&#10;                    &lt;Text style={{ marginTop: 14, fontSize: 20, fontWeight: '600', color: '#E8EEF9' }}&gt;{c.label}&lt;/Text&gt;&#10;                    &lt;Text style={{ marginTop: 8, fontSize: 15, color: 'rgba(232,238,249,0.58)', lineHeight: 1.65 }}&gt;{c.note}&lt;/Text&gt;&#10;                &lt;/Box&gt;&#10;            ))}&#10;        &lt;/Box&gt;&#10;&#10;        {/* 补充说明 */}&#10;        &lt;Box style={{ height: 132, marginTop: 18, flexDirection: 'row', gap: 24 }}&gt;&#10;            &lt;Box style={{ flex: 1, flexDirection: 'row', alignItems: 'center', gap: 18, paddingLeft: 20, paddingRight: 20, background: 'rgba(22,35,61,0.92)', border: '1px solid rgba(232,238,249,0.10)', borderRadius: 4 }}&gt;&#10;                &lt;Text style={{ fontSize: 40, fontWeight: 'bold', color: 'rgba(232,238,249,0.82)', fontFamily: '&quot;JetBrains Mono&quot;, &quot;Cascadia Mono&quot;, Consolas, monospace', lineHeight: 1 }}&gt;&amp;lt;1000&lt;/Text&gt;&#10;                &lt;Text style={{ flex: 1, fontSize: 15.5, color: 'rgba(232,238,249,0.68)', lineHeight: 1.7 }}&gt;&#10;                    &lt;span style={{ color: '#E8EEF9', fontWeight: '600' }}&gt;系统提示的 token 数&lt;/span&gt;&#10;                    &lt;br /&gt;&#10;                    别家动辄数千。省掉的每一行，都会在每一轮里重复付费。&#10;                &lt;/Text&gt;&#10;            &lt;/Box&gt;&#10;            &lt;Box style={{ flex: 1, flexDirection: 'row', alignItems: 'center', gap: 18, paddingLeft: 20, paddingRight: 20, background: 'rgba(22,35,61,0.92)', border: '1px solid rgba(232,238,249,0.10)', borderRadius: 4 }}&gt;&#10;                &lt;Text style={{ fontSize: 40, fontWeight: 'bold', color: 'rgba(232,238,249,0.82)', fontFamily: '&quot;JetBrains Mono&quot;, &quot;Cascadia Mono&quot;, Consolas, monospace', lineHeight: 1 }}&gt;0&lt;/Text&gt;&#10;                &lt;Text style={{ flex: 1, fontSize: 15.5, color: 'rgba(232,238,249,0.68)', lineHeight: 1.7 }}&gt;&#10;                    &lt;span style={{ color: '#E8EEF9', fontWeight: '600' }}&gt;内置的编排与审批机制&lt;/span&gt;&#10;                    &lt;br /&gt;&#10;                    不塞进内核，能力全部外置成扩展——按需注入。&#10;                &lt;/Text&gt;&#10;            &lt;/Box&gt;&#10;        &lt;/Box&gt;&#10;&#10;        {/* 判断 */}&#10;        &lt;Box style={{ height: 62, marginTop: 18, flexDirection: 'row', alignItems: 'center', gap: 16, paddingLeft: 20, paddingRight: 20, background: 'rgba(42,212,238,0.08)', border: '1px solid rgba(42,212,238,0.22)', borderRadius: 4 }}&gt;&#10;            &lt;Text style={{ fontSize: 18, color: '#2AD4EE', fontWeight: 'bold', fontFamily: '&quot;JetBrains Mono&quot;, &quot;Cascadia Mono&quot;, Consolas, monospace' }}&gt;所以&lt;/Text&gt;&#10;            &lt;Box style={{ width: 1, height: 28, background: 'rgba(42,212,238,0.35)' }} /&gt;&#10;            &lt;Text style={{ fontSize: 18, color: '#E8EEF9', flex: 1, lineHeight: 1.6 }}&gt;&#10;                省下来的上下文，就是省下来的&lt;span style={{ color: '#2AD4EE' }}&gt;钱&lt;/span&gt;和&lt;span style={{ color: '#2AD4EE' }}&gt;准确率&lt;/span&gt;。&#10;            &lt;/Text&gt;&#10;        &lt;/Box&gt;&#10;    &lt;/Box&gt;&#10;&#10;    {/* C 区 · 页脚 */}&#10;    &lt;Box style={{ height: 40, flexDirection: 'row', alignItems: 'flex-end', justifyContent: 'space-between' }}&gt;&#10;        &lt;Text style={{ fontSize: 14, color: 'rgba(232,238,249,0.42)' }}&gt;从 LLM 到 Agent 再到 Pi Agent&lt;/Text&gt;&#10;        &lt;Text style={{ fontSize: 14, color: 'rgba(232,238,249,0.42)', fontFamily: '&quot;JetBrains Mono&quot;, &quot;Cascadia Mono&quot;, Consolas, monospace' }}&gt;21 / 3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533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极简的代价与回报</a:t>
            </a:r>
            <a:endParaRPr/>
          </a:p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259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三个数字，说明它凭什么又快又便宜</a:t>
            </a:r>
            <a:endParaRPr/>
          </a:p>
        </p:txBody>
      </p:sp>
      <p:sp>
        <p:nvSpPr>
          <p:cNvPr id="536" name=""/>
          <p:cNvSpPr/>
          <p:nvPr/>
        </p:nvSpPr>
        <p:spPr>
          <a:xfrm rot="0" flipH="0" flipV="0">
            <a:off x="685800" y="1143000"/>
            <a:ext cx="10820400" cy="2733675"/>
          </a:xfrm>
          <a:custGeom>
            <a:pathLst>
              <a:path w="1136" h="287">
                <a:moveTo>
                  <a:pt x="0" y="286"/>
                </a:moveTo>
                <a:lnTo>
                  <a:pt x="1136" y="286"/>
                </a:lnTo>
                <a:lnTo>
                  <a:pt x="1136" y="287"/>
                </a:lnTo>
                <a:lnTo>
                  <a:pt x="0" y="287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537" name=""/>
          <p:cNvSpPr/>
          <p:nvPr/>
        </p:nvSpPr>
        <p:spPr>
          <a:xfrm rot="0" flipH="0" flipV="0">
            <a:off x="685800" y="1143000"/>
            <a:ext cx="4333875" cy="2114550"/>
          </a:xfrm>
          <a:custGeom>
            <a:pathLst>
              <a:path w="455" h="222">
                <a:moveTo>
                  <a:pt x="454" y="0"/>
                </a:moveTo>
                <a:lnTo>
                  <a:pt x="455" y="0"/>
                </a:lnTo>
                <a:lnTo>
                  <a:pt x="455" y="222"/>
                </a:lnTo>
                <a:lnTo>
                  <a:pt x="454" y="222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/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219325" cy="1390650"/>
          </a:xfrm>
          <a:prstGeom prst="rect"/>
        </p:spPr>
        <p:txBody>
          <a:bodyPr wrap="none" lIns="0" tIns="0" rIns="0" bIns="0"/>
          <a:p>
            <a:pPr>
              <a:lnSpc>
                <a:spcPct val="92000"/>
              </a:lnSpc>
            </a:pPr>
            <a:r>
              <a:rPr lang="en-US" sz="9900" b="1">
                <a:solidFill>
                  <a:srgbClr val="2AD4EE"/>
                </a:solidFill>
                <a:latin typeface="JetBrains Mono"/>
                <a:ea typeface="JetBrains Mono"/>
              </a:rPr>
              <a:t>418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2981325" y="2162175"/>
            <a:ext cx="228600" cy="371475"/>
          </a:xfrm>
          <a:prstGeom prst="rect"/>
        </p:spPr>
        <p:txBody>
          <a:bodyPr wrap="none" lIns="0" tIns="0" rIns="0" bIns="71438"/>
          <a:p>
            <a:pPr>
              <a:lnSpc>
                <a:spcPct val="100000"/>
              </a:lnSpc>
            </a:pPr>
            <a:r>
              <a:rPr lang="zh-CN" sz="1800">
                <a:solidFill>
                  <a:srgbClr val="2AD4EE">
                    <a:alpha val="62000"/>
                  </a:srgbClr>
                </a:solidFill>
                <a:latin typeface="JetBrains Mono"/>
                <a:ea typeface="JetBrains Mono"/>
              </a:rPr>
              <a:t>行</a:t>
            </a:r>
            <a:endParaRPr/>
          </a:p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685800" y="2667000"/>
            <a:ext cx="39909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核心</a:t>
            </a:r>
            <a:r>
              <a:rPr lang="en-US" sz="15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循环的代码量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685800" y="2971800"/>
            <a:ext cx="3990975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同类工具的核心实现通常是数千行</a:t>
            </a:r>
            <a:r>
              <a:rPr lang="en-US" sz="1125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 xml:space="preserve"> TypeScript</a:t>
            </a:r>
            <a:endParaRPr/>
          </a:p>
        </p:txBody>
      </p:sp>
      <p:sp>
        <p:nvSpPr>
          <p:cNvPr id="542" name=""/>
          <p:cNvSpPr/>
          <p:nvPr/>
        </p:nvSpPr>
        <p:spPr>
          <a:xfrm rot="0" flipH="0" flipV="0">
            <a:off x="5010150" y="1143000"/>
            <a:ext cx="3257550" cy="2400300"/>
          </a:xfrm>
          <a:custGeom>
            <a:pathLst>
              <a:path w="342" h="252">
                <a:moveTo>
                  <a:pt x="341" y="0"/>
                </a:moveTo>
                <a:lnTo>
                  <a:pt x="342" y="0"/>
                </a:lnTo>
                <a:lnTo>
                  <a:pt x="342" y="252"/>
                </a:lnTo>
                <a:lnTo>
                  <a:pt x="341" y="252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/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5334000" y="1438275"/>
            <a:ext cx="581025" cy="1095375"/>
          </a:xfrm>
          <a:prstGeom prst="rect"/>
        </p:spPr>
        <p:txBody>
          <a:bodyPr wrap="none" lIns="0" tIns="0" rIns="0" bIns="0"/>
          <a:p>
            <a:pPr>
              <a:lnSpc>
                <a:spcPct val="92000"/>
              </a:lnSpc>
            </a:pPr>
            <a:r>
              <a:rPr lang="en-US" sz="7800" b="1">
                <a:solidFill>
                  <a:srgbClr val="2AD4EE"/>
                </a:solidFill>
                <a:latin typeface="JetBrains Mono"/>
                <a:ea typeface="JetBrains Mono"/>
              </a:rPr>
              <a:t>4</a:t>
            </a:r>
            <a:endParaRPr/>
          </a:p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5991225" y="2162175"/>
            <a:ext cx="228600" cy="371475"/>
          </a:xfrm>
          <a:prstGeom prst="rect"/>
        </p:spPr>
        <p:txBody>
          <a:bodyPr wrap="none" lIns="0" tIns="0" rIns="0" bIns="71438"/>
          <a:p>
            <a:pPr>
              <a:lnSpc>
                <a:spcPct val="100000"/>
              </a:lnSpc>
            </a:pPr>
            <a:r>
              <a:rPr lang="zh-CN" sz="1800">
                <a:solidFill>
                  <a:srgbClr val="2AD4EE">
                    <a:alpha val="62000"/>
                  </a:srgbClr>
                </a:solidFill>
                <a:latin typeface="JetBrains Mono"/>
                <a:ea typeface="JetBrains Mono"/>
              </a:rPr>
              <a:t>个</a:t>
            </a:r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5334000" y="2667000"/>
            <a:ext cx="2590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默认工具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5334000" y="2971800"/>
            <a:ext cx="25908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125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read · write · edit · bash</a:t>
            </a:r>
            <a:r>
              <a:rPr lang="zh-CN" sz="1125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，够完成绝大多数编码任务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8582025" y="1647825"/>
            <a:ext cx="1409700" cy="885825"/>
          </a:xfrm>
          <a:prstGeom prst="rect"/>
        </p:spPr>
        <p:txBody>
          <a:bodyPr wrap="none" lIns="0" tIns="0" rIns="0" bIns="0"/>
          <a:p>
            <a:pPr>
              <a:lnSpc>
                <a:spcPct val="92000"/>
              </a:lnSpc>
            </a:pPr>
            <a:r>
              <a:rPr lang="en-US" sz="6300" b="1">
                <a:solidFill>
                  <a:srgbClr val="2AD4EE"/>
                </a:solidFill>
                <a:latin typeface="JetBrains Mono"/>
                <a:ea typeface="JetBrains Mono"/>
              </a:rPr>
              <a:t>1/3</a:t>
            </a:r>
            <a:endParaRPr/>
          </a:p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10067925" y="2162175"/>
            <a:ext cx="142875" cy="371475"/>
          </a:xfrm>
          <a:prstGeom prst="rect"/>
        </p:spPr>
        <p:txBody>
          <a:bodyPr wrap="none" lIns="0" tIns="0" rIns="0" bIns="71438"/>
          <a:p>
            <a:pPr>
              <a:lnSpc>
                <a:spcPct val="100000"/>
              </a:lnSpc>
            </a:pPr>
            <a:r>
              <a:rPr sz="1800">
                <a:solidFill>
                  <a:srgbClr val="2AD4EE">
                    <a:alpha val="62000"/>
                  </a:srgbClr>
                </a:solidFill>
                <a:latin typeface="JetBrains Mono"/>
                <a:ea typeface="JetBrains Mono"/>
              </a:rPr>
              <a:t>×</a:t>
            </a:r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8582025" y="2667000"/>
            <a:ext cx="26003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每轮发送的上下文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8582025" y="2971800"/>
            <a:ext cx="2600325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1125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 xml:space="preserve">Databricks </a:t>
            </a:r>
            <a:r>
              <a:rPr lang="zh-CN" sz="1125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基准测试的实测结果</a:t>
            </a:r>
            <a:endParaRPr/>
          </a:p>
        </p:txBody>
      </p:sp>
      <p:sp>
        <p:nvSpPr>
          <p:cNvPr id="551" name=""/>
          <p:cNvSpPr/>
          <p:nvPr/>
        </p:nvSpPr>
        <p:spPr>
          <a:xfrm rot="0" flipH="0" flipV="0">
            <a:off x="685800" y="4038600"/>
            <a:ext cx="5295900" cy="1257300"/>
          </a:xfrm>
          <a:prstGeom prst="roundRect">
            <a:avLst>
              <a:gd name="adj" fmla="val 3030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876300" y="4438650"/>
            <a:ext cx="11239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E8EEF9">
                    <a:alpha val="82000"/>
                  </a:srgbClr>
                </a:solidFill>
                <a:latin typeface="JetBrains Mono"/>
                <a:ea typeface="JetBrains Mono"/>
              </a:rPr>
              <a:t>&lt;1000</a:t>
            </a:r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2171700" y="4362450"/>
            <a:ext cx="3619500" cy="609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63" b="1">
                <a:solidFill>
                  <a:srgbClr val="E8EEF9"/>
                </a:solidFill>
                <a:latin typeface="Source Han Sans SC"/>
                <a:ea typeface="Source Han Sans SC"/>
              </a:rPr>
              <a:t>系统提示的</a:t>
            </a:r>
            <a:r>
              <a:rPr lang="en-US" sz="1163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token </a:t>
            </a:r>
            <a:r>
              <a:rPr lang="zh-CN" sz="1163" b="1">
                <a:solidFill>
                  <a:srgbClr val="E8EEF9"/>
                </a:solidFill>
                <a:latin typeface="Source Han Sans SC"/>
                <a:ea typeface="Source Han Sans SC"/>
              </a:rPr>
              <a:t>数</a:t>
            </a:r>
            <a:endParaRPr/>
          </a:p>
          <a:p>
            <a:pPr>
              <a:lnSpc>
                <a:spcPct val="170000"/>
              </a:lnSpc>
            </a:pPr>
            <a:r>
              <a:rPr lang="zh-CN" sz="116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别家动辄数千。省掉的每一行，都会在每一轮里重复付费。</a:t>
            </a:r>
            <a:endParaRPr/>
          </a:p>
        </p:txBody>
      </p:sp>
      <p:sp>
        <p:nvSpPr>
          <p:cNvPr id="554" name=""/>
          <p:cNvSpPr/>
          <p:nvPr/>
        </p:nvSpPr>
        <p:spPr>
          <a:xfrm rot="0" flipH="0" flipV="0">
            <a:off x="6210300" y="4038600"/>
            <a:ext cx="5295900" cy="1257300"/>
          </a:xfrm>
          <a:prstGeom prst="roundRect">
            <a:avLst>
              <a:gd name="adj" fmla="val 3030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6400800" y="4438650"/>
            <a:ext cx="2286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E8EEF9">
                    <a:alpha val="82000"/>
                  </a:srgbClr>
                </a:solidFill>
                <a:latin typeface="JetBrains Mono"/>
                <a:ea typeface="JetBrains Mono"/>
              </a:rPr>
              <a:t>0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6800850" y="4362450"/>
            <a:ext cx="4514850" cy="609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63" b="1">
                <a:solidFill>
                  <a:srgbClr val="E8EEF9"/>
                </a:solidFill>
                <a:latin typeface="Source Han Sans SC"/>
                <a:ea typeface="Source Han Sans SC"/>
              </a:rPr>
              <a:t>内置的编排与审批机制</a:t>
            </a:r>
            <a:endParaRPr/>
          </a:p>
          <a:p>
            <a:pPr>
              <a:lnSpc>
                <a:spcPct val="170000"/>
              </a:lnSpc>
            </a:pPr>
            <a:r>
              <a:rPr lang="zh-CN" sz="116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不塞进内核，能力全部外置成扩展——按需注入。</a:t>
            </a:r>
            <a:endParaRPr/>
          </a:p>
        </p:txBody>
      </p:sp>
      <p:sp>
        <p:nvSpPr>
          <p:cNvPr id="557" name=""/>
          <p:cNvSpPr/>
          <p:nvPr/>
        </p:nvSpPr>
        <p:spPr>
          <a:xfrm rot="0" flipH="0" flipV="0">
            <a:off x="685800" y="5467350"/>
            <a:ext cx="10820400" cy="590550"/>
          </a:xfrm>
          <a:prstGeom prst="roundRect">
            <a:avLst>
              <a:gd name="adj" fmla="val 6452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876300" y="5657850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559" name=""/>
          <p:cNvSpPr/>
          <p:nvPr/>
        </p:nvSpPr>
        <p:spPr>
          <a:xfrm rot="0" flipH="0" flipV="0">
            <a:off x="1371600" y="5629275"/>
            <a:ext cx="9525" cy="266700"/>
          </a:xfrm>
          <a:prstGeom prst="rect">
            <a:avLst/>
          </a:prstGeom>
          <a:solidFill>
            <a:srgbClr val="2AD4EE">
              <a:alpha val="35000"/>
            </a:srgbClr>
          </a:solidFill>
          <a:ln/>
        </p:spPr>
        <p:txBody>
          <a:bodyPr/>
          <a:p/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1533525" y="5600700"/>
            <a:ext cx="9782175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省下来的上下文，就是省下来的</a:t>
            </a:r>
            <a:r>
              <a:rPr lang="zh-CN" sz="1350">
                <a:solidFill>
                  <a:srgbClr val="2AD4EE"/>
                </a:solidFill>
                <a:latin typeface="Source Han Sans SC"/>
                <a:ea typeface="Source Han Sans SC"/>
              </a:rPr>
              <a:t>钱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和</a:t>
            </a:r>
            <a:r>
              <a:rPr lang="zh-CN" sz="1350">
                <a:solidFill>
                  <a:srgbClr val="2AD4EE"/>
                </a:solidFill>
                <a:latin typeface="Source Han Sans SC"/>
                <a:ea typeface="Source Han Sans SC"/>
              </a:rPr>
              <a:t>准确率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21 / 33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563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0;    {/* A 区 · 标题块 */}&#10;    &lt;Box style={{ height: 100, flexDirection: 'row', gap: 16, alignItems: 'flex-start', paddingTop: 6 }}&gt;&#10;        &lt;Box style={{ width: 4, height: 36, background: '#2AD4EE', marginTop: 5 }} /&gt;&#10;        &lt;Box style={{ flexDirection: 'column' }}&gt;&#10;            &lt;Text style={{ fontSize: 34, fontWeight: 'bold', color: '#E8EEF9' }}&gt;分层架构：严格单向的 monorepo&lt;/Text&gt;&#10;            &lt;Text style={{ marginTop: 8, fontSize: 17, color: 'rgba(232,238,249,0.52)' }}&gt;下层不知道上层，每一层都能单独拿出来用&lt;/Text&gt;&#10;        &lt;/Box&gt;&#10;    &lt;/Box&gt;&#10;&#10;    {/* B 区 · 左标题 + 右依赖图 */}&#10;    &lt;Box style={{ height: 516, flexDirection: 'row', gap: 34 }}&gt;&#10;        {/* 左：标题栏 */}&#10;        &lt;Box style={{ width: 268, flexDirection: 'column', paddingRight: 28, borderRight: '1px solid rgba(232,238,249,0.12)' }}&gt;&#10;            &lt;Text style={{ fontSize: 15, color: '#2AD4EE', letterSpacing: 3, fontFamily: '&quot;JetBrains Mono&quot;, &quot;Cascadia Mono&quot;, Consolas, monospace' }}&gt;ARCHITECTURE&lt;/Text&gt;&#10;            &lt;Text style={{ marginTop: 18, fontSize: 26, fontWeight: 'bold', color: '#E8EEF9', lineHeight: 1.45 }}&gt;&#10;                四层&#10;                &lt;br /&gt;&#10;                单向依赖&#10;            &lt;/Text&gt;&#10;            &lt;Text style={{ marginTop: 18, fontSize: 16, color: 'rgba(232,238,249,0.72)', lineHeight: 1.8 }}&gt;&#10;                内核里没有 CLI、没有扩展、没有文件系统。&lt;span style={{ color: '#E8EEF9', fontWeight: '600' }}&gt;「组装」这件事，被完整地留在了最上面一层。&lt;/span&gt;&#10;            &lt;/Text&gt;&#10;&#10;            &lt;Box style={{ marginTop: 20, flexDirection: 'column', gap: 9 }}&gt;&#10;                {[&#10;                    '每层可独立发布，单独装也合法',&#10;                    '可替换：换掉 pi-tui，内核一行不改',&#10;                ].map((t, i) =&gt; (&#10;                    &lt;Box key={i} style={{ flexDirection: 'row', gap: 10, alignItems: 'center' }}&gt;&#10;                        &lt;Box style={{ width: 5, height: 5, background: '#2AD4EE' }} /&gt;&#10;                        &lt;Text style={{ flex: 1, fontSize: 15, color: 'rgba(232,238,249,0.68)' }}&gt;{t}&lt;/Text&gt;&#10;                    &lt;/Box&gt;&#10;                ))}&#10;            &lt;/Box&gt;&#10;&#10;            &lt;Box style={{ marginTop: 'auto', paddingTop: 16, paddingBottom: 16, paddingLeft: 16, paddingRight: 16, background: 'rgba(42,212,238,0.08)', border: '1px solid rgba(42,212,238,0.22)', borderRadius: 4 }}&gt;&#10;                &lt;Text style={{ fontSize: 14, color: '#2AD4EE', letterSpacing: 3, fontFamily: '&quot;JetBrains Mono&quot;, &quot;Cascadia Mono&quot;, Consolas, monospace' }}&gt;所以&lt;/Text&gt;&#10;                &lt;Text style={{ marginTop: 10, fontSize: 15.5, color: '#E8EEF9', lineHeight: 1.7 }}&gt;&#10;                    做编码类产品，直接用&#10;                    &lt;span style={{ color: '#2AD4EE', fontFamily: '&quot;JetBrains Mono&quot;, &quot;Cascadia Mono&quot;, Consolas, monospace' }}&gt; coding-agent&lt;/span&gt;&#10;                    ；只要裸内核，用&#10;                    &lt;span style={{ color: '#2AD4EE', fontFamily: '&quot;JetBrains Mono&quot;, &quot;Cascadia Mono&quot;, Consolas, monospace' }}&gt;agent-core&lt;/span&gt;&#10;                    。&#10;                &lt;/Text&gt;&#10;            &lt;/Box&gt;&#10;        &lt;/Box&gt;&#10;&#10;        {/* 右：四层依赖图 */}&#10;        &lt;Box style={{ flex: 1, flexDirection: 'column' }}&gt;&#10;            &lt;Box style={{ flexDirection: 'row', alignItems: 'center', justifyContent: 'space-between' }}&gt;&#10;                &lt;Text style={{ fontSize: 15, color: 'rgba(232,238,249,0.52)', letterSpacing: 2, fontFamily: '&quot;JetBrains Mono&quot;, &quot;Cascadia Mono&quot;, Consolas, monospace' }}&gt;PACKAGE DEPENDENCY · 箭头 = 依赖方向&lt;/Text&gt;&#10;                &lt;Text style={{ fontSize: 13, color: 'rgba(232,238,249,0.42)' }}&gt;上层可以依赖下层，反之不成立&lt;/Text&gt;&#10;            &lt;/Box&gt;&#10;&#10;            &lt;Box style={{ flex: 1, marginTop: 12, flexDirection: 'column', justifyContent: 'space-between' }}&gt;&#10;                {[&#10;                    { tag: 'UI', name: 'pi-tui', role: '终端差分渲染 UI', d: '独立包，不直接 import 内核；换成自己的前端同样成立', top: true },&#10;                    { tag: 'L3', name: 'pi-coding-agent', role: '产品运行时组装层 · SDK 入口', d: '组装内核 + 内置编码工具 + 会话持久化 + 扩展扫描 + 多运行模式', top: false },&#10;                    { tag: 'L2', name: 'pi-agent-core', role: 'Agent 纯内核层', d: 'Agent Loop · 工具抽象与调度 · 事件总线 · 终止与最大轮次控制', top: false },&#10;                    { tag: 'L1', name: 'pi-ai', role: 'Unified LLM 统一模型接入层', d: '多 Provider 适配 · 流式 chunk 归一化 · 工具 schema · 凭证管理', top: false },&#10;                ].map((l, i) =&gt; (&#10;                    &lt;Box key={i} style={{ flexDirection: 'column', flex: 1 }}&gt;&#10;                        &lt;Box style={{ flex: 1, flexDirection: 'row', alignItems: 'center', gap: 18, paddingLeft: 18, paddingRight: 18, background: l.top ? 'rgba(22,35,61,0.82)' : 'rgba(22,35,61,0.95)', border: l.top ? '1px dashed rgba(232,238,249,0.20)' : '1px solid rgba(42,212,238,0.30)', borderLeft: l.top ? '1px dashed rgba(232,238,249,0.20)' : '3px solid #2AD4EE', borderRadius: 3 }}&gt;&#10;                            &lt;Text style={{ width: 34, fontSize: 16, color: 'rgba(42,212,238,0.85)', fontFamily: '&quot;JetBrains Mono&quot;, &quot;Cascadia Mono&quot;, Consolas, monospace' }}&gt;{l.tag}&lt;/Text&gt;&#10;                            &lt;Box style={{ flexDirection: 'column', flex: 1 }}&gt;&#10;                                &lt;Box style={{ flexDirection: 'row', alignItems: 'baseline', gap: 12 }}&gt;&#10;                                    &lt;Text style={{ fontSize: 20, fontWeight: 'bold', color: '#E8EEF9', fontFamily: '&quot;JetBrains Mono&quot;, &quot;Cascadia Mono&quot;, Consolas, monospace' }}&gt;{l.name}&lt;/Text&gt;&#10;                                    &lt;Text style={{ fontSize: 15, color: 'rgba(232,238,249,0.62)' }}&gt;{l.role}&lt;/Text&gt;&#10;                                &lt;/Box&gt;&#10;                                &lt;Text style={{ marginTop: 6, fontSize: 13.5, color: 'rgba(232,238,249,0.50)', lineHeight: 1.5 }}&gt;{l.d}&lt;/Text&gt;&#10;                            &lt;/Box&gt;&#10;                        &lt;/Box&gt;&#10;                        {i &lt; 3 &amp;&amp; (&#10;                            &lt;Box style={{ height: 22, flexDirection: 'row', alignItems: 'center', paddingLeft: 40, gap: 10 }}&gt;&#10;                                &lt;Text style={{ fontSize: 14, color: '#2AD4EE', fontFamily: '&quot;JetBrains Mono&quot;, &quot;Cascadia Mono&quot;, Consolas, monospace' }}&gt;↓ depends on&lt;/Text&gt;&#10;                            &lt;/Box&gt;&#10;                        )}&#10;                    &lt;/Box&gt;&#10;                ))}&#10;            &lt;/Box&gt;&#10;&#10;            &lt;Box style={{ height: 44, marginTop: 10, flexDirection: 'row', alignItems: 'center', gap: 12, paddingLeft: 16, paddingRight: 16, background: 'rgba(42,212,238,0.06)', borderLeft: '3px solid rgba(42,212,238,0.55)' }}&gt;&#10;                &lt;Text style={{ fontSize: 14, color: '#2AD4EE', fontFamily: '&quot;JetBrains Mono&quot;, &quot;Cascadia Mono&quot;, Consolas, monospace' }}&gt;OPTIONAL&lt;/Text&gt;&#10;                &lt;Text style={{ fontSize: 14.5, color: 'rgba(232,238,249,0.70)' }}&gt;&#10;                    另有可选的 CBOR 远程会话栈：pi-protocol · pi-client · pi-server，独立叠加，不影响核心四层。&#10;                &lt;/Text&gt;&#10;            &lt;/Box&gt;&#10;        &lt;/Box&gt;&#10;    &lt;/Box&gt;&#10;&#10;    {/* C 区 · 页脚 */}&#10;    &lt;Box style={{ height: 40, flexDirection: 'row', alignItems: 'flex-end', justifyContent: 'space-between' }}&gt;&#10;        &lt;Text style={{ fontSize: 14, color: 'rgba(232,238,249,0.42)' }}&gt;从 LLM 到 Agent 再到 Pi Agent&lt;/Text&gt;&#10;        &lt;Text style={{ fontSize: 14, color: 'rgba(232,238,249,0.42)', fontFamily: '&quot;JetBrains Mono&quot;, &quot;Cascadia Mono&quot;, Consolas, monospace' }}&gt;22 / 3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565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8291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分层架构：严格单向的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monorepo</a:t>
            </a:r>
            <a:endParaRPr/>
          </a:p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829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下层不知道上层，每一层都能单独拿出来用</a:t>
            </a:r>
            <a:endParaRPr/>
          </a:p>
        </p:txBody>
      </p:sp>
      <p:sp>
        <p:nvSpPr>
          <p:cNvPr id="568" name=""/>
          <p:cNvSpPr/>
          <p:nvPr/>
        </p:nvSpPr>
        <p:spPr>
          <a:xfrm rot="0" flipH="0" flipV="0">
            <a:off x="685800" y="1143000"/>
            <a:ext cx="2552700" cy="4914900"/>
          </a:xfrm>
          <a:custGeom>
            <a:pathLst>
              <a:path w="268" h="516">
                <a:moveTo>
                  <a:pt x="267" y="0"/>
                </a:moveTo>
                <a:lnTo>
                  <a:pt x="268" y="0"/>
                </a:lnTo>
                <a:lnTo>
                  <a:pt x="268" y="516"/>
                </a:lnTo>
                <a:lnTo>
                  <a:pt x="267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276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ARCHITECTURE</a:t>
            </a:r>
            <a:endParaRPr/>
          </a:p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685800" y="1485900"/>
            <a:ext cx="2276475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四层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单向依赖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685800" y="2524125"/>
            <a:ext cx="2276475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内核里没有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CLI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、没有扩展、没有文件系统。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「组装」这件事，被完整地留在了最上面一层。</a:t>
            </a:r>
            <a:endParaRPr/>
          </a:p>
        </p:txBody>
      </p:sp>
      <p:sp>
        <p:nvSpPr>
          <p:cNvPr id="572" name=""/>
          <p:cNvSpPr/>
          <p:nvPr/>
        </p:nvSpPr>
        <p:spPr>
          <a:xfrm rot="0" flipH="0" flipV="0">
            <a:off x="685800" y="377190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828675" y="3705225"/>
            <a:ext cx="2133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每层可独立发布，单独装也合法</a:t>
            </a:r>
            <a:endParaRPr/>
          </a:p>
        </p:txBody>
      </p:sp>
      <p:sp>
        <p:nvSpPr>
          <p:cNvPr id="574" name=""/>
          <p:cNvSpPr/>
          <p:nvPr/>
        </p:nvSpPr>
        <p:spPr>
          <a:xfrm rot="0" flipH="0" flipV="0">
            <a:off x="685800" y="411480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828675" y="3962400"/>
            <a:ext cx="2133600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可替换：换掉</a:t>
            </a:r>
            <a:r>
              <a:rPr lang="en-US" sz="1125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pi-tui</a:t>
            </a:r>
            <a:r>
              <a:rPr lang="zh-CN" sz="1125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，内核一行不改</a:t>
            </a:r>
            <a:endParaRPr/>
          </a:p>
        </p:txBody>
      </p:sp>
      <p:sp>
        <p:nvSpPr>
          <p:cNvPr id="576" name=""/>
          <p:cNvSpPr/>
          <p:nvPr/>
        </p:nvSpPr>
        <p:spPr>
          <a:xfrm rot="0" flipH="0" flipV="0">
            <a:off x="685800" y="4591050"/>
            <a:ext cx="2276475" cy="1466850"/>
          </a:xfrm>
          <a:prstGeom prst="roundRect">
            <a:avLst>
              <a:gd name="adj" fmla="val 2597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838200" y="4743450"/>
            <a:ext cx="1971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838200" y="5000625"/>
            <a:ext cx="1971675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做编码类产品，直接用</a:t>
            </a:r>
            <a:r>
              <a:rPr lang="en-US" sz="1163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coding-agent</a:t>
            </a: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；只要裸内核，用</a:t>
            </a:r>
            <a:r>
              <a:rPr lang="en-US" sz="1163">
                <a:solidFill>
                  <a:srgbClr val="2AD4EE"/>
                </a:solidFill>
                <a:latin typeface="Source Han Sans SC"/>
                <a:ea typeface="Source Han Sans SC"/>
              </a:rPr>
              <a:t>agent-core</a:t>
            </a: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3562350" y="1143000"/>
            <a:ext cx="3438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PACKAGE DEPENDENCY ·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箭头</a:t>
            </a: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 =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依赖方向</a:t>
            </a:r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9772650" y="1152525"/>
            <a:ext cx="1733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上层可以依赖下层，反之不成立</a:t>
            </a:r>
            <a:endParaRPr/>
          </a:p>
        </p:txBody>
      </p:sp>
      <p:sp>
        <p:nvSpPr>
          <p:cNvPr id="581" name=""/>
          <p:cNvSpPr/>
          <p:nvPr/>
        </p:nvSpPr>
        <p:spPr>
          <a:xfrm rot="0" flipH="0" flipV="0">
            <a:off x="3571875" y="1428750"/>
            <a:ext cx="7943850" cy="876300"/>
          </a:xfrm>
          <a:prstGeom prst="roundRect">
            <a:avLst>
              <a:gd name="adj" fmla="val 3261"/>
            </a:avLst>
          </a:prstGeom>
          <a:solidFill>
            <a:srgbClr val="16233D">
              <a:alpha val="82000"/>
            </a:srgbClr>
          </a:solidFill>
          <a:ln/>
        </p:spPr>
        <p:txBody>
          <a:bodyPr/>
          <a:p/>
        </p:txBody>
      </p:sp>
      <p:sp>
        <p:nvSpPr>
          <p:cNvPr id="582" name=""/>
          <p:cNvSpPr/>
          <p:nvPr/>
        </p:nvSpPr>
        <p:spPr>
          <a:xfrm rot="0" flipH="0" flipV="0">
            <a:off x="3571875" y="1428750"/>
            <a:ext cx="7943850" cy="876300"/>
          </a:xfrm>
          <a:custGeom>
            <a:pathLst>
              <a:path w="834" h="92">
                <a:moveTo>
                  <a:pt x="3" y="0"/>
                </a:moveTo>
                <a:cubicBezTo>
                  <a:pt x="2" y="0"/>
                  <a:pt x="1" y="1"/>
                  <a:pt x="1" y="2"/>
                </a:cubicBezTo>
                <a:lnTo>
                  <a:pt x="1" y="90"/>
                </a:lnTo>
                <a:cubicBezTo>
                  <a:pt x="1" y="91"/>
                  <a:pt x="2" y="92"/>
                  <a:pt x="3" y="92"/>
                </a:cubicBezTo>
                <a:cubicBezTo>
                  <a:pt x="1" y="92"/>
                  <a:pt x="0" y="90"/>
                  <a:pt x="0" y="8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close/>
              </a:path>
            </a:pathLst>
          </a:custGeom>
          <a:solidFill>
            <a:srgbClr val="E8EEF9">
              <a:alpha val="20000"/>
            </a:srgbClr>
          </a:solidFill>
          <a:ln/>
        </p:spPr>
        <p:txBody>
          <a:bodyPr/>
          <a:p/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3743325" y="1771650"/>
            <a:ext cx="323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AD4EE">
                    <a:alpha val="85000"/>
                  </a:srgbClr>
                </a:solidFill>
                <a:latin typeface="JetBrains Mono"/>
                <a:ea typeface="JetBrains Mono"/>
              </a:rPr>
              <a:t>UI</a:t>
            </a:r>
            <a:endParaRPr/>
          </a:p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4238625" y="1609725"/>
            <a:ext cx="6762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EEF9"/>
                </a:solidFill>
                <a:latin typeface="JetBrains Mono"/>
                <a:ea typeface="JetBrains Mono"/>
              </a:rPr>
              <a:t>pi-tui</a:t>
            </a:r>
            <a:endParaRPr/>
          </a:p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5029200" y="1609725"/>
            <a:ext cx="1028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终端差分渲染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UI</a:t>
            </a:r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4238625" y="1895475"/>
            <a:ext cx="709612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独立包，不直接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import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内核；换成自己的前端同样成立</a:t>
            </a:r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3943350" y="2333625"/>
            <a:ext cx="94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↓ depends on</a:t>
            </a:r>
            <a:endParaRPr/>
          </a:p>
        </p:txBody>
      </p:sp>
      <p:sp>
        <p:nvSpPr>
          <p:cNvPr id="588" name=""/>
          <p:cNvSpPr/>
          <p:nvPr/>
        </p:nvSpPr>
        <p:spPr>
          <a:xfrm rot="0" flipH="0" flipV="0">
            <a:off x="3590925" y="2514600"/>
            <a:ext cx="7943850" cy="866775"/>
          </a:xfrm>
          <a:prstGeom prst="roundRect">
            <a:avLst>
              <a:gd name="adj" fmla="val 3297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/>
        </p:txBody>
      </p:sp>
      <p:sp>
        <p:nvSpPr>
          <p:cNvPr id="589" name=""/>
          <p:cNvSpPr/>
          <p:nvPr/>
        </p:nvSpPr>
        <p:spPr>
          <a:xfrm rot="0" flipH="0" flipV="0">
            <a:off x="3590925" y="2514600"/>
            <a:ext cx="7943850" cy="866775"/>
          </a:xfrm>
          <a:custGeom>
            <a:pathLst>
              <a:path w="834" h="91">
                <a:moveTo>
                  <a:pt x="3" y="91"/>
                </a:moveTo>
                <a:cubicBezTo>
                  <a:pt x="1" y="91"/>
                  <a:pt x="0" y="90"/>
                  <a:pt x="0" y="8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1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/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3762375" y="2857500"/>
            <a:ext cx="323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AD4EE">
                    <a:alpha val="85000"/>
                  </a:srgbClr>
                </a:solidFill>
                <a:latin typeface="JetBrains Mono"/>
                <a:ea typeface="JetBrains Mono"/>
              </a:rPr>
              <a:t>L3</a:t>
            </a:r>
            <a:endParaRPr/>
          </a:p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4257675" y="2686050"/>
            <a:ext cx="1676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EEF9"/>
                </a:solidFill>
                <a:latin typeface="JetBrains Mono"/>
                <a:ea typeface="JetBrains Mono"/>
              </a:rPr>
              <a:t>pi-coding-agent</a:t>
            </a:r>
            <a:endParaRPr/>
          </a:p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6048375" y="2686050"/>
            <a:ext cx="1933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产品运行时组装层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SDK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入口</a:t>
            </a:r>
            <a:endParaRPr/>
          </a:p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4257675" y="2971800"/>
            <a:ext cx="70770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组装内核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内置编码工具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会话持久化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扩展扫描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多运行模式</a:t>
            </a:r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3943350" y="3409950"/>
            <a:ext cx="94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↓ depends on</a:t>
            </a:r>
            <a:endParaRPr/>
          </a:p>
        </p:txBody>
      </p:sp>
      <p:sp>
        <p:nvSpPr>
          <p:cNvPr id="595" name=""/>
          <p:cNvSpPr/>
          <p:nvPr/>
        </p:nvSpPr>
        <p:spPr>
          <a:xfrm rot="0" flipH="0" flipV="0">
            <a:off x="3590925" y="3590925"/>
            <a:ext cx="7943850" cy="876300"/>
          </a:xfrm>
          <a:prstGeom prst="roundRect">
            <a:avLst>
              <a:gd name="adj" fmla="val 3261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/>
        </p:txBody>
      </p:sp>
      <p:sp>
        <p:nvSpPr>
          <p:cNvPr id="596" name=""/>
          <p:cNvSpPr/>
          <p:nvPr/>
        </p:nvSpPr>
        <p:spPr>
          <a:xfrm rot="0" flipH="0" flipV="0">
            <a:off x="3590925" y="3590925"/>
            <a:ext cx="7943850" cy="876300"/>
          </a:xfrm>
          <a:custGeom>
            <a:pathLst>
              <a:path w="834" h="92">
                <a:moveTo>
                  <a:pt x="3" y="92"/>
                </a:moveTo>
                <a:cubicBezTo>
                  <a:pt x="1" y="92"/>
                  <a:pt x="0" y="91"/>
                  <a:pt x="0" y="8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2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/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3762375" y="3933825"/>
            <a:ext cx="323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AD4EE">
                    <a:alpha val="85000"/>
                  </a:srgbClr>
                </a:solidFill>
                <a:latin typeface="JetBrains Mono"/>
                <a:ea typeface="JetBrains Mono"/>
              </a:rPr>
              <a:t>L2</a:t>
            </a:r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4257675" y="3771900"/>
            <a:ext cx="14573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EEF9"/>
                </a:solidFill>
                <a:latin typeface="JetBrains Mono"/>
                <a:ea typeface="JetBrains Mono"/>
              </a:rPr>
              <a:t>pi-agent-core</a:t>
            </a:r>
            <a:endParaRPr/>
          </a:p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5829300" y="3771900"/>
            <a:ext cx="971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纯内核层</a:t>
            </a:r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4257675" y="4057650"/>
            <a:ext cx="70770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Agent Loop ·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工具抽象与调度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事件总线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终止与最大轮次控制</a:t>
            </a:r>
            <a:endParaRPr/>
          </a:p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3943350" y="4495800"/>
            <a:ext cx="94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↓ depends on</a:t>
            </a:r>
            <a:endParaRPr/>
          </a:p>
        </p:txBody>
      </p:sp>
      <p:sp>
        <p:nvSpPr>
          <p:cNvPr id="602" name=""/>
          <p:cNvSpPr/>
          <p:nvPr/>
        </p:nvSpPr>
        <p:spPr>
          <a:xfrm rot="0" flipH="0" flipV="0">
            <a:off x="3590925" y="4676775"/>
            <a:ext cx="7943850" cy="866775"/>
          </a:xfrm>
          <a:prstGeom prst="roundRect">
            <a:avLst>
              <a:gd name="adj" fmla="val 3297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/>
        </p:txBody>
      </p:sp>
      <p:sp>
        <p:nvSpPr>
          <p:cNvPr id="603" name=""/>
          <p:cNvSpPr/>
          <p:nvPr/>
        </p:nvSpPr>
        <p:spPr>
          <a:xfrm rot="0" flipH="0" flipV="0">
            <a:off x="3590925" y="4676775"/>
            <a:ext cx="7943850" cy="866775"/>
          </a:xfrm>
          <a:custGeom>
            <a:pathLst>
              <a:path w="834" h="91">
                <a:moveTo>
                  <a:pt x="3" y="91"/>
                </a:moveTo>
                <a:cubicBezTo>
                  <a:pt x="1" y="91"/>
                  <a:pt x="0" y="90"/>
                  <a:pt x="0" y="8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1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/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3762375" y="5019675"/>
            <a:ext cx="323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AD4EE">
                    <a:alpha val="85000"/>
                  </a:srgbClr>
                </a:solidFill>
                <a:latin typeface="JetBrains Mono"/>
                <a:ea typeface="JetBrains Mono"/>
              </a:rPr>
              <a:t>L1</a:t>
            </a:r>
            <a:endParaRPr/>
          </a:p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4257675" y="4848225"/>
            <a:ext cx="5619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EEF9"/>
                </a:solidFill>
                <a:latin typeface="JetBrains Mono"/>
                <a:ea typeface="JetBrains Mono"/>
              </a:rPr>
              <a:t>pi-ai</a:t>
            </a:r>
            <a:endParaRPr/>
          </a:p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4933950" y="4848225"/>
            <a:ext cx="17716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Unified LLM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统一模型接入层</a:t>
            </a:r>
            <a:endParaRPr/>
          </a:p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4257675" y="5133975"/>
            <a:ext cx="70770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多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Provider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适配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流式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chunk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归一化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工具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schema ·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凭证管理</a:t>
            </a:r>
            <a:endParaRPr/>
          </a:p>
        </p:txBody>
      </p:sp>
      <p:sp>
        <p:nvSpPr>
          <p:cNvPr id="608" name=""/>
          <p:cNvSpPr/>
          <p:nvPr/>
        </p:nvSpPr>
        <p:spPr>
          <a:xfrm rot="0" flipH="0" flipV="0">
            <a:off x="3590925" y="5638800"/>
            <a:ext cx="7943850" cy="419100"/>
          </a:xfrm>
          <a:prstGeom prst="rect">
            <a:avLst/>
          </a:prstGeom>
          <a:solidFill>
            <a:srgbClr val="2AD4EE">
              <a:alpha val="6000"/>
            </a:srgbClr>
          </a:solidFill>
          <a:ln/>
        </p:spPr>
        <p:txBody>
          <a:bodyPr/>
          <a:p/>
        </p:txBody>
      </p:sp>
      <p:sp>
        <p:nvSpPr>
          <p:cNvPr id="609" name=""/>
          <p:cNvSpPr/>
          <p:nvPr/>
        </p:nvSpPr>
        <p:spPr>
          <a:xfrm rot="0" flipH="0" flipV="0">
            <a:off x="3562350" y="5638800"/>
            <a:ext cx="7972425" cy="419100"/>
          </a:xfrm>
          <a:custGeom>
            <a:pathLst>
              <a:path w="837" h="44">
                <a:moveTo>
                  <a:pt x="0" y="0"/>
                </a:moveTo>
                <a:lnTo>
                  <a:pt x="3" y="0"/>
                </a:lnTo>
                <a:lnTo>
                  <a:pt x="3" y="44"/>
                </a:lnTo>
                <a:lnTo>
                  <a:pt x="0" y="44"/>
                </a:ln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/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3743325" y="5772150"/>
            <a:ext cx="628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OPTIONAL</a:t>
            </a:r>
            <a:endParaRPr/>
          </a:p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4486275" y="5762625"/>
            <a:ext cx="5972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另有可选的</a:t>
            </a:r>
            <a:r>
              <a:rPr lang="en-US" sz="108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CBOR </a:t>
            </a:r>
            <a:r>
              <a:rPr lang="zh-CN" sz="108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远程会话栈：</a:t>
            </a:r>
            <a:r>
              <a:rPr lang="en-US" sz="108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pi-protocol · pi-client · pi-server</a:t>
            </a:r>
            <a:r>
              <a:rPr lang="zh-CN" sz="108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，独立叠加，不影响核心四层。</a:t>
            </a:r>
            <a:endParaRPr/>
          </a:p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22 / 33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614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0;    {/* A 区 · 标题块 */}&#10;    &lt;Box style={{ height: 100, flexDirection: 'row', gap: 16, alignItems: 'flex-start', paddingTop: 6 }}&gt;&#10;        &lt;Box style={{ width: 4, height: 36, background: '#2AD4EE', marginTop: 5 }} /&gt;&#10;        &lt;Box style={{ flexDirection: 'column' }}&gt;&#10;            &lt;Text style={{ fontSize: 34, fontWeight: 'bold', color: '#E8EEF9' }}&gt;一次调用的完整数据流&lt;/Text&gt;&#10;            &lt;Text style={{ marginTop: 8, fontSize: 17, color: 'rgba(232,238,249,0.52)' }}&gt;从一句话输入，到 agent_end，中间到底发生了什么&lt;/Text&gt;&#10;        &lt;/Box&gt;&#10;    &lt;/Box&gt;&#10;&#10;    {/* B 区 */}&#10;    &lt;Box style={{ height: 516, flexDirection: 'column' }}&gt;&#10;        &lt;Text style={{ fontSize: 15, color: '#2AD4EE', letterSpacing: 3, fontFamily: '&quot;JetBrains Mono&quot;, &quot;Cascadia Mono&quot;, Consolas, monospace' }}&gt;REQUEST LIFECYCLE · 事件回流贯穿全程&lt;/Text&gt;&#10;&#10;        {/* 主链路 */}&#10;        &lt;Box style={{ flex: 1, marginTop: 14, flexDirection: 'row', alignItems: 'center', gap: 0 }}&gt;&#10;            {[&#10;                { n: '01', t: '用户输入', d: '自然语言需求' },&#10;                { n: '02', t: 'AgentSession', d: '.prompt 入队' },&#10;                { n: '03', t: '双层 while', d: '内层工具 / 外层续跑' },&#10;                { n: '04', t: '上下文转换', d: 'transformContext' },&#10;                { n: '05', t: '流式请求', d: 'streamSimple' },&#10;                { n: '06', t: '事件回流', d: '事件总线 → UI' },&#10;                { n: '07', t: 'agent_end', d: '本轮结束' },&#10;            ].map((s, i) =&gt; (&#10;                &lt;Box key={i} style={{ flex: 1, flexDirection: 'row', alignItems: 'center' }}&gt;&#10;                    &lt;Box style={{ flex: 1, flexDirection: 'column', paddingTop: 14, paddingBottom: 14, paddingLeft: 12, paddingRight: 12, background: i === 6 ? 'rgba(42,212,238,0.14)' : 'rgba(22,35,61,0.95)', border: i === 6 ? '1px solid rgba(42,212,238,0.45)' : '1px solid rgba(232,238,249,0.12)', borderTop: i === 2 || i === 3 ? '2px solid #2AD4EE' : undefined, borderRadius: 3 }}&gt;&#10;                        &lt;Text style={{ fontSize: 13, color: '#2AD4EE', fontFamily: '&quot;JetBrains Mono&quot;, &quot;Cascadia Mono&quot;, Consolas, monospace' }}&gt;{s.n}&lt;/Text&gt;&#10;                        &lt;Text style={{ marginTop: 8, fontSize: 17, fontWeight: 'bold', color: '#E8EEF9', lineHeight: 1.3 }}&gt;{s.t}&lt;/Text&gt;&#10;                        &lt;Text style={{ marginTop: 6, fontSize: 12.5, color: 'rgba(232,238,249,0.55)', lineHeight: 1.45, fontFamily: '&quot;JetBrains Mono&quot;, &quot;Cascadia Mono&quot;, Consolas, monospace' }}&gt;{s.d}&lt;/Text&gt;&#10;                    &lt;/Box&gt;&#10;                    {i &lt; 6 &amp;&amp; &lt;Text style={{ width: 20, textAlign: 'center', fontSize: 15, color: 'rgba(42,212,238,0.75)' }}&gt;›&lt;/Text&gt;}&#10;                &lt;/Box&gt;&#10;            ))}&#10;        &lt;/Box&gt;&#10;&#10;        {/* 工具管线四阶段 */}&#10;        &lt;Box style={{ height: 150, marginTop: 18, flexDirection: 'column', paddingTop: 14, paddingBottom: 14, paddingLeft: 18, paddingRight: 18, background: 'rgba(42,212,238,0.05)', border: '1px solid rgba(42,212,238,0.22)', borderRadius: 4 }}&gt;&#10;            &lt;Box style={{ flexDirection: 'row', alignItems: 'baseline', justifyContent: 'space-between' }}&gt;&#10;                &lt;Text style={{ fontSize: 16, fontWeight: 'bold', color: '#E8EEF9' }}&gt;步骤 ③ 展开 · 工具管线的四个阶段&lt;/Text&gt;&#10;                &lt;Text style={{ fontSize: 13, color: 'rgba(232,238,249,0.45)' }}&gt;所有「每次工具调用都要做的事」都被收进这一层&lt;/Text&gt;&#10;            &lt;/Box&gt;&#10;            &lt;Box style={{ flex: 1, marginTop: 12, flexDirection: 'row', alignItems: 'stretch', gap: 12 }}&gt;&#10;                {[&#10;                    { t: 'Prepare', d: '参数校验 + beforeToolCall 拦截', s: '工具还没跑，先验一遍' },&#10;                    { t: 'Execute', d: 'execute() + onUpdate 进度回调', s: '真正干活的一步' },&#10;                    { t: 'Finalize', d: 'afterToolCall 改写 / 脱敏', s: '结果进上下文前先过一道' },&#10;                    { t: '截断保护', d: '超长结果裁剪后回喂', s: '别让一条返回撑爆窗口' },&#10;                ].map((p, i) =&gt; (&#10;                    &lt;Box key={i} style={{ flex: 1, flexDirection: 'column', justifyContent: 'center', paddingLeft: 14, paddingRight: 14, background: 'rgba(22,35,61,0.95)', borderLeft: '3px solid rgba(42,212,238,0.75)', borderRadius: 3 }}&gt;&#10;                        &lt;Text style={{ fontSize: 18, fontWeight: 'bold', color: '#2AD4EE', fontFamily: '&quot;JetBrains Mono&quot;, &quot;Cascadia Mono&quot;, Consolas, monospace' }}&gt;{p.t}&lt;/Text&gt;&#10;                        &lt;Text style={{ marginTop: 8, fontSize: 13.5, color: 'rgba(232,238,249,0.72)', lineHeight: 1.5 }}&gt;{p.d}&lt;/Text&gt;&#10;                        &lt;Text style={{ marginTop: 6, fontSize: 12.5, color: 'rgba(232,238,249,0.45)' }}&gt;{p.s}&lt;/Text&gt;&#10;                    &lt;/Box&gt;&#10;                ))}&#10;            &lt;/Box&gt;&#10;        &lt;/Box&gt;&#10;&#10;        {/* 下方两卡 */}&#10;        &lt;Box style={{ height: 128, marginTop: 16, flexDirection: 'row', gap: 20 }}&gt;&#10;            &lt;Box style={{ flex: 58, flexDirection: 'column', justifyContent: 'center', paddingLeft: 20, paddingRight: 20, background: 'rgba(22,35,61,0.92)', border: '1px solid rgba(232,238,249,0.12)', borderRadius: 4 }}&gt;&#10;                &lt;Text style={{ fontSize: 15, color: 'rgba(232,238,249,0.45)', letterSpacing: 2, fontFamily: '&quot;JetBrains Mono&quot;, &quot;Cascadia Mono&quot;, Consolas, monospace' }}&gt;WHY TWO LOOPS&lt;/Text&gt;&#10;                &lt;Text style={{ marginTop: 10, fontSize: 15.5, color: 'rgba(232,238,249,0.74)', lineHeight: 1.7 }}&gt;&#10;                    &lt;span style={{ color: '#E8EEF9', fontWeight: '600' }}&gt;内层&lt;/span&gt;在一轮里反复「模型 → 工具 → 结果」，直到模型不再要工具；&#10;                    &lt;span style={{ color: '#E8EEF9', fontWeight: '600' }}&gt;外层&lt;/span&gt;负责续跑——用户的插话与追问变成队列消息注入，而不是硬中断。&#10;                &lt;/Text&gt;&#10;            &lt;/Box&gt;&#10;            &lt;Box style={{ flex: 42, flexDirection: 'column', justifyContent: 'center', paddingLeft: 20, paddingRight: 20, background: 'rgba(42,212,238,0.08)', border: '1px solid rgba(42,212,238,0.28)', borderRadius: 4 }}&gt;&#10;                &lt;Text style={{ fontSize: 15, color: '#2AD4EE', letterSpacing: 3, fontFamily: '&quot;JetBrains Mono&quot;, &quot;Cascadia Mono&quot;, Consolas, monospace' }}&gt;所以&lt;/Text&gt;&#10;                &lt;Text style={{ marginTop: 10, fontSize: 17, color: '#E8EEF9', lineHeight: 1.65 }}&gt;&#10;                    看懂了这条流，就懂了 Pi 的&lt;span style={{ color: '#2AD4EE' }}&gt;一切扩展点&lt;/span&gt;。&#10;                &lt;/Text&gt;&#10;            &lt;/Box&gt;&#10;        &lt;/Box&gt;&#10;    &lt;/Box&gt;&#10;&#10;    {/* C 区 · 页脚 */}&#10;    &lt;Box style={{ height: 40, flexDirection: 'row', alignItems: 'flex-end', justifyContent: 'space-between' }}&gt;&#10;        &lt;Text style={{ fontSize: 14, color: 'rgba(232,238,249,0.42)' }}&gt;从 LLM 到 Agent 再到 Pi Agent&lt;/Text&gt;&#10;        &lt;Text style={{ fontSize: 14, color: 'rgba(232,238,249,0.42)', fontFamily: '&quot;JetBrains Mono&quot;, &quot;Cascadia Mono&quot;, Consolas, monospace' }}&gt;23 / 3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616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7242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一次调用的完整数据流</a:t>
            </a:r>
            <a:endParaRPr/>
          </a:p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724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从一句话输入，到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agent_end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，中间到底发生了什么</a:t>
            </a:r>
            <a:endParaRPr/>
          </a:p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10820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 xml:space="preserve">REQUEST LIFECYCLE · </a:t>
            </a:r>
            <a:r>
              <a:rPr lang="zh-CN" sz="1125" spc="225">
                <a:solidFill>
                  <a:srgbClr val="2AD4EE"/>
                </a:solidFill>
                <a:latin typeface="JetBrains Mono"/>
                <a:ea typeface="JetBrains Mono"/>
              </a:rPr>
              <a:t>事件回流贯穿全程</a:t>
            </a:r>
            <a:endParaRPr/>
          </a:p>
        </p:txBody>
      </p:sp>
      <p:sp>
        <p:nvSpPr>
          <p:cNvPr id="620" name=""/>
          <p:cNvSpPr/>
          <p:nvPr/>
        </p:nvSpPr>
        <p:spPr>
          <a:xfrm rot="0" flipH="0" flipV="0">
            <a:off x="685800" y="1762125"/>
            <a:ext cx="1352550" cy="1019175"/>
          </a:xfrm>
          <a:prstGeom prst="roundRect">
            <a:avLst>
              <a:gd name="adj" fmla="val 2804"/>
            </a:avLst>
          </a:prstGeom>
          <a:solidFill>
            <a:srgbClr val="16233D">
              <a:alpha val="95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800100" y="1895475"/>
            <a:ext cx="1123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800100" y="2124075"/>
            <a:ext cx="112395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用户输入</a:t>
            </a:r>
            <a:endParaRPr/>
          </a:p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800100" y="2438400"/>
            <a:ext cx="1123950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>自然语言需求</a:t>
            </a:r>
            <a:endParaRPr/>
          </a:p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2038350" y="2190750"/>
            <a:ext cx="190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625" name=""/>
          <p:cNvSpPr/>
          <p:nvPr/>
        </p:nvSpPr>
        <p:spPr>
          <a:xfrm rot="0" flipH="0" flipV="0">
            <a:off x="2228850" y="1762125"/>
            <a:ext cx="1362075" cy="1019175"/>
          </a:xfrm>
          <a:prstGeom prst="roundRect">
            <a:avLst>
              <a:gd name="adj" fmla="val 2804"/>
            </a:avLst>
          </a:prstGeom>
          <a:solidFill>
            <a:srgbClr val="16233D">
              <a:alpha val="95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2343150" y="1895475"/>
            <a:ext cx="1133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2343150" y="2124075"/>
            <a:ext cx="1133475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>AgentSession</a:t>
            </a:r>
            <a:endParaRPr/>
          </a:p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2343150" y="2438400"/>
            <a:ext cx="1133475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 xml:space="preserve">.prompt </a:t>
            </a:r>
            <a:r>
              <a:rPr lang="zh-CN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>入队</a:t>
            </a:r>
            <a:endParaRPr/>
          </a:p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3590925" y="2190750"/>
            <a:ext cx="190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630" name=""/>
          <p:cNvSpPr/>
          <p:nvPr/>
        </p:nvSpPr>
        <p:spPr>
          <a:xfrm rot="0" flipH="0" flipV="0">
            <a:off x="3781425" y="1666875"/>
            <a:ext cx="1352550" cy="1247775"/>
          </a:xfrm>
          <a:prstGeom prst="roundRect">
            <a:avLst>
              <a:gd name="adj" fmla="val 2290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/>
        </p:txBody>
      </p:sp>
      <p:sp>
        <p:nvSpPr>
          <p:cNvPr id="631" name=""/>
          <p:cNvSpPr/>
          <p:nvPr/>
        </p:nvSpPr>
        <p:spPr>
          <a:xfrm rot="0" flipH="0" flipV="0">
            <a:off x="3781425" y="1666875"/>
            <a:ext cx="1352550" cy="1247775"/>
          </a:xfrm>
          <a:custGeom>
            <a:pathLst>
              <a:path w="142" h="131">
                <a:moveTo>
                  <a:pt x="139" y="0"/>
                </a:moveTo>
                <a:cubicBezTo>
                  <a:pt x="141" y="0"/>
                  <a:pt x="142" y="1"/>
                  <a:pt x="142" y="3"/>
                </a:cubicBezTo>
                <a:cubicBezTo>
                  <a:pt x="142" y="2"/>
                  <a:pt x="141" y="2"/>
                  <a:pt x="141" y="2"/>
                </a:cubicBezTo>
                <a:lnTo>
                  <a:pt x="1" y="2"/>
                </a:lnTo>
                <a:cubicBezTo>
                  <a:pt x="1" y="2"/>
                  <a:pt x="0" y="2"/>
                  <a:pt x="0" y="3"/>
                </a:cubicBezTo>
                <a:cubicBezTo>
                  <a:pt x="0" y="1"/>
                  <a:pt x="1" y="0"/>
                  <a:pt x="3" y="0"/>
                </a:cubicBezTo>
                <a:lnTo>
                  <a:pt x="139" y="0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/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3895725" y="1800225"/>
            <a:ext cx="1123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3895725" y="2028825"/>
            <a:ext cx="112395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双层</a:t>
            </a: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while</a:t>
            </a:r>
            <a:endParaRPr/>
          </a:p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3895725" y="2343150"/>
            <a:ext cx="112395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>内层工具</a:t>
            </a:r>
            <a:r>
              <a:rPr lang="en-US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 xml:space="preserve"> / </a:t>
            </a:r>
            <a:r>
              <a:rPr lang="zh-CN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>外层续跑</a:t>
            </a:r>
            <a:endParaRPr/>
          </a:p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5133975" y="2190750"/>
            <a:ext cx="190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636" name=""/>
          <p:cNvSpPr/>
          <p:nvPr/>
        </p:nvSpPr>
        <p:spPr>
          <a:xfrm rot="0" flipH="0" flipV="0">
            <a:off x="5324475" y="1771650"/>
            <a:ext cx="1352550" cy="1038225"/>
          </a:xfrm>
          <a:prstGeom prst="roundRect">
            <a:avLst>
              <a:gd name="adj" fmla="val 2752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/>
        </p:txBody>
      </p:sp>
      <p:sp>
        <p:nvSpPr>
          <p:cNvPr id="637" name=""/>
          <p:cNvSpPr/>
          <p:nvPr/>
        </p:nvSpPr>
        <p:spPr>
          <a:xfrm rot="0" flipH="0" flipV="0">
            <a:off x="5324475" y="1771650"/>
            <a:ext cx="1352550" cy="1038225"/>
          </a:xfrm>
          <a:custGeom>
            <a:pathLst>
              <a:path w="142" h="109">
                <a:moveTo>
                  <a:pt x="139" y="0"/>
                </a:moveTo>
                <a:cubicBezTo>
                  <a:pt x="141" y="0"/>
                  <a:pt x="142" y="1"/>
                  <a:pt x="142" y="3"/>
                </a:cubicBezTo>
                <a:cubicBezTo>
                  <a:pt x="142" y="2"/>
                  <a:pt x="141" y="2"/>
                  <a:pt x="141" y="2"/>
                </a:cubicBezTo>
                <a:lnTo>
                  <a:pt x="1" y="2"/>
                </a:lnTo>
                <a:cubicBezTo>
                  <a:pt x="1" y="2"/>
                  <a:pt x="0" y="2"/>
                  <a:pt x="0" y="3"/>
                </a:cubicBezTo>
                <a:cubicBezTo>
                  <a:pt x="0" y="1"/>
                  <a:pt x="1" y="0"/>
                  <a:pt x="3" y="0"/>
                </a:cubicBezTo>
                <a:lnTo>
                  <a:pt x="139" y="0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/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5438775" y="1905000"/>
            <a:ext cx="1123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5438775" y="2133600"/>
            <a:ext cx="112395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上下文转换</a:t>
            </a:r>
            <a:endParaRPr/>
          </a:p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5438775" y="2447925"/>
            <a:ext cx="1123950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>transformContext</a:t>
            </a:r>
            <a:endParaRPr/>
          </a:p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6677025" y="2190750"/>
            <a:ext cx="190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642" name=""/>
          <p:cNvSpPr/>
          <p:nvPr/>
        </p:nvSpPr>
        <p:spPr>
          <a:xfrm rot="0" flipH="0" flipV="0">
            <a:off x="6867525" y="1762125"/>
            <a:ext cx="1352550" cy="1019175"/>
          </a:xfrm>
          <a:prstGeom prst="roundRect">
            <a:avLst>
              <a:gd name="adj" fmla="val 2804"/>
            </a:avLst>
          </a:prstGeom>
          <a:solidFill>
            <a:srgbClr val="16233D">
              <a:alpha val="95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6981825" y="1895475"/>
            <a:ext cx="1123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05</a:t>
            </a:r>
            <a:endParaRPr/>
          </a:p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6981825" y="2124075"/>
            <a:ext cx="112395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流式请求</a:t>
            </a:r>
            <a:endParaRPr/>
          </a:p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6981825" y="2438400"/>
            <a:ext cx="1123950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>streamSimple</a:t>
            </a:r>
            <a:endParaRPr/>
          </a:p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8220075" y="2190750"/>
            <a:ext cx="190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647" name=""/>
          <p:cNvSpPr/>
          <p:nvPr/>
        </p:nvSpPr>
        <p:spPr>
          <a:xfrm rot="0" flipH="0" flipV="0">
            <a:off x="8410575" y="1762125"/>
            <a:ext cx="1362075" cy="1019175"/>
          </a:xfrm>
          <a:prstGeom prst="roundRect">
            <a:avLst>
              <a:gd name="adj" fmla="val 2804"/>
            </a:avLst>
          </a:prstGeom>
          <a:solidFill>
            <a:srgbClr val="16233D">
              <a:alpha val="95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8524875" y="1895475"/>
            <a:ext cx="1133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06</a:t>
            </a:r>
            <a:endParaRPr/>
          </a:p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8524875" y="2124075"/>
            <a:ext cx="1133475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事件回流</a:t>
            </a:r>
            <a:endParaRPr/>
          </a:p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8524875" y="2438400"/>
            <a:ext cx="1133475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>事件总线</a:t>
            </a:r>
            <a:r>
              <a:rPr lang="en-US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 xml:space="preserve"> → UI</a:t>
            </a:r>
            <a:endParaRPr/>
          </a:p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9772650" y="2190750"/>
            <a:ext cx="190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652" name=""/>
          <p:cNvSpPr/>
          <p:nvPr/>
        </p:nvSpPr>
        <p:spPr>
          <a:xfrm rot="0" flipH="0" flipV="0">
            <a:off x="9963150" y="1762125"/>
            <a:ext cx="1543050" cy="1019175"/>
          </a:xfrm>
          <a:prstGeom prst="roundRect">
            <a:avLst>
              <a:gd name="adj" fmla="val 2804"/>
            </a:avLst>
          </a:prstGeom>
          <a:solidFill>
            <a:srgbClr val="2AD4EE">
              <a:alpha val="14000"/>
            </a:srgbClr>
          </a:solidFill>
          <a:ln w="12700">
            <a:solidFill>
              <a:srgbClr val="2AD4E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10077450" y="1895475"/>
            <a:ext cx="1314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07</a:t>
            </a:r>
            <a:endParaRPr/>
          </a:p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10077450" y="2124075"/>
            <a:ext cx="131445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>agent_end</a:t>
            </a:r>
            <a:endParaRPr/>
          </a:p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10077450" y="2438400"/>
            <a:ext cx="1314450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>本轮结束</a:t>
            </a:r>
            <a:endParaRPr/>
          </a:p>
        </p:txBody>
      </p:sp>
      <p:sp>
        <p:nvSpPr>
          <p:cNvPr id="656" name=""/>
          <p:cNvSpPr/>
          <p:nvPr/>
        </p:nvSpPr>
        <p:spPr>
          <a:xfrm rot="0" flipH="0" flipV="0">
            <a:off x="685800" y="3257550"/>
            <a:ext cx="10820400" cy="1428750"/>
          </a:xfrm>
          <a:prstGeom prst="roundRect">
            <a:avLst>
              <a:gd name="adj" fmla="val 2667"/>
            </a:avLst>
          </a:prstGeom>
          <a:solidFill>
            <a:srgbClr val="2AD4EE">
              <a:alpha val="5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857250" y="3390900"/>
            <a:ext cx="24288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步骤</a:t>
            </a: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③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展开</a:t>
            </a: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工具管线的四个阶段</a:t>
            </a:r>
            <a:endParaRPr/>
          </a:p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8610600" y="3390900"/>
            <a:ext cx="2724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>所有「每次工具调用都要做的事」都被收进这一层</a:t>
            </a:r>
            <a:endParaRPr/>
          </a:p>
        </p:txBody>
      </p:sp>
      <p:sp>
        <p:nvSpPr>
          <p:cNvPr id="659" name=""/>
          <p:cNvSpPr/>
          <p:nvPr/>
        </p:nvSpPr>
        <p:spPr>
          <a:xfrm rot="0" flipH="0" flipV="0">
            <a:off x="885825" y="3695700"/>
            <a:ext cx="2533650" cy="857250"/>
          </a:xfrm>
          <a:prstGeom prst="roundRect">
            <a:avLst>
              <a:gd name="adj" fmla="val 3333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/>
        </p:txBody>
      </p:sp>
      <p:sp>
        <p:nvSpPr>
          <p:cNvPr id="660" name=""/>
          <p:cNvSpPr/>
          <p:nvPr/>
        </p:nvSpPr>
        <p:spPr>
          <a:xfrm rot="0" flipH="0" flipV="0">
            <a:off x="885825" y="3695700"/>
            <a:ext cx="2533650" cy="857250"/>
          </a:xfrm>
          <a:custGeom>
            <a:pathLst>
              <a:path w="266" h="90">
                <a:moveTo>
                  <a:pt x="3" y="90"/>
                </a:moveTo>
                <a:cubicBezTo>
                  <a:pt x="1" y="90"/>
                  <a:pt x="0" y="89"/>
                  <a:pt x="0" y="8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0"/>
                </a:lnTo>
                <a:close/>
              </a:path>
            </a:pathLst>
          </a:custGeom>
          <a:solidFill>
            <a:srgbClr val="2AD4EE">
              <a:alpha val="75000"/>
            </a:srgbClr>
          </a:solidFill>
          <a:ln/>
        </p:spPr>
        <p:txBody>
          <a:bodyPr/>
          <a:p/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1019175" y="3762375"/>
            <a:ext cx="2238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AD4EE"/>
                </a:solidFill>
                <a:latin typeface="JetBrains Mono"/>
                <a:ea typeface="JetBrains Mono"/>
              </a:rPr>
              <a:t>Prepare</a:t>
            </a:r>
            <a:endParaRPr/>
          </a:p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1019175" y="4048125"/>
            <a:ext cx="22383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参数校验</a:t>
            </a:r>
            <a:r>
              <a:rPr lang="en-US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+ beforeToolCall </a:t>
            </a:r>
            <a:r>
              <a:rPr lang="zh-CN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拦截</a:t>
            </a:r>
            <a:endParaRPr/>
          </a:p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1019175" y="4343400"/>
            <a:ext cx="2238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>工具还没跑，先验一遍</a:t>
            </a:r>
            <a:endParaRPr/>
          </a:p>
        </p:txBody>
      </p:sp>
      <p:sp>
        <p:nvSpPr>
          <p:cNvPr id="664" name=""/>
          <p:cNvSpPr/>
          <p:nvPr/>
        </p:nvSpPr>
        <p:spPr>
          <a:xfrm rot="0" flipH="0" flipV="0">
            <a:off x="3533775" y="3695700"/>
            <a:ext cx="2533650" cy="857250"/>
          </a:xfrm>
          <a:prstGeom prst="roundRect">
            <a:avLst>
              <a:gd name="adj" fmla="val 3333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/>
        </p:txBody>
      </p:sp>
      <p:sp>
        <p:nvSpPr>
          <p:cNvPr id="665" name=""/>
          <p:cNvSpPr/>
          <p:nvPr/>
        </p:nvSpPr>
        <p:spPr>
          <a:xfrm rot="0" flipH="0" flipV="0">
            <a:off x="3533775" y="3695700"/>
            <a:ext cx="2533650" cy="857250"/>
          </a:xfrm>
          <a:custGeom>
            <a:pathLst>
              <a:path w="266" h="90">
                <a:moveTo>
                  <a:pt x="3" y="90"/>
                </a:moveTo>
                <a:cubicBezTo>
                  <a:pt x="1" y="90"/>
                  <a:pt x="0" y="89"/>
                  <a:pt x="0" y="8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0"/>
                </a:lnTo>
                <a:close/>
              </a:path>
            </a:pathLst>
          </a:custGeom>
          <a:solidFill>
            <a:srgbClr val="2AD4EE">
              <a:alpha val="75000"/>
            </a:srgbClr>
          </a:solidFill>
          <a:ln/>
        </p:spPr>
        <p:txBody>
          <a:bodyPr/>
          <a:p/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3667125" y="3762375"/>
            <a:ext cx="2238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AD4EE"/>
                </a:solidFill>
                <a:latin typeface="JetBrains Mono"/>
                <a:ea typeface="JetBrains Mono"/>
              </a:rPr>
              <a:t>Execute</a:t>
            </a:r>
            <a:endParaRPr/>
          </a:p>
        </p:txBody>
      </p:sp>
      <p:sp>
        <p:nvSpPr>
          <p:cNvPr id="667" name="" descr="{&quot;isTemplate&quot;:true,&quot;type&quot;:&quot;text&quot;}"/>
          <p:cNvSpPr txBox="1"/>
          <p:nvPr/>
        </p:nvSpPr>
        <p:spPr>
          <a:xfrm rot="0" flipH="0" flipV="0">
            <a:off x="3667125" y="4048125"/>
            <a:ext cx="22383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execute() + onUpdate </a:t>
            </a:r>
            <a:r>
              <a:rPr lang="zh-CN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进度回调</a:t>
            </a:r>
            <a:endParaRPr/>
          </a:p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3667125" y="4343400"/>
            <a:ext cx="2238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>真正干活的一步</a:t>
            </a:r>
            <a:endParaRPr/>
          </a:p>
        </p:txBody>
      </p:sp>
      <p:sp>
        <p:nvSpPr>
          <p:cNvPr id="669" name=""/>
          <p:cNvSpPr/>
          <p:nvPr/>
        </p:nvSpPr>
        <p:spPr>
          <a:xfrm rot="0" flipH="0" flipV="0">
            <a:off x="6181725" y="3695700"/>
            <a:ext cx="2533650" cy="857250"/>
          </a:xfrm>
          <a:prstGeom prst="roundRect">
            <a:avLst>
              <a:gd name="adj" fmla="val 3333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/>
        </p:txBody>
      </p:sp>
      <p:sp>
        <p:nvSpPr>
          <p:cNvPr id="670" name=""/>
          <p:cNvSpPr/>
          <p:nvPr/>
        </p:nvSpPr>
        <p:spPr>
          <a:xfrm rot="0" flipH="0" flipV="0">
            <a:off x="6181725" y="3695700"/>
            <a:ext cx="2533650" cy="857250"/>
          </a:xfrm>
          <a:custGeom>
            <a:pathLst>
              <a:path w="266" h="90">
                <a:moveTo>
                  <a:pt x="3" y="90"/>
                </a:moveTo>
                <a:cubicBezTo>
                  <a:pt x="1" y="90"/>
                  <a:pt x="0" y="89"/>
                  <a:pt x="0" y="8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0"/>
                </a:lnTo>
                <a:close/>
              </a:path>
            </a:pathLst>
          </a:custGeom>
          <a:solidFill>
            <a:srgbClr val="2AD4EE">
              <a:alpha val="75000"/>
            </a:srgbClr>
          </a:solidFill>
          <a:ln/>
        </p:spPr>
        <p:txBody>
          <a:bodyPr/>
          <a:p/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6315075" y="3762375"/>
            <a:ext cx="2238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AD4EE"/>
                </a:solidFill>
                <a:latin typeface="JetBrains Mono"/>
                <a:ea typeface="JetBrains Mono"/>
              </a:rPr>
              <a:t>Finalize</a:t>
            </a:r>
            <a:endParaRPr/>
          </a:p>
        </p:txBody>
      </p:sp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6315075" y="4048125"/>
            <a:ext cx="22383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afterToolCall </a:t>
            </a:r>
            <a:r>
              <a:rPr lang="zh-CN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改写</a:t>
            </a:r>
            <a:r>
              <a:rPr lang="en-US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脱敏</a:t>
            </a:r>
            <a:endParaRPr/>
          </a:p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6315075" y="4343400"/>
            <a:ext cx="2238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>结果进上下文前先过一道</a:t>
            </a:r>
            <a:endParaRPr/>
          </a:p>
        </p:txBody>
      </p:sp>
      <p:sp>
        <p:nvSpPr>
          <p:cNvPr id="674" name=""/>
          <p:cNvSpPr/>
          <p:nvPr/>
        </p:nvSpPr>
        <p:spPr>
          <a:xfrm rot="0" flipH="0" flipV="0">
            <a:off x="8829675" y="3695700"/>
            <a:ext cx="2533650" cy="857250"/>
          </a:xfrm>
          <a:prstGeom prst="roundRect">
            <a:avLst>
              <a:gd name="adj" fmla="val 3333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/>
        </p:txBody>
      </p:sp>
      <p:sp>
        <p:nvSpPr>
          <p:cNvPr id="675" name=""/>
          <p:cNvSpPr/>
          <p:nvPr/>
        </p:nvSpPr>
        <p:spPr>
          <a:xfrm rot="0" flipH="0" flipV="0">
            <a:off x="8829675" y="3695700"/>
            <a:ext cx="2533650" cy="857250"/>
          </a:xfrm>
          <a:custGeom>
            <a:pathLst>
              <a:path w="266" h="90">
                <a:moveTo>
                  <a:pt x="3" y="90"/>
                </a:moveTo>
                <a:cubicBezTo>
                  <a:pt x="1" y="90"/>
                  <a:pt x="0" y="89"/>
                  <a:pt x="0" y="8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0"/>
                </a:lnTo>
                <a:close/>
              </a:path>
            </a:pathLst>
          </a:custGeom>
          <a:solidFill>
            <a:srgbClr val="2AD4EE">
              <a:alpha val="75000"/>
            </a:srgbClr>
          </a:solidFill>
          <a:ln/>
        </p:spPr>
        <p:txBody>
          <a:bodyPr/>
          <a:p/>
        </p:txBody>
      </p:sp>
      <p:sp>
        <p:nvSpPr>
          <p:cNvPr id="676" name="" descr="{&quot;isTemplate&quot;:true,&quot;type&quot;:&quot;text&quot;}"/>
          <p:cNvSpPr txBox="1"/>
          <p:nvPr/>
        </p:nvSpPr>
        <p:spPr>
          <a:xfrm rot="0" flipH="0" flipV="0">
            <a:off x="8963025" y="3762375"/>
            <a:ext cx="2238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AD4EE"/>
                </a:solidFill>
                <a:latin typeface="JetBrains Mono"/>
                <a:ea typeface="JetBrains Mono"/>
              </a:rPr>
              <a:t>截断保护</a:t>
            </a:r>
            <a:endParaRPr/>
          </a:p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8963025" y="4048125"/>
            <a:ext cx="22383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超长结果裁剪后回喂</a:t>
            </a:r>
            <a:endParaRPr/>
          </a:p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8963025" y="4343400"/>
            <a:ext cx="2238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>别让一条返回撑爆窗口</a:t>
            </a:r>
            <a:endParaRPr/>
          </a:p>
        </p:txBody>
      </p:sp>
      <p:sp>
        <p:nvSpPr>
          <p:cNvPr id="679" name=""/>
          <p:cNvSpPr/>
          <p:nvPr/>
        </p:nvSpPr>
        <p:spPr>
          <a:xfrm rot="0" flipH="0" flipV="0">
            <a:off x="685800" y="4838700"/>
            <a:ext cx="6162675" cy="1219200"/>
          </a:xfrm>
          <a:prstGeom prst="roundRect">
            <a:avLst>
              <a:gd name="adj" fmla="val 3125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876300" y="5010150"/>
            <a:ext cx="5781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WHY TWO LOOPS</a:t>
            </a:r>
            <a:endParaRPr/>
          </a:p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876300" y="5276850"/>
            <a:ext cx="57816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63" b="1">
                <a:solidFill>
                  <a:srgbClr val="E8EEF9"/>
                </a:solidFill>
                <a:latin typeface="Source Han Sans SC"/>
                <a:ea typeface="Source Han Sans SC"/>
              </a:rPr>
              <a:t>内层</a:t>
            </a:r>
            <a:r>
              <a:rPr lang="zh-CN" sz="1163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在一轮里反复「模型</a:t>
            </a:r>
            <a:r>
              <a:rPr lang="en-US" sz="1163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163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工具</a:t>
            </a:r>
            <a:r>
              <a:rPr lang="en-US" sz="1163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163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结果」，直到模型不再要工具；</a:t>
            </a:r>
            <a:r>
              <a:rPr lang="zh-CN" sz="1163" b="1">
                <a:solidFill>
                  <a:srgbClr val="E8EEF9"/>
                </a:solidFill>
                <a:latin typeface="Source Han Sans SC"/>
                <a:ea typeface="Source Han Sans SC"/>
              </a:rPr>
              <a:t>外层</a:t>
            </a:r>
            <a:r>
              <a:rPr lang="zh-CN" sz="1163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负责续跑——用户的插话与追问变成队列消息注入，而不是硬中断。</a:t>
            </a:r>
            <a:endParaRPr/>
          </a:p>
        </p:txBody>
      </p:sp>
      <p:sp>
        <p:nvSpPr>
          <p:cNvPr id="682" name=""/>
          <p:cNvSpPr/>
          <p:nvPr/>
        </p:nvSpPr>
        <p:spPr>
          <a:xfrm rot="0" flipH="0" flipV="0">
            <a:off x="7038975" y="4838700"/>
            <a:ext cx="4467225" cy="1219200"/>
          </a:xfrm>
          <a:prstGeom prst="roundRect">
            <a:avLst>
              <a:gd name="adj" fmla="val 3125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7229475" y="5153025"/>
            <a:ext cx="4086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684" name="" descr="{&quot;isTemplate&quot;:true,&quot;type&quot;:&quot;text&quot;}"/>
          <p:cNvSpPr txBox="1"/>
          <p:nvPr/>
        </p:nvSpPr>
        <p:spPr>
          <a:xfrm rot="0" flipH="0" flipV="0">
            <a:off x="7229475" y="5419725"/>
            <a:ext cx="4086225" cy="3238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看懂了这条流，就懂了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Pi 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的</a:t>
            </a:r>
            <a:r>
              <a:rPr lang="zh-CN" sz="1275">
                <a:solidFill>
                  <a:srgbClr val="2AD4EE"/>
                </a:solidFill>
                <a:latin typeface="Source Han Sans SC"/>
                <a:ea typeface="Source Han Sans SC"/>
              </a:rPr>
              <a:t>一切扩展点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23 / 33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687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0;    {/* A 区 · 标题块 */}&#10;    &lt;Box style={{ height: 100, flexDirection: 'row', gap: 16, alignItems: 'flex-start', paddingTop: 6 }}&gt;&#10;        &lt;Box style={{ width: 4, height: 36, background: '#2AD4EE', marginTop: 5 }} /&gt;&#10;        &lt;Box style={{ flexDirection: 'column' }}&gt;&#10;            &lt;Text style={{ fontSize: 34, fontWeight: 'bold', color: '#E8EEF9' }}&gt;九个设计点：对应七层地图&lt;/Text&gt;&#10;            &lt;Text style={{ marginTop: 8, fontSize: 17, color: 'rgba(232,238,249,0.52)' }}&gt;Pi 的每一个设计点，都能落回前面那七层&lt;/Text&gt;&#10;        &lt;/Box&gt;&#10;    &lt;/Box&gt;&#10;&#10;    {/* B 区 · 左标题 + 右映射表 */}&#10;    &lt;Box style={{ height: 516, flexDirection: 'row', gap: 30 }}&gt;&#10;        {/* 左：标题栏 */}&#10;        &lt;Box style={{ width: 266, flexDirection: 'column', paddingRight: 26, borderRight: '1px solid rgba(232,238,249,0.12)' }}&gt;&#10;            &lt;Text style={{ fontSize: 15, color: '#2AD4EE', letterSpacing: 3, fontFamily: '&quot;JetBrains Mono&quot;, &quot;Cascadia Mono&quot;, Consolas, monospace' }}&gt;DESIGN NOTES&lt;/Text&gt;&#10;            &lt;Text style={{ marginTop: 16, fontSize: 26, fontWeight: 'bold', color: '#E8EEF9', lineHeight: 1.45 }}&gt;&#10;                九个设计点&#10;                &lt;br /&gt;&#10;                一张映射表&#10;            &lt;/Text&gt;&#10;            &lt;Text style={{ marginTop: 16, fontSize: 16, color: 'rgba(232,238,249,0.72)', lineHeight: 1.8 }}&gt;&#10;                学完 Pi 的九个设计点，回头看七层地图，会发现它们一一对得上。&#10;            &lt;/Text&gt;&#10;&#10;            &lt;Box style={{ marginTop: 18, height: 96, flexDirection: 'column', alignItems: 'center', justifyContent: 'center', background: 'rgba(22,35,61,0.92)', border: '1px solid rgba(42,212,238,0.28)', borderRadius: 4 }}&gt;&#10;                &lt;Box style={{ flexDirection: 'row', alignItems: 'center', gap: 14 }}&gt;&#10;                    &lt;Text style={{ fontSize: 46, fontWeight: 'bold', color: '#2AD4EE', fontFamily: '&quot;JetBrains Mono&quot;, &quot;Cascadia Mono&quot;, Consolas, monospace', lineHeight: 1 }}&gt;9&lt;/Text&gt;&#10;                    &lt;Text style={{ fontSize: 24, color: 'rgba(232,238,249,0.40)' }}&gt;→&lt;/Text&gt;&#10;                    &lt;Text style={{ fontSize: 46, fontWeight: 'bold', color: '#E8EEF9', fontFamily: '&quot;JetBrains Mono&quot;, &quot;Cascadia Mono&quot;, Consolas, monospace', lineHeight: 1 }}&gt;7&lt;/Text&gt;&#10;                &lt;/Box&gt;&#10;                &lt;Text style={{ marginTop: 10, fontSize: 14, color: 'rgba(232,238,249,0.58)' }}&gt;9 个设计点 · 7 个功能层 · 顺序一致&lt;/Text&gt;&#10;            &lt;/Box&gt;&#10;&#10;            &lt;Box style={{ marginTop: 'auto', paddingTop: 14, paddingBottom: 14, paddingLeft: 16, paddingRight: 16, background: 'rgba(42,212,238,0.08)', border: '1px solid rgba(42,212,238,0.22)', borderRadius: 4 }}&gt;&#10;                &lt;Text style={{ fontSize: 14, color: '#2AD4EE', letterSpacing: 3, fontFamily: '&quot;JetBrains Mono&quot;, &quot;Cascadia Mono&quot;, Consolas, monospace' }}&gt;所以&lt;/Text&gt;&#10;                &lt;Text style={{ marginTop: 8, fontSize: 15, color: '#E8EEF9', lineHeight: 1.7 }}&gt;&#10;                    编号 1–7 就是层号 ①–⑦。这不是巧合，是刻意的教学设计。&#10;                &lt;/Text&gt;&#10;            &lt;/Box&gt;&#10;        &lt;/Box&gt;&#10;&#10;        {/* 右：映射表 */}&#10;        &lt;Box style={{ flex: 1, flexDirection: 'column' }}&gt;&#10;            &lt;Box style={{ flexDirection: 'row', alignItems: 'center', justifyContent: 'space-between', paddingBottom: 10, borderBottom: '1px solid rgba(232,238,249,0.12)' }}&gt;&#10;                &lt;Text style={{ fontSize: 14, color: 'rgba(232,238,249,0.42)', letterSpacing: 2, fontFamily: '&quot;JetBrains Mono&quot;, &quot;Cascadia Mono&quot;, Consolas, monospace' }}&gt;设计点 / 解决什么问题 / 对应功能层&lt;/Text&gt;&#10;                &lt;Text style={{ fontSize: 13, color: 'rgba(232,238,249,0.42)' }}&gt;每一个设计点，都解决一类具体问题&lt;/Text&gt;&#10;            &lt;/Box&gt;&#10;&#10;            &lt;Box style={{ flex: 1, flexDirection: 'column', justifyContent: 'space-between' }}&gt;&#10;                {[&#10;                    ['1', '模型适配', '一套统一类型 + 归一化流式事件：把厂商差异挡在循环之外，换模型不改业务代码', '① 模型层'],&#10;                    ['2', '上下文工程', '常驻最小化：系统提示 &lt;1000 token + 4 个工具，其余按需注入，放不下就 compaction', '② 提示层'],&#10;                    ['3', '工具系统', '四阶段流水线：Prepare 校验 → Execute 执行 → Finalize 改写 / 脱敏 → 截断保护', '③ 工具层'],&#10;                    ['4', '会话系统', '会话原语与持久化：历史怎么存、怎么取、怎么续跑，都是可替换的存储后端', '④ 记忆层'],&#10;                    ['5', 'Agent 循环', '约 418 行双层 while：内层跑工具调用、外层跑续跑，终止与最大轮次都有兜底', '⑤ 控制层'],&#10;                    ['6', '扩展系统', '能力全部外置成扩展：加工具、加拦截、加校验，全都不动内核一行代码', '⑥ 护栏层'],&#10;                    ['7', '事件系统', '事件总线贯穿全程：文本与思考增量实时回流，是可观测性的地基', '⑦ 运营层'],&#10;                    ['8', '安全与可观测', '内核不做权限：权限、沙箱与审计交回给使用方，用扩展钩子自建拦截', '⑥ + ⑦'],&#10;                    ['9', '远程会话栈', 'CBOR 远程会话：协议 / 客户端 / 服务端三层，可选，不影响核心四层', '独立叠加'],&#10;                ].map((r, i) =&gt; (&#10;                    &lt;Box key={i} style={{ flex: 1, flexDirection: 'row', alignItems: 'center', borderBottom: i === 8 ? 'none' : '1px solid rgba(232,238,249,0.10)' }}&gt;&#10;                        &lt;Text style={{ width: 30, fontSize: 14, color: '#2AD4EE', fontFamily: '&quot;JetBrains Mono&quot;, &quot;Cascadia Mono&quot;, Consolas, monospace' }}&gt;{r[0]}&lt;/Text&gt;&#10;                        &lt;Text style={{ width: 128, fontSize: 16, fontWeight: 'bold', color: '#E8EEF9' }}&gt;{r[1]}&lt;/Text&gt;&#10;                        &lt;Box style={{ width: 1, height: 18, background: 'rgba(232,238,249,0.16)', marginRight: 16 }} /&gt;&#10;                        &lt;Text style={{ flex: 1, fontSize: 13.5, color: 'rgba(232,238,249,0.68)', lineHeight: 1.5 }}&gt;{r[2]}&lt;/Text&gt;&#10;                        &lt;Box style={{ paddingTop: 4, paddingBottom: 4, paddingLeft: 12, paddingRight: 12, background: 'rgba(42,212,238,0.10)', border: '1px solid rgba(42,212,238,0.30)', borderRadius: 3 }}&gt;&#10;                            &lt;Text style={{ fontSize: 13, color: '#2AD4EE', fontFamily: '&quot;JetBrains Mono&quot;, &quot;Cascadia Mono&quot;, Consolas, monospace' }}&gt;{r[3]}&lt;/Text&gt;&#10;                        &lt;/Box&gt;&#10;                    &lt;/Box&gt;&#10;                ))}&#10;            &lt;/Box&gt;&#10;        &lt;/Box&gt;&#10;    &lt;/Box&gt;&#10;&#10;    {/* C 区 · 页脚 */}&#10;    &lt;Box style={{ height: 40, flexDirection: 'row', alignItems: 'flex-end', justifyContent: 'space-between' }}&gt;&#10;        &lt;Text style={{ fontSize: 14, color: 'rgba(232,238,249,0.42)' }}&gt;从 LLM 到 Agent 再到 Pi Agent&lt;/Text&gt;&#10;        &lt;Text style={{ fontSize: 14, color: 'rgba(232,238,249,0.42)', fontFamily: '&quot;JetBrains Mono&quot;, &quot;Cascadia Mono&quot;, Consolas, monospace' }}&gt;24 / 3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689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九个设计点：对应七层地图</a:t>
            </a:r>
            <a:endParaRPr/>
          </a:p>
        </p:txBody>
      </p:sp>
      <p:sp>
        <p:nvSpPr>
          <p:cNvPr id="691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886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Pi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的每一个设计点，都能落回前面那七层</a:t>
            </a:r>
            <a:endParaRPr/>
          </a:p>
        </p:txBody>
      </p:sp>
      <p:sp>
        <p:nvSpPr>
          <p:cNvPr id="692" name=""/>
          <p:cNvSpPr/>
          <p:nvPr/>
        </p:nvSpPr>
        <p:spPr>
          <a:xfrm rot="0" flipH="0" flipV="0">
            <a:off x="685800" y="1143000"/>
            <a:ext cx="2533650" cy="4914900"/>
          </a:xfrm>
          <a:custGeom>
            <a:pathLst>
              <a:path w="266" h="516">
                <a:moveTo>
                  <a:pt x="265" y="0"/>
                </a:moveTo>
                <a:lnTo>
                  <a:pt x="266" y="0"/>
                </a:lnTo>
                <a:lnTo>
                  <a:pt x="266" y="516"/>
                </a:lnTo>
                <a:lnTo>
                  <a:pt x="265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276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DESIGN NOTES</a:t>
            </a:r>
            <a:endParaRPr/>
          </a:p>
        </p:txBody>
      </p:sp>
      <p:sp>
        <p:nvSpPr>
          <p:cNvPr id="694" name="" descr="{&quot;isTemplate&quot;:true,&quot;type&quot;:&quot;text&quot;}"/>
          <p:cNvSpPr txBox="1"/>
          <p:nvPr/>
        </p:nvSpPr>
        <p:spPr>
          <a:xfrm rot="0" flipH="0" flipV="0">
            <a:off x="685800" y="1466850"/>
            <a:ext cx="2276475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九个设计点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一张映射表</a:t>
            </a:r>
            <a:endParaRPr/>
          </a:p>
        </p:txBody>
      </p:sp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685800" y="2486025"/>
            <a:ext cx="2276475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学完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Pi 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的九个设计点，回头看七层地图，会发现它们一一对得上。</a:t>
            </a:r>
            <a:endParaRPr/>
          </a:p>
        </p:txBody>
      </p:sp>
      <p:sp>
        <p:nvSpPr>
          <p:cNvPr id="696" name=""/>
          <p:cNvSpPr/>
          <p:nvPr/>
        </p:nvSpPr>
        <p:spPr>
          <a:xfrm rot="0" flipH="0" flipV="0">
            <a:off x="685800" y="3648075"/>
            <a:ext cx="2276475" cy="914400"/>
          </a:xfrm>
          <a:prstGeom prst="roundRect">
            <a:avLst>
              <a:gd name="adj" fmla="val 4167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2AD4EE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1323975" y="3714750"/>
            <a:ext cx="25717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2AD4EE"/>
                </a:solidFill>
                <a:latin typeface="JetBrains Mono"/>
                <a:ea typeface="JetBrains Mono"/>
              </a:rPr>
              <a:t>9</a:t>
            </a:r>
            <a:endParaRPr/>
          </a:p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1714500" y="3848100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E8EEF9">
                    <a:alpha val="40000"/>
                  </a:srgbClr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2076450" y="3714750"/>
            <a:ext cx="25717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E8EEF9"/>
                </a:solidFill>
                <a:latin typeface="JetBrains Mono"/>
                <a:ea typeface="JetBrains Mono"/>
              </a:rPr>
              <a:t>7</a:t>
            </a:r>
            <a:endParaRPr/>
          </a:p>
        </p:txBody>
      </p:sp>
      <p:sp>
        <p:nvSpPr>
          <p:cNvPr id="700" name="" descr="{&quot;isTemplate&quot;:true,&quot;type&quot;:&quot;text&quot;}"/>
          <p:cNvSpPr txBox="1"/>
          <p:nvPr/>
        </p:nvSpPr>
        <p:spPr>
          <a:xfrm rot="0" flipH="0" flipV="0">
            <a:off x="733425" y="4343400"/>
            <a:ext cx="2190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 xml:space="preserve">9 </a:t>
            </a:r>
            <a:r>
              <a:rPr lang="zh-CN" sz="1050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个设计点</a:t>
            </a:r>
            <a:r>
              <a:rPr lang="en-US" sz="1050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 xml:space="preserve"> · 7 </a:t>
            </a:r>
            <a:r>
              <a:rPr lang="zh-CN" sz="1050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个功能层</a:t>
            </a:r>
            <a:r>
              <a:rPr lang="en-US" sz="1050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50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顺序一致</a:t>
            </a:r>
            <a:endParaRPr/>
          </a:p>
        </p:txBody>
      </p:sp>
      <p:sp>
        <p:nvSpPr>
          <p:cNvPr id="701" name=""/>
          <p:cNvSpPr/>
          <p:nvPr/>
        </p:nvSpPr>
        <p:spPr>
          <a:xfrm rot="0" flipH="0" flipV="0">
            <a:off x="685800" y="4962525"/>
            <a:ext cx="2276475" cy="1095375"/>
          </a:xfrm>
          <a:prstGeom prst="roundRect">
            <a:avLst>
              <a:gd name="adj" fmla="val 3478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838200" y="5095875"/>
            <a:ext cx="1971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838200" y="5334000"/>
            <a:ext cx="19716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编号</a:t>
            </a: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1–7 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就是层号</a:t>
            </a: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①–⑦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。这不是巧合，是刻意的教学设计。</a:t>
            </a:r>
            <a:endParaRPr/>
          </a:p>
        </p:txBody>
      </p:sp>
      <p:sp>
        <p:nvSpPr>
          <p:cNvPr id="704" name=""/>
          <p:cNvSpPr/>
          <p:nvPr/>
        </p:nvSpPr>
        <p:spPr>
          <a:xfrm rot="0" flipH="0" flipV="0">
            <a:off x="3505200" y="1143000"/>
            <a:ext cx="8001000" cy="276225"/>
          </a:xfrm>
          <a:custGeom>
            <a:pathLst>
              <a:path w="840" h="29">
                <a:moveTo>
                  <a:pt x="0" y="28"/>
                </a:moveTo>
                <a:lnTo>
                  <a:pt x="840" y="28"/>
                </a:lnTo>
                <a:lnTo>
                  <a:pt x="840" y="29"/>
                </a:lnTo>
                <a:lnTo>
                  <a:pt x="0" y="29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3505200" y="1143000"/>
            <a:ext cx="2724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设计点</a:t>
            </a:r>
            <a:r>
              <a:rPr lang="en-US" sz="1050" spc="1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 xml:space="preserve"> / </a:t>
            </a:r>
            <a:r>
              <a:rPr lang="zh-CN" sz="1050" spc="1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解决什么问题</a:t>
            </a:r>
            <a:r>
              <a:rPr lang="en-US" sz="1050" spc="1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 xml:space="preserve"> / </a:t>
            </a:r>
            <a:r>
              <a:rPr lang="zh-CN" sz="1050" spc="1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对应功能层</a:t>
            </a:r>
            <a:endParaRPr/>
          </a:p>
        </p:txBody>
      </p:sp>
      <p:sp>
        <p:nvSpPr>
          <p:cNvPr id="706" name="" descr="{&quot;isTemplate&quot;:true,&quot;type&quot;:&quot;text&quot;}"/>
          <p:cNvSpPr txBox="1"/>
          <p:nvPr/>
        </p:nvSpPr>
        <p:spPr>
          <a:xfrm rot="0" flipH="0" flipV="0">
            <a:off x="9525000" y="1152525"/>
            <a:ext cx="1981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每一个设计点，都解决一类具体问题</a:t>
            </a:r>
            <a:endParaRPr/>
          </a:p>
        </p:txBody>
      </p:sp>
      <p:sp>
        <p:nvSpPr>
          <p:cNvPr id="707" name=""/>
          <p:cNvSpPr/>
          <p:nvPr/>
        </p:nvSpPr>
        <p:spPr>
          <a:xfrm rot="0" flipH="0" flipV="0">
            <a:off x="3505200" y="1409700"/>
            <a:ext cx="8001000" cy="523875"/>
          </a:xfrm>
          <a:custGeom>
            <a:pathLst>
              <a:path w="840" h="55">
                <a:moveTo>
                  <a:pt x="0" y="54"/>
                </a:moveTo>
                <a:lnTo>
                  <a:pt x="840" y="54"/>
                </a:lnTo>
                <a:lnTo>
                  <a:pt x="840" y="55"/>
                </a:lnTo>
                <a:lnTo>
                  <a:pt x="0" y="55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/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3505200" y="1581150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3790950" y="1571625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模型适配</a:t>
            </a:r>
            <a:endParaRPr/>
          </a:p>
        </p:txBody>
      </p:sp>
      <p:sp>
        <p:nvSpPr>
          <p:cNvPr id="710" name=""/>
          <p:cNvSpPr/>
          <p:nvPr/>
        </p:nvSpPr>
        <p:spPr>
          <a:xfrm rot="0" flipH="0" flipV="0">
            <a:off x="5010150" y="1581150"/>
            <a:ext cx="9525" cy="17145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/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5172075" y="1543050"/>
            <a:ext cx="55911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一套统一类型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归一化流式事件：把厂商差异挡在循环之外，换模型不改业务代码</a:t>
            </a:r>
            <a:endParaRPr/>
          </a:p>
        </p:txBody>
      </p:sp>
      <p:sp>
        <p:nvSpPr>
          <p:cNvPr id="712" name=""/>
          <p:cNvSpPr/>
          <p:nvPr/>
        </p:nvSpPr>
        <p:spPr>
          <a:xfrm rot="0" flipH="0" flipV="0">
            <a:off x="10763250" y="1552575"/>
            <a:ext cx="7429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13" name="" descr="{&quot;isTemplate&quot;:true,&quot;type&quot;:&quot;text&quot;}"/>
          <p:cNvSpPr txBox="1"/>
          <p:nvPr/>
        </p:nvSpPr>
        <p:spPr>
          <a:xfrm rot="0" flipH="0" flipV="0">
            <a:off x="10877550" y="1590675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 xml:space="preserve">① </a:t>
            </a:r>
            <a:r>
              <a:rPr lang="zh-CN" sz="975">
                <a:solidFill>
                  <a:srgbClr val="2AD4EE"/>
                </a:solidFill>
                <a:latin typeface="JetBrains Mono"/>
                <a:ea typeface="JetBrains Mono"/>
              </a:rPr>
              <a:t>模型层</a:t>
            </a:r>
            <a:endParaRPr/>
          </a:p>
        </p:txBody>
      </p:sp>
      <p:sp>
        <p:nvSpPr>
          <p:cNvPr id="714" name=""/>
          <p:cNvSpPr/>
          <p:nvPr/>
        </p:nvSpPr>
        <p:spPr>
          <a:xfrm rot="0" flipH="0" flipV="0">
            <a:off x="3505200" y="1924050"/>
            <a:ext cx="8001000" cy="533400"/>
          </a:xfrm>
          <a:custGeom>
            <a:pathLst>
              <a:path w="840" h="56">
                <a:moveTo>
                  <a:pt x="0" y="55"/>
                </a:moveTo>
                <a:lnTo>
                  <a:pt x="840" y="55"/>
                </a:lnTo>
                <a:lnTo>
                  <a:pt x="840" y="56"/>
                </a:lnTo>
                <a:lnTo>
                  <a:pt x="0" y="56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/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3505200" y="2105025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2</a:t>
            </a:r>
            <a:endParaRPr/>
          </a:p>
        </p:txBody>
      </p:sp>
      <p:sp>
        <p:nvSpPr>
          <p:cNvPr id="716" name="" descr="{&quot;isTemplate&quot;:true,&quot;type&quot;:&quot;text&quot;}"/>
          <p:cNvSpPr txBox="1"/>
          <p:nvPr/>
        </p:nvSpPr>
        <p:spPr>
          <a:xfrm rot="0" flipH="0" flipV="0">
            <a:off x="3790950" y="2085975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上下文工程</a:t>
            </a:r>
            <a:endParaRPr/>
          </a:p>
        </p:txBody>
      </p:sp>
      <p:sp>
        <p:nvSpPr>
          <p:cNvPr id="717" name=""/>
          <p:cNvSpPr/>
          <p:nvPr/>
        </p:nvSpPr>
        <p:spPr>
          <a:xfrm rot="0" flipH="0" flipV="0">
            <a:off x="5010150" y="2095500"/>
            <a:ext cx="9525" cy="17145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/>
        </p:txBody>
      </p:sp>
      <p:sp>
        <p:nvSpPr>
          <p:cNvPr id="718" name="" descr="{&quot;isTemplate&quot;:true,&quot;type&quot;:&quot;text&quot;}"/>
          <p:cNvSpPr txBox="1"/>
          <p:nvPr/>
        </p:nvSpPr>
        <p:spPr>
          <a:xfrm rot="0" flipH="0" flipV="0">
            <a:off x="5172075" y="2066925"/>
            <a:ext cx="55911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常驻最小化：系统提示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&lt;1000 token + 4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个工具，其余按需注入，放不下就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compaction</a:t>
            </a:r>
            <a:endParaRPr/>
          </a:p>
        </p:txBody>
      </p:sp>
      <p:sp>
        <p:nvSpPr>
          <p:cNvPr id="719" name=""/>
          <p:cNvSpPr/>
          <p:nvPr/>
        </p:nvSpPr>
        <p:spPr>
          <a:xfrm rot="0" flipH="0" flipV="0">
            <a:off x="10763250" y="2066925"/>
            <a:ext cx="7429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20" name="" descr="{&quot;isTemplate&quot;:true,&quot;type&quot;:&quot;text&quot;}"/>
          <p:cNvSpPr txBox="1"/>
          <p:nvPr/>
        </p:nvSpPr>
        <p:spPr>
          <a:xfrm rot="0" flipH="0" flipV="0">
            <a:off x="10877550" y="2105025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 xml:space="preserve">② </a:t>
            </a:r>
            <a:r>
              <a:rPr lang="zh-CN" sz="975">
                <a:solidFill>
                  <a:srgbClr val="2AD4EE"/>
                </a:solidFill>
                <a:latin typeface="JetBrains Mono"/>
                <a:ea typeface="JetBrains Mono"/>
              </a:rPr>
              <a:t>提示层</a:t>
            </a:r>
            <a:endParaRPr/>
          </a:p>
        </p:txBody>
      </p:sp>
      <p:sp>
        <p:nvSpPr>
          <p:cNvPr id="721" name=""/>
          <p:cNvSpPr/>
          <p:nvPr/>
        </p:nvSpPr>
        <p:spPr>
          <a:xfrm rot="0" flipH="0" flipV="0">
            <a:off x="3505200" y="2447925"/>
            <a:ext cx="8001000" cy="523875"/>
          </a:xfrm>
          <a:custGeom>
            <a:pathLst>
              <a:path w="840" h="55">
                <a:moveTo>
                  <a:pt x="0" y="54"/>
                </a:moveTo>
                <a:lnTo>
                  <a:pt x="840" y="54"/>
                </a:lnTo>
                <a:lnTo>
                  <a:pt x="840" y="55"/>
                </a:lnTo>
                <a:lnTo>
                  <a:pt x="0" y="55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/>
        </p:txBody>
      </p:sp>
      <p:sp>
        <p:nvSpPr>
          <p:cNvPr id="722" name="" descr="{&quot;isTemplate&quot;:true,&quot;type&quot;:&quot;text&quot;}"/>
          <p:cNvSpPr txBox="1"/>
          <p:nvPr/>
        </p:nvSpPr>
        <p:spPr>
          <a:xfrm rot="0" flipH="0" flipV="0">
            <a:off x="3505200" y="2619375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723" name="" descr="{&quot;isTemplate&quot;:true,&quot;type&quot;:&quot;text&quot;}"/>
          <p:cNvSpPr txBox="1"/>
          <p:nvPr/>
        </p:nvSpPr>
        <p:spPr>
          <a:xfrm rot="0" flipH="0" flipV="0">
            <a:off x="3790950" y="260985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工具系统</a:t>
            </a:r>
            <a:endParaRPr/>
          </a:p>
        </p:txBody>
      </p:sp>
      <p:sp>
        <p:nvSpPr>
          <p:cNvPr id="724" name=""/>
          <p:cNvSpPr/>
          <p:nvPr/>
        </p:nvSpPr>
        <p:spPr>
          <a:xfrm rot="0" flipH="0" flipV="0">
            <a:off x="5010150" y="2619375"/>
            <a:ext cx="9525" cy="17145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/>
        </p:txBody>
      </p:sp>
      <p:sp>
        <p:nvSpPr>
          <p:cNvPr id="725" name="" descr="{&quot;isTemplate&quot;:true,&quot;type&quot;:&quot;text&quot;}"/>
          <p:cNvSpPr txBox="1"/>
          <p:nvPr/>
        </p:nvSpPr>
        <p:spPr>
          <a:xfrm rot="0" flipH="0" flipV="0">
            <a:off x="5172075" y="2581275"/>
            <a:ext cx="55911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四阶段流水线：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Prepare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校验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→ Execute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执行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→ Finalize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改写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脱敏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截断保护</a:t>
            </a:r>
            <a:endParaRPr/>
          </a:p>
        </p:txBody>
      </p:sp>
      <p:sp>
        <p:nvSpPr>
          <p:cNvPr id="726" name=""/>
          <p:cNvSpPr/>
          <p:nvPr/>
        </p:nvSpPr>
        <p:spPr>
          <a:xfrm rot="0" flipH="0" flipV="0">
            <a:off x="10763250" y="2590800"/>
            <a:ext cx="7429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27" name="" descr="{&quot;isTemplate&quot;:true,&quot;type&quot;:&quot;text&quot;}"/>
          <p:cNvSpPr txBox="1"/>
          <p:nvPr/>
        </p:nvSpPr>
        <p:spPr>
          <a:xfrm rot="0" flipH="0" flipV="0">
            <a:off x="10877550" y="2628900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 xml:space="preserve">③ </a:t>
            </a:r>
            <a:r>
              <a:rPr lang="zh-CN" sz="975">
                <a:solidFill>
                  <a:srgbClr val="2AD4EE"/>
                </a:solidFill>
                <a:latin typeface="JetBrains Mono"/>
                <a:ea typeface="JetBrains Mono"/>
              </a:rPr>
              <a:t>工具层</a:t>
            </a:r>
            <a:endParaRPr/>
          </a:p>
        </p:txBody>
      </p:sp>
      <p:sp>
        <p:nvSpPr>
          <p:cNvPr id="728" name=""/>
          <p:cNvSpPr/>
          <p:nvPr/>
        </p:nvSpPr>
        <p:spPr>
          <a:xfrm rot="0" flipH="0" flipV="0">
            <a:off x="3505200" y="2962275"/>
            <a:ext cx="8001000" cy="523875"/>
          </a:xfrm>
          <a:custGeom>
            <a:pathLst>
              <a:path w="840" h="55">
                <a:moveTo>
                  <a:pt x="0" y="54"/>
                </a:moveTo>
                <a:lnTo>
                  <a:pt x="840" y="54"/>
                </a:lnTo>
                <a:lnTo>
                  <a:pt x="840" y="55"/>
                </a:lnTo>
                <a:lnTo>
                  <a:pt x="0" y="55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/>
        </p:txBody>
      </p:sp>
      <p:sp>
        <p:nvSpPr>
          <p:cNvPr id="729" name="" descr="{&quot;isTemplate&quot;:true,&quot;type&quot;:&quot;text&quot;}"/>
          <p:cNvSpPr txBox="1"/>
          <p:nvPr/>
        </p:nvSpPr>
        <p:spPr>
          <a:xfrm rot="0" flipH="0" flipV="0">
            <a:off x="3505200" y="3133725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4</a:t>
            </a:r>
            <a:endParaRPr/>
          </a:p>
        </p:txBody>
      </p:sp>
      <p:sp>
        <p:nvSpPr>
          <p:cNvPr id="730" name="" descr="{&quot;isTemplate&quot;:true,&quot;type&quot;:&quot;text&quot;}"/>
          <p:cNvSpPr txBox="1"/>
          <p:nvPr/>
        </p:nvSpPr>
        <p:spPr>
          <a:xfrm rot="0" flipH="0" flipV="0">
            <a:off x="3790950" y="312420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会话系统</a:t>
            </a:r>
            <a:endParaRPr/>
          </a:p>
        </p:txBody>
      </p:sp>
      <p:sp>
        <p:nvSpPr>
          <p:cNvPr id="731" name=""/>
          <p:cNvSpPr/>
          <p:nvPr/>
        </p:nvSpPr>
        <p:spPr>
          <a:xfrm rot="0" flipH="0" flipV="0">
            <a:off x="5010150" y="3133725"/>
            <a:ext cx="9525" cy="17145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/>
        </p:txBody>
      </p:sp>
      <p:sp>
        <p:nvSpPr>
          <p:cNvPr id="732" name="" descr="{&quot;isTemplate&quot;:true,&quot;type&quot;:&quot;text&quot;}"/>
          <p:cNvSpPr txBox="1"/>
          <p:nvPr/>
        </p:nvSpPr>
        <p:spPr>
          <a:xfrm rot="0" flipH="0" flipV="0">
            <a:off x="5172075" y="3095625"/>
            <a:ext cx="55911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会话原语与持久化：历史怎么存、怎么取、怎么续跑，都是可替换的存储后端</a:t>
            </a:r>
            <a:endParaRPr/>
          </a:p>
        </p:txBody>
      </p:sp>
      <p:sp>
        <p:nvSpPr>
          <p:cNvPr id="733" name=""/>
          <p:cNvSpPr/>
          <p:nvPr/>
        </p:nvSpPr>
        <p:spPr>
          <a:xfrm rot="0" flipH="0" flipV="0">
            <a:off x="10763250" y="3105150"/>
            <a:ext cx="7429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34" name="" descr="{&quot;isTemplate&quot;:true,&quot;type&quot;:&quot;text&quot;}"/>
          <p:cNvSpPr txBox="1"/>
          <p:nvPr/>
        </p:nvSpPr>
        <p:spPr>
          <a:xfrm rot="0" flipH="0" flipV="0">
            <a:off x="10877550" y="3143250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 xml:space="preserve">④ </a:t>
            </a:r>
            <a:r>
              <a:rPr lang="zh-CN" sz="975">
                <a:solidFill>
                  <a:srgbClr val="2AD4EE"/>
                </a:solidFill>
                <a:latin typeface="JetBrains Mono"/>
                <a:ea typeface="JetBrains Mono"/>
              </a:rPr>
              <a:t>记忆层</a:t>
            </a:r>
            <a:endParaRPr/>
          </a:p>
        </p:txBody>
      </p:sp>
      <p:sp>
        <p:nvSpPr>
          <p:cNvPr id="735" name=""/>
          <p:cNvSpPr/>
          <p:nvPr/>
        </p:nvSpPr>
        <p:spPr>
          <a:xfrm rot="0" flipH="0" flipV="0">
            <a:off x="3505200" y="3476625"/>
            <a:ext cx="8001000" cy="533400"/>
          </a:xfrm>
          <a:custGeom>
            <a:pathLst>
              <a:path w="840" h="56">
                <a:moveTo>
                  <a:pt x="0" y="55"/>
                </a:moveTo>
                <a:lnTo>
                  <a:pt x="840" y="55"/>
                </a:lnTo>
                <a:lnTo>
                  <a:pt x="840" y="56"/>
                </a:lnTo>
                <a:lnTo>
                  <a:pt x="0" y="56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/>
        </p:txBody>
      </p:sp>
      <p:sp>
        <p:nvSpPr>
          <p:cNvPr id="736" name="" descr="{&quot;isTemplate&quot;:true,&quot;type&quot;:&quot;text&quot;}"/>
          <p:cNvSpPr txBox="1"/>
          <p:nvPr/>
        </p:nvSpPr>
        <p:spPr>
          <a:xfrm rot="0" flipH="0" flipV="0">
            <a:off x="3505200" y="3657600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5</a:t>
            </a:r>
            <a:endParaRPr/>
          </a:p>
        </p:txBody>
      </p:sp>
      <p:sp>
        <p:nvSpPr>
          <p:cNvPr id="737" name="" descr="{&quot;isTemplate&quot;:true,&quot;type&quot;:&quot;text&quot;}"/>
          <p:cNvSpPr txBox="1"/>
          <p:nvPr/>
        </p:nvSpPr>
        <p:spPr>
          <a:xfrm rot="0" flipH="0" flipV="0">
            <a:off x="3790950" y="363855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循环</a:t>
            </a:r>
            <a:endParaRPr/>
          </a:p>
        </p:txBody>
      </p:sp>
      <p:sp>
        <p:nvSpPr>
          <p:cNvPr id="738" name=""/>
          <p:cNvSpPr/>
          <p:nvPr/>
        </p:nvSpPr>
        <p:spPr>
          <a:xfrm rot="0" flipH="0" flipV="0">
            <a:off x="5010150" y="3648075"/>
            <a:ext cx="9525" cy="17145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/>
        </p:txBody>
      </p:sp>
      <p:sp>
        <p:nvSpPr>
          <p:cNvPr id="739" name="" descr="{&quot;isTemplate&quot;:true,&quot;type&quot;:&quot;text&quot;}"/>
          <p:cNvSpPr txBox="1"/>
          <p:nvPr/>
        </p:nvSpPr>
        <p:spPr>
          <a:xfrm rot="0" flipH="0" flipV="0">
            <a:off x="5172075" y="3619500"/>
            <a:ext cx="55911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约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418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行双层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while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：内层跑工具调用、外层跑续跑，终止与最大轮次都有兜底</a:t>
            </a:r>
            <a:endParaRPr/>
          </a:p>
        </p:txBody>
      </p:sp>
      <p:sp>
        <p:nvSpPr>
          <p:cNvPr id="740" name=""/>
          <p:cNvSpPr/>
          <p:nvPr/>
        </p:nvSpPr>
        <p:spPr>
          <a:xfrm rot="0" flipH="0" flipV="0">
            <a:off x="10763250" y="3619500"/>
            <a:ext cx="7429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41" name="" descr="{&quot;isTemplate&quot;:true,&quot;type&quot;:&quot;text&quot;}"/>
          <p:cNvSpPr txBox="1"/>
          <p:nvPr/>
        </p:nvSpPr>
        <p:spPr>
          <a:xfrm rot="0" flipH="0" flipV="0">
            <a:off x="10877550" y="3657600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 xml:space="preserve">⑤ </a:t>
            </a:r>
            <a:r>
              <a:rPr lang="zh-CN" sz="975">
                <a:solidFill>
                  <a:srgbClr val="2AD4EE"/>
                </a:solidFill>
                <a:latin typeface="JetBrains Mono"/>
                <a:ea typeface="JetBrains Mono"/>
              </a:rPr>
              <a:t>控制层</a:t>
            </a:r>
            <a:endParaRPr/>
          </a:p>
        </p:txBody>
      </p:sp>
      <p:sp>
        <p:nvSpPr>
          <p:cNvPr id="742" name=""/>
          <p:cNvSpPr/>
          <p:nvPr/>
        </p:nvSpPr>
        <p:spPr>
          <a:xfrm rot="0" flipH="0" flipV="0">
            <a:off x="3505200" y="4000500"/>
            <a:ext cx="8001000" cy="523875"/>
          </a:xfrm>
          <a:custGeom>
            <a:pathLst>
              <a:path w="840" h="55">
                <a:moveTo>
                  <a:pt x="0" y="54"/>
                </a:moveTo>
                <a:lnTo>
                  <a:pt x="840" y="54"/>
                </a:lnTo>
                <a:lnTo>
                  <a:pt x="840" y="55"/>
                </a:lnTo>
                <a:lnTo>
                  <a:pt x="0" y="55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/>
        </p:txBody>
      </p:sp>
      <p:sp>
        <p:nvSpPr>
          <p:cNvPr id="743" name="" descr="{&quot;isTemplate&quot;:true,&quot;type&quot;:&quot;text&quot;}"/>
          <p:cNvSpPr txBox="1"/>
          <p:nvPr/>
        </p:nvSpPr>
        <p:spPr>
          <a:xfrm rot="0" flipH="0" flipV="0">
            <a:off x="3505200" y="4171950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6</a:t>
            </a:r>
            <a:endParaRPr/>
          </a:p>
        </p:txBody>
      </p:sp>
      <p:sp>
        <p:nvSpPr>
          <p:cNvPr id="744" name="" descr="{&quot;isTemplate&quot;:true,&quot;type&quot;:&quot;text&quot;}"/>
          <p:cNvSpPr txBox="1"/>
          <p:nvPr/>
        </p:nvSpPr>
        <p:spPr>
          <a:xfrm rot="0" flipH="0" flipV="0">
            <a:off x="3790950" y="4162425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扩展系统</a:t>
            </a:r>
            <a:endParaRPr/>
          </a:p>
        </p:txBody>
      </p:sp>
      <p:sp>
        <p:nvSpPr>
          <p:cNvPr id="745" name=""/>
          <p:cNvSpPr/>
          <p:nvPr/>
        </p:nvSpPr>
        <p:spPr>
          <a:xfrm rot="0" flipH="0" flipV="0">
            <a:off x="5010150" y="4171950"/>
            <a:ext cx="9525" cy="17145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/>
        </p:txBody>
      </p:sp>
      <p:sp>
        <p:nvSpPr>
          <p:cNvPr id="746" name="" descr="{&quot;isTemplate&quot;:true,&quot;type&quot;:&quot;text&quot;}"/>
          <p:cNvSpPr txBox="1"/>
          <p:nvPr/>
        </p:nvSpPr>
        <p:spPr>
          <a:xfrm rot="0" flipH="0" flipV="0">
            <a:off x="5172075" y="4133850"/>
            <a:ext cx="55911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能力全部外置成扩展：加工具、加拦截、加校验，全都不动内核一行代码</a:t>
            </a:r>
            <a:endParaRPr/>
          </a:p>
        </p:txBody>
      </p:sp>
      <p:sp>
        <p:nvSpPr>
          <p:cNvPr id="747" name=""/>
          <p:cNvSpPr/>
          <p:nvPr/>
        </p:nvSpPr>
        <p:spPr>
          <a:xfrm rot="0" flipH="0" flipV="0">
            <a:off x="10763250" y="4143375"/>
            <a:ext cx="7429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48" name="" descr="{&quot;isTemplate&quot;:true,&quot;type&quot;:&quot;text&quot;}"/>
          <p:cNvSpPr txBox="1"/>
          <p:nvPr/>
        </p:nvSpPr>
        <p:spPr>
          <a:xfrm rot="0" flipH="0" flipV="0">
            <a:off x="10877550" y="4181475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 xml:space="preserve">⑥ </a:t>
            </a:r>
            <a:r>
              <a:rPr lang="zh-CN" sz="975">
                <a:solidFill>
                  <a:srgbClr val="2AD4EE"/>
                </a:solidFill>
                <a:latin typeface="JetBrains Mono"/>
                <a:ea typeface="JetBrains Mono"/>
              </a:rPr>
              <a:t>护栏层</a:t>
            </a:r>
            <a:endParaRPr/>
          </a:p>
        </p:txBody>
      </p:sp>
      <p:sp>
        <p:nvSpPr>
          <p:cNvPr id="749" name=""/>
          <p:cNvSpPr/>
          <p:nvPr/>
        </p:nvSpPr>
        <p:spPr>
          <a:xfrm rot="0" flipH="0" flipV="0">
            <a:off x="3505200" y="4514850"/>
            <a:ext cx="8001000" cy="523875"/>
          </a:xfrm>
          <a:custGeom>
            <a:pathLst>
              <a:path w="840" h="55">
                <a:moveTo>
                  <a:pt x="0" y="54"/>
                </a:moveTo>
                <a:lnTo>
                  <a:pt x="840" y="54"/>
                </a:lnTo>
                <a:lnTo>
                  <a:pt x="840" y="55"/>
                </a:lnTo>
                <a:lnTo>
                  <a:pt x="0" y="55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/>
        </p:txBody>
      </p:sp>
      <p:sp>
        <p:nvSpPr>
          <p:cNvPr id="750" name="" descr="{&quot;isTemplate&quot;:true,&quot;type&quot;:&quot;text&quot;}"/>
          <p:cNvSpPr txBox="1"/>
          <p:nvPr/>
        </p:nvSpPr>
        <p:spPr>
          <a:xfrm rot="0" flipH="0" flipV="0">
            <a:off x="3505200" y="4686300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7</a:t>
            </a:r>
            <a:endParaRPr/>
          </a:p>
        </p:txBody>
      </p:sp>
      <p:sp>
        <p:nvSpPr>
          <p:cNvPr id="751" name="" descr="{&quot;isTemplate&quot;:true,&quot;type&quot;:&quot;text&quot;}"/>
          <p:cNvSpPr txBox="1"/>
          <p:nvPr/>
        </p:nvSpPr>
        <p:spPr>
          <a:xfrm rot="0" flipH="0" flipV="0">
            <a:off x="3790950" y="4676775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事件系统</a:t>
            </a:r>
            <a:endParaRPr/>
          </a:p>
        </p:txBody>
      </p:sp>
      <p:sp>
        <p:nvSpPr>
          <p:cNvPr id="752" name=""/>
          <p:cNvSpPr/>
          <p:nvPr/>
        </p:nvSpPr>
        <p:spPr>
          <a:xfrm rot="0" flipH="0" flipV="0">
            <a:off x="5010150" y="4686300"/>
            <a:ext cx="9525" cy="17145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/>
        </p:txBody>
      </p:sp>
      <p:sp>
        <p:nvSpPr>
          <p:cNvPr id="753" name="" descr="{&quot;isTemplate&quot;:true,&quot;type&quot;:&quot;text&quot;}"/>
          <p:cNvSpPr txBox="1"/>
          <p:nvPr/>
        </p:nvSpPr>
        <p:spPr>
          <a:xfrm rot="0" flipH="0" flipV="0">
            <a:off x="5172075" y="4648200"/>
            <a:ext cx="55911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事件总线贯穿全程：文本与思考增量实时回流，是可观测性的地基</a:t>
            </a:r>
            <a:endParaRPr/>
          </a:p>
        </p:txBody>
      </p:sp>
      <p:sp>
        <p:nvSpPr>
          <p:cNvPr id="754" name=""/>
          <p:cNvSpPr/>
          <p:nvPr/>
        </p:nvSpPr>
        <p:spPr>
          <a:xfrm rot="0" flipH="0" flipV="0">
            <a:off x="10763250" y="4657725"/>
            <a:ext cx="7429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55" name="" descr="{&quot;isTemplate&quot;:true,&quot;type&quot;:&quot;text&quot;}"/>
          <p:cNvSpPr txBox="1"/>
          <p:nvPr/>
        </p:nvSpPr>
        <p:spPr>
          <a:xfrm rot="0" flipH="0" flipV="0">
            <a:off x="10877550" y="4695825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 xml:space="preserve">⑦ </a:t>
            </a:r>
            <a:r>
              <a:rPr lang="zh-CN" sz="975">
                <a:solidFill>
                  <a:srgbClr val="2AD4EE"/>
                </a:solidFill>
                <a:latin typeface="JetBrains Mono"/>
                <a:ea typeface="JetBrains Mono"/>
              </a:rPr>
              <a:t>运营层</a:t>
            </a:r>
            <a:endParaRPr/>
          </a:p>
        </p:txBody>
      </p:sp>
      <p:sp>
        <p:nvSpPr>
          <p:cNvPr id="756" name=""/>
          <p:cNvSpPr/>
          <p:nvPr/>
        </p:nvSpPr>
        <p:spPr>
          <a:xfrm rot="0" flipH="0" flipV="0">
            <a:off x="3505200" y="5029200"/>
            <a:ext cx="8001000" cy="533400"/>
          </a:xfrm>
          <a:custGeom>
            <a:pathLst>
              <a:path w="840" h="56">
                <a:moveTo>
                  <a:pt x="0" y="55"/>
                </a:moveTo>
                <a:lnTo>
                  <a:pt x="840" y="55"/>
                </a:lnTo>
                <a:lnTo>
                  <a:pt x="840" y="56"/>
                </a:lnTo>
                <a:lnTo>
                  <a:pt x="0" y="56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/>
        </p:txBody>
      </p:sp>
      <p:sp>
        <p:nvSpPr>
          <p:cNvPr id="757" name="" descr="{&quot;isTemplate&quot;:true,&quot;type&quot;:&quot;text&quot;}"/>
          <p:cNvSpPr txBox="1"/>
          <p:nvPr/>
        </p:nvSpPr>
        <p:spPr>
          <a:xfrm rot="0" flipH="0" flipV="0">
            <a:off x="3505200" y="5210175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8</a:t>
            </a:r>
            <a:endParaRPr/>
          </a:p>
        </p:txBody>
      </p:sp>
      <p:sp>
        <p:nvSpPr>
          <p:cNvPr id="758" name="" descr="{&quot;isTemplate&quot;:true,&quot;type&quot;:&quot;text&quot;}"/>
          <p:cNvSpPr txBox="1"/>
          <p:nvPr/>
        </p:nvSpPr>
        <p:spPr>
          <a:xfrm rot="0" flipH="0" flipV="0">
            <a:off x="3790950" y="5191125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安全与可观测</a:t>
            </a:r>
            <a:endParaRPr/>
          </a:p>
        </p:txBody>
      </p:sp>
      <p:sp>
        <p:nvSpPr>
          <p:cNvPr id="759" name=""/>
          <p:cNvSpPr/>
          <p:nvPr/>
        </p:nvSpPr>
        <p:spPr>
          <a:xfrm rot="0" flipH="0" flipV="0">
            <a:off x="5010150" y="5200650"/>
            <a:ext cx="9525" cy="17145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/>
        </p:txBody>
      </p:sp>
      <p:sp>
        <p:nvSpPr>
          <p:cNvPr id="760" name="" descr="{&quot;isTemplate&quot;:true,&quot;type&quot;:&quot;text&quot;}"/>
          <p:cNvSpPr txBox="1"/>
          <p:nvPr/>
        </p:nvSpPr>
        <p:spPr>
          <a:xfrm rot="0" flipH="0" flipV="0">
            <a:off x="5172075" y="5172075"/>
            <a:ext cx="57435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内核不做权限：权限、沙箱与审计交回给使用方，用扩展钩子自建拦截</a:t>
            </a:r>
            <a:endParaRPr/>
          </a:p>
        </p:txBody>
      </p:sp>
      <p:sp>
        <p:nvSpPr>
          <p:cNvPr id="761" name=""/>
          <p:cNvSpPr/>
          <p:nvPr/>
        </p:nvSpPr>
        <p:spPr>
          <a:xfrm rot="0" flipH="0" flipV="0">
            <a:off x="10915650" y="5172075"/>
            <a:ext cx="5905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62" name="" descr="{&quot;isTemplate&quot;:true,&quot;type&quot;:&quot;text&quot;}"/>
          <p:cNvSpPr txBox="1"/>
          <p:nvPr/>
        </p:nvSpPr>
        <p:spPr>
          <a:xfrm rot="0" flipH="0" flipV="0">
            <a:off x="11029950" y="5210175"/>
            <a:ext cx="361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⑥ + ⑦</a:t>
            </a:r>
            <a:endParaRPr/>
          </a:p>
        </p:txBody>
      </p:sp>
      <p:sp>
        <p:nvSpPr>
          <p:cNvPr id="763" name="" descr="{&quot;isTemplate&quot;:true,&quot;type&quot;:&quot;text&quot;}"/>
          <p:cNvSpPr txBox="1"/>
          <p:nvPr/>
        </p:nvSpPr>
        <p:spPr>
          <a:xfrm rot="0" flipH="0" flipV="0">
            <a:off x="3505200" y="5724525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9</a:t>
            </a:r>
            <a:endParaRPr/>
          </a:p>
        </p:txBody>
      </p:sp>
      <p:sp>
        <p:nvSpPr>
          <p:cNvPr id="764" name="" descr="{&quot;isTemplate&quot;:true,&quot;type&quot;:&quot;text&quot;}"/>
          <p:cNvSpPr txBox="1"/>
          <p:nvPr/>
        </p:nvSpPr>
        <p:spPr>
          <a:xfrm rot="0" flipH="0" flipV="0">
            <a:off x="3790950" y="571500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远程会话栈</a:t>
            </a:r>
            <a:endParaRPr/>
          </a:p>
        </p:txBody>
      </p:sp>
      <p:sp>
        <p:nvSpPr>
          <p:cNvPr id="765" name=""/>
          <p:cNvSpPr/>
          <p:nvPr/>
        </p:nvSpPr>
        <p:spPr>
          <a:xfrm rot="0" flipH="0" flipV="0">
            <a:off x="5010150" y="5724525"/>
            <a:ext cx="9525" cy="17145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/>
        </p:txBody>
      </p:sp>
      <p:sp>
        <p:nvSpPr>
          <p:cNvPr id="766" name="" descr="{&quot;isTemplate&quot;:true,&quot;type&quot;:&quot;text&quot;}"/>
          <p:cNvSpPr txBox="1"/>
          <p:nvPr/>
        </p:nvSpPr>
        <p:spPr>
          <a:xfrm rot="0" flipH="0" flipV="0">
            <a:off x="5172075" y="5686425"/>
            <a:ext cx="561022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CBOR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远程会话：协议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客户端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服务端三层，可选，不影响核心四层</a:t>
            </a:r>
            <a:endParaRPr/>
          </a:p>
        </p:txBody>
      </p:sp>
      <p:sp>
        <p:nvSpPr>
          <p:cNvPr id="767" name=""/>
          <p:cNvSpPr/>
          <p:nvPr/>
        </p:nvSpPr>
        <p:spPr>
          <a:xfrm rot="0" flipH="0" flipV="0">
            <a:off x="10782300" y="5695950"/>
            <a:ext cx="72390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68" name="" descr="{&quot;isTemplate&quot;:true,&quot;type&quot;:&quot;text&quot;}"/>
          <p:cNvSpPr txBox="1"/>
          <p:nvPr/>
        </p:nvSpPr>
        <p:spPr>
          <a:xfrm rot="0" flipH="0" flipV="0">
            <a:off x="10896600" y="573405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AD4EE"/>
                </a:solidFill>
                <a:latin typeface="JetBrains Mono"/>
                <a:ea typeface="JetBrains Mono"/>
              </a:rPr>
              <a:t>独立叠加</a:t>
            </a:r>
            <a:endParaRPr/>
          </a:p>
        </p:txBody>
      </p:sp>
      <p:sp>
        <p:nvSpPr>
          <p:cNvPr id="769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770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24 / 33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771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0;    {/* A 区 · 标题块 */}&#10;    &lt;Box style={{ height: 100, flexDirection: 'row', gap: 16, alignItems: 'flex-start', paddingTop: 6 }}&gt;&#10;        &lt;Box style={{ width: 4, height: 36, background: '#2AD4EE', marginTop: 5 }} /&gt;&#10;        &lt;Box style={{ flexDirection: 'column' }}&gt;&#10;            &lt;Text style={{ fontSize: 34, fontWeight: 'bold', color: '#E8EEF9' }}&gt;三层定制能力&lt;/Text&gt;&#10;            &lt;Text style={{ marginTop: 8, fontSize: 17, color: 'rgba(232,238,249,0.52)' }}&gt;投入成本从小时级到周级，按需选路线&lt;/Text&gt;&#10;        &lt;/Box&gt;&#10;    &lt;/Box&gt;&#10;&#10;    {/* B 区 · 非对称双栏 60:40 */}&#10;    &lt;Box style={{ height: 516, flexDirection: 'row', gap: 32 }}&gt;&#10;        {/* 左：三条路线 */}&#10;        &lt;Box style={{ flex: 60, flexDirection: 'column', paddingRight: 30, borderRight: '1px solid rgba(232,238,249,0.12)' }}&gt;&#10;            &lt;Box style={{ flexDirection: 'row', alignItems: 'center', justifyContent: 'space-between' }}&gt;&#10;                &lt;Text style={{ fontSize: 15, color: '#2AD4EE', letterSpacing: 3, fontFamily: '&quot;JetBrains Mono&quot;, &quot;Cascadia Mono&quot;, Consolas, monospace' }}&gt;THREE ROUTES&lt;/Text&gt;&#10;                &lt;Text style={{ fontSize: 13, color: 'rgba(232,238,249,0.42)' }}&gt;越往下，改动越深、成本越高&lt;/Text&gt;&#10;            &lt;/Box&gt;&#10;&#10;            &lt;Box style={{ flex: 1, marginTop: 12, flexDirection: 'column', justifyContent: 'space-between' }}&gt;&#10;                {[&#10;                    { n: '路线 1', t: 'Skills', layer: '提示词层', cost: '小时级', i: 'file-lines', d: '一个遵循开放 Agent Skills 标准的 Markdown 文件夹，描述「遇到某类任务该怎么做」。模型按需自动加载，不占常驻上下文。', hint: '.pi/skills/release-checklist/SKILL.md' },&#10;                    { n: '路线 2', t: 'Extensions', layer: '运行时层', cost: '天级', i: 'puzzle-piece', d: '用 TypeScript 写扩展：给 Agent 加自定义工具，或修改运行时行为——在工具调用前后插入自己的校验与拦截。', hint: '.pi/extensions/*.ts' },&#10;                    { n: '路线 3', t: 'SDK', layer: '进程内嵌层', cost: '周级', i: 'code', d: 'createAgentSession 在调用方进程内构建完整会话，可注入存储、配置、认证、模型注册表与工具。', hint: '无桥接 · 无子进程 · 无 socket' },&#10;                ].map((c, i) =&gt; (&#10;                    &lt;Box key={i} style={{ flex: 1, flexDirection: 'row', gap: 16, alignItems: 'center', paddingTop: 12, paddingBottom: 12, paddingLeft: 16, paddingRight: 16, background: 'rgba(22,35,61,0.88)', borderLeft: '3px solid rgba(42,212,238,0.7)', borderRadius: 3 }}&gt;&#10;                        &lt;Box style={{ width: 42, height: 42, borderRadius: 4, background: 'rgba(42,212,238,0.12)', alignItems: 'center', justifyContent: 'center' }}&gt;&#10;                            &lt;FAIcon name={c.i} style={{ fill: '#2AD4EE', width: 19, height: 19 }} /&gt;&#10;                        &lt;/Box&gt;&#10;                        &lt;Box style={{ flex: 1, flexDirection: 'column' }}&gt;&#10;                            &lt;Box style={{ flexDirection: 'row', alignItems: 'baseline', gap: 10 }}&gt;&#10;                                &lt;Text style={{ fontSize: 13, color: 'rgba(42,212,238,0.75)', fontFamily: '&quot;JetBrains Mono&quot;, &quot;Cascadia Mono&quot;, Consolas, monospace' }}&gt;{c.n}&lt;/Text&gt;&#10;                                &lt;Text style={{ fontSize: 21, fontWeight: 'bold', color: '#E8EEF9' }}&gt;{c.t}&lt;/Text&gt;&#10;                                &lt;Text style={{ fontSize: 13, color: 'rgba(232,238,249,0.5)' }}&gt;{c.layer}&lt;/Text&gt;&#10;                            &lt;/Box&gt;&#10;                            &lt;Text style={{ marginTop: 8, fontSize: 14.5, color: 'rgba(232,238,249,0.68)', lineHeight: 1.6 }}&gt;{c.d}&lt;/Text&gt;&#10;                            &lt;Text style={{ marginTop: 7, fontSize: 12.5, color: 'rgba(42,212,238,0.72)', fontFamily: '&quot;JetBrains Mono&quot;, &quot;Cascadia Mono&quot;, Consolas, monospace' }}&gt;{c.hint}&lt;/Text&gt;&#10;                        &lt;/Box&gt;&#10;                        &lt;Box style={{ paddingTop: 4, paddingBottom: 4, paddingLeft: 10, paddingRight: 10, background: 'rgba(42,212,238,0.10)', border: '1px solid rgba(42,212,238,0.30)', borderRadius: 3 }}&gt;&#10;                            &lt;Text style={{ fontSize: 13, color: '#2AD4EE' }}&gt;{c.cost}&lt;/Text&gt;&#10;                        &lt;/Box&gt;&#10;                    &lt;/Box&gt;&#10;                ))}&#10;            &lt;/Box&gt;&#10;        &lt;/Box&gt;&#10;&#10;        {/* 右：成本梯度 + 判断 */}&#10;        &lt;Box style={{ flex: 40, flexDirection: 'column' }}&gt;&#10;            &lt;Text style={{ fontSize: 15, color: 'rgba(232,238,249,0.52)', letterSpacing: 2, fontFamily: '&quot;JetBrains Mono&quot;, &quot;Cascadia Mono&quot;, Consolas, monospace' }}&gt;COST LADDER&lt;/Text&gt;&#10;&#10;            &lt;Box style={{ marginTop: 16, flexDirection: 'column', gap: 16 }}&gt;&#10;                {[&#10;                    { l: 'Skills', c: '小时级', w: '34%' },&#10;                    { l: 'Extensions', c: '天级', w: '66%' },&#10;                    { l: 'SDK', c: '周级', w: '100%' },&#10;                ].map((r, i) =&gt; (&#10;                    &lt;Box key={i} style={{ flexDirection: 'column', gap: 7 }}&gt;&#10;                        &lt;Box style={{ flexDirection: 'row', alignItems: 'baseline', justifyContent: 'space-between' }}&gt;&#10;                            &lt;Text style={{ fontSize: 15, fontWeight: '600', color: '#E8EEF9', fontFamily: '&quot;JetBrains Mono&quot;, &quot;Cascadia Mono&quot;, Consolas, monospace' }}&gt;{r.l}&lt;/Text&gt;&#10;                            &lt;Text style={{ fontSize: 14, color: '#2AD4EE' }}&gt;{r.c}&lt;/Text&gt;&#10;                        &lt;/Box&gt;&#10;                        &lt;Box style={{ height: 9, width: r.w, background: 'linear-gradient(90deg, #2AD4EE 0%, rgba(42,212,238,0.18) 100%)', borderRadius: 2 }} /&gt;&#10;                    &lt;/Box&gt;&#10;                ))}&#10;            &lt;/Box&gt;&#10;&#10;            &lt;Box style={{ marginTop: 24, paddingTop: 16, paddingBottom: 16, paddingLeft: 16, paddingRight: 16, background: 'rgba(22,35,61,0.92)', border: '1px solid rgba(232,238,249,0.12)', borderRadius: 4 }}&gt;&#10;                &lt;Text style={{ fontSize: 14, color: 'rgba(232,238,249,0.45)', letterSpacing: 2, fontFamily: '&quot;JetBrains Mono&quot;, &quot;Cascadia Mono&quot;, Consolas, monospace' }}&gt;ASK FIRST&lt;/Text&gt;&#10;                &lt;Text style={{ marginTop: 10, fontSize: 15.5, color: 'rgba(232,238,249,0.76)', lineHeight: 1.7 }}&gt;&#10;                    绝大多数团队需求，停在&#10;                    &lt;span style={{ color: '#2AD4EE', fontWeight: '600' }}&gt; Skills &lt;/span&gt;&#10;                    就够了——先把经验写成文档，再谈改代码。&#10;                &lt;/Text&gt;&#10;            &lt;/Box&gt;&#10;&#10;            &lt;Box style={{ marginTop: 'auto', paddingTop: 16, paddingBottom: 16, paddingLeft: 16, paddingRight: 16, background: 'rgba(42,212,238,0.08)', border: '1px solid rgba(42,212,238,0.22)', borderRadius: 4 }}&gt;&#10;                &lt;Text style={{ fontSize: 14, color: '#2AD4EE', letterSpacing: 3, fontFamily: '&quot;JetBrains Mono&quot;, &quot;Cascadia Mono&quot;, Consolas, monospace' }}&gt;所以&lt;/Text&gt;&#10;                &lt;Text style={{ marginTop: 10, fontSize: 16, color: '#E8EEF9', lineHeight: 1.7 }}&gt;&#10;                    先问「我要改造哪一层」，再选路线——不要一上来就走最深的那条。&#10;                &lt;/Text&gt;&#10;            &lt;/Box&gt;&#10;        &lt;/Box&gt;&#10;    &lt;/Box&gt;&#10;&#10;    {/* C 区 · 页脚 */}&#10;    &lt;Box style={{ height: 40, flexDirection: 'row', alignItems: 'flex-end', justifyContent: 'space-between' }}&gt;&#10;        &lt;Text style={{ fontSize: 14, color: 'rgba(232,238,249,0.42)' }}&gt;从 LLM 到 Agent 再到 Pi Agent&lt;/Text&gt;&#10;        &lt;Text style={{ fontSize: 14, color: 'rgba(232,238,249,0.42)', fontFamily: '&quot;JetBrains Mono&quot;, &quot;Cascadia Mono&quot;, Consolas, monospace' }}&gt;25 / 3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773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774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27527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三层定制能力</a:t>
            </a:r>
            <a:endParaRPr/>
          </a:p>
        </p:txBody>
      </p:sp>
      <p:sp>
        <p:nvSpPr>
          <p:cNvPr id="775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2752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投入成本从小时级到周级，按需选路线</a:t>
            </a:r>
            <a:endParaRPr/>
          </a:p>
        </p:txBody>
      </p:sp>
      <p:sp>
        <p:nvSpPr>
          <p:cNvPr id="776" name=""/>
          <p:cNvSpPr/>
          <p:nvPr/>
        </p:nvSpPr>
        <p:spPr>
          <a:xfrm rot="0" flipH="0" flipV="0">
            <a:off x="685800" y="1143000"/>
            <a:ext cx="6315075" cy="4914900"/>
          </a:xfrm>
          <a:custGeom>
            <a:pathLst>
              <a:path w="663" h="516">
                <a:moveTo>
                  <a:pt x="662" y="0"/>
                </a:moveTo>
                <a:lnTo>
                  <a:pt x="663" y="0"/>
                </a:lnTo>
                <a:lnTo>
                  <a:pt x="663" y="516"/>
                </a:lnTo>
                <a:lnTo>
                  <a:pt x="662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777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1352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THREE ROUTES</a:t>
            </a:r>
            <a:endParaRPr/>
          </a:p>
        </p:txBody>
      </p:sp>
      <p:sp>
        <p:nvSpPr>
          <p:cNvPr id="778" name="" descr="{&quot;isTemplate&quot;:true,&quot;type&quot;:&quot;text&quot;}"/>
          <p:cNvSpPr txBox="1"/>
          <p:nvPr/>
        </p:nvSpPr>
        <p:spPr>
          <a:xfrm rot="0" flipH="0" flipV="0">
            <a:off x="5086350" y="1152525"/>
            <a:ext cx="1609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越往下，改动越深、成本越高</a:t>
            </a:r>
            <a:endParaRPr/>
          </a:p>
        </p:txBody>
      </p:sp>
      <p:sp>
        <p:nvSpPr>
          <p:cNvPr id="779" name=""/>
          <p:cNvSpPr/>
          <p:nvPr/>
        </p:nvSpPr>
        <p:spPr>
          <a:xfrm rot="0" flipH="0" flipV="0">
            <a:off x="714375" y="1428750"/>
            <a:ext cx="6010275" cy="1543050"/>
          </a:xfrm>
          <a:prstGeom prst="roundRect">
            <a:avLst>
              <a:gd name="adj" fmla="val 1852"/>
            </a:avLst>
          </a:prstGeom>
          <a:solidFill>
            <a:srgbClr val="16233D">
              <a:alpha val="88000"/>
            </a:srgbClr>
          </a:solidFill>
          <a:ln/>
        </p:spPr>
        <p:txBody>
          <a:bodyPr/>
          <a:p/>
        </p:txBody>
      </p:sp>
      <p:sp>
        <p:nvSpPr>
          <p:cNvPr id="780" name=""/>
          <p:cNvSpPr/>
          <p:nvPr/>
        </p:nvSpPr>
        <p:spPr>
          <a:xfrm rot="0" flipH="0" flipV="0">
            <a:off x="714375" y="1428750"/>
            <a:ext cx="6010275" cy="1543050"/>
          </a:xfrm>
          <a:custGeom>
            <a:pathLst>
              <a:path w="631" h="162">
                <a:moveTo>
                  <a:pt x="3" y="162"/>
                </a:moveTo>
                <a:cubicBezTo>
                  <a:pt x="1" y="162"/>
                  <a:pt x="0" y="161"/>
                  <a:pt x="0" y="15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62"/>
                </a:lnTo>
                <a:close/>
              </a:path>
            </a:pathLst>
          </a:custGeom>
          <a:solidFill>
            <a:srgbClr val="2AD4EE">
              <a:alpha val="70000"/>
            </a:srgbClr>
          </a:solidFill>
          <a:ln/>
        </p:spPr>
        <p:txBody>
          <a:bodyPr/>
          <a:p/>
        </p:txBody>
      </p:sp>
      <p:sp>
        <p:nvSpPr>
          <p:cNvPr id="781" name=""/>
          <p:cNvSpPr/>
          <p:nvPr/>
        </p:nvSpPr>
        <p:spPr>
          <a:xfrm rot="0" flipH="0" flipV="0">
            <a:off x="866775" y="2000250"/>
            <a:ext cx="400050" cy="400050"/>
          </a:xfrm>
          <a:prstGeom prst="roundRect">
            <a:avLst>
              <a:gd name="adj" fmla="val 9524"/>
            </a:avLst>
          </a:prstGeom>
          <a:solidFill>
            <a:srgbClr val="2AD4EE">
              <a:alpha val="12000"/>
            </a:srgbClr>
          </a:solidFill>
          <a:ln/>
        </p:spPr>
        <p:txBody>
          <a:bodyPr/>
          <a:p/>
        </p:txBody>
      </p:sp>
      <p:pic>
        <p:nvPicPr>
          <p:cNvPr id="78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81075" y="2114550"/>
            <a:ext cx="180975" cy="180975"/>
          </a:xfrm>
          <a:prstGeom prst="rect">
            <a:avLst/>
          </a:prstGeom>
          <a:ln/>
        </p:spPr>
      </p:pic>
      <p:sp>
        <p:nvSpPr>
          <p:cNvPr id="783" name="" descr="{&quot;isTemplate&quot;:true,&quot;type&quot;:&quot;text&quot;}"/>
          <p:cNvSpPr txBox="1"/>
          <p:nvPr/>
        </p:nvSpPr>
        <p:spPr>
          <a:xfrm rot="0" flipH="0" flipV="0">
            <a:off x="1419225" y="1666875"/>
            <a:ext cx="400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AD4EE">
                    <a:alpha val="75000"/>
                  </a:srgbClr>
                </a:solidFill>
                <a:latin typeface="JetBrains Mono"/>
                <a:ea typeface="JetBrains Mono"/>
              </a:rPr>
              <a:t>路线</a:t>
            </a:r>
            <a:r>
              <a:rPr lang="en-US" sz="975">
                <a:solidFill>
                  <a:srgbClr val="2AD4EE">
                    <a:alpha val="75000"/>
                  </a:srgbClr>
                </a:solidFill>
                <a:latin typeface="JetBrains Mono"/>
                <a:ea typeface="JetBrains Mono"/>
              </a:rPr>
              <a:t xml:space="preserve"> 1</a:t>
            </a:r>
            <a:endParaRPr/>
          </a:p>
        </p:txBody>
      </p:sp>
      <p:sp>
        <p:nvSpPr>
          <p:cNvPr id="784" name="" descr="{&quot;isTemplate&quot;:true,&quot;type&quot;:&quot;text&quot;}"/>
          <p:cNvSpPr txBox="1"/>
          <p:nvPr/>
        </p:nvSpPr>
        <p:spPr>
          <a:xfrm rot="0" flipH="0" flipV="0">
            <a:off x="1914525" y="1666875"/>
            <a:ext cx="457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>Skills</a:t>
            </a:r>
            <a:endParaRPr/>
          </a:p>
        </p:txBody>
      </p:sp>
      <p:sp>
        <p:nvSpPr>
          <p:cNvPr id="785" name="" descr="{&quot;isTemplate&quot;:true,&quot;type&quot;:&quot;text&quot;}"/>
          <p:cNvSpPr txBox="1"/>
          <p:nvPr/>
        </p:nvSpPr>
        <p:spPr>
          <a:xfrm rot="0" flipH="0" flipV="0">
            <a:off x="2466975" y="1666875"/>
            <a:ext cx="495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提示词层</a:t>
            </a:r>
            <a:endParaRPr/>
          </a:p>
        </p:txBody>
      </p:sp>
      <p:sp>
        <p:nvSpPr>
          <p:cNvPr id="786" name="" descr="{&quot;isTemplate&quot;:true,&quot;type&quot;:&quot;text&quot;}"/>
          <p:cNvSpPr txBox="1"/>
          <p:nvPr/>
        </p:nvSpPr>
        <p:spPr>
          <a:xfrm rot="0" flipH="0" flipV="0">
            <a:off x="1419225" y="1990725"/>
            <a:ext cx="44100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一个遵循开放</a:t>
            </a:r>
            <a:r>
              <a:rPr lang="en-US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Agent Skills </a:t>
            </a: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标准的</a:t>
            </a:r>
            <a:r>
              <a:rPr lang="en-US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Markdown </a:t>
            </a: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文件夹，描述「遇到某类任务该怎么做」。模型按需自动加载，不占常驻上下文。</a:t>
            </a:r>
            <a:endParaRPr/>
          </a:p>
        </p:txBody>
      </p:sp>
      <p:sp>
        <p:nvSpPr>
          <p:cNvPr id="787" name="" descr="{&quot;isTemplate&quot;:true,&quot;type&quot;:&quot;text&quot;}"/>
          <p:cNvSpPr txBox="1"/>
          <p:nvPr/>
        </p:nvSpPr>
        <p:spPr>
          <a:xfrm rot="0" flipH="0" flipV="0">
            <a:off x="1419225" y="2590800"/>
            <a:ext cx="4410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.pi/skills/release-checklist/SKILL.md</a:t>
            </a:r>
            <a:endParaRPr/>
          </a:p>
        </p:txBody>
      </p:sp>
      <p:sp>
        <p:nvSpPr>
          <p:cNvPr id="788" name=""/>
          <p:cNvSpPr/>
          <p:nvPr/>
        </p:nvSpPr>
        <p:spPr>
          <a:xfrm rot="0" flipH="0" flipV="0">
            <a:off x="5981700" y="2085975"/>
            <a:ext cx="561975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89" name="" descr="{&quot;isTemplate&quot;:true,&quot;type&quot;:&quot;text&quot;}"/>
          <p:cNvSpPr txBox="1"/>
          <p:nvPr/>
        </p:nvSpPr>
        <p:spPr>
          <a:xfrm rot="0" flipH="0" flipV="0">
            <a:off x="6076950" y="2124075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小时级</a:t>
            </a:r>
            <a:endParaRPr/>
          </a:p>
        </p:txBody>
      </p:sp>
      <p:sp>
        <p:nvSpPr>
          <p:cNvPr id="790" name=""/>
          <p:cNvSpPr/>
          <p:nvPr/>
        </p:nvSpPr>
        <p:spPr>
          <a:xfrm rot="0" flipH="0" flipV="0">
            <a:off x="714375" y="2971800"/>
            <a:ext cx="6010275" cy="1543050"/>
          </a:xfrm>
          <a:prstGeom prst="roundRect">
            <a:avLst>
              <a:gd name="adj" fmla="val 1852"/>
            </a:avLst>
          </a:prstGeom>
          <a:solidFill>
            <a:srgbClr val="16233D">
              <a:alpha val="88000"/>
            </a:srgbClr>
          </a:solidFill>
          <a:ln/>
        </p:spPr>
        <p:txBody>
          <a:bodyPr/>
          <a:p/>
        </p:txBody>
      </p:sp>
      <p:sp>
        <p:nvSpPr>
          <p:cNvPr id="791" name=""/>
          <p:cNvSpPr/>
          <p:nvPr/>
        </p:nvSpPr>
        <p:spPr>
          <a:xfrm rot="0" flipH="0" flipV="0">
            <a:off x="714375" y="2971800"/>
            <a:ext cx="6010275" cy="1543050"/>
          </a:xfrm>
          <a:custGeom>
            <a:pathLst>
              <a:path w="631" h="162">
                <a:moveTo>
                  <a:pt x="3" y="162"/>
                </a:moveTo>
                <a:cubicBezTo>
                  <a:pt x="1" y="162"/>
                  <a:pt x="0" y="161"/>
                  <a:pt x="0" y="15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62"/>
                </a:lnTo>
                <a:close/>
              </a:path>
            </a:pathLst>
          </a:custGeom>
          <a:solidFill>
            <a:srgbClr val="2AD4EE">
              <a:alpha val="70000"/>
            </a:srgbClr>
          </a:solidFill>
          <a:ln/>
        </p:spPr>
        <p:txBody>
          <a:bodyPr/>
          <a:p/>
        </p:txBody>
      </p:sp>
      <p:sp>
        <p:nvSpPr>
          <p:cNvPr id="792" name=""/>
          <p:cNvSpPr/>
          <p:nvPr/>
        </p:nvSpPr>
        <p:spPr>
          <a:xfrm rot="0" flipH="0" flipV="0">
            <a:off x="866775" y="3543300"/>
            <a:ext cx="400050" cy="400050"/>
          </a:xfrm>
          <a:prstGeom prst="roundRect">
            <a:avLst>
              <a:gd name="adj" fmla="val 9524"/>
            </a:avLst>
          </a:prstGeom>
          <a:solidFill>
            <a:srgbClr val="2AD4EE">
              <a:alpha val="12000"/>
            </a:srgbClr>
          </a:solidFill>
          <a:ln/>
        </p:spPr>
        <p:txBody>
          <a:bodyPr/>
          <a:p/>
        </p:txBody>
      </p:sp>
      <p:pic>
        <p:nvPicPr>
          <p:cNvPr id="79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81075" y="3657600"/>
            <a:ext cx="180975" cy="180975"/>
          </a:xfrm>
          <a:prstGeom prst="rect">
            <a:avLst/>
          </a:prstGeom>
          <a:ln/>
        </p:spPr>
      </p:pic>
      <p:sp>
        <p:nvSpPr>
          <p:cNvPr id="794" name="" descr="{&quot;isTemplate&quot;:true,&quot;type&quot;:&quot;text&quot;}"/>
          <p:cNvSpPr txBox="1"/>
          <p:nvPr/>
        </p:nvSpPr>
        <p:spPr>
          <a:xfrm rot="0" flipH="0" flipV="0">
            <a:off x="1419225" y="3209925"/>
            <a:ext cx="400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AD4EE">
                    <a:alpha val="75000"/>
                  </a:srgbClr>
                </a:solidFill>
                <a:latin typeface="JetBrains Mono"/>
                <a:ea typeface="JetBrains Mono"/>
              </a:rPr>
              <a:t>路线</a:t>
            </a:r>
            <a:r>
              <a:rPr lang="en-US" sz="975">
                <a:solidFill>
                  <a:srgbClr val="2AD4EE">
                    <a:alpha val="75000"/>
                  </a:srgbClr>
                </a:solidFill>
                <a:latin typeface="JetBrains Mono"/>
                <a:ea typeface="JetBrains Mono"/>
              </a:rPr>
              <a:t xml:space="preserve"> 2</a:t>
            </a:r>
            <a:endParaRPr/>
          </a:p>
        </p:txBody>
      </p:sp>
      <p:sp>
        <p:nvSpPr>
          <p:cNvPr id="795" name="" descr="{&quot;isTemplate&quot;:true,&quot;type&quot;:&quot;text&quot;}"/>
          <p:cNvSpPr txBox="1"/>
          <p:nvPr/>
        </p:nvSpPr>
        <p:spPr>
          <a:xfrm rot="0" flipH="0" flipV="0">
            <a:off x="1914525" y="3209925"/>
            <a:ext cx="9429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>Extensions</a:t>
            </a:r>
            <a:endParaRPr/>
          </a:p>
        </p:txBody>
      </p:sp>
      <p:sp>
        <p:nvSpPr>
          <p:cNvPr id="796" name="" descr="{&quot;isTemplate&quot;:true,&quot;type&quot;:&quot;text&quot;}"/>
          <p:cNvSpPr txBox="1"/>
          <p:nvPr/>
        </p:nvSpPr>
        <p:spPr>
          <a:xfrm rot="0" flipH="0" flipV="0">
            <a:off x="2952750" y="3209925"/>
            <a:ext cx="495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运行时层</a:t>
            </a:r>
            <a:endParaRPr/>
          </a:p>
        </p:txBody>
      </p:sp>
      <p:sp>
        <p:nvSpPr>
          <p:cNvPr id="797" name="" descr="{&quot;isTemplate&quot;:true,&quot;type&quot;:&quot;text&quot;}"/>
          <p:cNvSpPr txBox="1"/>
          <p:nvPr/>
        </p:nvSpPr>
        <p:spPr>
          <a:xfrm rot="0" flipH="0" flipV="0">
            <a:off x="1419225" y="3533775"/>
            <a:ext cx="45339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用</a:t>
            </a:r>
            <a:r>
              <a:rPr lang="en-US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TypeScript </a:t>
            </a: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写扩展：给</a:t>
            </a:r>
            <a:r>
              <a:rPr lang="en-US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加自定义工具，或修改运行时行为——在工具调用前后插入自己的校验与拦截。</a:t>
            </a:r>
            <a:endParaRPr/>
          </a:p>
        </p:txBody>
      </p:sp>
      <p:sp>
        <p:nvSpPr>
          <p:cNvPr id="798" name="" descr="{&quot;isTemplate&quot;:true,&quot;type&quot;:&quot;text&quot;}"/>
          <p:cNvSpPr txBox="1"/>
          <p:nvPr/>
        </p:nvSpPr>
        <p:spPr>
          <a:xfrm rot="0" flipH="0" flipV="0">
            <a:off x="1419225" y="4133850"/>
            <a:ext cx="4533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.pi/extensions/*.ts</a:t>
            </a:r>
            <a:endParaRPr/>
          </a:p>
        </p:txBody>
      </p:sp>
      <p:sp>
        <p:nvSpPr>
          <p:cNvPr id="799" name=""/>
          <p:cNvSpPr/>
          <p:nvPr/>
        </p:nvSpPr>
        <p:spPr>
          <a:xfrm rot="0" flipH="0" flipV="0">
            <a:off x="6105525" y="3629025"/>
            <a:ext cx="4381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00" name="" descr="{&quot;isTemplate&quot;:true,&quot;type&quot;:&quot;text&quot;}"/>
          <p:cNvSpPr txBox="1"/>
          <p:nvPr/>
        </p:nvSpPr>
        <p:spPr>
          <a:xfrm rot="0" flipH="0" flipV="0">
            <a:off x="6200775" y="366712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天级</a:t>
            </a:r>
            <a:endParaRPr/>
          </a:p>
        </p:txBody>
      </p:sp>
      <p:sp>
        <p:nvSpPr>
          <p:cNvPr id="801" name=""/>
          <p:cNvSpPr/>
          <p:nvPr/>
        </p:nvSpPr>
        <p:spPr>
          <a:xfrm rot="0" flipH="0" flipV="0">
            <a:off x="714375" y="4514850"/>
            <a:ext cx="6010275" cy="1543050"/>
          </a:xfrm>
          <a:prstGeom prst="roundRect">
            <a:avLst>
              <a:gd name="adj" fmla="val 1852"/>
            </a:avLst>
          </a:prstGeom>
          <a:solidFill>
            <a:srgbClr val="16233D">
              <a:alpha val="88000"/>
            </a:srgbClr>
          </a:solidFill>
          <a:ln/>
        </p:spPr>
        <p:txBody>
          <a:bodyPr/>
          <a:p/>
        </p:txBody>
      </p:sp>
      <p:sp>
        <p:nvSpPr>
          <p:cNvPr id="802" name=""/>
          <p:cNvSpPr/>
          <p:nvPr/>
        </p:nvSpPr>
        <p:spPr>
          <a:xfrm rot="0" flipH="0" flipV="0">
            <a:off x="714375" y="4514850"/>
            <a:ext cx="6010275" cy="1543050"/>
          </a:xfrm>
          <a:custGeom>
            <a:pathLst>
              <a:path w="631" h="162">
                <a:moveTo>
                  <a:pt x="3" y="162"/>
                </a:moveTo>
                <a:cubicBezTo>
                  <a:pt x="1" y="162"/>
                  <a:pt x="0" y="161"/>
                  <a:pt x="0" y="15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62"/>
                </a:lnTo>
                <a:close/>
              </a:path>
            </a:pathLst>
          </a:custGeom>
          <a:solidFill>
            <a:srgbClr val="2AD4EE">
              <a:alpha val="70000"/>
            </a:srgbClr>
          </a:solidFill>
          <a:ln/>
        </p:spPr>
        <p:txBody>
          <a:bodyPr/>
          <a:p/>
        </p:txBody>
      </p:sp>
      <p:sp>
        <p:nvSpPr>
          <p:cNvPr id="803" name=""/>
          <p:cNvSpPr/>
          <p:nvPr/>
        </p:nvSpPr>
        <p:spPr>
          <a:xfrm rot="0" flipH="0" flipV="0">
            <a:off x="866775" y="5086350"/>
            <a:ext cx="400050" cy="400050"/>
          </a:xfrm>
          <a:prstGeom prst="roundRect">
            <a:avLst>
              <a:gd name="adj" fmla="val 9524"/>
            </a:avLst>
          </a:prstGeom>
          <a:solidFill>
            <a:srgbClr val="2AD4EE">
              <a:alpha val="12000"/>
            </a:srgbClr>
          </a:solidFill>
          <a:ln/>
        </p:spPr>
        <p:txBody>
          <a:bodyPr/>
          <a:p/>
        </p:txBody>
      </p:sp>
      <p:pic>
        <p:nvPicPr>
          <p:cNvPr id="80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981075" y="5200650"/>
            <a:ext cx="180975" cy="180975"/>
          </a:xfrm>
          <a:prstGeom prst="rect">
            <a:avLst/>
          </a:prstGeom>
          <a:ln/>
        </p:spPr>
      </p:pic>
      <p:sp>
        <p:nvSpPr>
          <p:cNvPr id="805" name="" descr="{&quot;isTemplate&quot;:true,&quot;type&quot;:&quot;text&quot;}"/>
          <p:cNvSpPr txBox="1"/>
          <p:nvPr/>
        </p:nvSpPr>
        <p:spPr>
          <a:xfrm rot="0" flipH="0" flipV="0">
            <a:off x="1419225" y="4752975"/>
            <a:ext cx="400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AD4EE">
                    <a:alpha val="75000"/>
                  </a:srgbClr>
                </a:solidFill>
                <a:latin typeface="JetBrains Mono"/>
                <a:ea typeface="JetBrains Mono"/>
              </a:rPr>
              <a:t>路线</a:t>
            </a:r>
            <a:r>
              <a:rPr lang="en-US" sz="975">
                <a:solidFill>
                  <a:srgbClr val="2AD4EE">
                    <a:alpha val="75000"/>
                  </a:srgbClr>
                </a:solidFill>
                <a:latin typeface="JetBrains Mono"/>
                <a:ea typeface="JetBrains Mono"/>
              </a:rPr>
              <a:t xml:space="preserve"> 3</a:t>
            </a:r>
            <a:endParaRPr/>
          </a:p>
        </p:txBody>
      </p:sp>
      <p:sp>
        <p:nvSpPr>
          <p:cNvPr id="806" name="" descr="{&quot;isTemplate&quot;:true,&quot;type&quot;:&quot;text&quot;}"/>
          <p:cNvSpPr txBox="1"/>
          <p:nvPr/>
        </p:nvSpPr>
        <p:spPr>
          <a:xfrm rot="0" flipH="0" flipV="0">
            <a:off x="1914525" y="4752975"/>
            <a:ext cx="3714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>SDK</a:t>
            </a:r>
            <a:endParaRPr/>
          </a:p>
        </p:txBody>
      </p:sp>
      <p:sp>
        <p:nvSpPr>
          <p:cNvPr id="807" name="" descr="{&quot;isTemplate&quot;:true,&quot;type&quot;:&quot;text&quot;}"/>
          <p:cNvSpPr txBox="1"/>
          <p:nvPr/>
        </p:nvSpPr>
        <p:spPr>
          <a:xfrm rot="0" flipH="0" flipV="0">
            <a:off x="2381250" y="4752975"/>
            <a:ext cx="6191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进程内嵌层</a:t>
            </a:r>
            <a:endParaRPr/>
          </a:p>
        </p:txBody>
      </p:sp>
      <p:sp>
        <p:nvSpPr>
          <p:cNvPr id="808" name="" descr="{&quot;isTemplate&quot;:true,&quot;type&quot;:&quot;text&quot;}"/>
          <p:cNvSpPr txBox="1"/>
          <p:nvPr/>
        </p:nvSpPr>
        <p:spPr>
          <a:xfrm rot="0" flipH="0" flipV="0">
            <a:off x="1419225" y="5076825"/>
            <a:ext cx="45339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createAgentSession </a:t>
            </a: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在调用方进程内构建完整会话，可注入存储、配置、认证、模型注册表与工具。</a:t>
            </a:r>
            <a:endParaRPr/>
          </a:p>
        </p:txBody>
      </p:sp>
      <p:sp>
        <p:nvSpPr>
          <p:cNvPr id="809" name="" descr="{&quot;isTemplate&quot;:true,&quot;type&quot;:&quot;text&quot;}"/>
          <p:cNvSpPr txBox="1"/>
          <p:nvPr/>
        </p:nvSpPr>
        <p:spPr>
          <a:xfrm rot="0" flipH="0" flipV="0">
            <a:off x="1419225" y="5676900"/>
            <a:ext cx="4533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无桥接</a:t>
            </a:r>
            <a:r>
              <a:rPr lang="en-US" sz="938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 xml:space="preserve"> · </a:t>
            </a:r>
            <a:r>
              <a:rPr lang="zh-CN" sz="938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无子进程</a:t>
            </a:r>
            <a:r>
              <a:rPr lang="en-US" sz="938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 xml:space="preserve"> · </a:t>
            </a:r>
            <a:r>
              <a:rPr lang="zh-CN" sz="938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无</a:t>
            </a:r>
            <a:r>
              <a:rPr lang="en-US" sz="938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 xml:space="preserve"> socket</a:t>
            </a:r>
            <a:endParaRPr/>
          </a:p>
        </p:txBody>
      </p:sp>
      <p:sp>
        <p:nvSpPr>
          <p:cNvPr id="810" name=""/>
          <p:cNvSpPr/>
          <p:nvPr/>
        </p:nvSpPr>
        <p:spPr>
          <a:xfrm rot="0" flipH="0" flipV="0">
            <a:off x="6105525" y="5172075"/>
            <a:ext cx="4381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11" name="" descr="{&quot;isTemplate&quot;:true,&quot;type&quot;:&quot;text&quot;}"/>
          <p:cNvSpPr txBox="1"/>
          <p:nvPr/>
        </p:nvSpPr>
        <p:spPr>
          <a:xfrm rot="0" flipH="0" flipV="0">
            <a:off x="6200775" y="52101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周级</a:t>
            </a:r>
            <a:endParaRPr/>
          </a:p>
        </p:txBody>
      </p:sp>
      <p:sp>
        <p:nvSpPr>
          <p:cNvPr id="812" name="" descr="{&quot;isTemplate&quot;:true,&quot;type&quot;:&quot;text&quot;}"/>
          <p:cNvSpPr txBox="1"/>
          <p:nvPr/>
        </p:nvSpPr>
        <p:spPr>
          <a:xfrm rot="0" flipH="0" flipV="0">
            <a:off x="7296150" y="1143000"/>
            <a:ext cx="421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COST LADDER</a:t>
            </a:r>
            <a:endParaRPr/>
          </a:p>
        </p:txBody>
      </p:sp>
      <p:sp>
        <p:nvSpPr>
          <p:cNvPr id="813" name="" descr="{&quot;isTemplate&quot;:true,&quot;type&quot;:&quot;text&quot;}"/>
          <p:cNvSpPr txBox="1"/>
          <p:nvPr/>
        </p:nvSpPr>
        <p:spPr>
          <a:xfrm rot="0" flipH="0" flipV="0">
            <a:off x="7296150" y="1466850"/>
            <a:ext cx="5048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8EEF9"/>
                </a:solidFill>
                <a:latin typeface="JetBrains Mono"/>
                <a:ea typeface="JetBrains Mono"/>
              </a:rPr>
              <a:t>Skills</a:t>
            </a:r>
            <a:endParaRPr/>
          </a:p>
        </p:txBody>
      </p:sp>
      <p:sp>
        <p:nvSpPr>
          <p:cNvPr id="814" name="" descr="{&quot;isTemplate&quot;:true,&quot;type&quot;:&quot;text&quot;}"/>
          <p:cNvSpPr txBox="1"/>
          <p:nvPr/>
        </p:nvSpPr>
        <p:spPr>
          <a:xfrm rot="0" flipH="0" flipV="0">
            <a:off x="11106150" y="1466850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小时级</a:t>
            </a:r>
            <a:endParaRPr/>
          </a:p>
        </p:txBody>
      </p:sp>
      <p:sp>
        <p:nvSpPr>
          <p:cNvPr id="815" name=""/>
          <p:cNvSpPr/>
          <p:nvPr/>
        </p:nvSpPr>
        <p:spPr>
          <a:xfrm rot="0" flipH="0" flipV="0">
            <a:off x="7296150" y="1704975"/>
            <a:ext cx="1428750" cy="85725"/>
          </a:xfrm>
          <a:prstGeom prst="roundRect">
            <a:avLst>
              <a:gd name="adj" fmla="val 22222"/>
            </a:avLst>
          </a:prstGeom>
          <a:gradFill>
            <a:gsLst>
              <a:gs pos="0">
                <a:srgbClr val="2AD4EE"/>
              </a:gs>
              <a:gs pos="100000">
                <a:srgbClr val="2AD4EE">
                  <a:alpha val="18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816" name="" descr="{&quot;isTemplate&quot;:true,&quot;type&quot;:&quot;text&quot;}"/>
          <p:cNvSpPr txBox="1"/>
          <p:nvPr/>
        </p:nvSpPr>
        <p:spPr>
          <a:xfrm rot="0" flipH="0" flipV="0">
            <a:off x="7296150" y="1943100"/>
            <a:ext cx="838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8EEF9"/>
                </a:solidFill>
                <a:latin typeface="JetBrains Mono"/>
                <a:ea typeface="JetBrains Mono"/>
              </a:rPr>
              <a:t>Extensions</a:t>
            </a:r>
            <a:endParaRPr/>
          </a:p>
        </p:txBody>
      </p:sp>
      <p:sp>
        <p:nvSpPr>
          <p:cNvPr id="817" name="" descr="{&quot;isTemplate&quot;:true,&quot;type&quot;:&quot;text&quot;}"/>
          <p:cNvSpPr txBox="1"/>
          <p:nvPr/>
        </p:nvSpPr>
        <p:spPr>
          <a:xfrm rot="0" flipH="0" flipV="0">
            <a:off x="11239500" y="1943100"/>
            <a:ext cx="26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天级</a:t>
            </a:r>
            <a:endParaRPr/>
          </a:p>
        </p:txBody>
      </p:sp>
      <p:sp>
        <p:nvSpPr>
          <p:cNvPr id="818" name=""/>
          <p:cNvSpPr/>
          <p:nvPr/>
        </p:nvSpPr>
        <p:spPr>
          <a:xfrm rot="0" flipH="0" flipV="0">
            <a:off x="7296150" y="2181225"/>
            <a:ext cx="2781300" cy="85725"/>
          </a:xfrm>
          <a:prstGeom prst="roundRect">
            <a:avLst>
              <a:gd name="adj" fmla="val 22222"/>
            </a:avLst>
          </a:prstGeom>
          <a:gradFill>
            <a:gsLst>
              <a:gs pos="0">
                <a:srgbClr val="2AD4EE"/>
              </a:gs>
              <a:gs pos="100000">
                <a:srgbClr val="2AD4EE">
                  <a:alpha val="18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819" name="" descr="{&quot;isTemplate&quot;:true,&quot;type&quot;:&quot;text&quot;}"/>
          <p:cNvSpPr txBox="1"/>
          <p:nvPr/>
        </p:nvSpPr>
        <p:spPr>
          <a:xfrm rot="0" flipH="0" flipV="0">
            <a:off x="7296150" y="2419350"/>
            <a:ext cx="25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8EEF9"/>
                </a:solidFill>
                <a:latin typeface="JetBrains Mono"/>
                <a:ea typeface="JetBrains Mono"/>
              </a:rPr>
              <a:t>SDK</a:t>
            </a:r>
            <a:endParaRPr/>
          </a:p>
        </p:txBody>
      </p:sp>
      <p:sp>
        <p:nvSpPr>
          <p:cNvPr id="820" name="" descr="{&quot;isTemplate&quot;:true,&quot;type&quot;:&quot;text&quot;}"/>
          <p:cNvSpPr txBox="1"/>
          <p:nvPr/>
        </p:nvSpPr>
        <p:spPr>
          <a:xfrm rot="0" flipH="0" flipV="0">
            <a:off x="11239500" y="2419350"/>
            <a:ext cx="26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周级</a:t>
            </a:r>
            <a:endParaRPr/>
          </a:p>
        </p:txBody>
      </p:sp>
      <p:sp>
        <p:nvSpPr>
          <p:cNvPr id="821" name=""/>
          <p:cNvSpPr/>
          <p:nvPr/>
        </p:nvSpPr>
        <p:spPr>
          <a:xfrm rot="0" flipH="0" flipV="0">
            <a:off x="7296150" y="2657475"/>
            <a:ext cx="4210050" cy="85725"/>
          </a:xfrm>
          <a:prstGeom prst="roundRect">
            <a:avLst>
              <a:gd name="adj" fmla="val 22222"/>
            </a:avLst>
          </a:prstGeom>
          <a:gradFill>
            <a:gsLst>
              <a:gs pos="0">
                <a:srgbClr val="2AD4EE"/>
              </a:gs>
              <a:gs pos="100000">
                <a:srgbClr val="2AD4EE">
                  <a:alpha val="18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822" name=""/>
          <p:cNvSpPr/>
          <p:nvPr/>
        </p:nvSpPr>
        <p:spPr>
          <a:xfrm rot="0" flipH="0" flipV="0">
            <a:off x="7296150" y="2971800"/>
            <a:ext cx="4210050" cy="1171575"/>
          </a:xfrm>
          <a:prstGeom prst="roundRect">
            <a:avLst>
              <a:gd name="adj" fmla="val 3252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23" name="" descr="{&quot;isTemplate&quot;:true,&quot;type&quot;:&quot;text&quot;}"/>
          <p:cNvSpPr txBox="1"/>
          <p:nvPr/>
        </p:nvSpPr>
        <p:spPr>
          <a:xfrm rot="0" flipH="0" flipV="0">
            <a:off x="7448550" y="3124200"/>
            <a:ext cx="3905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ASK FIRST</a:t>
            </a:r>
            <a:endParaRPr/>
          </a:p>
        </p:txBody>
      </p:sp>
      <p:sp>
        <p:nvSpPr>
          <p:cNvPr id="824" name="" descr="{&quot;isTemplate&quot;:true,&quot;type&quot;:&quot;text&quot;}"/>
          <p:cNvSpPr txBox="1"/>
          <p:nvPr/>
        </p:nvSpPr>
        <p:spPr>
          <a:xfrm rot="0" flipH="0" flipV="0">
            <a:off x="7448550" y="3381375"/>
            <a:ext cx="390525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63">
                <a:solidFill>
                  <a:srgbClr val="E8EEF9">
                    <a:alpha val="76000"/>
                  </a:srgbClr>
                </a:solidFill>
                <a:latin typeface="Source Han Sans SC"/>
                <a:ea typeface="Source Han Sans SC"/>
              </a:rPr>
              <a:t>绝大多数团队需求，停在</a:t>
            </a:r>
            <a:r>
              <a:rPr lang="en-US" sz="1163" b="1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Skills </a:t>
            </a:r>
            <a:r>
              <a:rPr lang="zh-CN" sz="1163">
                <a:solidFill>
                  <a:srgbClr val="E8EEF9">
                    <a:alpha val="76000"/>
                  </a:srgbClr>
                </a:solidFill>
                <a:latin typeface="Source Han Sans SC"/>
                <a:ea typeface="Source Han Sans SC"/>
              </a:rPr>
              <a:t>就够了——先把经验写成文档，再谈改代码。</a:t>
            </a:r>
            <a:endParaRPr/>
          </a:p>
        </p:txBody>
      </p:sp>
      <p:sp>
        <p:nvSpPr>
          <p:cNvPr id="825" name=""/>
          <p:cNvSpPr/>
          <p:nvPr/>
        </p:nvSpPr>
        <p:spPr>
          <a:xfrm rot="0" flipH="0" flipV="0">
            <a:off x="7296150" y="4867275"/>
            <a:ext cx="4210050" cy="1190625"/>
          </a:xfrm>
          <a:prstGeom prst="roundRect">
            <a:avLst>
              <a:gd name="adj" fmla="val 3200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26" name="" descr="{&quot;isTemplate&quot;:true,&quot;type&quot;:&quot;text&quot;}"/>
          <p:cNvSpPr txBox="1"/>
          <p:nvPr/>
        </p:nvSpPr>
        <p:spPr>
          <a:xfrm rot="0" flipH="0" flipV="0">
            <a:off x="7448550" y="5019675"/>
            <a:ext cx="3905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827" name="" descr="{&quot;isTemplate&quot;:true,&quot;type&quot;:&quot;text&quot;}"/>
          <p:cNvSpPr txBox="1"/>
          <p:nvPr/>
        </p:nvSpPr>
        <p:spPr>
          <a:xfrm rot="0" flipH="0" flipV="0">
            <a:off x="7448550" y="5276850"/>
            <a:ext cx="39052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先问「我要改造哪一层」，再选路线——不要一上来就走最深的那条。</a:t>
            </a:r>
            <a:endParaRPr/>
          </a:p>
        </p:txBody>
      </p:sp>
      <p:sp>
        <p:nvSpPr>
          <p:cNvPr id="828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829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25 / 33</a:t>
            </a:r>
            <a:endParaRPr/>
          </a:p>
        </p:txBody>
      </p:sp>
    </p:spTree>
  </p:cSld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830" name="" descr="&lt;Slide style={{ width: 1280, height: 720, position: 'relative', overflow: 'hidden', background: '#0B1220', fontFamily: '&quot;Source Han Sans SC&quot;, &quot;Noto Sans SC&quot;, &quot;Microsoft YaHei&quot;, sans-serif' }}&gt;&#10;    &lt;Image src=&quot;assets/sec_practice.png&quot; style={{ position: 'absolute', left: 0, top: 0, width: 1536, height: 1024 }} /&gt;&#10;&#10;    &lt;Box style={{ position: 'absolute', left: 0, top: 0, width: 1040, height: 720, background: 'linear-gradient(90deg, rgba(11,18,32,0.97) 0%, rgba(11,18,32,0.84) 50%, rgba(11,18,32,0) 100%)' }} /&gt;&#10;    &lt;Box style={{ position: 'absolute', left: 0, top: 0, width: 6, height: 720, background: 'linear-gradient(180deg, #2AD4EE 0%, rgba(42,212,238,0) 100%)' }} /&gt;&#10;&#10;    {/* 左：整列分布 */}&#10;    &lt;Box style={{ position: 'absolute', left: 88, top: 152, width: 700, height: 508, flexDirection: 'column', justifyContent: 'space-between' }}&gt;&#10;        &lt;Box style={{ flexDirection: 'column' }}&gt;&#10;            &lt;Text style={{ fontSize: 18, color: '#2AD4EE', letterSpacing: 7, fontFamily: '&quot;JetBrains Mono&quot;, &quot;Cascadia Mono&quot;, Consolas, monospace' }}&gt;CHAPTER 04&lt;/Text&gt;&#10;            &lt;Text style={{ marginTop: 22, fontSize: 64, fontWeight: 'bold', color: '#E8EEF9', letterSpacing: 1, lineHeight: 1.2 }}&gt;&#10;                落地实践：&#10;                &lt;br /&gt;&#10;                &lt;span style={{ color: '#2AD4EE' }}&gt;智数问答 agent-DQ&lt;/span&gt;&#10;            &lt;/Text&gt;&#10;        &lt;/Box&gt;&#10;&#10;        &lt;Box style={{ flexDirection: 'column' }}&gt;&#10;            &lt;Box style={{ width: 76, height: 4, background: '#2AD4EE' }} /&gt;&#10;            &lt;Text style={{ marginTop: 24, fontSize: 21, color: 'rgba(232,238,249,0.72)', lineHeight: 1.75 }}&gt;&#10;                把前面所有知识，&#10;                &lt;br /&gt;&#10;                装进一个真实业务系统。&#10;            &lt;/Text&gt;&#10;        &lt;/Box&gt;&#10;&#10;        &lt;Box style={{ flexDirection: 'column' }}&gt;&#10;            &lt;Box style={{ width: 420, height: 1, background: 'rgba(232,238,249,0.18)' }} /&gt;&#10;            &lt;Text style={{ marginTop: 16, fontSize: 13, color: 'rgba(232,238,249,0.42)', letterSpacing: 3, fontFamily: '&quot;JetBrains Mono&quot;, &quot;Cascadia Mono&quot;, Consolas, monospace' }}&gt;本章要回答&lt;/Text&gt;&#10;            &lt;Box style={{ marginTop: 12, flexDirection: 'column', gap: 8 }}&gt;&#10;                {['三级路由是怎么把准确率拉起来的？', '加一个工具，为什么不用改主干代码？', '真实项目里到底踩过哪些坑？'].map((t, i) =&gt; (&#10;                    &lt;Box key={i} style={{ flexDirection: 'row', alignItems: 'center', gap: 12 }}&gt;&#10;                        &lt;Box style={{ width: 5, height: 5, background: '#2AD4EE' }} /&gt;&#10;                        &lt;Text style={{ fontSize: 17, color: 'rgba(232,238,249,0.78)' }}&gt;{t}&lt;/Text&gt;&#10;                    &lt;/Box&gt;&#10;                ))}&#10;            &lt;/Box&gt;&#10;        &lt;/Box&gt;&#10;    &lt;/Box&gt;&#10;&#10;    {/* 右：章节号 + 目录 */}&#10;    &lt;Box style={{ position: 'absolute', right: 88, top: 336, width: 392, flexDirection: 'column', paddingTop: 22, paddingBottom: 22, paddingLeft: 24, paddingRight: 24, background: 'rgba(11,18,32,0.82)', border: '1px solid rgba(42,212,238,0.22)', borderRadius: 4 }}&gt;&#10;        &lt;Box style={{ flexDirection: 'row', alignItems: 'flex-end', justifyContent: 'space-between' }}&gt;&#10;            &lt;Text style={{ fontSize: 76, fontWeight: 'bold', color: 'rgba(42,212,238,0.55)', fontFamily: '&quot;JetBrains Mono&quot;, &quot;Cascadia Mono&quot;, Consolas, monospace', lineHeight: 1 }}&gt;04&lt;/Text&gt;&#10;            &lt;Text style={{ fontSize: 13, color: 'rgba(232,238,249,0.42)', letterSpacing: 3, fontFamily: '&quot;JetBrains Mono&quot;, &quot;Cascadia Mono&quot;, Consolas, monospace', paddingBottom: 8 }}&gt;PAGES 26 – 32&lt;/Text&gt;&#10;        &lt;/Box&gt;&#10;        &lt;Box style={{ marginTop: 18, flexDirection: 'column', gap: 12 }}&gt;&#10;            {['项目概览与三级路由', '发现式注册 · 隔离安全 · 流式渲染', '四个真实 Bug 与修法'].map((t, i) =&gt; (&#10;                &lt;Box key={i} style={{ flexDirection: 'row', alignItems: 'center', gap: 12 }}&gt;&#10;                    &lt;Box style={{ width: 18, height: 1, background: 'rgba(42,212,238,0.6)' }} /&gt;&#10;                    &lt;Text style={{ fontSize: 17, color: 'rgba(232,238,249,0.82)' }}&gt;{t}&lt;/Text&gt;&#10;                &lt;/Box&gt;&#10;            ))}&#10;        &lt;/Box&gt;&#10;    &lt;/Box&gt;&#10;&#10;    &lt;Text style={{ position: 'absolute', left: 88, top: 674, fontSize: 14, color: 'rgba(232,238,249,0.42)', fontFamily: '&quot;JetBrains Mono&quot;, &quot;Cascadia Mono&quot;, Consolas, monospace' }}&gt;26 / 33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pic>
        <p:nvPicPr>
          <p:cNvPr id="832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4630400" cy="9753600"/>
          </a:xfrm>
          <a:custGeom>
            <a:pathLst>
              <a:path w="1536" h="1024">
                <a:moveTo>
                  <a:pt x="1280" y="720"/>
                </a:moveTo>
                <a:lnTo>
                  <a:pt x="0" y="720"/>
                </a:lnTo>
                <a:lnTo>
                  <a:pt x="0" y="0"/>
                </a:lnTo>
                <a:lnTo>
                  <a:pt x="1280" y="0"/>
                </a:lnTo>
                <a:close/>
              </a:path>
            </a:pathLst>
          </a:custGeom>
          <a:ln/>
        </p:spPr>
      </p:pic>
      <p:sp>
        <p:nvSpPr>
          <p:cNvPr id="833" name=""/>
          <p:cNvSpPr/>
          <p:nvPr/>
        </p:nvSpPr>
        <p:spPr>
          <a:xfrm rot="0" flipH="0" flipV="0">
            <a:off x="0" y="0"/>
            <a:ext cx="9906000" cy="6858000"/>
          </a:xfrm>
          <a:prstGeom prst="rect">
            <a:avLst/>
          </a:prstGeom>
          <a:gradFill>
            <a:gsLst>
              <a:gs pos="0">
                <a:srgbClr val="0B1220">
                  <a:alpha val="97000"/>
                </a:srgbClr>
              </a:gs>
              <a:gs pos="50000">
                <a:srgbClr val="0B1220">
                  <a:alpha val="84000"/>
                </a:srgbClr>
              </a:gs>
              <a:gs pos="100000">
                <a:srgbClr val="0B1220">
                  <a:alpha val="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834" name=""/>
          <p:cNvSpPr/>
          <p:nvPr/>
        </p:nvSpPr>
        <p:spPr>
          <a:xfrm rot="0" flipH="0" flipV="0">
            <a:off x="0" y="0"/>
            <a:ext cx="57150" cy="6858000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2AD4EE">
                  <a:alpha val="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835" name="" descr="{&quot;isTemplate&quot;:true,&quot;type&quot;:&quot;text&quot;}"/>
          <p:cNvSpPr txBox="1"/>
          <p:nvPr/>
        </p:nvSpPr>
        <p:spPr>
          <a:xfrm rot="0" flipH="0" flipV="0">
            <a:off x="838200" y="1447800"/>
            <a:ext cx="6667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525">
                <a:solidFill>
                  <a:srgbClr val="2AD4EE"/>
                </a:solidFill>
                <a:latin typeface="JetBrains Mono"/>
                <a:ea typeface="JetBrains Mono"/>
              </a:rPr>
              <a:t>CHAPTER 04</a:t>
            </a:r>
            <a:endParaRPr/>
          </a:p>
        </p:txBody>
      </p:sp>
      <p:sp>
        <p:nvSpPr>
          <p:cNvPr id="836" name="" descr="{&quot;isTemplate&quot;:true,&quot;type&quot;:&quot;text&quot;}"/>
          <p:cNvSpPr txBox="1"/>
          <p:nvPr/>
        </p:nvSpPr>
        <p:spPr>
          <a:xfrm rot="0" flipH="0" flipV="0">
            <a:off x="838200" y="1866900"/>
            <a:ext cx="6667500" cy="17621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800" b="1" spc="75">
                <a:solidFill>
                  <a:srgbClr val="E8EEF9"/>
                </a:solidFill>
                <a:latin typeface="Source Han Sans SC"/>
                <a:ea typeface="Source Han Sans SC"/>
              </a:rPr>
              <a:t>落地实践：</a:t>
            </a:r>
            <a:endParaRPr/>
          </a:p>
          <a:p>
            <a:pPr>
              <a:lnSpc>
                <a:spcPct val="120000"/>
              </a:lnSpc>
            </a:pPr>
            <a:r>
              <a:rPr lang="zh-CN" sz="4800" b="1" spc="75">
                <a:solidFill>
                  <a:srgbClr val="2AD4EE"/>
                </a:solidFill>
                <a:latin typeface="Source Han Sans SC"/>
                <a:ea typeface="Source Han Sans SC"/>
              </a:rPr>
              <a:t>智数问答</a:t>
            </a:r>
            <a:r>
              <a:rPr lang="en-US" sz="4800" b="1" spc="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agent-DQ</a:t>
            </a:r>
            <a:endParaRPr/>
          </a:p>
        </p:txBody>
      </p:sp>
      <p:sp>
        <p:nvSpPr>
          <p:cNvPr id="837" name=""/>
          <p:cNvSpPr/>
          <p:nvPr/>
        </p:nvSpPr>
        <p:spPr>
          <a:xfrm rot="0" flipH="0" flipV="0">
            <a:off x="838200" y="3810000"/>
            <a:ext cx="723900" cy="381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838" name="" descr="{&quot;isTemplate&quot;:true,&quot;type&quot;:&quot;text&quot;}"/>
          <p:cNvSpPr txBox="1"/>
          <p:nvPr/>
        </p:nvSpPr>
        <p:spPr>
          <a:xfrm rot="0" flipH="0" flipV="0">
            <a:off x="838200" y="4076700"/>
            <a:ext cx="6667500" cy="84772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把前面所有知识，</a:t>
            </a:r>
            <a:endParaRPr/>
          </a:p>
          <a:p>
            <a:pPr>
              <a:lnSpc>
                <a:spcPct val="175000"/>
              </a:lnSpc>
            </a:pP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装进一个真实业务系统。</a:t>
            </a:r>
            <a:endParaRPr/>
          </a:p>
        </p:txBody>
      </p:sp>
      <p:sp>
        <p:nvSpPr>
          <p:cNvPr id="839" name=""/>
          <p:cNvSpPr/>
          <p:nvPr/>
        </p:nvSpPr>
        <p:spPr>
          <a:xfrm rot="0" flipH="0" flipV="0">
            <a:off x="838200" y="5105400"/>
            <a:ext cx="4000500" cy="9525"/>
          </a:xfrm>
          <a:prstGeom prst="rect">
            <a:avLst/>
          </a:prstGeom>
          <a:solidFill>
            <a:srgbClr val="E8EEF9">
              <a:alpha val="18000"/>
            </a:srgbClr>
          </a:solidFill>
          <a:ln/>
        </p:spPr>
        <p:txBody>
          <a:bodyPr/>
          <a:p/>
        </p:txBody>
      </p:sp>
      <p:sp>
        <p:nvSpPr>
          <p:cNvPr id="840" name="" descr="{&quot;isTemplate&quot;:true,&quot;type&quot;:&quot;text&quot;}"/>
          <p:cNvSpPr txBox="1"/>
          <p:nvPr/>
        </p:nvSpPr>
        <p:spPr>
          <a:xfrm rot="0" flipH="0" flipV="0">
            <a:off x="838200" y="5267325"/>
            <a:ext cx="666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本章要回答</a:t>
            </a:r>
            <a:endParaRPr/>
          </a:p>
        </p:txBody>
      </p:sp>
      <p:sp>
        <p:nvSpPr>
          <p:cNvPr id="841" name=""/>
          <p:cNvSpPr/>
          <p:nvPr/>
        </p:nvSpPr>
        <p:spPr>
          <a:xfrm rot="0" flipH="0" flipV="0">
            <a:off x="838200" y="5610225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842" name="" descr="{&quot;isTemplate&quot;:true,&quot;type&quot;:&quot;text&quot;}"/>
          <p:cNvSpPr txBox="1"/>
          <p:nvPr/>
        </p:nvSpPr>
        <p:spPr>
          <a:xfrm rot="0" flipH="0" flipV="0">
            <a:off x="1000125" y="5534025"/>
            <a:ext cx="259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三级路由是怎么把准确率拉起来的？</a:t>
            </a:r>
            <a:endParaRPr/>
          </a:p>
        </p:txBody>
      </p:sp>
      <p:sp>
        <p:nvSpPr>
          <p:cNvPr id="843" name=""/>
          <p:cNvSpPr/>
          <p:nvPr/>
        </p:nvSpPr>
        <p:spPr>
          <a:xfrm rot="0" flipH="0" flipV="0">
            <a:off x="838200" y="588645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844" name="" descr="{&quot;isTemplate&quot;:true,&quot;type&quot;:&quot;text&quot;}"/>
          <p:cNvSpPr txBox="1"/>
          <p:nvPr/>
        </p:nvSpPr>
        <p:spPr>
          <a:xfrm rot="0" flipH="0" flipV="0">
            <a:off x="1000125" y="5810250"/>
            <a:ext cx="2752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加一个工具，为什么不用改主干代码？</a:t>
            </a:r>
            <a:endParaRPr/>
          </a:p>
        </p:txBody>
      </p:sp>
      <p:sp>
        <p:nvSpPr>
          <p:cNvPr id="845" name=""/>
          <p:cNvSpPr/>
          <p:nvPr/>
        </p:nvSpPr>
        <p:spPr>
          <a:xfrm rot="0" flipH="0" flipV="0">
            <a:off x="838200" y="6162675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846" name="" descr="{&quot;isTemplate&quot;:true,&quot;type&quot;:&quot;text&quot;}"/>
          <p:cNvSpPr txBox="1"/>
          <p:nvPr/>
        </p:nvSpPr>
        <p:spPr>
          <a:xfrm rot="0" flipH="0" flipV="0">
            <a:off x="1000125" y="6086475"/>
            <a:ext cx="2105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真实项目里到底踩过哪些坑？</a:t>
            </a:r>
            <a:endParaRPr/>
          </a:p>
        </p:txBody>
      </p:sp>
      <p:sp>
        <p:nvSpPr>
          <p:cNvPr id="847" name=""/>
          <p:cNvSpPr/>
          <p:nvPr/>
        </p:nvSpPr>
        <p:spPr>
          <a:xfrm rot="0" flipH="0" flipV="0">
            <a:off x="7620000" y="3200400"/>
            <a:ext cx="3733800" cy="2295525"/>
          </a:xfrm>
          <a:prstGeom prst="roundRect">
            <a:avLst>
              <a:gd name="adj" fmla="val 1660"/>
            </a:avLst>
          </a:prstGeom>
          <a:solidFill>
            <a:srgbClr val="0B1220">
              <a:alpha val="82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48" name="" descr="{&quot;isTemplate&quot;:true,&quot;type&quot;:&quot;text&quot;}"/>
          <p:cNvSpPr txBox="1"/>
          <p:nvPr/>
        </p:nvSpPr>
        <p:spPr>
          <a:xfrm rot="0" flipH="0" flipV="0">
            <a:off x="7848600" y="3409950"/>
            <a:ext cx="8572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2AD4EE">
                    <a:alpha val="55000"/>
                  </a:srgbClr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849" name="" descr="{&quot;isTemplate&quot;:true,&quot;type&quot;:&quot;text&quot;}"/>
          <p:cNvSpPr txBox="1"/>
          <p:nvPr/>
        </p:nvSpPr>
        <p:spPr>
          <a:xfrm rot="0" flipH="0" flipV="0">
            <a:off x="9801225" y="4057650"/>
            <a:ext cx="1323975" cy="228600"/>
          </a:xfrm>
          <a:prstGeom prst="rect"/>
        </p:spPr>
        <p:txBody>
          <a:bodyPr wrap="none" lIns="0" tIns="0" rIns="0" bIns="5715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PAGES 26 – 32</a:t>
            </a:r>
            <a:endParaRPr/>
          </a:p>
        </p:txBody>
      </p:sp>
      <p:sp>
        <p:nvSpPr>
          <p:cNvPr id="850" name=""/>
          <p:cNvSpPr/>
          <p:nvPr/>
        </p:nvSpPr>
        <p:spPr>
          <a:xfrm rot="0" flipH="0" flipV="0">
            <a:off x="7848600" y="455295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/>
        </p:txBody>
      </p:sp>
      <p:sp>
        <p:nvSpPr>
          <p:cNvPr id="851" name="" descr="{&quot;isTemplate&quot;:true,&quot;type&quot;:&quot;text&quot;}"/>
          <p:cNvSpPr txBox="1"/>
          <p:nvPr/>
        </p:nvSpPr>
        <p:spPr>
          <a:xfrm rot="0" flipH="0" flipV="0">
            <a:off x="8134350" y="4457700"/>
            <a:ext cx="1457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项目概览与三级路由</a:t>
            </a:r>
            <a:endParaRPr/>
          </a:p>
        </p:txBody>
      </p:sp>
      <p:sp>
        <p:nvSpPr>
          <p:cNvPr id="852" name=""/>
          <p:cNvSpPr/>
          <p:nvPr/>
        </p:nvSpPr>
        <p:spPr>
          <a:xfrm rot="0" flipH="0" flipV="0">
            <a:off x="7848600" y="4867275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/>
        </p:txBody>
      </p:sp>
      <p:sp>
        <p:nvSpPr>
          <p:cNvPr id="853" name="" descr="{&quot;isTemplate&quot;:true,&quot;type&quot;:&quot;text&quot;}"/>
          <p:cNvSpPr txBox="1"/>
          <p:nvPr/>
        </p:nvSpPr>
        <p:spPr>
          <a:xfrm rot="0" flipH="0" flipV="0">
            <a:off x="8134350" y="4772025"/>
            <a:ext cx="2571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发现式注册</a:t>
            </a:r>
            <a:r>
              <a:rPr lang="en-US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隔离安全</a:t>
            </a:r>
            <a:r>
              <a:rPr lang="en-US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流式渲染</a:t>
            </a:r>
            <a:endParaRPr/>
          </a:p>
        </p:txBody>
      </p:sp>
      <p:sp>
        <p:nvSpPr>
          <p:cNvPr id="854" name=""/>
          <p:cNvSpPr/>
          <p:nvPr/>
        </p:nvSpPr>
        <p:spPr>
          <a:xfrm rot="0" flipH="0" flipV="0">
            <a:off x="7848600" y="518160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/>
        </p:txBody>
      </p:sp>
      <p:sp>
        <p:nvSpPr>
          <p:cNvPr id="855" name="" descr="{&quot;isTemplate&quot;:true,&quot;type&quot;:&quot;text&quot;}"/>
          <p:cNvSpPr txBox="1"/>
          <p:nvPr/>
        </p:nvSpPr>
        <p:spPr>
          <a:xfrm rot="0" flipH="0" flipV="0">
            <a:off x="8134350" y="5086350"/>
            <a:ext cx="1495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四个真实</a:t>
            </a:r>
            <a:r>
              <a:rPr lang="en-US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 xml:space="preserve"> Bug </a:t>
            </a: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与修法</a:t>
            </a:r>
            <a:endParaRPr/>
          </a:p>
        </p:txBody>
      </p:sp>
      <p:sp>
        <p:nvSpPr>
          <p:cNvPr id="856" name="" descr="{&quot;isTemplate&quot;:true,&quot;type&quot;:&quot;text&quot;}"/>
          <p:cNvSpPr txBox="1"/>
          <p:nvPr/>
        </p:nvSpPr>
        <p:spPr>
          <a:xfrm rot="0" flipH="0" flipV="0">
            <a:off x="838200" y="6419850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26 / 33</a:t>
            </a:r>
            <a:endParaRPr/>
          </a:p>
        </p:txBody>
      </p:sp>
    </p:spTree>
  </p:cSld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857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0;    {/* A 区 · 标题块 */}&#10;    &lt;Box style={{ height: 100, flexDirection: 'row', gap: 16, alignItems: 'flex-start', paddingTop: 6 }}&gt;&#10;        &lt;Box style={{ width: 4, height: 36, background: '#2AD4EE', marginTop: 5 }} /&gt;&#10;        &lt;Box style={{ flexDirection: 'column' }}&gt;&#10;            &lt;Text style={{ fontSize: 34, fontWeight: 'bold', color: '#E8EEF9' }}&gt;项目概览：一句话与一套栈&lt;/Text&gt;&#10;            &lt;Text style={{ marginTop: 8, fontSize: 17, color: 'rgba(232,238,249,0.52)' }}&gt;自然语言进，结构化结果出，PI 在中间做编排&lt;/Text&gt;&#10;        &lt;/Box&gt;&#10;    &lt;/Box&gt;&#10;&#10;    {/* B 区 · 非对称双栏 56:44 */}&#10;    &lt;Box style={{ height: 516, flexDirection: 'row', gap: 32 }}&gt;&#10;        {/* 左：链路总览 */}&#10;        &lt;Box style={{ flex: 56, flexDirection: 'column', paddingRight: 30, borderRight: '1px solid rgba(232,238,249,0.12)' }}&gt;&#10;            &lt;Box style={{ flexDirection: 'row', alignItems: 'center', justifyContent: 'space-between' }}&gt;&#10;                &lt;Text style={{ fontSize: 15, color: '#2AD4EE', letterSpacing: 3, fontFamily: '&quot;JetBrains Mono&quot;, &quot;Cascadia Mono&quot;, Consolas, monospace' }}&gt;END-TO-END&lt;/Text&gt;&#10;                &lt;Text style={{ fontSize: 13, color: 'rgba(232,238,249,0.42)' }}&gt;HTTP + SSE 全链路流式&lt;/Text&gt;&#10;            &lt;/Box&gt;&#10;&#10;            &lt;Box style={{ flex: 1, marginTop: 12, flexDirection: 'column' }}&gt;&#10;                {[&#10;                    { t: '用户输入', d: '自然语言提问 · 前端 Vue3 + TS + Pinia', tag: 'CLIENT' },&#10;                    { t: 'Node (Koa) 服务', d: 'JWT 鉴权 · 数据范围注入 · SSE 通道', tag: 'SERVER' },&#10;                    { t: 'PI 智能体', d: '@earendil-works/pi-coding-agent，编排核心', tag: 'AGENT' },&#10;                    { t: '查询工具', d: '业务 API · 指标模板 · 受控 SQL · 图表 / 表格 / KPI 发射', tag: 'TOOLS' },&#10;                    { t: '前端流式渲染', d: '文本 · 表格 · 图表 · KPI 卡片，按 renderer 路由', tag: 'RENDER' },&#10;                ].map((s, i) =&gt; (&#10;                    &lt;Box key={i} style={{ flex: 1, flexDirection: 'column' }}&gt;&#10;                        &lt;Box style={{ flex: 1, flexDirection: 'row', alignItems: 'center', gap: 14, paddingLeft: 16, paddingRight: 16, background: i === 2 ? 'rgba(42,212,238,0.14)' : 'rgba(22,35,61,0.92)', border: i === 2 ? '1px solid rgba(42,212,238,0.48)' : '1px solid rgba(232,238,249,0.10)', borderRadius: 3 }}&gt;&#10;                            &lt;Text style={{ width: 62, fontSize: 12, color: i === 2 ? '#2AD4EE' : 'rgba(232,238,249,0.40)', letterSpacing: 1, fontFamily: '&quot;JetBrains Mono&quot;, &quot;Cascadia Mono&quot;, Consolas, monospace' }}&gt;{s.tag}&lt;/Text&gt;&#10;                            &lt;Box style={{ flexDirection: 'column', flex: 1 }}&gt;&#10;                                &lt;Text style={{ fontSize: 18, fontWeight: 'bold', color: '#E8EEF9' }}&gt;{s.t}&lt;/Text&gt;&#10;                                &lt;Text style={{ marginTop: 4, fontSize: 13.5, color: 'rgba(232,238,249,0.60)' }}&gt;{s.d}&lt;/Text&gt;&#10;                            &lt;/Box&gt;&#10;                        &lt;/Box&gt;&#10;                        {i &lt; 4 &amp;&amp; (&#10;                            &lt;Box style={{ height: 18, flexDirection: 'row', alignItems: 'center', paddingLeft: 26 }}&gt;&#10;                                &lt;Text style={{ fontSize: 13, color: 'rgba(42,212,238,0.7)', fontFamily: '&quot;JetBrains Mono&quot;, &quot;Cascadia Mono&quot;, Consolas, monospace' }}&gt;↓&lt;/Text&gt;&#10;                            &lt;/Box&gt;&#10;                        )}&#10;                    &lt;/Box&gt;&#10;                ))}&#10;            &lt;/Box&gt;&#10;        &lt;/Box&gt;&#10;&#10;        {/* 右：技术栈 + 判断 */}&#10;        &lt;Box style={{ flex: 44, flexDirection: 'column' }}&gt;&#10;            &lt;Text style={{ fontSize: 15, color: 'rgba(232,238,249,0.52)', letterSpacing: 2, fontFamily: '&quot;JetBrains Mono&quot;, &quot;Cascadia Mono&quot;, Consolas, monospace' }}&gt;TECH STACK&lt;/Text&gt;&#10;&#10;            &lt;Box style={{ marginTop: 14, flexDirection: 'column' }}&gt;&#10;                {[&#10;                    ['前端', 'Vue3 + TS + Pinia + Router'],&#10;                    ['服务端', 'Node + TS + Koa'],&#10;                    ['智能体', '@earendil-works/pi-coding-agent'],&#10;                    ['数据', '内存 JSON 种子数据，无需外部数据库'],&#10;                    ['注册', '.pi/ 目录发现式注册，代码零硬编码'],&#10;                ].map((r, i) =&gt; (&#10;                    &lt;Box key={i} style={{ flexDirection: 'row', alignItems: 'center', gap: 12, paddingTop: 9, paddingBottom: 9, borderBottom: '1px solid rgba(232,238,249,0.08)' }}&gt;&#10;                        &lt;Text style={{ width: 56, fontSize: 13.5, color: 'rgba(232,238,249,0.45)', fontFamily: '&quot;JetBrains Mono&quot;, &quot;Cascadia Mono&quot;, Consolas, monospace' }}&gt;{r[0]}&lt;/Text&gt;&#10;                        &lt;Text style={{ flex: 1, fontSize: 14.5, color: '#E8EEF9', lineHeight: 1.5 }}&gt;{r[1]}&lt;/Text&gt;&#10;                    &lt;/Box&gt;&#10;                ))}&#10;            &lt;/Box&gt;&#10;&#10;            &lt;Box style={{ marginTop: 20, paddingTop: 14, paddingBottom: 14, paddingLeft: 16, paddingRight: 16, background: 'rgba(22,35,61,0.92)', border: '1px solid rgba(232,238,249,0.12)', borderRadius: 4 }}&gt;&#10;                &lt;Text style={{ fontSize: 13, color: 'rgba(232,238,249,0.45)', letterSpacing: 2, fontFamily: '&quot;JetBrains Mono&quot;, &quot;Cascadia Mono&quot;, Consolas, monospace' }}&gt;要解决的三件事&lt;/Text&gt;&#10;                &lt;Box style={{ marginTop: 10, flexDirection: 'column', gap: 8 }}&gt;&#10;                    {['用户角色 / 部门的数据范围隔离', '多租户隔离（共享库 + tenant_id）', '指标的准确性与可追溯'].map((t, i) =&gt; (&#10;                        &lt;Box key={i} style={{ flexDirection: 'row', alignItems: 'center', gap: 10 }}&gt;&#10;                            &lt;Text style={{ fontSize: 13, color: '#2AD4EE', fontFamily: '&quot;JetBrains Mono&quot;, &quot;Cascadia Mono&quot;, Consolas, monospace' }}&gt;0{i + 1}&lt;/Text&gt;&#10;                            &lt;Text style={{ flex: 1, fontSize: 14.5, color: 'rgba(232,238,249,0.72)' }}&gt;{t}&lt;/Text&gt;&#10;                        &lt;/Box&gt;&#10;                    ))}&#10;                &lt;/Box&gt;&#10;            &lt;/Box&gt;&#10;&#10;            &lt;Box style={{ marginTop: 'auto', paddingTop: 14, paddingBottom: 14, paddingLeft: 16, paddingRight: 16, background: 'rgba(42,212,238,0.08)', border: '1px solid rgba(42,212,238,0.22)', borderRadius: 4 }}&gt;&#10;                &lt;Text style={{ fontSize: 14, color: '#2AD4EE', letterSpacing: 3, fontFamily: '&quot;JetBrains Mono&quot;, &quot;Cascadia Mono&quot;, Consolas, monospace' }}&gt;所以&lt;/Text&gt;&#10;                &lt;Text style={{ marginTop: 8, fontSize: 16, color: '#E8EEF9', lineHeight: 1.7 }}&gt;&#10;                    PI 是&lt;span style={{ color: '#2AD4EE' }}&gt;编排核心&lt;/span&gt;，不是外挂组件。&#10;                &lt;/Text&gt;&#10;            &lt;/Box&gt;&#10;        &lt;/Box&gt;&#10;    &lt;/Box&gt;&#10;&#10;    {/* C 区 · 页脚 */}&#10;    &lt;Box style={{ height: 40, flexDirection: 'row', alignItems: 'flex-end', justifyContent: 'space-between' }}&gt;&#10;        &lt;Text style={{ fontSize: 14, color: 'rgba(232,238,249,0.42)' }}&gt;从 LLM 到 Agent 再到 Pi Agent&lt;/Text&gt;&#10;        &lt;Text style={{ fontSize: 14, color: 'rgba(232,238,249,0.42)', fontFamily: '&quot;JetBrains Mono&quot;, &quot;Cascadia Mono&quot;, Consolas, monospace' }}&gt;27 / 3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859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860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项目概览：一句话与一套栈</a:t>
            </a:r>
            <a:endParaRPr/>
          </a:p>
        </p:txBody>
      </p:sp>
      <p:sp>
        <p:nvSpPr>
          <p:cNvPr id="861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886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自然语言进，结构化结果出，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PI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在中间做编排</a:t>
            </a:r>
            <a:endParaRPr/>
          </a:p>
        </p:txBody>
      </p:sp>
      <p:sp>
        <p:nvSpPr>
          <p:cNvPr id="862" name=""/>
          <p:cNvSpPr/>
          <p:nvPr/>
        </p:nvSpPr>
        <p:spPr>
          <a:xfrm rot="0" flipH="0" flipV="0">
            <a:off x="685800" y="1143000"/>
            <a:ext cx="5895975" cy="4914900"/>
          </a:xfrm>
          <a:custGeom>
            <a:pathLst>
              <a:path w="619" h="516">
                <a:moveTo>
                  <a:pt x="618" y="0"/>
                </a:moveTo>
                <a:lnTo>
                  <a:pt x="619" y="0"/>
                </a:lnTo>
                <a:lnTo>
                  <a:pt x="619" y="516"/>
                </a:lnTo>
                <a:lnTo>
                  <a:pt x="618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863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1123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END-TO-END</a:t>
            </a:r>
            <a:endParaRPr/>
          </a:p>
        </p:txBody>
      </p:sp>
      <p:sp>
        <p:nvSpPr>
          <p:cNvPr id="864" name="" descr="{&quot;isTemplate&quot;:true,&quot;type&quot;:&quot;text&quot;}"/>
          <p:cNvSpPr txBox="1"/>
          <p:nvPr/>
        </p:nvSpPr>
        <p:spPr>
          <a:xfrm rot="0" flipH="0" flipV="0">
            <a:off x="4991100" y="1152525"/>
            <a:ext cx="1285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HTTP + SSE </a:t>
            </a: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全链路流式</a:t>
            </a:r>
            <a:endParaRPr/>
          </a:p>
        </p:txBody>
      </p:sp>
      <p:sp>
        <p:nvSpPr>
          <p:cNvPr id="865" name=""/>
          <p:cNvSpPr/>
          <p:nvPr/>
        </p:nvSpPr>
        <p:spPr>
          <a:xfrm rot="0" flipH="0" flipV="0">
            <a:off x="685800" y="1428750"/>
            <a:ext cx="5591175" cy="790575"/>
          </a:xfrm>
          <a:prstGeom prst="roundRect">
            <a:avLst>
              <a:gd name="adj" fmla="val 3614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66" name="" descr="{&quot;isTemplate&quot;:true,&quot;type&quot;:&quot;text&quot;}"/>
          <p:cNvSpPr txBox="1"/>
          <p:nvPr/>
        </p:nvSpPr>
        <p:spPr>
          <a:xfrm rot="0" flipH="0" flipV="0">
            <a:off x="838200" y="1752600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E8EEF9">
                    <a:alpha val="40000"/>
                  </a:srgbClr>
                </a:solidFill>
                <a:latin typeface="JetBrains Mono"/>
                <a:ea typeface="JetBrains Mono"/>
              </a:rPr>
              <a:t>CLIENT</a:t>
            </a:r>
            <a:endParaRPr/>
          </a:p>
        </p:txBody>
      </p:sp>
      <p:sp>
        <p:nvSpPr>
          <p:cNvPr id="867" name="" descr="{&quot;isTemplate&quot;:true,&quot;type&quot;:&quot;text&quot;}"/>
          <p:cNvSpPr txBox="1"/>
          <p:nvPr/>
        </p:nvSpPr>
        <p:spPr>
          <a:xfrm rot="0" flipH="0" flipV="0">
            <a:off x="1562100" y="1619250"/>
            <a:ext cx="45624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8EEF9"/>
                </a:solidFill>
                <a:latin typeface="Source Han Sans SC"/>
                <a:ea typeface="Source Han Sans SC"/>
              </a:rPr>
              <a:t>用户输入</a:t>
            </a:r>
            <a:endParaRPr/>
          </a:p>
        </p:txBody>
      </p:sp>
      <p:sp>
        <p:nvSpPr>
          <p:cNvPr id="868" name="" descr="{&quot;isTemplate&quot;:true,&quot;type&quot;:&quot;text&quot;}"/>
          <p:cNvSpPr txBox="1"/>
          <p:nvPr/>
        </p:nvSpPr>
        <p:spPr>
          <a:xfrm rot="0" flipH="0" flipV="0">
            <a:off x="1562100" y="1866900"/>
            <a:ext cx="4562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自然语言提问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前端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Vue3 + TS + Pinia</a:t>
            </a:r>
            <a:endParaRPr/>
          </a:p>
        </p:txBody>
      </p:sp>
      <p:sp>
        <p:nvSpPr>
          <p:cNvPr id="869" name="" descr="{&quot;isTemplate&quot;:true,&quot;type&quot;:&quot;text&quot;}"/>
          <p:cNvSpPr txBox="1"/>
          <p:nvPr/>
        </p:nvSpPr>
        <p:spPr>
          <a:xfrm rot="0" flipH="0" flipV="0">
            <a:off x="933450" y="2228850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2AD4EE">
                    <a:alpha val="70000"/>
                  </a:srgbClr>
                </a:solidFill>
                <a:latin typeface="JetBrains Mono"/>
                <a:ea typeface="JetBrains Mono"/>
              </a:rPr>
              <a:t>↓</a:t>
            </a:r>
            <a:endParaRPr/>
          </a:p>
        </p:txBody>
      </p:sp>
      <p:sp>
        <p:nvSpPr>
          <p:cNvPr id="870" name=""/>
          <p:cNvSpPr/>
          <p:nvPr/>
        </p:nvSpPr>
        <p:spPr>
          <a:xfrm rot="0" flipH="0" flipV="0">
            <a:off x="685800" y="2390775"/>
            <a:ext cx="5591175" cy="790575"/>
          </a:xfrm>
          <a:prstGeom prst="roundRect">
            <a:avLst>
              <a:gd name="adj" fmla="val 3614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71" name="" descr="{&quot;isTemplate&quot;:true,&quot;type&quot;:&quot;text&quot;}"/>
          <p:cNvSpPr txBox="1"/>
          <p:nvPr/>
        </p:nvSpPr>
        <p:spPr>
          <a:xfrm rot="0" flipH="0" flipV="0">
            <a:off x="838200" y="2714625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E8EEF9">
                    <a:alpha val="40000"/>
                  </a:srgbClr>
                </a:solidFill>
                <a:latin typeface="JetBrains Mono"/>
                <a:ea typeface="JetBrains Mono"/>
              </a:rPr>
              <a:t>SERVER</a:t>
            </a:r>
            <a:endParaRPr/>
          </a:p>
        </p:txBody>
      </p:sp>
      <p:sp>
        <p:nvSpPr>
          <p:cNvPr id="872" name="" descr="{&quot;isTemplate&quot;:true,&quot;type&quot;:&quot;text&quot;}"/>
          <p:cNvSpPr txBox="1"/>
          <p:nvPr/>
        </p:nvSpPr>
        <p:spPr>
          <a:xfrm rot="0" flipH="0" flipV="0">
            <a:off x="1562100" y="2581275"/>
            <a:ext cx="45624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Node (Koa) </a:t>
            </a:r>
            <a:r>
              <a:rPr lang="zh-CN" sz="1350" b="1">
                <a:solidFill>
                  <a:srgbClr val="E8EEF9"/>
                </a:solidFill>
                <a:latin typeface="Source Han Sans SC"/>
                <a:ea typeface="Source Han Sans SC"/>
              </a:rPr>
              <a:t>服务</a:t>
            </a:r>
            <a:endParaRPr/>
          </a:p>
        </p:txBody>
      </p:sp>
      <p:sp>
        <p:nvSpPr>
          <p:cNvPr id="873" name="" descr="{&quot;isTemplate&quot;:true,&quot;type&quot;:&quot;text&quot;}"/>
          <p:cNvSpPr txBox="1"/>
          <p:nvPr/>
        </p:nvSpPr>
        <p:spPr>
          <a:xfrm rot="0" flipH="0" flipV="0">
            <a:off x="1562100" y="2828925"/>
            <a:ext cx="4562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JWT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鉴权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数据范围注入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· SSE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通道</a:t>
            </a:r>
            <a:endParaRPr/>
          </a:p>
        </p:txBody>
      </p:sp>
      <p:sp>
        <p:nvSpPr>
          <p:cNvPr id="874" name="" descr="{&quot;isTemplate&quot;:true,&quot;type&quot;:&quot;text&quot;}"/>
          <p:cNvSpPr txBox="1"/>
          <p:nvPr/>
        </p:nvSpPr>
        <p:spPr>
          <a:xfrm rot="0" flipH="0" flipV="0">
            <a:off x="933450" y="319087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2AD4EE">
                    <a:alpha val="70000"/>
                  </a:srgbClr>
                </a:solidFill>
                <a:latin typeface="JetBrains Mono"/>
                <a:ea typeface="JetBrains Mono"/>
              </a:rPr>
              <a:t>↓</a:t>
            </a:r>
            <a:endParaRPr/>
          </a:p>
        </p:txBody>
      </p:sp>
      <p:sp>
        <p:nvSpPr>
          <p:cNvPr id="875" name=""/>
          <p:cNvSpPr/>
          <p:nvPr/>
        </p:nvSpPr>
        <p:spPr>
          <a:xfrm rot="0" flipH="0" flipV="0">
            <a:off x="685800" y="3352800"/>
            <a:ext cx="5591175" cy="781050"/>
          </a:xfrm>
          <a:prstGeom prst="roundRect">
            <a:avLst>
              <a:gd name="adj" fmla="val 3659"/>
            </a:avLst>
          </a:prstGeom>
          <a:solidFill>
            <a:srgbClr val="2AD4EE">
              <a:alpha val="14000"/>
            </a:srgbClr>
          </a:solidFill>
          <a:ln w="12700">
            <a:solidFill>
              <a:srgbClr val="2AD4EE">
                <a:alpha val="4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76" name="" descr="{&quot;isTemplate&quot;:true,&quot;type&quot;:&quot;text&quot;}"/>
          <p:cNvSpPr txBox="1"/>
          <p:nvPr/>
        </p:nvSpPr>
        <p:spPr>
          <a:xfrm rot="0" flipH="0" flipV="0">
            <a:off x="838200" y="3676650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2AD4EE"/>
                </a:solidFill>
                <a:latin typeface="JetBrains Mono"/>
                <a:ea typeface="JetBrains Mono"/>
              </a:rPr>
              <a:t>AGENT</a:t>
            </a:r>
            <a:endParaRPr/>
          </a:p>
        </p:txBody>
      </p:sp>
      <p:sp>
        <p:nvSpPr>
          <p:cNvPr id="877" name="" descr="{&quot;isTemplate&quot;:true,&quot;type&quot;:&quot;text&quot;}"/>
          <p:cNvSpPr txBox="1"/>
          <p:nvPr/>
        </p:nvSpPr>
        <p:spPr>
          <a:xfrm rot="0" flipH="0" flipV="0">
            <a:off x="1562100" y="3543300"/>
            <a:ext cx="45624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PI </a:t>
            </a:r>
            <a:r>
              <a:rPr lang="zh-CN" sz="1350" b="1">
                <a:solidFill>
                  <a:srgbClr val="E8EEF9"/>
                </a:solidFill>
                <a:latin typeface="Source Han Sans SC"/>
                <a:ea typeface="Source Han Sans SC"/>
              </a:rPr>
              <a:t>智能体</a:t>
            </a:r>
            <a:endParaRPr/>
          </a:p>
        </p:txBody>
      </p:sp>
      <p:sp>
        <p:nvSpPr>
          <p:cNvPr id="878" name="" descr="{&quot;isTemplate&quot;:true,&quot;type&quot;:&quot;text&quot;}"/>
          <p:cNvSpPr txBox="1"/>
          <p:nvPr/>
        </p:nvSpPr>
        <p:spPr>
          <a:xfrm rot="0" flipH="0" flipV="0">
            <a:off x="1562100" y="3790950"/>
            <a:ext cx="4562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@earendil-works/pi-coding-agent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，编排核心</a:t>
            </a:r>
            <a:endParaRPr/>
          </a:p>
        </p:txBody>
      </p:sp>
      <p:sp>
        <p:nvSpPr>
          <p:cNvPr id="879" name="" descr="{&quot;isTemplate&quot;:true,&quot;type&quot;:&quot;text&quot;}"/>
          <p:cNvSpPr txBox="1"/>
          <p:nvPr/>
        </p:nvSpPr>
        <p:spPr>
          <a:xfrm rot="0" flipH="0" flipV="0">
            <a:off x="933450" y="414337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2AD4EE">
                    <a:alpha val="70000"/>
                  </a:srgbClr>
                </a:solidFill>
                <a:latin typeface="JetBrains Mono"/>
                <a:ea typeface="JetBrains Mono"/>
              </a:rPr>
              <a:t>↓</a:t>
            </a:r>
            <a:endParaRPr/>
          </a:p>
        </p:txBody>
      </p:sp>
      <p:sp>
        <p:nvSpPr>
          <p:cNvPr id="880" name=""/>
          <p:cNvSpPr/>
          <p:nvPr/>
        </p:nvSpPr>
        <p:spPr>
          <a:xfrm rot="0" flipH="0" flipV="0">
            <a:off x="685800" y="4305300"/>
            <a:ext cx="5591175" cy="790575"/>
          </a:xfrm>
          <a:prstGeom prst="roundRect">
            <a:avLst>
              <a:gd name="adj" fmla="val 3614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81" name="" descr="{&quot;isTemplate&quot;:true,&quot;type&quot;:&quot;text&quot;}"/>
          <p:cNvSpPr txBox="1"/>
          <p:nvPr/>
        </p:nvSpPr>
        <p:spPr>
          <a:xfrm rot="0" flipH="0" flipV="0">
            <a:off x="838200" y="4629150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E8EEF9">
                    <a:alpha val="40000"/>
                  </a:srgbClr>
                </a:solidFill>
                <a:latin typeface="JetBrains Mono"/>
                <a:ea typeface="JetBrains Mono"/>
              </a:rPr>
              <a:t>TOOLS</a:t>
            </a:r>
            <a:endParaRPr/>
          </a:p>
        </p:txBody>
      </p:sp>
      <p:sp>
        <p:nvSpPr>
          <p:cNvPr id="882" name="" descr="{&quot;isTemplate&quot;:true,&quot;type&quot;:&quot;text&quot;}"/>
          <p:cNvSpPr txBox="1"/>
          <p:nvPr/>
        </p:nvSpPr>
        <p:spPr>
          <a:xfrm rot="0" flipH="0" flipV="0">
            <a:off x="1562100" y="4495800"/>
            <a:ext cx="45624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8EEF9"/>
                </a:solidFill>
                <a:latin typeface="Source Han Sans SC"/>
                <a:ea typeface="Source Han Sans SC"/>
              </a:rPr>
              <a:t>查询工具</a:t>
            </a:r>
            <a:endParaRPr/>
          </a:p>
        </p:txBody>
      </p:sp>
      <p:sp>
        <p:nvSpPr>
          <p:cNvPr id="883" name="" descr="{&quot;isTemplate&quot;:true,&quot;type&quot;:&quot;text&quot;}"/>
          <p:cNvSpPr txBox="1"/>
          <p:nvPr/>
        </p:nvSpPr>
        <p:spPr>
          <a:xfrm rot="0" flipH="0" flipV="0">
            <a:off x="1562100" y="4743450"/>
            <a:ext cx="4562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业务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API ·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指标模板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受控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SQL ·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图表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表格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/ KPI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发射</a:t>
            </a:r>
            <a:endParaRPr/>
          </a:p>
        </p:txBody>
      </p:sp>
      <p:sp>
        <p:nvSpPr>
          <p:cNvPr id="884" name="" descr="{&quot;isTemplate&quot;:true,&quot;type&quot;:&quot;text&quot;}"/>
          <p:cNvSpPr txBox="1"/>
          <p:nvPr/>
        </p:nvSpPr>
        <p:spPr>
          <a:xfrm rot="0" flipH="0" flipV="0">
            <a:off x="933450" y="5105400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2AD4EE">
                    <a:alpha val="70000"/>
                  </a:srgbClr>
                </a:solidFill>
                <a:latin typeface="JetBrains Mono"/>
                <a:ea typeface="JetBrains Mono"/>
              </a:rPr>
              <a:t>↓</a:t>
            </a:r>
            <a:endParaRPr/>
          </a:p>
        </p:txBody>
      </p:sp>
      <p:sp>
        <p:nvSpPr>
          <p:cNvPr id="885" name=""/>
          <p:cNvSpPr/>
          <p:nvPr/>
        </p:nvSpPr>
        <p:spPr>
          <a:xfrm rot="0" flipH="0" flipV="0">
            <a:off x="685800" y="5267325"/>
            <a:ext cx="5591175" cy="790575"/>
          </a:xfrm>
          <a:prstGeom prst="roundRect">
            <a:avLst>
              <a:gd name="adj" fmla="val 3614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86" name="" descr="{&quot;isTemplate&quot;:true,&quot;type&quot;:&quot;text&quot;}"/>
          <p:cNvSpPr txBox="1"/>
          <p:nvPr/>
        </p:nvSpPr>
        <p:spPr>
          <a:xfrm rot="0" flipH="0" flipV="0">
            <a:off x="838200" y="5591175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E8EEF9">
                    <a:alpha val="40000"/>
                  </a:srgbClr>
                </a:solidFill>
                <a:latin typeface="JetBrains Mono"/>
                <a:ea typeface="JetBrains Mono"/>
              </a:rPr>
              <a:t>RENDER</a:t>
            </a:r>
            <a:endParaRPr/>
          </a:p>
        </p:txBody>
      </p:sp>
      <p:sp>
        <p:nvSpPr>
          <p:cNvPr id="887" name="" descr="{&quot;isTemplate&quot;:true,&quot;type&quot;:&quot;text&quot;}"/>
          <p:cNvSpPr txBox="1"/>
          <p:nvPr/>
        </p:nvSpPr>
        <p:spPr>
          <a:xfrm rot="0" flipH="0" flipV="0">
            <a:off x="1562100" y="5457825"/>
            <a:ext cx="45624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8EEF9"/>
                </a:solidFill>
                <a:latin typeface="Source Han Sans SC"/>
                <a:ea typeface="Source Han Sans SC"/>
              </a:rPr>
              <a:t>前端流式渲染</a:t>
            </a:r>
            <a:endParaRPr/>
          </a:p>
        </p:txBody>
      </p:sp>
      <p:sp>
        <p:nvSpPr>
          <p:cNvPr id="888" name="" descr="{&quot;isTemplate&quot;:true,&quot;type&quot;:&quot;text&quot;}"/>
          <p:cNvSpPr txBox="1"/>
          <p:nvPr/>
        </p:nvSpPr>
        <p:spPr>
          <a:xfrm rot="0" flipH="0" flipV="0">
            <a:off x="1562100" y="5705475"/>
            <a:ext cx="4562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文本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表格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图表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· KPI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卡片，按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renderer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路由</a:t>
            </a:r>
            <a:endParaRPr/>
          </a:p>
        </p:txBody>
      </p:sp>
      <p:sp>
        <p:nvSpPr>
          <p:cNvPr id="889" name="" descr="{&quot;isTemplate&quot;:true,&quot;type&quot;:&quot;text&quot;}"/>
          <p:cNvSpPr txBox="1"/>
          <p:nvPr/>
        </p:nvSpPr>
        <p:spPr>
          <a:xfrm rot="0" flipH="0" flipV="0">
            <a:off x="6877050" y="1143000"/>
            <a:ext cx="4629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TECH STACK</a:t>
            </a:r>
            <a:endParaRPr/>
          </a:p>
        </p:txBody>
      </p:sp>
      <p:sp>
        <p:nvSpPr>
          <p:cNvPr id="890" name=""/>
          <p:cNvSpPr/>
          <p:nvPr/>
        </p:nvSpPr>
        <p:spPr>
          <a:xfrm rot="0" flipH="0" flipV="0">
            <a:off x="6877050" y="1447800"/>
            <a:ext cx="4629150" cy="447675"/>
          </a:xfrm>
          <a:custGeom>
            <a:pathLst>
              <a:path w="486" h="47">
                <a:moveTo>
                  <a:pt x="0" y="46"/>
                </a:moveTo>
                <a:lnTo>
                  <a:pt x="486" y="46"/>
                </a:lnTo>
                <a:lnTo>
                  <a:pt x="486" y="47"/>
                </a:lnTo>
                <a:lnTo>
                  <a:pt x="0" y="47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/>
        </p:txBody>
      </p:sp>
      <p:sp>
        <p:nvSpPr>
          <p:cNvPr id="891" name="" descr="{&quot;isTemplate&quot;:true,&quot;type&quot;:&quot;text&quot;}"/>
          <p:cNvSpPr txBox="1"/>
          <p:nvPr/>
        </p:nvSpPr>
        <p:spPr>
          <a:xfrm rot="0" flipH="0" flipV="0">
            <a:off x="6877050" y="15811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前端</a:t>
            </a:r>
            <a:endParaRPr/>
          </a:p>
        </p:txBody>
      </p:sp>
      <p:sp>
        <p:nvSpPr>
          <p:cNvPr id="892" name="" descr="{&quot;isTemplate&quot;:true,&quot;type&quot;:&quot;text&quot;}"/>
          <p:cNvSpPr txBox="1"/>
          <p:nvPr/>
        </p:nvSpPr>
        <p:spPr>
          <a:xfrm rot="0" flipH="0" flipV="0">
            <a:off x="7524750" y="1533525"/>
            <a:ext cx="3981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88">
                <a:solidFill>
                  <a:srgbClr val="E8EEF9"/>
                </a:solidFill>
                <a:latin typeface="Source Han Sans SC"/>
                <a:ea typeface="Source Han Sans SC"/>
              </a:rPr>
              <a:t>Vue3 + TS + Pinia + Router</a:t>
            </a:r>
            <a:endParaRPr/>
          </a:p>
        </p:txBody>
      </p:sp>
      <p:sp>
        <p:nvSpPr>
          <p:cNvPr id="893" name=""/>
          <p:cNvSpPr/>
          <p:nvPr/>
        </p:nvSpPr>
        <p:spPr>
          <a:xfrm rot="0" flipH="0" flipV="0">
            <a:off x="6877050" y="1885950"/>
            <a:ext cx="4629150" cy="447675"/>
          </a:xfrm>
          <a:custGeom>
            <a:pathLst>
              <a:path w="486" h="47">
                <a:moveTo>
                  <a:pt x="0" y="46"/>
                </a:moveTo>
                <a:lnTo>
                  <a:pt x="486" y="46"/>
                </a:lnTo>
                <a:lnTo>
                  <a:pt x="486" y="47"/>
                </a:lnTo>
                <a:lnTo>
                  <a:pt x="0" y="47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/>
        </p:txBody>
      </p:sp>
      <p:sp>
        <p:nvSpPr>
          <p:cNvPr id="894" name="" descr="{&quot;isTemplate&quot;:true,&quot;type&quot;:&quot;text&quot;}"/>
          <p:cNvSpPr txBox="1"/>
          <p:nvPr/>
        </p:nvSpPr>
        <p:spPr>
          <a:xfrm rot="0" flipH="0" flipV="0">
            <a:off x="6877050" y="20193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服务端</a:t>
            </a:r>
            <a:endParaRPr/>
          </a:p>
        </p:txBody>
      </p:sp>
      <p:sp>
        <p:nvSpPr>
          <p:cNvPr id="895" name="" descr="{&quot;isTemplate&quot;:true,&quot;type&quot;:&quot;text&quot;}"/>
          <p:cNvSpPr txBox="1"/>
          <p:nvPr/>
        </p:nvSpPr>
        <p:spPr>
          <a:xfrm rot="0" flipH="0" flipV="0">
            <a:off x="7524750" y="1971675"/>
            <a:ext cx="3981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88">
                <a:solidFill>
                  <a:srgbClr val="E8EEF9"/>
                </a:solidFill>
                <a:latin typeface="Source Han Sans SC"/>
                <a:ea typeface="Source Han Sans SC"/>
              </a:rPr>
              <a:t>Node + TS + Koa</a:t>
            </a:r>
            <a:endParaRPr/>
          </a:p>
        </p:txBody>
      </p:sp>
      <p:sp>
        <p:nvSpPr>
          <p:cNvPr id="896" name=""/>
          <p:cNvSpPr/>
          <p:nvPr/>
        </p:nvSpPr>
        <p:spPr>
          <a:xfrm rot="0" flipH="0" flipV="0">
            <a:off x="6877050" y="2324100"/>
            <a:ext cx="4629150" cy="447675"/>
          </a:xfrm>
          <a:custGeom>
            <a:pathLst>
              <a:path w="486" h="47">
                <a:moveTo>
                  <a:pt x="0" y="46"/>
                </a:moveTo>
                <a:lnTo>
                  <a:pt x="486" y="46"/>
                </a:lnTo>
                <a:lnTo>
                  <a:pt x="486" y="47"/>
                </a:lnTo>
                <a:lnTo>
                  <a:pt x="0" y="47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/>
        </p:txBody>
      </p:sp>
      <p:sp>
        <p:nvSpPr>
          <p:cNvPr id="897" name="" descr="{&quot;isTemplate&quot;:true,&quot;type&quot;:&quot;text&quot;}"/>
          <p:cNvSpPr txBox="1"/>
          <p:nvPr/>
        </p:nvSpPr>
        <p:spPr>
          <a:xfrm rot="0" flipH="0" flipV="0">
            <a:off x="6877050" y="24574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智能体</a:t>
            </a:r>
            <a:endParaRPr/>
          </a:p>
        </p:txBody>
      </p:sp>
      <p:sp>
        <p:nvSpPr>
          <p:cNvPr id="898" name="" descr="{&quot;isTemplate&quot;:true,&quot;type&quot;:&quot;text&quot;}"/>
          <p:cNvSpPr txBox="1"/>
          <p:nvPr/>
        </p:nvSpPr>
        <p:spPr>
          <a:xfrm rot="0" flipH="0" flipV="0">
            <a:off x="7524750" y="2409825"/>
            <a:ext cx="3981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88">
                <a:solidFill>
                  <a:srgbClr val="E8EEF9"/>
                </a:solidFill>
                <a:latin typeface="Source Han Sans SC"/>
                <a:ea typeface="Source Han Sans SC"/>
              </a:rPr>
              <a:t>@earendil-works/pi-coding-agent</a:t>
            </a:r>
            <a:endParaRPr/>
          </a:p>
        </p:txBody>
      </p:sp>
      <p:sp>
        <p:nvSpPr>
          <p:cNvPr id="899" name=""/>
          <p:cNvSpPr/>
          <p:nvPr/>
        </p:nvSpPr>
        <p:spPr>
          <a:xfrm rot="0" flipH="0" flipV="0">
            <a:off x="6877050" y="2762250"/>
            <a:ext cx="4629150" cy="447675"/>
          </a:xfrm>
          <a:custGeom>
            <a:pathLst>
              <a:path w="486" h="47">
                <a:moveTo>
                  <a:pt x="0" y="46"/>
                </a:moveTo>
                <a:lnTo>
                  <a:pt x="486" y="46"/>
                </a:lnTo>
                <a:lnTo>
                  <a:pt x="486" y="47"/>
                </a:lnTo>
                <a:lnTo>
                  <a:pt x="0" y="47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/>
        </p:txBody>
      </p:sp>
      <p:sp>
        <p:nvSpPr>
          <p:cNvPr id="900" name="" descr="{&quot;isTemplate&quot;:true,&quot;type&quot;:&quot;text&quot;}"/>
          <p:cNvSpPr txBox="1"/>
          <p:nvPr/>
        </p:nvSpPr>
        <p:spPr>
          <a:xfrm rot="0" flipH="0" flipV="0">
            <a:off x="6877050" y="28956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数据</a:t>
            </a:r>
            <a:endParaRPr/>
          </a:p>
        </p:txBody>
      </p:sp>
      <p:sp>
        <p:nvSpPr>
          <p:cNvPr id="901" name="" descr="{&quot;isTemplate&quot;:true,&quot;type&quot;:&quot;text&quot;}"/>
          <p:cNvSpPr txBox="1"/>
          <p:nvPr/>
        </p:nvSpPr>
        <p:spPr>
          <a:xfrm rot="0" flipH="0" flipV="0">
            <a:off x="7524750" y="2847975"/>
            <a:ext cx="3981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88">
                <a:solidFill>
                  <a:srgbClr val="E8EEF9"/>
                </a:solidFill>
                <a:latin typeface="Source Han Sans SC"/>
                <a:ea typeface="Source Han Sans SC"/>
              </a:rPr>
              <a:t>内存</a:t>
            </a:r>
            <a:r>
              <a:rPr lang="en-US" sz="1088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JSON </a:t>
            </a:r>
            <a:r>
              <a:rPr lang="zh-CN" sz="1088">
                <a:solidFill>
                  <a:srgbClr val="E8EEF9"/>
                </a:solidFill>
                <a:latin typeface="Source Han Sans SC"/>
                <a:ea typeface="Source Han Sans SC"/>
              </a:rPr>
              <a:t>种子数据，无需外部数据库</a:t>
            </a:r>
            <a:endParaRPr/>
          </a:p>
        </p:txBody>
      </p:sp>
      <p:sp>
        <p:nvSpPr>
          <p:cNvPr id="902" name=""/>
          <p:cNvSpPr/>
          <p:nvPr/>
        </p:nvSpPr>
        <p:spPr>
          <a:xfrm rot="0" flipH="0" flipV="0">
            <a:off x="6877050" y="3200400"/>
            <a:ext cx="4629150" cy="447675"/>
          </a:xfrm>
          <a:custGeom>
            <a:pathLst>
              <a:path w="486" h="47">
                <a:moveTo>
                  <a:pt x="0" y="46"/>
                </a:moveTo>
                <a:lnTo>
                  <a:pt x="486" y="46"/>
                </a:lnTo>
                <a:lnTo>
                  <a:pt x="486" y="47"/>
                </a:lnTo>
                <a:lnTo>
                  <a:pt x="0" y="47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/>
        </p:txBody>
      </p:sp>
      <p:sp>
        <p:nvSpPr>
          <p:cNvPr id="903" name="" descr="{&quot;isTemplate&quot;:true,&quot;type&quot;:&quot;text&quot;}"/>
          <p:cNvSpPr txBox="1"/>
          <p:nvPr/>
        </p:nvSpPr>
        <p:spPr>
          <a:xfrm rot="0" flipH="0" flipV="0">
            <a:off x="6877050" y="33337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注册</a:t>
            </a:r>
            <a:endParaRPr/>
          </a:p>
        </p:txBody>
      </p:sp>
      <p:sp>
        <p:nvSpPr>
          <p:cNvPr id="904" name="" descr="{&quot;isTemplate&quot;:true,&quot;type&quot;:&quot;text&quot;}"/>
          <p:cNvSpPr txBox="1"/>
          <p:nvPr/>
        </p:nvSpPr>
        <p:spPr>
          <a:xfrm rot="0" flipH="0" flipV="0">
            <a:off x="7524750" y="3286125"/>
            <a:ext cx="3981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88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.pi/ </a:t>
            </a:r>
            <a:r>
              <a:rPr lang="zh-CN" sz="1088">
                <a:solidFill>
                  <a:srgbClr val="E8EEF9"/>
                </a:solidFill>
                <a:latin typeface="Source Han Sans SC"/>
                <a:ea typeface="Source Han Sans SC"/>
              </a:rPr>
              <a:t>目录发现式注册，代码零硬编码</a:t>
            </a:r>
            <a:endParaRPr/>
          </a:p>
        </p:txBody>
      </p:sp>
      <p:sp>
        <p:nvSpPr>
          <p:cNvPr id="905" name=""/>
          <p:cNvSpPr/>
          <p:nvPr/>
        </p:nvSpPr>
        <p:spPr>
          <a:xfrm rot="0" flipH="0" flipV="0">
            <a:off x="6877050" y="3829050"/>
            <a:ext cx="4629150" cy="1181100"/>
          </a:xfrm>
          <a:prstGeom prst="roundRect">
            <a:avLst>
              <a:gd name="adj" fmla="val 3226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06" name="" descr="{&quot;isTemplate&quot;:true,&quot;type&quot;:&quot;text&quot;}"/>
          <p:cNvSpPr txBox="1"/>
          <p:nvPr/>
        </p:nvSpPr>
        <p:spPr>
          <a:xfrm rot="0" flipH="0" flipV="0">
            <a:off x="7029450" y="3962400"/>
            <a:ext cx="432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要解决的三件事</a:t>
            </a:r>
            <a:endParaRPr/>
          </a:p>
        </p:txBody>
      </p:sp>
      <p:sp>
        <p:nvSpPr>
          <p:cNvPr id="907" name="" descr="{&quot;isTemplate&quot;:true,&quot;type&quot;:&quot;text&quot;}"/>
          <p:cNvSpPr txBox="1"/>
          <p:nvPr/>
        </p:nvSpPr>
        <p:spPr>
          <a:xfrm rot="0" flipH="0" flipV="0">
            <a:off x="7029450" y="4219575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908" name="" descr="{&quot;isTemplate&quot;:true,&quot;type&quot;:&quot;text&quot;}"/>
          <p:cNvSpPr txBox="1"/>
          <p:nvPr/>
        </p:nvSpPr>
        <p:spPr>
          <a:xfrm rot="0" flipH="0" flipV="0">
            <a:off x="7277100" y="4210050"/>
            <a:ext cx="407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用户角色</a:t>
            </a:r>
            <a:r>
              <a:rPr lang="en-US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部门的数据范围隔离</a:t>
            </a:r>
            <a:endParaRPr/>
          </a:p>
        </p:txBody>
      </p:sp>
      <p:sp>
        <p:nvSpPr>
          <p:cNvPr id="909" name="" descr="{&quot;isTemplate&quot;:true,&quot;type&quot;:&quot;text&quot;}"/>
          <p:cNvSpPr txBox="1"/>
          <p:nvPr/>
        </p:nvSpPr>
        <p:spPr>
          <a:xfrm rot="0" flipH="0" flipV="0">
            <a:off x="7029450" y="4467225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2</a:t>
            </a:r>
            <a:endParaRPr/>
          </a:p>
        </p:txBody>
      </p:sp>
      <p:sp>
        <p:nvSpPr>
          <p:cNvPr id="910" name="" descr="{&quot;isTemplate&quot;:true,&quot;type&quot;:&quot;text&quot;}"/>
          <p:cNvSpPr txBox="1"/>
          <p:nvPr/>
        </p:nvSpPr>
        <p:spPr>
          <a:xfrm rot="0" flipH="0" flipV="0">
            <a:off x="7277100" y="4457700"/>
            <a:ext cx="407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多租户隔离（共享库</a:t>
            </a:r>
            <a:r>
              <a:rPr lang="en-US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+ tenant_id</a:t>
            </a: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）</a:t>
            </a:r>
            <a:endParaRPr/>
          </a:p>
        </p:txBody>
      </p:sp>
      <p:sp>
        <p:nvSpPr>
          <p:cNvPr id="911" name="" descr="{&quot;isTemplate&quot;:true,&quot;type&quot;:&quot;text&quot;}"/>
          <p:cNvSpPr txBox="1"/>
          <p:nvPr/>
        </p:nvSpPr>
        <p:spPr>
          <a:xfrm rot="0" flipH="0" flipV="0">
            <a:off x="7029450" y="4714875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912" name="" descr="{&quot;isTemplate&quot;:true,&quot;type&quot;:&quot;text&quot;}"/>
          <p:cNvSpPr txBox="1"/>
          <p:nvPr/>
        </p:nvSpPr>
        <p:spPr>
          <a:xfrm rot="0" flipH="0" flipV="0">
            <a:off x="7277100" y="4705350"/>
            <a:ext cx="407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指标的准确性与可追溯</a:t>
            </a:r>
            <a:endParaRPr/>
          </a:p>
        </p:txBody>
      </p:sp>
      <p:sp>
        <p:nvSpPr>
          <p:cNvPr id="913" name=""/>
          <p:cNvSpPr/>
          <p:nvPr/>
        </p:nvSpPr>
        <p:spPr>
          <a:xfrm rot="0" flipH="0" flipV="0">
            <a:off x="6877050" y="5238750"/>
            <a:ext cx="4629150" cy="819150"/>
          </a:xfrm>
          <a:prstGeom prst="roundRect">
            <a:avLst>
              <a:gd name="adj" fmla="val 4651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14" name="" descr="{&quot;isTemplate&quot;:true,&quot;type&quot;:&quot;text&quot;}"/>
          <p:cNvSpPr txBox="1"/>
          <p:nvPr/>
        </p:nvSpPr>
        <p:spPr>
          <a:xfrm rot="0" flipH="0" flipV="0">
            <a:off x="7029450" y="5372100"/>
            <a:ext cx="432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915" name="" descr="{&quot;isTemplate&quot;:true,&quot;type&quot;:&quot;text&quot;}"/>
          <p:cNvSpPr txBox="1"/>
          <p:nvPr/>
        </p:nvSpPr>
        <p:spPr>
          <a:xfrm rot="0" flipH="0" flipV="0">
            <a:off x="7029450" y="5610225"/>
            <a:ext cx="432435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PI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是</a:t>
            </a:r>
            <a:r>
              <a:rPr lang="zh-CN" sz="1200">
                <a:solidFill>
                  <a:srgbClr val="2AD4EE"/>
                </a:solidFill>
                <a:latin typeface="Source Han Sans SC"/>
                <a:ea typeface="Source Han Sans SC"/>
              </a:rPr>
              <a:t>编排核心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，不是外挂组件。</a:t>
            </a:r>
            <a:endParaRPr/>
          </a:p>
        </p:txBody>
      </p:sp>
      <p:sp>
        <p:nvSpPr>
          <p:cNvPr id="916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917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27 / 33</a:t>
            </a:r>
            <a:endParaRPr/>
          </a:p>
        </p:txBody>
      </p:sp>
    </p:spTree>
  </p:cSld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918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0;    {/* A 区 · 标题块 */}&#10;    &lt;Box style={{ height: 100, flexDirection: 'row', gap: 16, alignItems: 'flex-start', paddingTop: 6 }}&gt;&#10;        &lt;Box style={{ width: 4, height: 36, background: '#2AD4EE', marginTop: 5 }} /&gt;&#10;        &lt;Box style={{ flexDirection: 'column' }}&gt;&#10;            &lt;Text style={{ fontSize: 34, fontWeight: 'bold', color: '#E8EEF9' }}&gt;三级路由：准确性的核心&lt;/Text&gt;&#10;            &lt;Text style={{ marginTop: 8, fontSize: 17, color: 'rgba(232,238,249,0.52)' }}&gt;按顺序判断，不得跳级；缺参数就不调工具&lt;/Text&gt;&#10;        &lt;/Box&gt;&#10;    &lt;/Box&gt;&#10;&#10;    {/* B 区 */}&#10;    &lt;Box style={{ height: 516, flexDirection: 'row', gap: 34 }}&gt;&#10;        {/* 左：巨型数字 + 判断 */}&#10;        &lt;Box style={{ width: 336, flexDirection: 'column', paddingRight: 32, borderRight: '1px solid rgba(232,238,249,0.12)' }}&gt;&#10;            &lt;Text style={{ fontSize: 15, color: '#2AD4EE', letterSpacing: 3, fontFamily: '&quot;JetBrains Mono&quot;, &quot;Cascadia Mono&quot;, Consolas, monospace' }}&gt;ROUTING BY PRIORITY&lt;/Text&gt;&#10;            &lt;Text style={{ marginTop: 10, fontSize: 96, fontWeight: 'bold', color: '#2AD4EE', fontFamily: '&quot;JetBrains Mono&quot;, &quot;Cascadia Mono&quot;, Consolas, monospace', lineHeight: 1 }}&gt;三级&lt;/Text&gt;&#10;            &lt;Text style={{ marginTop: 16, fontSize: 21, fontWeight: 'bold', color: '#E8EEF9', lineHeight: 1.5 }}&gt;&#10;                强约束优先，&#10;                &lt;br /&gt;&#10;                自由 SQL 兜底&#10;            &lt;/Text&gt;&#10;            &lt;Text style={{ marginTop: 16, fontSize: 16, color: 'rgba(232,238,249,0.72)', lineHeight: 1.75 }}&gt;&#10;                越往上，模型能编造的空间越小。自由 SQL 永远放在最后，而且一定会被 AST 校验和范围注入重写一遍。&#10;            &lt;/Text&gt;&#10;            &lt;Box style={{ marginTop: 'auto', paddingTop: 16, paddingBottom: 16, paddingLeft: 18, paddingRight: 18, background: 'rgba(42,212,238,0.08)', border: '1px solid rgba(42,212,238,0.22)', borderRadius: 4 }}&gt;&#10;                &lt;Text style={{ fontSize: 15, color: '#2AD4EE', letterSpacing: 3, fontFamily: '&quot;JetBrains Mono&quot;, &quot;Cascadia Mono&quot;, Consolas, monospace' }}&gt;所以&lt;/Text&gt;&#10;                &lt;Text style={{ marginTop: 10, fontSize: 17, color: '#E8EEF9', lineHeight: 1.7 }}&gt;&#10;                    把「选哪条路」从模型手里收回来，才是准不准的关键。&#10;                &lt;/Text&gt;&#10;            &lt;/Box&gt;&#10;        &lt;/Box&gt;&#10;&#10;        {/* 右：三级阶梯 */}&#10;        &lt;Box style={{ flex: 1, flexDirection: 'column' }}&gt;&#10;            &lt;Box style={{ flexDirection: 'row', alignItems: 'center', justifyContent: 'space-between' }}&gt;&#10;                &lt;Text style={{ fontSize: 15, color: 'rgba(232,238,249,0.52)', letterSpacing: 2, fontFamily: '&quot;JetBrains Mono&quot;, &quot;Cascadia Mono&quot;, Consolas, monospace' }}&gt;DECISION ORDER · 自上而下，命中即停&lt;/Text&gt;&#10;                &lt;Text style={{ fontSize: 13, color: 'rgba(232,238,249,0.42)' }}&gt;跳级 = 准确率失控&lt;/Text&gt;&#10;            &lt;/Box&gt;&#10;&#10;            &lt;Box style={{ flex: 1, marginTop: 12, flexDirection: 'column' }}&gt;&#10;                {[&#10;                    { n: '①', t: '业务 API', tool: 'call_business_api', badge: '强约束', d: '先看问题是否命中租户的业务 API 清单；字典类 API 可直接按名调用。参数齐全才执行。' },&#10;                    { n: '②', t: '指标模板', tool: 'query_metric', badge: '中等约束', d: '未命中 API，再看是否命中预定义指标字典；检查维度 / 时间 / 过滤参数是否齐全。' },&#10;                    { n: '③', t: '受控 SQL', tool: 'run_safe_sql', badge: '受控兜底', d: '前两级都没命中才走自由 SQL；AST 校验 + 强制注入租户与数据范围后执行。' },&#10;                ].map((r, i) =&gt; (&#10;                    &lt;Box key={i} style={{ flex: 1, flexDirection: 'column' }}&gt;&#10;                        &lt;Box style={{ flex: 1, flexDirection: 'row', alignItems: 'center', gap: 16, paddingLeft: 18, paddingRight: 18, background: i === 0 ? 'rgba(42,212,238,0.13)' : 'rgba(22,35,61,0.94)', border: i === 0 ? '1px solid rgba(42,212,238,0.45)' : '1px solid rgba(232,238,249,0.10)', borderLeft: '4px solid #2AD4EE', borderRadius: 3 }}&gt;&#10;                            &lt;Text style={{ width: 34, fontSize: 30, color: '#2AD4EE', fontFamily: '&quot;JetBrains Mono&quot;, &quot;Cascadia Mono&quot;, Consolas, monospace', lineHeight: 1 }}&gt;{r.n}&lt;/Text&gt;&#10;                            &lt;Box style={{ flexDirection: 'column', flex: 1 }}&gt;&#10;                                &lt;Box style={{ flexDirection: 'row', alignItems: 'baseline', gap: 12 }}&gt;&#10;                                    &lt;Text style={{ fontSize: 21, fontWeight: 'bold', color: '#E8EEF9' }}&gt;{r.t}&lt;/Text&gt;&#10;                                    &lt;Text style={{ fontSize: 14, color: '#2AD4EE', fontFamily: '&quot;JetBrains Mono&quot;, &quot;Cascadia Mono&quot;, Consolas, monospace' }}&gt;{r.tool}&lt;/Text&gt;&#10;                                &lt;/Box&gt;&#10;                                &lt;Text style={{ marginTop: 6, fontSize: 13.5, color: 'rgba(232,238,249,0.60)', lineHeight: 1.5 }}&gt;{r.d}&lt;/Text&gt;&#10;                            &lt;/Box&gt;&#10;                            &lt;Box style={{ paddingTop: 4, paddingBottom: 4, paddingLeft: 10, paddingRight: 10, background: 'rgba(42,212,238,0.10)', border: '1px solid rgba(42,212,238,0.28)', borderRadius: 3 }}&gt;&#10;                                &lt;Text style={{ fontSize: 12.5, color: '#2AD4EE' }}&gt;{r.badge}&lt;/Text&gt;&#10;                            &lt;/Box&gt;&#10;                        &lt;/Box&gt;&#10;                        {i &lt; 2 &amp;&amp; (&#10;                            &lt;Box style={{ height: 28, flexDirection: 'row', alignItems: 'center', paddingLeft: 34, gap: 10 }}&gt;&#10;                                &lt;Text style={{ fontSize: 13, color: 'rgba(42,212,238,0.7)', fontFamily: '&quot;JetBrains Mono&quot;, &quot;Cascadia Mono&quot;, Consolas, monospace' }}&gt;↓ 未命中&lt;/Text&gt;&#10;                            &lt;/Box&gt;&#10;                        )}&#10;                    &lt;/Box&gt;&#10;                ))}&#10;            &lt;/Box&gt;&#10;&#10;            &lt;Box style={{ height: 68, marginTop: 12, flexDirection: 'row', alignItems: 'center', gap: 20, paddingLeft: 18, paddingRight: 18, background: 'rgba(42,212,238,0.06)', borderLeft: '3px solid rgba(42,212,238,0.6)' }}&gt;&#10;                &lt;Text style={{ fontSize: 13, color: '#2AD4EE', letterSpacing: 2, fontFamily: '&quot;JetBrains Mono&quot;, &quot;Cascadia Mono&quot;, Consolas, monospace' }}&gt;两条铁律&lt;/Text&gt;&#10;                &lt;Text style={{ flex: 1, fontSize: 15, color: 'rgba(232,238,249,0.76)', lineHeight: 1.6 }}&gt;&#10;                    &lt;span style={{ color: '#E8EEF9', fontWeight: '600' }}&gt;不得跳级&lt;/span&gt;：只能按 ①→②→③ 顺序判断 ｜&#10;                    &lt;span style={{ color: '#E8EEF9', fontWeight: '600' }}&gt;缺参不调工具&lt;/span&gt;：先向用户索要，补齐后重新判断&#10;                &lt;/Text&gt;&#10;            &lt;/Box&gt;&#10;        &lt;/Box&gt;&#10;    &lt;/Box&gt;&#10;&#10;    {/* C 区 · 页脚 */}&#10;    &lt;Box style={{ height: 40, flexDirection: 'row', alignItems: 'flex-end', justifyContent: 'space-between' }}&gt;&#10;        &lt;Text style={{ fontSize: 14, color: 'rgba(232,238,249,0.42)' }}&gt;从 LLM 到 Agent 再到 Pi Agent&lt;/Text&gt;&#10;        &lt;Text style={{ fontSize: 14, color: 'rgba(232,238,249,0.42)', fontFamily: '&quot;JetBrains Mono&quot;, &quot;Cascadia Mono&quot;, Consolas, monospace' }}&gt;28 / 3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920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921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三级路由：准确性的核心</a:t>
            </a:r>
            <a:endParaRPr/>
          </a:p>
        </p:txBody>
      </p:sp>
      <p:sp>
        <p:nvSpPr>
          <p:cNvPr id="922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562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按顺序判断，不得跳级；缺参数就不调工具</a:t>
            </a:r>
            <a:endParaRPr/>
          </a:p>
        </p:txBody>
      </p:sp>
      <p:sp>
        <p:nvSpPr>
          <p:cNvPr id="923" name=""/>
          <p:cNvSpPr/>
          <p:nvPr/>
        </p:nvSpPr>
        <p:spPr>
          <a:xfrm rot="0" flipH="0" flipV="0">
            <a:off x="685800" y="1143000"/>
            <a:ext cx="3200400" cy="4914900"/>
          </a:xfrm>
          <a:custGeom>
            <a:pathLst>
              <a:path w="336" h="516">
                <a:moveTo>
                  <a:pt x="335" y="0"/>
                </a:moveTo>
                <a:lnTo>
                  <a:pt x="336" y="0"/>
                </a:lnTo>
                <a:lnTo>
                  <a:pt x="336" y="516"/>
                </a:lnTo>
                <a:lnTo>
                  <a:pt x="335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924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886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ROUTING BY PRIORITY</a:t>
            </a:r>
            <a:endParaRPr/>
          </a:p>
        </p:txBody>
      </p:sp>
      <p:sp>
        <p:nvSpPr>
          <p:cNvPr id="925" name="" descr="{&quot;isTemplate&quot;:true,&quot;type&quot;:&quot;text&quot;}"/>
          <p:cNvSpPr txBox="1"/>
          <p:nvPr/>
        </p:nvSpPr>
        <p:spPr>
          <a:xfrm rot="0" flipH="0" flipV="0">
            <a:off x="685800" y="1409700"/>
            <a:ext cx="2886075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200" b="1">
                <a:solidFill>
                  <a:srgbClr val="2AD4EE"/>
                </a:solidFill>
                <a:latin typeface="JetBrains Mono"/>
                <a:ea typeface="JetBrains Mono"/>
              </a:rPr>
              <a:t>三级</a:t>
            </a:r>
            <a:endParaRPr/>
          </a:p>
        </p:txBody>
      </p:sp>
      <p:sp>
        <p:nvSpPr>
          <p:cNvPr id="926" name="" descr="{&quot;isTemplate&quot;:true,&quot;type&quot;:&quot;text&quot;}"/>
          <p:cNvSpPr txBox="1"/>
          <p:nvPr/>
        </p:nvSpPr>
        <p:spPr>
          <a:xfrm rot="0" flipH="0" flipV="0">
            <a:off x="685800" y="2667000"/>
            <a:ext cx="2886075" cy="723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强约束优先，</a:t>
            </a:r>
            <a:endParaRPr/>
          </a:p>
          <a:p>
            <a:pPr>
              <a:lnSpc>
                <a:spcPct val="15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自由</a:t>
            </a: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SQL </a:t>
            </a: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兜底</a:t>
            </a:r>
            <a:endParaRPr/>
          </a:p>
        </p:txBody>
      </p:sp>
      <p:sp>
        <p:nvSpPr>
          <p:cNvPr id="927" name="" descr="{&quot;isTemplate&quot;:true,&quot;type&quot;:&quot;text&quot;}"/>
          <p:cNvSpPr txBox="1"/>
          <p:nvPr/>
        </p:nvSpPr>
        <p:spPr>
          <a:xfrm rot="0" flipH="0" flipV="0">
            <a:off x="685800" y="3543300"/>
            <a:ext cx="2886075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越往上，模型能编造的空间越小。自由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SQL 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永远放在最后，而且一定会被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AST 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校验和范围注入重写一遍。</a:t>
            </a:r>
            <a:endParaRPr/>
          </a:p>
        </p:txBody>
      </p:sp>
      <p:sp>
        <p:nvSpPr>
          <p:cNvPr id="928" name=""/>
          <p:cNvSpPr/>
          <p:nvPr/>
        </p:nvSpPr>
        <p:spPr>
          <a:xfrm rot="0" flipH="0" flipV="0">
            <a:off x="685800" y="4819650"/>
            <a:ext cx="2886075" cy="1238250"/>
          </a:xfrm>
          <a:prstGeom prst="roundRect">
            <a:avLst>
              <a:gd name="adj" fmla="val 3077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29" name="" descr="{&quot;isTemplate&quot;:true,&quot;type&quot;:&quot;text&quot;}"/>
          <p:cNvSpPr txBox="1"/>
          <p:nvPr/>
        </p:nvSpPr>
        <p:spPr>
          <a:xfrm rot="0" flipH="0" flipV="0">
            <a:off x="857250" y="4972050"/>
            <a:ext cx="2543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930" name="" descr="{&quot;isTemplate&quot;:true,&quot;type&quot;:&quot;text&quot;}"/>
          <p:cNvSpPr txBox="1"/>
          <p:nvPr/>
        </p:nvSpPr>
        <p:spPr>
          <a:xfrm rot="0" flipH="0" flipV="0">
            <a:off x="857250" y="5238750"/>
            <a:ext cx="25431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把「选哪条路」从模型手里收回来，才是准不准的关键。</a:t>
            </a:r>
            <a:endParaRPr/>
          </a:p>
        </p:txBody>
      </p:sp>
      <p:sp>
        <p:nvSpPr>
          <p:cNvPr id="931" name="" descr="{&quot;isTemplate&quot;:true,&quot;type&quot;:&quot;text&quot;}"/>
          <p:cNvSpPr txBox="1"/>
          <p:nvPr/>
        </p:nvSpPr>
        <p:spPr>
          <a:xfrm rot="0" flipH="0" flipV="0">
            <a:off x="4210050" y="1143000"/>
            <a:ext cx="3209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DECISION ORDER ·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自上而下，命中即停</a:t>
            </a:r>
            <a:endParaRPr/>
          </a:p>
        </p:txBody>
      </p:sp>
      <p:sp>
        <p:nvSpPr>
          <p:cNvPr id="932" name="" descr="{&quot;isTemplate&quot;:true,&quot;type&quot;:&quot;text&quot;}"/>
          <p:cNvSpPr txBox="1"/>
          <p:nvPr/>
        </p:nvSpPr>
        <p:spPr>
          <a:xfrm rot="0" flipH="0" flipV="0">
            <a:off x="10515600" y="1152525"/>
            <a:ext cx="990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跳级</a:t>
            </a:r>
            <a:r>
              <a:rPr lang="en-US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= </a:t>
            </a: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准确率失控</a:t>
            </a:r>
            <a:endParaRPr/>
          </a:p>
        </p:txBody>
      </p:sp>
      <p:sp>
        <p:nvSpPr>
          <p:cNvPr id="933" name=""/>
          <p:cNvSpPr/>
          <p:nvPr/>
        </p:nvSpPr>
        <p:spPr>
          <a:xfrm rot="0" flipH="0" flipV="0">
            <a:off x="4248150" y="1428750"/>
            <a:ext cx="7296150" cy="1114425"/>
          </a:xfrm>
          <a:prstGeom prst="roundRect">
            <a:avLst>
              <a:gd name="adj" fmla="val 2564"/>
            </a:avLst>
          </a:prstGeom>
          <a:solidFill>
            <a:srgbClr val="2AD4EE">
              <a:alpha val="13000"/>
            </a:srgbClr>
          </a:solidFill>
          <a:ln/>
        </p:spPr>
        <p:txBody>
          <a:bodyPr/>
          <a:p/>
        </p:txBody>
      </p:sp>
      <p:sp>
        <p:nvSpPr>
          <p:cNvPr id="934" name=""/>
          <p:cNvSpPr/>
          <p:nvPr/>
        </p:nvSpPr>
        <p:spPr>
          <a:xfrm rot="0" flipH="0" flipV="0">
            <a:off x="4248150" y="1428750"/>
            <a:ext cx="7296150" cy="1114425"/>
          </a:xfrm>
          <a:custGeom>
            <a:pathLst>
              <a:path w="766" h="117">
                <a:moveTo>
                  <a:pt x="4" y="117"/>
                </a:moveTo>
                <a:cubicBezTo>
                  <a:pt x="3" y="117"/>
                  <a:pt x="2" y="117"/>
                  <a:pt x="1" y="116"/>
                </a:cubicBezTo>
                <a:cubicBezTo>
                  <a:pt x="0" y="115"/>
                  <a:pt x="0" y="115"/>
                  <a:pt x="0" y="114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/>
        </p:txBody>
      </p:sp>
      <p:sp>
        <p:nvSpPr>
          <p:cNvPr id="935" name="" descr="{&quot;isTemplate&quot;:true,&quot;type&quot;:&quot;text&quot;}"/>
          <p:cNvSpPr txBox="1"/>
          <p:nvPr/>
        </p:nvSpPr>
        <p:spPr>
          <a:xfrm rot="0" flipH="0" flipV="0">
            <a:off x="4419600" y="1819275"/>
            <a:ext cx="3238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rgbClr val="2AD4EE"/>
                </a:solidFill>
                <a:latin typeface="JetBrains Mono"/>
                <a:ea typeface="JetBrains Mono"/>
              </a:rPr>
              <a:t>①</a:t>
            </a:r>
            <a:endParaRPr/>
          </a:p>
        </p:txBody>
      </p:sp>
      <p:sp>
        <p:nvSpPr>
          <p:cNvPr id="936" name="" descr="{&quot;isTemplate&quot;:true,&quot;type&quot;:&quot;text&quot;}"/>
          <p:cNvSpPr txBox="1"/>
          <p:nvPr/>
        </p:nvSpPr>
        <p:spPr>
          <a:xfrm rot="0" flipH="0" flipV="0">
            <a:off x="4895850" y="1714500"/>
            <a:ext cx="7334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业务</a:t>
            </a: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API</a:t>
            </a:r>
            <a:endParaRPr/>
          </a:p>
        </p:txBody>
      </p:sp>
      <p:sp>
        <p:nvSpPr>
          <p:cNvPr id="937" name="" descr="{&quot;isTemplate&quot;:true,&quot;type&quot;:&quot;text&quot;}"/>
          <p:cNvSpPr txBox="1"/>
          <p:nvPr/>
        </p:nvSpPr>
        <p:spPr>
          <a:xfrm rot="0" flipH="0" flipV="0">
            <a:off x="5743575" y="1714500"/>
            <a:ext cx="13335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call_business_api</a:t>
            </a:r>
            <a:endParaRPr/>
          </a:p>
        </p:txBody>
      </p:sp>
      <p:sp>
        <p:nvSpPr>
          <p:cNvPr id="938" name="" descr="{&quot;isTemplate&quot;:true,&quot;type&quot;:&quot;text&quot;}"/>
          <p:cNvSpPr txBox="1"/>
          <p:nvPr/>
        </p:nvSpPr>
        <p:spPr>
          <a:xfrm rot="0" flipH="0" flipV="0">
            <a:off x="4895850" y="2019300"/>
            <a:ext cx="573405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先看问题是否命中租户的业务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API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清单；字典类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API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可直接按名调用。参数齐全才执行。</a:t>
            </a:r>
            <a:endParaRPr/>
          </a:p>
        </p:txBody>
      </p:sp>
      <p:sp>
        <p:nvSpPr>
          <p:cNvPr id="939" name=""/>
          <p:cNvSpPr/>
          <p:nvPr/>
        </p:nvSpPr>
        <p:spPr>
          <a:xfrm rot="0" flipH="0" flipV="0">
            <a:off x="10782300" y="1876425"/>
            <a:ext cx="552450" cy="219075"/>
          </a:xfrm>
          <a:prstGeom prst="roundRect">
            <a:avLst>
              <a:gd name="adj" fmla="val 13043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40" name="" descr="{&quot;isTemplate&quot;:true,&quot;type&quot;:&quot;text&quot;}"/>
          <p:cNvSpPr txBox="1"/>
          <p:nvPr/>
        </p:nvSpPr>
        <p:spPr>
          <a:xfrm rot="0" flipH="0" flipV="0">
            <a:off x="10877550" y="1914525"/>
            <a:ext cx="361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强约束</a:t>
            </a:r>
            <a:endParaRPr/>
          </a:p>
        </p:txBody>
      </p:sp>
      <p:sp>
        <p:nvSpPr>
          <p:cNvPr id="941" name="" descr="{&quot;isTemplate&quot;:true,&quot;type&quot;:&quot;text&quot;}"/>
          <p:cNvSpPr txBox="1"/>
          <p:nvPr/>
        </p:nvSpPr>
        <p:spPr>
          <a:xfrm rot="0" flipH="0" flipV="0">
            <a:off x="4533900" y="2600325"/>
            <a:ext cx="523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>
                    <a:alpha val="70000"/>
                  </a:srgbClr>
                </a:solidFill>
                <a:latin typeface="JetBrains Mono"/>
                <a:ea typeface="JetBrains Mono"/>
              </a:rPr>
              <a:t xml:space="preserve">↓ </a:t>
            </a:r>
            <a:r>
              <a:rPr lang="zh-CN" sz="975">
                <a:solidFill>
                  <a:srgbClr val="2AD4EE">
                    <a:alpha val="70000"/>
                  </a:srgbClr>
                </a:solidFill>
                <a:latin typeface="JetBrains Mono"/>
                <a:ea typeface="JetBrains Mono"/>
              </a:rPr>
              <a:t>未命中</a:t>
            </a:r>
            <a:endParaRPr/>
          </a:p>
        </p:txBody>
      </p:sp>
      <p:sp>
        <p:nvSpPr>
          <p:cNvPr id="942" name=""/>
          <p:cNvSpPr/>
          <p:nvPr/>
        </p:nvSpPr>
        <p:spPr>
          <a:xfrm rot="0" flipH="0" flipV="0">
            <a:off x="4248150" y="2809875"/>
            <a:ext cx="7296150" cy="1104900"/>
          </a:xfrm>
          <a:prstGeom prst="roundRect">
            <a:avLst>
              <a:gd name="adj" fmla="val 2586"/>
            </a:avLst>
          </a:prstGeom>
          <a:solidFill>
            <a:srgbClr val="16233D">
              <a:alpha val="94000"/>
            </a:srgbClr>
          </a:solidFill>
          <a:ln/>
        </p:spPr>
        <p:txBody>
          <a:bodyPr/>
          <a:p/>
        </p:txBody>
      </p:sp>
      <p:sp>
        <p:nvSpPr>
          <p:cNvPr id="943" name=""/>
          <p:cNvSpPr/>
          <p:nvPr/>
        </p:nvSpPr>
        <p:spPr>
          <a:xfrm rot="0" flipH="0" flipV="0">
            <a:off x="4248150" y="2809875"/>
            <a:ext cx="7296150" cy="1104900"/>
          </a:xfrm>
          <a:custGeom>
            <a:pathLst>
              <a:path w="766" h="116">
                <a:moveTo>
                  <a:pt x="4" y="116"/>
                </a:moveTo>
                <a:cubicBezTo>
                  <a:pt x="3" y="116"/>
                  <a:pt x="2" y="116"/>
                  <a:pt x="1" y="115"/>
                </a:cubicBezTo>
                <a:cubicBezTo>
                  <a:pt x="0" y="114"/>
                  <a:pt x="0" y="114"/>
                  <a:pt x="0" y="11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/>
        </p:txBody>
      </p:sp>
      <p:sp>
        <p:nvSpPr>
          <p:cNvPr id="944" name="" descr="{&quot;isTemplate&quot;:true,&quot;type&quot;:&quot;text&quot;}"/>
          <p:cNvSpPr txBox="1"/>
          <p:nvPr/>
        </p:nvSpPr>
        <p:spPr>
          <a:xfrm rot="0" flipH="0" flipV="0">
            <a:off x="4419600" y="3190875"/>
            <a:ext cx="3238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rgbClr val="2AD4EE"/>
                </a:solidFill>
                <a:latin typeface="JetBrains Mono"/>
                <a:ea typeface="JetBrains Mono"/>
              </a:rPr>
              <a:t>②</a:t>
            </a:r>
            <a:endParaRPr/>
          </a:p>
        </p:txBody>
      </p:sp>
      <p:sp>
        <p:nvSpPr>
          <p:cNvPr id="945" name="" descr="{&quot;isTemplate&quot;:true,&quot;type&quot;:&quot;text&quot;}"/>
          <p:cNvSpPr txBox="1"/>
          <p:nvPr/>
        </p:nvSpPr>
        <p:spPr>
          <a:xfrm rot="0" flipH="0" flipV="0">
            <a:off x="4895850" y="3095625"/>
            <a:ext cx="8001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指标模板</a:t>
            </a:r>
            <a:endParaRPr/>
          </a:p>
        </p:txBody>
      </p:sp>
      <p:sp>
        <p:nvSpPr>
          <p:cNvPr id="946" name="" descr="{&quot;isTemplate&quot;:true,&quot;type&quot;:&quot;text&quot;}"/>
          <p:cNvSpPr txBox="1"/>
          <p:nvPr/>
        </p:nvSpPr>
        <p:spPr>
          <a:xfrm rot="0" flipH="0" flipV="0">
            <a:off x="5810250" y="3095625"/>
            <a:ext cx="9429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query_metric</a:t>
            </a:r>
            <a:endParaRPr/>
          </a:p>
        </p:txBody>
      </p:sp>
      <p:sp>
        <p:nvSpPr>
          <p:cNvPr id="947" name="" descr="{&quot;isTemplate&quot;:true,&quot;type&quot;:&quot;text&quot;}"/>
          <p:cNvSpPr txBox="1"/>
          <p:nvPr/>
        </p:nvSpPr>
        <p:spPr>
          <a:xfrm rot="0" flipH="0" flipV="0">
            <a:off x="4895850" y="3400425"/>
            <a:ext cx="561975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未命中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API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，再看是否命中预定义指标字典；检查维度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时间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过滤参数是否齐全。</a:t>
            </a:r>
            <a:endParaRPr/>
          </a:p>
        </p:txBody>
      </p:sp>
      <p:sp>
        <p:nvSpPr>
          <p:cNvPr id="948" name=""/>
          <p:cNvSpPr/>
          <p:nvPr/>
        </p:nvSpPr>
        <p:spPr>
          <a:xfrm rot="0" flipH="0" flipV="0">
            <a:off x="10668000" y="3257550"/>
            <a:ext cx="666750" cy="219075"/>
          </a:xfrm>
          <a:prstGeom prst="roundRect">
            <a:avLst>
              <a:gd name="adj" fmla="val 13043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49" name="" descr="{&quot;isTemplate&quot;:true,&quot;type&quot;:&quot;text&quot;}"/>
          <p:cNvSpPr txBox="1"/>
          <p:nvPr/>
        </p:nvSpPr>
        <p:spPr>
          <a:xfrm rot="0" flipH="0" flipV="0">
            <a:off x="10763250" y="3295650"/>
            <a:ext cx="47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中等约束</a:t>
            </a:r>
            <a:endParaRPr/>
          </a:p>
        </p:txBody>
      </p:sp>
      <p:sp>
        <p:nvSpPr>
          <p:cNvPr id="950" name="" descr="{&quot;isTemplate&quot;:true,&quot;type&quot;:&quot;text&quot;}"/>
          <p:cNvSpPr txBox="1"/>
          <p:nvPr/>
        </p:nvSpPr>
        <p:spPr>
          <a:xfrm rot="0" flipH="0" flipV="0">
            <a:off x="4533900" y="3971925"/>
            <a:ext cx="523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>
                    <a:alpha val="70000"/>
                  </a:srgbClr>
                </a:solidFill>
                <a:latin typeface="JetBrains Mono"/>
                <a:ea typeface="JetBrains Mono"/>
              </a:rPr>
              <a:t xml:space="preserve">↓ </a:t>
            </a:r>
            <a:r>
              <a:rPr lang="zh-CN" sz="975">
                <a:solidFill>
                  <a:srgbClr val="2AD4EE">
                    <a:alpha val="70000"/>
                  </a:srgbClr>
                </a:solidFill>
                <a:latin typeface="JetBrains Mono"/>
                <a:ea typeface="JetBrains Mono"/>
              </a:rPr>
              <a:t>未命中</a:t>
            </a:r>
            <a:endParaRPr/>
          </a:p>
        </p:txBody>
      </p:sp>
      <p:sp>
        <p:nvSpPr>
          <p:cNvPr id="951" name=""/>
          <p:cNvSpPr/>
          <p:nvPr/>
        </p:nvSpPr>
        <p:spPr>
          <a:xfrm rot="0" flipH="0" flipV="0">
            <a:off x="4248150" y="4181475"/>
            <a:ext cx="7296150" cy="1114425"/>
          </a:xfrm>
          <a:prstGeom prst="roundRect">
            <a:avLst>
              <a:gd name="adj" fmla="val 2564"/>
            </a:avLst>
          </a:prstGeom>
          <a:solidFill>
            <a:srgbClr val="16233D">
              <a:alpha val="94000"/>
            </a:srgbClr>
          </a:solidFill>
          <a:ln/>
        </p:spPr>
        <p:txBody>
          <a:bodyPr/>
          <a:p/>
        </p:txBody>
      </p:sp>
      <p:sp>
        <p:nvSpPr>
          <p:cNvPr id="952" name=""/>
          <p:cNvSpPr/>
          <p:nvPr/>
        </p:nvSpPr>
        <p:spPr>
          <a:xfrm rot="0" flipH="0" flipV="0">
            <a:off x="4248150" y="4181475"/>
            <a:ext cx="7296150" cy="1114425"/>
          </a:xfrm>
          <a:custGeom>
            <a:pathLst>
              <a:path w="766" h="117">
                <a:moveTo>
                  <a:pt x="4" y="117"/>
                </a:moveTo>
                <a:cubicBezTo>
                  <a:pt x="3" y="117"/>
                  <a:pt x="2" y="117"/>
                  <a:pt x="1" y="116"/>
                </a:cubicBezTo>
                <a:cubicBezTo>
                  <a:pt x="0" y="115"/>
                  <a:pt x="0" y="115"/>
                  <a:pt x="0" y="114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/>
        </p:txBody>
      </p:sp>
      <p:sp>
        <p:nvSpPr>
          <p:cNvPr id="953" name="" descr="{&quot;isTemplate&quot;:true,&quot;type&quot;:&quot;text&quot;}"/>
          <p:cNvSpPr txBox="1"/>
          <p:nvPr/>
        </p:nvSpPr>
        <p:spPr>
          <a:xfrm rot="0" flipH="0" flipV="0">
            <a:off x="4419600" y="4572000"/>
            <a:ext cx="3238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rgbClr val="2AD4EE"/>
                </a:solidFill>
                <a:latin typeface="JetBrains Mono"/>
                <a:ea typeface="JetBrains Mono"/>
              </a:rPr>
              <a:t>③</a:t>
            </a:r>
            <a:endParaRPr/>
          </a:p>
        </p:txBody>
      </p:sp>
      <p:sp>
        <p:nvSpPr>
          <p:cNvPr id="954" name="" descr="{&quot;isTemplate&quot;:true,&quot;type&quot;:&quot;text&quot;}"/>
          <p:cNvSpPr txBox="1"/>
          <p:nvPr/>
        </p:nvSpPr>
        <p:spPr>
          <a:xfrm rot="0" flipH="0" flipV="0">
            <a:off x="4895850" y="4467225"/>
            <a:ext cx="8096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受控</a:t>
            </a: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SQL</a:t>
            </a:r>
            <a:endParaRPr/>
          </a:p>
        </p:txBody>
      </p:sp>
      <p:sp>
        <p:nvSpPr>
          <p:cNvPr id="955" name="" descr="{&quot;isTemplate&quot;:true,&quot;type&quot;:&quot;text&quot;}"/>
          <p:cNvSpPr txBox="1"/>
          <p:nvPr/>
        </p:nvSpPr>
        <p:spPr>
          <a:xfrm rot="0" flipH="0" flipV="0">
            <a:off x="5819775" y="4467225"/>
            <a:ext cx="9429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run_safe_sql</a:t>
            </a:r>
            <a:endParaRPr/>
          </a:p>
        </p:txBody>
      </p:sp>
      <p:sp>
        <p:nvSpPr>
          <p:cNvPr id="956" name="" descr="{&quot;isTemplate&quot;:true,&quot;type&quot;:&quot;text&quot;}"/>
          <p:cNvSpPr txBox="1"/>
          <p:nvPr/>
        </p:nvSpPr>
        <p:spPr>
          <a:xfrm rot="0" flipH="0" flipV="0">
            <a:off x="4895850" y="4772025"/>
            <a:ext cx="561975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前两级都没命中才走自由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SQL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；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AST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校验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强制注入租户与数据范围后执行。</a:t>
            </a:r>
            <a:endParaRPr/>
          </a:p>
        </p:txBody>
      </p:sp>
      <p:sp>
        <p:nvSpPr>
          <p:cNvPr id="957" name=""/>
          <p:cNvSpPr/>
          <p:nvPr/>
        </p:nvSpPr>
        <p:spPr>
          <a:xfrm rot="0" flipH="0" flipV="0">
            <a:off x="10668000" y="4629150"/>
            <a:ext cx="666750" cy="219075"/>
          </a:xfrm>
          <a:prstGeom prst="roundRect">
            <a:avLst>
              <a:gd name="adj" fmla="val 13043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58" name="" descr="{&quot;isTemplate&quot;:true,&quot;type&quot;:&quot;text&quot;}"/>
          <p:cNvSpPr txBox="1"/>
          <p:nvPr/>
        </p:nvSpPr>
        <p:spPr>
          <a:xfrm rot="0" flipH="0" flipV="0">
            <a:off x="10763250" y="4667250"/>
            <a:ext cx="47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受控兜底</a:t>
            </a:r>
            <a:endParaRPr/>
          </a:p>
        </p:txBody>
      </p:sp>
      <p:sp>
        <p:nvSpPr>
          <p:cNvPr id="959" name=""/>
          <p:cNvSpPr/>
          <p:nvPr/>
        </p:nvSpPr>
        <p:spPr>
          <a:xfrm rot="0" flipH="0" flipV="0">
            <a:off x="4238625" y="5410200"/>
            <a:ext cx="7296150" cy="647700"/>
          </a:xfrm>
          <a:prstGeom prst="rect">
            <a:avLst/>
          </a:prstGeom>
          <a:solidFill>
            <a:srgbClr val="2AD4EE">
              <a:alpha val="6000"/>
            </a:srgbClr>
          </a:solidFill>
          <a:ln/>
        </p:spPr>
        <p:txBody>
          <a:bodyPr/>
          <a:p/>
        </p:txBody>
      </p:sp>
      <p:sp>
        <p:nvSpPr>
          <p:cNvPr id="960" name=""/>
          <p:cNvSpPr/>
          <p:nvPr/>
        </p:nvSpPr>
        <p:spPr>
          <a:xfrm rot="0" flipH="0" flipV="0">
            <a:off x="4210050" y="5410200"/>
            <a:ext cx="7324725" cy="647700"/>
          </a:xfrm>
          <a:custGeom>
            <a:pathLst>
              <a:path w="769" h="68">
                <a:moveTo>
                  <a:pt x="0" y="0"/>
                </a:moveTo>
                <a:lnTo>
                  <a:pt x="3" y="0"/>
                </a:lnTo>
                <a:lnTo>
                  <a:pt x="3" y="68"/>
                </a:lnTo>
                <a:lnTo>
                  <a:pt x="0" y="68"/>
                </a:lnTo>
                <a:close/>
              </a:path>
            </a:pathLst>
          </a:custGeom>
          <a:solidFill>
            <a:srgbClr val="2AD4EE">
              <a:alpha val="60000"/>
            </a:srgbClr>
          </a:solidFill>
          <a:ln/>
        </p:spPr>
        <p:txBody>
          <a:bodyPr/>
          <a:p/>
        </p:txBody>
      </p:sp>
      <p:sp>
        <p:nvSpPr>
          <p:cNvPr id="961" name="" descr="{&quot;isTemplate&quot;:true,&quot;type&quot;:&quot;text&quot;}"/>
          <p:cNvSpPr txBox="1"/>
          <p:nvPr/>
        </p:nvSpPr>
        <p:spPr>
          <a:xfrm rot="0" flipH="0" flipV="0">
            <a:off x="4410075" y="5657850"/>
            <a:ext cx="571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2AD4EE"/>
                </a:solidFill>
                <a:latin typeface="JetBrains Mono"/>
                <a:ea typeface="JetBrains Mono"/>
              </a:rPr>
              <a:t>两条铁律</a:t>
            </a:r>
            <a:endParaRPr/>
          </a:p>
        </p:txBody>
      </p:sp>
      <p:sp>
        <p:nvSpPr>
          <p:cNvPr id="962" name="" descr="{&quot;isTemplate&quot;:true,&quot;type&quot;:&quot;text&quot;}"/>
          <p:cNvSpPr txBox="1"/>
          <p:nvPr/>
        </p:nvSpPr>
        <p:spPr>
          <a:xfrm rot="0" flipH="0" flipV="0">
            <a:off x="5172075" y="5600700"/>
            <a:ext cx="61626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不得跳级</a:t>
            </a:r>
            <a:r>
              <a:rPr lang="zh-CN" sz="1125">
                <a:solidFill>
                  <a:srgbClr val="E8EEF9">
                    <a:alpha val="76000"/>
                  </a:srgbClr>
                </a:solidFill>
                <a:latin typeface="Source Han Sans SC"/>
                <a:ea typeface="Source Han Sans SC"/>
              </a:rPr>
              <a:t>：只能按</a:t>
            </a:r>
            <a:r>
              <a:rPr lang="en-US" sz="1125">
                <a:solidFill>
                  <a:srgbClr val="E8EEF9">
                    <a:alpha val="76000"/>
                  </a:srgbClr>
                </a:solidFill>
                <a:latin typeface="Source Han Sans SC"/>
                <a:ea typeface="Source Han Sans SC"/>
              </a:rPr>
              <a:t xml:space="preserve"> ①→②→③ </a:t>
            </a:r>
            <a:r>
              <a:rPr lang="zh-CN" sz="1125">
                <a:solidFill>
                  <a:srgbClr val="E8EEF9">
                    <a:alpha val="76000"/>
                  </a:srgbClr>
                </a:solidFill>
                <a:latin typeface="Source Han Sans SC"/>
                <a:ea typeface="Source Han Sans SC"/>
              </a:rPr>
              <a:t>顺序判断</a:t>
            </a:r>
            <a:r>
              <a:rPr lang="en-US" sz="1125">
                <a:solidFill>
                  <a:srgbClr val="E8EEF9">
                    <a:alpha val="76000"/>
                  </a:srgbClr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1125">
                <a:solidFill>
                  <a:srgbClr val="E8EEF9">
                    <a:alpha val="76000"/>
                  </a:srgbClr>
                </a:solidFill>
                <a:latin typeface="Source Han Sans SC"/>
                <a:ea typeface="Source Han Sans SC"/>
              </a:rPr>
              <a:t>｜</a:t>
            </a: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缺参不调工具</a:t>
            </a:r>
            <a:r>
              <a:rPr lang="zh-CN" sz="1125">
                <a:solidFill>
                  <a:srgbClr val="E8EEF9">
                    <a:alpha val="76000"/>
                  </a:srgbClr>
                </a:solidFill>
                <a:latin typeface="Source Han Sans SC"/>
                <a:ea typeface="Source Han Sans SC"/>
              </a:rPr>
              <a:t>：先向用户索要，补齐后重新判断</a:t>
            </a:r>
            <a:endParaRPr/>
          </a:p>
        </p:txBody>
      </p:sp>
      <p:sp>
        <p:nvSpPr>
          <p:cNvPr id="963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964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28 / 33</a:t>
            </a:r>
            <a:endParaRPr/>
          </a:p>
        </p:txBody>
      </p:sp>
    </p:spTree>
  </p:cSld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965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0;    {/* A 区 · 标题块 */}&#10;    &lt;Box style={{ height: 100, flexDirection: 'row', gap: 16, alignItems: 'flex-start', paddingTop: 6 }}&gt;&#10;        &lt;Box style={{ width: 4, height: 36, background: '#2AD4EE', marginTop: 5 }} /&gt;&#10;        &lt;Box style={{ flexDirection: 'column' }}&gt;&#10;            &lt;Text style={{ fontSize: 34, fontWeight: 'bold', color: '#E8EEF9' }}&gt;发现式注册：加工具 = 丢一个文件&lt;/Text&gt;&#10;            &lt;Text style={{ marginTop: 8, fontSize: 17, color: 'rgba(232,238,249,0.52)' }}&gt;代码里零硬编码工具数组，能力全在磁盘上&lt;/Text&gt;&#10;        &lt;/Box&gt;&#10;    &lt;/Box&gt;&#10;&#10;    {/* B 区 · 左标题 + 右代码与目录树 */}&#10;    &lt;Box style={{ height: 516, flexDirection: 'row', gap: 32 }}&gt;&#10;        {/* 左：标题栏 */}&#10;        &lt;Box style={{ width: 274, flexDirection: 'column', paddingRight: 28, borderRight: '1px solid rgba(232,238,249,0.12)' }}&gt;&#10;            &lt;Text style={{ fontSize: 15, color: '#2AD4EE', letterSpacing: 3, fontFamily: '&quot;JetBrains Mono&quot;, &quot;Cascadia Mono&quot;, Consolas, monospace' }}&gt;DISCOVERY&lt;/Text&gt;&#10;            &lt;Text style={{ marginTop: 18, fontSize: 26, fontWeight: 'bold', color: '#E8EEF9', lineHeight: 1.45 }}&gt;&#10;                加一个工具&#10;                &lt;br /&gt;&#10;                等于丢一个文件&#10;            &lt;/Text&gt;&#10;            &lt;Text style={{ marginTop: 18, fontSize: 16, color: 'rgba(232,238,249,0.72)', lineHeight: 1.8 }}&gt;&#10;                启动时，&#10;                &lt;span style={{ color: '#2AD4EE', fontFamily: '&quot;JetBrains Mono&quot;, &quot;Cascadia Mono&quot;, Consolas, monospace' }}&gt;DefaultResourceLoader&lt;/span&gt;&#10;                扫描 &lt;span style={{ color: '#2AD4EE', fontFamily: '&quot;JetBrains Mono&quot;, &quot;Cascadia Mono&quot;, Consolas, monospace' }}&gt;.pi/extensions/*.ts&lt;/span&gt;，每个文件自己注册自己的工具。&#10;            &lt;/Text&gt;&#10;&#10;            &lt;Box style={{ marginTop: 18, flexDirection: 'column', gap: 9 }}&gt;&#10;                {['新增工具不动主干代码', 'AGENTS.md / APPEND_SYSTEM.md 自动合并进系统提示', '删除能力 = 删掉那个文件'].map((t, i) =&gt; (&#10;                    &lt;Box key={i} style={{ flexDirection: 'row', gap: 10, alignItems: 'flex-start' }}&gt;&#10;                        &lt;Box style={{ width: 5, height: 5, background: '#2AD4EE', marginTop: 7 }} /&gt;&#10;                        &lt;Text style={{ flex: 1, fontSize: 14.5, color: 'rgba(232,238,249,0.68)', lineHeight: 1.5 }}&gt;{t}&lt;/Text&gt;&#10;                    &lt;/Box&gt;&#10;                ))}&#10;            &lt;/Box&gt;&#10;&#10;            &lt;Box style={{ marginTop: 'auto', paddingTop: 16, paddingBottom: 16, paddingLeft: 16, paddingRight: 16, background: 'rgba(42,212,238,0.08)', border: '1px solid rgba(42,212,238,0.22)', borderRadius: 4 }}&gt;&#10;                &lt;Text style={{ fontSize: 14, color: '#2AD4EE', letterSpacing: 3, fontFamily: '&quot;JetBrains Mono&quot;, &quot;Cascadia Mono&quot;, Consolas, monospace' }}&gt;所以&lt;/Text&gt;&#10;                &lt;Text style={{ marginTop: 10, fontSize: 15.5, color: '#E8EEF9', lineHeight: 1.7 }}&gt;&#10;                    新增能力不改主干代码，这就是低耦合的落地方式。&#10;                &lt;/Text&gt;&#10;            &lt;/Box&gt;&#10;        &lt;/Box&gt;&#10;&#10;        {/* 右：目录树 + 代码 */}&#10;        &lt;Box style={{ flex: 1, flexDirection: 'row', gap: 20 }}&gt;&#10;            {/* 目录树 */}&#10;            &lt;Box style={{ width: 290, flexDirection: 'column' }}&gt;&#10;                &lt;Text style={{ fontSize: 15, color: 'rgba(232,238,249,0.52)', letterSpacing: 2, fontFamily: '&quot;JetBrains Mono&quot;, &quot;Cascadia Mono&quot;, Consolas, monospace' }}&gt;server/.pi/&lt;/Text&gt;&#10;                &lt;Box style={{ flex: 1, marginTop: 12, flexDirection: 'column', paddingTop: 14, paddingBottom: 14, paddingLeft: 14, paddingRight: 14, background: 'rgba(22,35,61,0.92)', border: '1px solid rgba(42,212,238,0.22)', borderRadius: 4 }}&gt;&#10;                    {[&#10;                        ['├─ extensions/', null, true],&#10;                        ['│   ├─ query-metric.ts', 'query_metric', false],&#10;                        ['│   ├─ call-api.ts', 'call_business_api', false],&#10;                        ['│   ├─ safe-sql.ts', 'run_safe_sql', false],&#10;                        ['│   ├─ emit-table.ts', 'emit_table', false],&#10;                        ['│   ├─ emit-chart.ts', 'emit_chart', false],&#10;                        ['│   └─ emit-kpi.ts', 'emit_kpi', false],&#10;                        ['├─ AGENTS.md', '→ 自动合并进系统提示', true],&#10;                        ['└─ APPEND_SYSTEM.md', '→ 自动追加', true],&#10;                    ].map((r, i) =&gt; (&#10;                        &lt;Box key={i} style={{ flex: 1, flexDirection: 'column', justifyContent: 'center' }}&gt;&#10;                            &lt;Text style={{ fontSize: 13, color: r[2] ? '#E8EEF9' : 'rgba(232,238,249,0.78)', fontFamily: '&quot;JetBrains Mono&quot;, &quot;Cascadia Mono&quot;, Consolas, monospace', fontWeight: r[2] ? 'bold' : 'normal' }}&gt;{r[0]}&lt;/Text&gt;&#10;                            {r[1] &amp;&amp; &lt;Text style={{ marginTop: 3, fontSize: 11.5, color: 'rgba(42,212,238,0.72)', fontFamily: '&quot;JetBrains Mono&quot;, &quot;Cascadia Mono&quot;, Consolas, monospace' }}&gt;{r[1]}&lt;/Text&gt;}&#10;                        &lt;/Box&gt;&#10;                    ))}&#10;                &lt;/Box&gt;&#10;            &lt;/Box&gt;&#10;&#10;            {/* 代码 */}&#10;            &lt;Box style={{ flex: 1, flexDirection: 'column' }}&gt;&#10;                &lt;Text style={{ fontSize: 15, color: 'rgba(232,238,249,0.52)', letterSpacing: 2, fontFamily: '&quot;JetBrains Mono&quot;, &quot;Cascadia Mono&quot;, Consolas, monospace' }}&gt;extensions/emit-table.ts&lt;/Text&gt;&#10;                &lt;Box style={{ flex: 1, marginTop: 12 }}&gt;&#10;                    &lt;CodeBlock&#10;                        code={`import { defineTool, type ExtensionAPI } from&#10;  &quot;@earendil-works/pi-coding-agent&quot;;&#10;import { Type } from &quot;@sinclair/typebox&quot;;&#10;&#10;const tool = defineTool({&#10;  name: &quot;emit_table&quot;,&#10;  description: &quot;向用户输出明细表格。&quot;,&#10;  parameters: Type.Object({&#10;    title: Type.Optional(Type.String()),&#10;    rows: Type.Array(Type.Record(Type.String(), Type.Unknown())),&#10;    source: Type.String(),&#10;  }),&#10;  async execute(_id, p) {&#10;    return { details: { renderer: &quot;table&quot;, data: p, source: p.source } };&#10;  },&#10;});&#10;&#10;export default function (pi: ExtensionAPI) {&#10;  pi.registerTool(tool);  // 文件即工具，无需集中注册表&#10;}`}&#10;                        language='typescript'&#10;                        width={488}&#10;                        fontSize={12.5}&#10;                        theme='github-dark'&#10;                    /&gt;&#10;                &lt;/Box&gt;&#10;            &lt;/Box&gt;&#10;        &lt;/Box&gt;&#10;    &lt;/Box&gt;&#10;&#10;    {/* C 区 · 页脚 */}&#10;    &lt;Box style={{ height: 40, flexDirection: 'row', alignItems: 'flex-end', justifyContent: 'space-between' }}&gt;&#10;        &lt;Text style={{ fontSize: 14, color: 'rgba(232,238,249,0.42)' }}&gt;从 LLM 到 Agent 再到 Pi Agent&lt;/Text&gt;&#10;        &lt;Text style={{ fontSize: 14, color: 'rgba(232,238,249,0.42)', fontFamily: '&quot;JetBrains Mono&quot;, &quot;Cascadia Mono&quot;, Consolas, monospace' }}&gt;29 / 3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967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968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8482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发现式注册：加工具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=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丢一个文件</a:t>
            </a:r>
            <a:endParaRPr/>
          </a:p>
        </p:txBody>
      </p:sp>
      <p:sp>
        <p:nvSpPr>
          <p:cNvPr id="969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8482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代码里零硬编码工具数组，能力全在磁盘上</a:t>
            </a:r>
            <a:endParaRPr/>
          </a:p>
        </p:txBody>
      </p:sp>
      <p:sp>
        <p:nvSpPr>
          <p:cNvPr id="970" name=""/>
          <p:cNvSpPr/>
          <p:nvPr/>
        </p:nvSpPr>
        <p:spPr>
          <a:xfrm rot="0" flipH="0" flipV="0">
            <a:off x="685800" y="1143000"/>
            <a:ext cx="2609850" cy="4914900"/>
          </a:xfrm>
          <a:custGeom>
            <a:pathLst>
              <a:path w="274" h="516">
                <a:moveTo>
                  <a:pt x="273" y="0"/>
                </a:moveTo>
                <a:lnTo>
                  <a:pt x="274" y="0"/>
                </a:lnTo>
                <a:lnTo>
                  <a:pt x="274" y="516"/>
                </a:lnTo>
                <a:lnTo>
                  <a:pt x="273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971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333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DISCOVERY</a:t>
            </a:r>
            <a:endParaRPr/>
          </a:p>
        </p:txBody>
      </p:sp>
      <p:sp>
        <p:nvSpPr>
          <p:cNvPr id="972" name="" descr="{&quot;isTemplate&quot;:true,&quot;type&quot;:&quot;text&quot;}"/>
          <p:cNvSpPr txBox="1"/>
          <p:nvPr/>
        </p:nvSpPr>
        <p:spPr>
          <a:xfrm rot="0" flipH="0" flipV="0">
            <a:off x="685800" y="1485900"/>
            <a:ext cx="2333625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加一个工具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等于丢一个文件</a:t>
            </a:r>
            <a:endParaRPr/>
          </a:p>
        </p:txBody>
      </p:sp>
      <p:sp>
        <p:nvSpPr>
          <p:cNvPr id="973" name="" descr="{&quot;isTemplate&quot;:true,&quot;type&quot;:&quot;text&quot;}"/>
          <p:cNvSpPr txBox="1"/>
          <p:nvPr/>
        </p:nvSpPr>
        <p:spPr>
          <a:xfrm rot="0" flipH="0" flipV="0">
            <a:off x="685800" y="2524125"/>
            <a:ext cx="2333625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启动时，</a:t>
            </a:r>
            <a:r>
              <a:rPr lang="en-US" sz="1200">
                <a:solidFill>
                  <a:srgbClr val="2AD4EE"/>
                </a:solidFill>
                <a:latin typeface="Source Han Sans SC"/>
                <a:ea typeface="Source Han Sans SC"/>
              </a:rPr>
              <a:t>DefaultResourceLoader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扫描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</a:t>
            </a:r>
            <a:r>
              <a:rPr lang="en-US" sz="1200">
                <a:solidFill>
                  <a:srgbClr val="2AD4EE"/>
                </a:solidFill>
                <a:latin typeface="Source Han Sans SC"/>
                <a:ea typeface="Source Han Sans SC"/>
              </a:rPr>
              <a:t>.pi/extensions/*.ts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，每个文件自己注册自己的工具。</a:t>
            </a:r>
            <a:endParaRPr/>
          </a:p>
        </p:txBody>
      </p:sp>
      <p:sp>
        <p:nvSpPr>
          <p:cNvPr id="974" name=""/>
          <p:cNvSpPr/>
          <p:nvPr/>
        </p:nvSpPr>
        <p:spPr>
          <a:xfrm rot="0" flipH="0" flipV="0">
            <a:off x="685800" y="375285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975" name="" descr="{&quot;isTemplate&quot;:true,&quot;type&quot;:&quot;text&quot;}"/>
          <p:cNvSpPr txBox="1"/>
          <p:nvPr/>
        </p:nvSpPr>
        <p:spPr>
          <a:xfrm rot="0" flipH="0" flipV="0">
            <a:off x="828675" y="3686175"/>
            <a:ext cx="2190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新增工具不动主干代码</a:t>
            </a:r>
            <a:endParaRPr/>
          </a:p>
        </p:txBody>
      </p:sp>
      <p:sp>
        <p:nvSpPr>
          <p:cNvPr id="976" name=""/>
          <p:cNvSpPr/>
          <p:nvPr/>
        </p:nvSpPr>
        <p:spPr>
          <a:xfrm rot="0" flipH="0" flipV="0">
            <a:off x="685800" y="409575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977" name="" descr="{&quot;isTemplate&quot;:true,&quot;type&quot;:&quot;text&quot;}"/>
          <p:cNvSpPr txBox="1"/>
          <p:nvPr/>
        </p:nvSpPr>
        <p:spPr>
          <a:xfrm rot="0" flipH="0" flipV="0">
            <a:off x="828675" y="4029075"/>
            <a:ext cx="21907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AGENTS.md / APPEND_SYSTEM.md </a:t>
            </a: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自动合并进系统提示</a:t>
            </a:r>
            <a:endParaRPr/>
          </a:p>
        </p:txBody>
      </p:sp>
      <p:sp>
        <p:nvSpPr>
          <p:cNvPr id="978" name=""/>
          <p:cNvSpPr/>
          <p:nvPr/>
        </p:nvSpPr>
        <p:spPr>
          <a:xfrm rot="0" flipH="0" flipV="0">
            <a:off x="685800" y="468630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979" name="" descr="{&quot;isTemplate&quot;:true,&quot;type&quot;:&quot;text&quot;}"/>
          <p:cNvSpPr txBox="1"/>
          <p:nvPr/>
        </p:nvSpPr>
        <p:spPr>
          <a:xfrm rot="0" flipH="0" flipV="0">
            <a:off x="828675" y="4619625"/>
            <a:ext cx="2190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删除能力</a:t>
            </a:r>
            <a:r>
              <a:rPr lang="en-US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= </a:t>
            </a: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删掉那个文件</a:t>
            </a:r>
            <a:endParaRPr/>
          </a:p>
        </p:txBody>
      </p:sp>
      <p:sp>
        <p:nvSpPr>
          <p:cNvPr id="980" name=""/>
          <p:cNvSpPr/>
          <p:nvPr/>
        </p:nvSpPr>
        <p:spPr>
          <a:xfrm rot="0" flipH="0" flipV="0">
            <a:off x="685800" y="4886325"/>
            <a:ext cx="2333625" cy="1171575"/>
          </a:xfrm>
          <a:prstGeom prst="roundRect">
            <a:avLst>
              <a:gd name="adj" fmla="val 3252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81" name="" descr="{&quot;isTemplate&quot;:true,&quot;type&quot;:&quot;text&quot;}"/>
          <p:cNvSpPr txBox="1"/>
          <p:nvPr/>
        </p:nvSpPr>
        <p:spPr>
          <a:xfrm rot="0" flipH="0" flipV="0">
            <a:off x="838200" y="5038725"/>
            <a:ext cx="2028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982" name="" descr="{&quot;isTemplate&quot;:true,&quot;type&quot;:&quot;text&quot;}"/>
          <p:cNvSpPr txBox="1"/>
          <p:nvPr/>
        </p:nvSpPr>
        <p:spPr>
          <a:xfrm rot="0" flipH="0" flipV="0">
            <a:off x="838200" y="5295900"/>
            <a:ext cx="202882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新增能力不改主干代码，这就是低耦合的落地方式。</a:t>
            </a:r>
            <a:endParaRPr/>
          </a:p>
        </p:txBody>
      </p:sp>
      <p:sp>
        <p:nvSpPr>
          <p:cNvPr id="983" name="" descr="{&quot;isTemplate&quot;:true,&quot;type&quot;:&quot;text&quot;}"/>
          <p:cNvSpPr txBox="1"/>
          <p:nvPr/>
        </p:nvSpPr>
        <p:spPr>
          <a:xfrm rot="0" flipH="0" flipV="0">
            <a:off x="3600450" y="1143000"/>
            <a:ext cx="2762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server/.pi/</a:t>
            </a:r>
            <a:endParaRPr/>
          </a:p>
        </p:txBody>
      </p:sp>
      <p:sp>
        <p:nvSpPr>
          <p:cNvPr id="984" name=""/>
          <p:cNvSpPr/>
          <p:nvPr/>
        </p:nvSpPr>
        <p:spPr>
          <a:xfrm rot="0" flipH="0" flipV="0">
            <a:off x="3600450" y="1428750"/>
            <a:ext cx="2762250" cy="4629150"/>
          </a:xfrm>
          <a:prstGeom prst="roundRect">
            <a:avLst>
              <a:gd name="adj" fmla="val 1379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85" name="" descr="{&quot;isTemplate&quot;:true,&quot;type&quot;:&quot;text&quot;}"/>
          <p:cNvSpPr txBox="1"/>
          <p:nvPr/>
        </p:nvSpPr>
        <p:spPr>
          <a:xfrm rot="0" flipH="0" flipV="0">
            <a:off x="3733800" y="1657350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E8EEF9"/>
                </a:solidFill>
                <a:latin typeface="JetBrains Mono"/>
                <a:ea typeface="JetBrains Mono"/>
              </a:rPr>
              <a:t>├─ extensions/</a:t>
            </a:r>
            <a:endParaRPr/>
          </a:p>
        </p:txBody>
      </p:sp>
      <p:sp>
        <p:nvSpPr>
          <p:cNvPr id="986" name="" descr="{&quot;isTemplate&quot;:true,&quot;type&quot;:&quot;text&quot;}"/>
          <p:cNvSpPr txBox="1"/>
          <p:nvPr/>
        </p:nvSpPr>
        <p:spPr>
          <a:xfrm rot="0" flipH="0" flipV="0">
            <a:off x="3733800" y="2000250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78000"/>
                  </a:srgbClr>
                </a:solidFill>
                <a:latin typeface="JetBrains Mono"/>
                <a:ea typeface="JetBrains Mono"/>
              </a:rPr>
              <a:t>│   ├─ query-metric.ts</a:t>
            </a:r>
            <a:endParaRPr/>
          </a:p>
        </p:txBody>
      </p:sp>
      <p:sp>
        <p:nvSpPr>
          <p:cNvPr id="987" name="" descr="{&quot;isTemplate&quot;:true,&quot;type&quot;:&quot;text&quot;}"/>
          <p:cNvSpPr txBox="1"/>
          <p:nvPr/>
        </p:nvSpPr>
        <p:spPr>
          <a:xfrm rot="0" flipH="0" flipV="0">
            <a:off x="3733800" y="2181225"/>
            <a:ext cx="2495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query_metric</a:t>
            </a:r>
            <a:endParaRPr/>
          </a:p>
        </p:txBody>
      </p:sp>
      <p:sp>
        <p:nvSpPr>
          <p:cNvPr id="988" name="" descr="{&quot;isTemplate&quot;:true,&quot;type&quot;:&quot;text&quot;}"/>
          <p:cNvSpPr txBox="1"/>
          <p:nvPr/>
        </p:nvSpPr>
        <p:spPr>
          <a:xfrm rot="0" flipH="0" flipV="0">
            <a:off x="3733800" y="2505075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78000"/>
                  </a:srgbClr>
                </a:solidFill>
                <a:latin typeface="JetBrains Mono"/>
                <a:ea typeface="JetBrains Mono"/>
              </a:rPr>
              <a:t>│   ├─ call-api.ts</a:t>
            </a:r>
            <a:endParaRPr/>
          </a:p>
        </p:txBody>
      </p:sp>
      <p:sp>
        <p:nvSpPr>
          <p:cNvPr id="989" name="" descr="{&quot;isTemplate&quot;:true,&quot;type&quot;:&quot;text&quot;}"/>
          <p:cNvSpPr txBox="1"/>
          <p:nvPr/>
        </p:nvSpPr>
        <p:spPr>
          <a:xfrm rot="0" flipH="0" flipV="0">
            <a:off x="3733800" y="2686050"/>
            <a:ext cx="2495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call_business_api</a:t>
            </a:r>
            <a:endParaRPr/>
          </a:p>
        </p:txBody>
      </p:sp>
      <p:sp>
        <p:nvSpPr>
          <p:cNvPr id="990" name="" descr="{&quot;isTemplate&quot;:true,&quot;type&quot;:&quot;text&quot;}"/>
          <p:cNvSpPr txBox="1"/>
          <p:nvPr/>
        </p:nvSpPr>
        <p:spPr>
          <a:xfrm rot="0" flipH="0" flipV="0">
            <a:off x="3733800" y="3000375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78000"/>
                  </a:srgbClr>
                </a:solidFill>
                <a:latin typeface="JetBrains Mono"/>
                <a:ea typeface="JetBrains Mono"/>
              </a:rPr>
              <a:t>│   ├─ safe-sql.ts</a:t>
            </a:r>
            <a:endParaRPr/>
          </a:p>
        </p:txBody>
      </p:sp>
      <p:sp>
        <p:nvSpPr>
          <p:cNvPr id="991" name="" descr="{&quot;isTemplate&quot;:true,&quot;type&quot;:&quot;text&quot;}"/>
          <p:cNvSpPr txBox="1"/>
          <p:nvPr/>
        </p:nvSpPr>
        <p:spPr>
          <a:xfrm rot="0" flipH="0" flipV="0">
            <a:off x="3733800" y="3181350"/>
            <a:ext cx="2495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run_safe_sql</a:t>
            </a:r>
            <a:endParaRPr/>
          </a:p>
        </p:txBody>
      </p:sp>
      <p:sp>
        <p:nvSpPr>
          <p:cNvPr id="992" name="" descr="{&quot;isTemplate&quot;:true,&quot;type&quot;:&quot;text&quot;}"/>
          <p:cNvSpPr txBox="1"/>
          <p:nvPr/>
        </p:nvSpPr>
        <p:spPr>
          <a:xfrm rot="0" flipH="0" flipV="0">
            <a:off x="3733800" y="3505200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78000"/>
                  </a:srgbClr>
                </a:solidFill>
                <a:latin typeface="JetBrains Mono"/>
                <a:ea typeface="JetBrains Mono"/>
              </a:rPr>
              <a:t>│   ├─ emit-table.ts</a:t>
            </a:r>
            <a:endParaRPr/>
          </a:p>
        </p:txBody>
      </p:sp>
      <p:sp>
        <p:nvSpPr>
          <p:cNvPr id="993" name="" descr="{&quot;isTemplate&quot;:true,&quot;type&quot;:&quot;text&quot;}"/>
          <p:cNvSpPr txBox="1"/>
          <p:nvPr/>
        </p:nvSpPr>
        <p:spPr>
          <a:xfrm rot="0" flipH="0" flipV="0">
            <a:off x="3733800" y="3686175"/>
            <a:ext cx="2495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emit_table</a:t>
            </a:r>
            <a:endParaRPr/>
          </a:p>
        </p:txBody>
      </p:sp>
      <p:sp>
        <p:nvSpPr>
          <p:cNvPr id="994" name="" descr="{&quot;isTemplate&quot;:true,&quot;type&quot;:&quot;text&quot;}"/>
          <p:cNvSpPr txBox="1"/>
          <p:nvPr/>
        </p:nvSpPr>
        <p:spPr>
          <a:xfrm rot="0" flipH="0" flipV="0">
            <a:off x="3733800" y="4010025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78000"/>
                  </a:srgbClr>
                </a:solidFill>
                <a:latin typeface="JetBrains Mono"/>
                <a:ea typeface="JetBrains Mono"/>
              </a:rPr>
              <a:t>│   ├─ emit-chart.ts</a:t>
            </a:r>
            <a:endParaRPr/>
          </a:p>
        </p:txBody>
      </p:sp>
      <p:sp>
        <p:nvSpPr>
          <p:cNvPr id="995" name="" descr="{&quot;isTemplate&quot;:true,&quot;type&quot;:&quot;text&quot;}"/>
          <p:cNvSpPr txBox="1"/>
          <p:nvPr/>
        </p:nvSpPr>
        <p:spPr>
          <a:xfrm rot="0" flipH="0" flipV="0">
            <a:off x="3733800" y="4191000"/>
            <a:ext cx="2495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emit_chart</a:t>
            </a:r>
            <a:endParaRPr/>
          </a:p>
        </p:txBody>
      </p:sp>
      <p:sp>
        <p:nvSpPr>
          <p:cNvPr id="996" name="" descr="{&quot;isTemplate&quot;:true,&quot;type&quot;:&quot;text&quot;}"/>
          <p:cNvSpPr txBox="1"/>
          <p:nvPr/>
        </p:nvSpPr>
        <p:spPr>
          <a:xfrm rot="0" flipH="0" flipV="0">
            <a:off x="3733800" y="4514850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78000"/>
                  </a:srgbClr>
                </a:solidFill>
                <a:latin typeface="JetBrains Mono"/>
                <a:ea typeface="JetBrains Mono"/>
              </a:rPr>
              <a:t>│   └─ emit-kpi.ts</a:t>
            </a:r>
            <a:endParaRPr/>
          </a:p>
        </p:txBody>
      </p:sp>
      <p:sp>
        <p:nvSpPr>
          <p:cNvPr id="997" name="" descr="{&quot;isTemplate&quot;:true,&quot;type&quot;:&quot;text&quot;}"/>
          <p:cNvSpPr txBox="1"/>
          <p:nvPr/>
        </p:nvSpPr>
        <p:spPr>
          <a:xfrm rot="0" flipH="0" flipV="0">
            <a:off x="3733800" y="4695825"/>
            <a:ext cx="2495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emit_kpi</a:t>
            </a:r>
            <a:endParaRPr/>
          </a:p>
        </p:txBody>
      </p:sp>
      <p:sp>
        <p:nvSpPr>
          <p:cNvPr id="998" name="" descr="{&quot;isTemplate&quot;:true,&quot;type&quot;:&quot;text&quot;}"/>
          <p:cNvSpPr txBox="1"/>
          <p:nvPr/>
        </p:nvSpPr>
        <p:spPr>
          <a:xfrm rot="0" flipH="0" flipV="0">
            <a:off x="3733800" y="5010150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E8EEF9"/>
                </a:solidFill>
                <a:latin typeface="JetBrains Mono"/>
                <a:ea typeface="JetBrains Mono"/>
              </a:rPr>
              <a:t>├─ AGENTS.md</a:t>
            </a:r>
            <a:endParaRPr/>
          </a:p>
        </p:txBody>
      </p:sp>
      <p:sp>
        <p:nvSpPr>
          <p:cNvPr id="999" name="" descr="{&quot;isTemplate&quot;:true,&quot;type&quot;:&quot;text&quot;}"/>
          <p:cNvSpPr txBox="1"/>
          <p:nvPr/>
        </p:nvSpPr>
        <p:spPr>
          <a:xfrm rot="0" flipH="0" flipV="0">
            <a:off x="3733800" y="5191125"/>
            <a:ext cx="2495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 xml:space="preserve">→ </a:t>
            </a:r>
            <a:r>
              <a:rPr lang="zh-CN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自动合并进系统提示</a:t>
            </a:r>
            <a:endParaRPr/>
          </a:p>
        </p:txBody>
      </p:sp>
      <p:sp>
        <p:nvSpPr>
          <p:cNvPr id="1000" name="" descr="{&quot;isTemplate&quot;:true,&quot;type&quot;:&quot;text&quot;}"/>
          <p:cNvSpPr txBox="1"/>
          <p:nvPr/>
        </p:nvSpPr>
        <p:spPr>
          <a:xfrm rot="0" flipH="0" flipV="0">
            <a:off x="3733800" y="5514975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E8EEF9"/>
                </a:solidFill>
                <a:latin typeface="JetBrains Mono"/>
                <a:ea typeface="JetBrains Mono"/>
              </a:rPr>
              <a:t>└─ APPEND_SYSTEM.md</a:t>
            </a:r>
            <a:endParaRPr/>
          </a:p>
        </p:txBody>
      </p:sp>
      <p:sp>
        <p:nvSpPr>
          <p:cNvPr id="1001" name="" descr="{&quot;isTemplate&quot;:true,&quot;type&quot;:&quot;text&quot;}"/>
          <p:cNvSpPr txBox="1"/>
          <p:nvPr/>
        </p:nvSpPr>
        <p:spPr>
          <a:xfrm rot="0" flipH="0" flipV="0">
            <a:off x="3733800" y="5695950"/>
            <a:ext cx="2495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 xml:space="preserve">→ </a:t>
            </a:r>
            <a:r>
              <a:rPr lang="zh-CN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自动追加</a:t>
            </a:r>
            <a:endParaRPr/>
          </a:p>
        </p:txBody>
      </p:sp>
      <p:sp>
        <p:nvSpPr>
          <p:cNvPr id="1002" name="" descr="{&quot;isTemplate&quot;:true,&quot;type&quot;:&quot;text&quot;}"/>
          <p:cNvSpPr txBox="1"/>
          <p:nvPr/>
        </p:nvSpPr>
        <p:spPr>
          <a:xfrm rot="0" flipH="0" flipV="0">
            <a:off x="6553200" y="1143000"/>
            <a:ext cx="495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extensions/emit-table.ts</a:t>
            </a:r>
            <a:endParaRPr/>
          </a:p>
        </p:txBody>
      </p:sp>
      <p:sp>
        <p:nvSpPr>
          <p:cNvPr id="1003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004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29 / 33</a:t>
            </a:r>
            <a:endParaRPr/>
          </a:p>
        </p:txBody>
      </p:sp>
      <p:sp>
        <p:nvSpPr>
          <p:cNvPr id="1005" name=""/>
          <p:cNvSpPr/>
          <p:nvPr/>
        </p:nvSpPr>
        <p:spPr>
          <a:xfrm rot="0" flipH="0" flipV="0">
            <a:off x="6553200" y="1428750"/>
            <a:ext cx="4953000" cy="4267200"/>
          </a:xfrm>
          <a:prstGeom prst="roundRect">
            <a:avLst>
              <a:gd name="adj" fmla="val 1786"/>
            </a:avLst>
          </a:prstGeom>
          <a:solidFill>
            <a:srgbClr val="0E1116"/>
          </a:solidFill>
          <a:ln/>
        </p:spPr>
        <p:txBody>
          <a:bodyPr/>
          <a:p/>
        </p:txBody>
      </p:sp>
      <p:sp>
        <p:nvSpPr>
          <p:cNvPr id="1006" name=""/>
          <p:cNvSpPr txBox="1"/>
          <p:nvPr/>
        </p:nvSpPr>
        <p:spPr>
          <a:xfrm rot="0" flipH="0" flipV="0">
            <a:off x="6705600" y="1562100"/>
            <a:ext cx="4781550" cy="4000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import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{ defineTool, 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type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ExtensionAPI } 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from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"@earendil-works/pi-coding-agent"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;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import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{ Type } 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from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"@sinclair/typebox"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;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5E7EB"/>
                </a:solidFill>
                <a:latin typeface="Menlo"/>
                <a:ea typeface="Menlo"/>
              </a:rPr>
              <a:t xml:space="preserve"> 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const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79B8FF"/>
                </a:solidFill>
                <a:latin typeface="Menlo"/>
                <a:ea typeface="Menlo"/>
              </a:rPr>
              <a:t>tool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defineTool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({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name: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"emit_table"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description: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"向用户输出明细表格。"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parameters: Type.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Object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({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  title: Type.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Optional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(Type.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String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()),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  rows: Type.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Array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(Type.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Record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(Type.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String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(), Type.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Unknown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())),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  source: Type.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String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(),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}),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async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execute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</a:t>
            </a:r>
            <a:r>
              <a:rPr sz="938">
                <a:solidFill>
                  <a:srgbClr val="FFAB70"/>
                </a:solidFill>
                <a:latin typeface="Menlo"/>
                <a:ea typeface="Menlo"/>
              </a:rPr>
              <a:t>_id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, </a:t>
            </a:r>
            <a:r>
              <a:rPr sz="938">
                <a:solidFill>
                  <a:srgbClr val="FFAB70"/>
                </a:solidFill>
                <a:latin typeface="Menlo"/>
                <a:ea typeface="Menlo"/>
              </a:rPr>
              <a:t>p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) {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  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return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{ details: { renderer: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"table"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, data: p, source: p.source } };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},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});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5E7EB"/>
                </a:solidFill>
                <a:latin typeface="Menlo"/>
                <a:ea typeface="Menlo"/>
              </a:rPr>
              <a:t xml:space="preserve"> 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export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default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function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(</a:t>
            </a:r>
            <a:r>
              <a:rPr sz="938">
                <a:solidFill>
                  <a:srgbClr val="FFAB70"/>
                </a:solidFill>
                <a:latin typeface="Menlo"/>
                <a:ea typeface="Menlo"/>
              </a:rPr>
              <a:t>pi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ExtensionAPI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) {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pi.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registerTool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(tool);  </a:t>
            </a:r>
            <a:r>
              <a:rPr sz="938">
                <a:solidFill>
                  <a:srgbClr val="6A737D"/>
                </a:solidFill>
                <a:latin typeface="Menlo"/>
                <a:ea typeface="Menlo"/>
              </a:rPr>
              <a:t>// 文件即工具，无需集中注册表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}</a:t>
            </a:r>
            <a:endParaRPr/>
          </a:p>
        </p:txBody>
      </p:sp>
    </p:spTree>
  </p:cSld>
</p:sld>
</file>

<file path=ppt/slides/slide3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034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0;    {/* A 区 · 标题块 */}&#10;    &lt;Box style={{ height: 100, flexDirection: 'row', gap: 16, alignItems: 'flex-start', paddingTop: 6 }}&gt;&#10;        &lt;Box style={{ width: 4, height: 36, background: '#2AD4EE', marginTop: 5 }} /&gt;&#10;        &lt;Box style={{ flexDirection: 'column' }}&gt;&#10;            &lt;Text style={{ fontSize: 34, fontWeight: 'bold', color: '#E8EEF9' }}&gt;隔离与安全：租户 · 范围 · SQL 守卫&lt;/Text&gt;&#10;            &lt;Text style={{ marginTop: 8, fontSize: 17, color: 'rgba(232,238,249,0.52)' }}&gt;三道防线都建在 PI 之外，所以它绕不过去&lt;/Text&gt;&#10;        &lt;/Box&gt;&#10;    &lt;/Box&gt;&#10;&#10;    {/* B 区 · 非对称双栏 55:45 */}&#10;    &lt;Box style={{ height: 516, flexDirection: 'row', gap: 32 }}&gt;&#10;        {/* 左：三层防线 */}&#10;        &lt;Box style={{ flex: 55, flexDirection: 'column', paddingRight: 30, borderRight: '1px solid rgba(232,238,249,0.12)' }}&gt;&#10;            &lt;Box style={{ flexDirection: 'row', alignItems: 'center', justifyContent: 'space-between' }}&gt;&#10;                &lt;Text style={{ fontSize: 15, color: '#2AD4EE', letterSpacing: 3, fontFamily: '&quot;JetBrains Mono&quot;, &quot;Cascadia Mono&quot;, Consolas, monospace' }}&gt;THREE DEFENSE LINES&lt;/Text&gt;&#10;                &lt;Text style={{ fontSize: 13, color: 'rgba(232,238,249,0.42)' }}&gt;自外向内，逐层收紧&lt;/Text&gt;&#10;            &lt;/Box&gt;&#10;&#10;            &lt;Box style={{ flex: 1, marginTop: 12, flexDirection: 'column', justifyContent: 'space-between' }}&gt;&#10;                {[&#10;                    { n: '01', i: 'key', t: '身份与数据范围', d: 'JWT 带出用户 / 租户 / 角色 / 部门；中间件把 tenantId 与 dataScope 显式放进会话上下文，不依赖全局隐式状态；数据访问层由 scoper 统一强制注入 tenant_id 与部门过滤。' },&#10;                    { n: '02', i: 'lock', t: '会话归属校验', d: '创建与恢复会话时都校验归属：一个会话只属于当前用户与租户。想越权读取别人的历史，在入口就被拒绝，根本进不到模型层。' },&#10;                    { n: '03', i: 'database', t: 'SQL 守卫（AST 级）', d: '仅允许单条 SELECT，拒绝写操作 / CTE / 子查询 / INTO OUTFILE / FOR UPDATE；表白名单；AST 级强制注入 tenant_id、is_deleted = 0 与数据范围；强制 LIMIT 上限（默认 1000 行）。' },&#10;                ].map((c, i) =&gt; (&#10;                    &lt;Box key={i} style={{ flex: 1, flexDirection: 'row', gap: 16, alignItems: 'center', paddingTop: 12, paddingBottom: 12, paddingLeft: 16, paddingRight: 16, background: 'rgba(22,35,61,0.90)', borderLeft: '3px solid rgba(42,212,238,0.7)', borderRadius: 3 }}&gt;&#10;                        &lt;Box style={{ width: 44, height: 44, borderRadius: 4, background: 'rgba(42,212,238,0.12)', border: '1px solid rgba(42,212,238,0.32)', alignItems: 'center', justifyContent: 'center' }}&gt;&#10;                            &lt;FAIcon name={c.i} style={{ fill: '#2AD4EE', width: 20, height: 20 }} /&gt;&#10;                        &lt;/Box&gt;&#10;                        &lt;Box style={{ flex: 1, flexDirection: 'column' }}&gt;&#10;                            &lt;Box style={{ flexDirection: 'row', alignItems: 'baseline', gap: 10 }}&gt;&#10;                                &lt;Text style={{ fontSize: 13, color: 'rgba(42,212,238,0.75)', fontFamily: '&quot;JetBrains Mono&quot;, &quot;Cascadia Mono&quot;, Consolas, monospace' }}&gt;{c.n}&lt;/Text&gt;&#10;                                &lt;Text style={{ fontSize: 21, fontWeight: 'bold', color: '#E8EEF9' }}&gt;{c.t}&lt;/Text&gt;&#10;                            &lt;/Box&gt;&#10;                            &lt;Text style={{ marginTop: 8, fontSize: 14, color: 'rgba(232,238,249,0.66)', lineHeight: 1.62 }}&gt;{c.d}&lt;/Text&gt;&#10;                        &lt;/Box&gt;&#10;                    &lt;/Box&gt;&#10;                ))}&#10;            &lt;/Box&gt;&#10;        &lt;/Box&gt;&#10;&#10;        {/* 右：不变量 + 判断 */}&#10;        &lt;Box style={{ flex: 45, flexDirection: 'column' }}&gt;&#10;            &lt;Text style={{ fontSize: 15, color: 'rgba(232,238,249,0.52)', letterSpacing: 2, fontFamily: '&quot;JetBrains Mono&quot;, &quot;Cascadia Mono&quot;, Consolas, monospace' }}&gt;TWO INVARIANTS&lt;/Text&gt;&#10;&#10;            &lt;Box style={{ marginTop: 16, flexDirection: 'column', gap: 14 }}&gt;&#10;                {[&#10;                    ['注入值不来自模型', 'SQL 里被注入的租户与范围值，全部来自 JWT 会话上下文——模型写的字符串只是「建议」，不改写它的语义。'],&#10;                    ['执行权永远在代码里', '模型只能说要查什么；怎么改、改完能不能跑、跑多少行，全部由服务端决定。'],&#10;                ].map((r, i) =&gt; (&#10;                    &lt;Box key={i} style={{ flexDirection: 'column', paddingTop: 14, paddingBottom: 14, paddingLeft: 16, paddingRight: 16, background: 'rgba(22,35,61,0.92)', border: '1px solid rgba(232,238,249,0.12)', borderRadius: 4 }}&gt;&#10;                        &lt;Text style={{ fontSize: 16.5, fontWeight: '600', color: '#E8EEF9' }}&gt;{r[0]}&lt;/Text&gt;&#10;                        &lt;Text style={{ marginTop: 8, fontSize: 14, color: 'rgba(232,238,249,0.66)', lineHeight: 1.65 }}&gt;{r[1]}&lt;/Text&gt;&#10;                    &lt;/Box&gt;&#10;                ))}&#10;            &lt;/Box&gt;&#10;&#10;            &lt;Box style={{ marginTop: 'auto', paddingTop: 16, paddingBottom: 16, paddingLeft: 18, paddingRight: 18, background: 'rgba(42,212,238,0.08)', border: '1px solid rgba(42,212,238,0.22)', borderRadius: 4 }}&gt;&#10;                &lt;Text style={{ fontSize: 15, color: '#2AD4EE', letterSpacing: 3, fontFamily: '&quot;JetBrains Mono&quot;, &quot;Cascadia Mono&quot;, Consolas, monospace' }}&gt;所以&lt;/Text&gt;&#10;                &lt;Text style={{ marginTop: 10, fontSize: 17, color: '#E8EEF9', lineHeight: 1.7 }}&gt;&#10;                    PI 层对这些&lt;span style={{ color: '#2AD4EE' }}&gt;无感知、也绕不过&lt;/span&gt;——安全才成立。&#10;                &lt;/Text&gt;&#10;            &lt;/Box&gt;&#10;        &lt;/Box&gt;&#10;    &lt;/Box&gt;&#10;&#10;    {/* C 区 · 页脚 */}&#10;    &lt;Box style={{ height: 40, flexDirection: 'row', alignItems: 'flex-end', justifyContent: 'space-between' }}&gt;&#10;        &lt;Text style={{ fontSize: 14, color: 'rgba(232,238,249,0.42)' }}&gt;从 LLM 到 Agent 再到 Pi Agent&lt;/Text&gt;&#10;        &lt;Text style={{ fontSize: 14, color: 'rgba(232,238,249,0.42)', fontFamily: '&quot;JetBrains Mono&quot;, &quot;Cascadia Mono&quot;, Consolas, monospace' }}&gt;30 / 3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036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1037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54768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隔离与安全：租户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范围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SQL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守卫</a:t>
            </a:r>
            <a:endParaRPr/>
          </a:p>
        </p:txBody>
      </p:sp>
      <p:sp>
        <p:nvSpPr>
          <p:cNvPr id="1038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5476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三道防线都建在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PI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之外，所以它绕不过去</a:t>
            </a:r>
            <a:endParaRPr/>
          </a:p>
        </p:txBody>
      </p:sp>
      <p:sp>
        <p:nvSpPr>
          <p:cNvPr id="1039" name=""/>
          <p:cNvSpPr/>
          <p:nvPr/>
        </p:nvSpPr>
        <p:spPr>
          <a:xfrm rot="0" flipH="0" flipV="0">
            <a:off x="685800" y="1143000"/>
            <a:ext cx="5791200" cy="4914900"/>
          </a:xfrm>
          <a:custGeom>
            <a:pathLst>
              <a:path w="608" h="516">
                <a:moveTo>
                  <a:pt x="607" y="0"/>
                </a:moveTo>
                <a:lnTo>
                  <a:pt x="608" y="0"/>
                </a:lnTo>
                <a:lnTo>
                  <a:pt x="608" y="516"/>
                </a:lnTo>
                <a:lnTo>
                  <a:pt x="607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1040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133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THREE DEFENSE LINES</a:t>
            </a:r>
            <a:endParaRPr/>
          </a:p>
        </p:txBody>
      </p:sp>
      <p:sp>
        <p:nvSpPr>
          <p:cNvPr id="1041" name="" descr="{&quot;isTemplate&quot;:true,&quot;type&quot;:&quot;text&quot;}"/>
          <p:cNvSpPr txBox="1"/>
          <p:nvPr/>
        </p:nvSpPr>
        <p:spPr>
          <a:xfrm rot="0" flipH="0" flipV="0">
            <a:off x="5057775" y="1152525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自外向内，逐层收紧</a:t>
            </a:r>
            <a:endParaRPr/>
          </a:p>
        </p:txBody>
      </p:sp>
      <p:sp>
        <p:nvSpPr>
          <p:cNvPr id="1042" name=""/>
          <p:cNvSpPr/>
          <p:nvPr/>
        </p:nvSpPr>
        <p:spPr>
          <a:xfrm rot="0" flipH="0" flipV="0">
            <a:off x="714375" y="1428750"/>
            <a:ext cx="5486400" cy="1628775"/>
          </a:xfrm>
          <a:prstGeom prst="roundRect">
            <a:avLst>
              <a:gd name="adj" fmla="val 1754"/>
            </a:avLst>
          </a:prstGeom>
          <a:solidFill>
            <a:srgbClr val="16233D">
              <a:alpha val="90000"/>
            </a:srgbClr>
          </a:solidFill>
          <a:ln/>
        </p:spPr>
        <p:txBody>
          <a:bodyPr/>
          <a:p/>
        </p:txBody>
      </p:sp>
      <p:sp>
        <p:nvSpPr>
          <p:cNvPr id="1043" name=""/>
          <p:cNvSpPr/>
          <p:nvPr/>
        </p:nvSpPr>
        <p:spPr>
          <a:xfrm rot="0" flipH="0" flipV="0">
            <a:off x="714375" y="1428750"/>
            <a:ext cx="5486400" cy="1628775"/>
          </a:xfrm>
          <a:custGeom>
            <a:pathLst>
              <a:path w="576" h="171">
                <a:moveTo>
                  <a:pt x="3" y="171"/>
                </a:moveTo>
                <a:cubicBezTo>
                  <a:pt x="1" y="171"/>
                  <a:pt x="0" y="170"/>
                  <a:pt x="0" y="16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71"/>
                </a:lnTo>
                <a:close/>
              </a:path>
            </a:pathLst>
          </a:custGeom>
          <a:solidFill>
            <a:srgbClr val="2AD4EE">
              <a:alpha val="70000"/>
            </a:srgbClr>
          </a:solidFill>
          <a:ln/>
        </p:spPr>
        <p:txBody>
          <a:bodyPr/>
          <a:p/>
        </p:txBody>
      </p:sp>
      <p:sp>
        <p:nvSpPr>
          <p:cNvPr id="1044" name=""/>
          <p:cNvSpPr/>
          <p:nvPr/>
        </p:nvSpPr>
        <p:spPr>
          <a:xfrm rot="0" flipH="0" flipV="0">
            <a:off x="866775" y="2038350"/>
            <a:ext cx="419100" cy="419100"/>
          </a:xfrm>
          <a:prstGeom prst="roundRect">
            <a:avLst>
              <a:gd name="adj" fmla="val 9091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04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81075" y="2152650"/>
            <a:ext cx="190500" cy="190500"/>
          </a:xfrm>
          <a:prstGeom prst="rect">
            <a:avLst/>
          </a:prstGeom>
          <a:ln/>
        </p:spPr>
      </p:pic>
      <p:sp>
        <p:nvSpPr>
          <p:cNvPr id="1046" name="" descr="{&quot;isTemplate&quot;:true,&quot;type&quot;:&quot;text&quot;}"/>
          <p:cNvSpPr txBox="1"/>
          <p:nvPr/>
        </p:nvSpPr>
        <p:spPr>
          <a:xfrm rot="0" flipH="0" flipV="0">
            <a:off x="1438275" y="1695450"/>
            <a:ext cx="152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>
                    <a:alpha val="75000"/>
                  </a:srgbClr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1047" name="" descr="{&quot;isTemplate&quot;:true,&quot;type&quot;:&quot;text&quot;}"/>
          <p:cNvSpPr txBox="1"/>
          <p:nvPr/>
        </p:nvSpPr>
        <p:spPr>
          <a:xfrm rot="0" flipH="0" flipV="0">
            <a:off x="1685925" y="1695450"/>
            <a:ext cx="14001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身份与数据范围</a:t>
            </a:r>
            <a:endParaRPr/>
          </a:p>
        </p:txBody>
      </p:sp>
      <p:sp>
        <p:nvSpPr>
          <p:cNvPr id="1048" name="" descr="{&quot;isTemplate&quot;:true,&quot;type&quot;:&quot;text&quot;}"/>
          <p:cNvSpPr txBox="1"/>
          <p:nvPr/>
        </p:nvSpPr>
        <p:spPr>
          <a:xfrm rot="0" flipH="0" flipV="0">
            <a:off x="1438275" y="2019300"/>
            <a:ext cx="4581525" cy="781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JWT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带出用户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租户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角色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部门；中间件把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tenantId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与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dataScope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显式放进会话上下文，不依赖全局隐式状态；数据访问层由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scoper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统一强制注入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tenant_id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与部门过滤。</a:t>
            </a:r>
            <a:endParaRPr/>
          </a:p>
        </p:txBody>
      </p:sp>
      <p:sp>
        <p:nvSpPr>
          <p:cNvPr id="1049" name=""/>
          <p:cNvSpPr/>
          <p:nvPr/>
        </p:nvSpPr>
        <p:spPr>
          <a:xfrm rot="0" flipH="0" flipV="0">
            <a:off x="714375" y="3057525"/>
            <a:ext cx="5486400" cy="1371600"/>
          </a:xfrm>
          <a:prstGeom prst="roundRect">
            <a:avLst>
              <a:gd name="adj" fmla="val 2083"/>
            </a:avLst>
          </a:prstGeom>
          <a:solidFill>
            <a:srgbClr val="16233D">
              <a:alpha val="90000"/>
            </a:srgbClr>
          </a:solidFill>
          <a:ln/>
        </p:spPr>
        <p:txBody>
          <a:bodyPr/>
          <a:p/>
        </p:txBody>
      </p:sp>
      <p:sp>
        <p:nvSpPr>
          <p:cNvPr id="1050" name=""/>
          <p:cNvSpPr/>
          <p:nvPr/>
        </p:nvSpPr>
        <p:spPr>
          <a:xfrm rot="0" flipH="0" flipV="0">
            <a:off x="714375" y="3057525"/>
            <a:ext cx="5486400" cy="1371600"/>
          </a:xfrm>
          <a:custGeom>
            <a:pathLst>
              <a:path w="576" h="144">
                <a:moveTo>
                  <a:pt x="3" y="144"/>
                </a:moveTo>
                <a:cubicBezTo>
                  <a:pt x="1" y="144"/>
                  <a:pt x="0" y="143"/>
                  <a:pt x="0" y="14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44"/>
                </a:lnTo>
                <a:close/>
              </a:path>
            </a:pathLst>
          </a:custGeom>
          <a:solidFill>
            <a:srgbClr val="2AD4EE">
              <a:alpha val="70000"/>
            </a:srgbClr>
          </a:solidFill>
          <a:ln/>
        </p:spPr>
        <p:txBody>
          <a:bodyPr/>
          <a:p/>
        </p:txBody>
      </p:sp>
      <p:sp>
        <p:nvSpPr>
          <p:cNvPr id="1051" name=""/>
          <p:cNvSpPr/>
          <p:nvPr/>
        </p:nvSpPr>
        <p:spPr>
          <a:xfrm rot="0" flipH="0" flipV="0">
            <a:off x="866775" y="3533775"/>
            <a:ext cx="419100" cy="419100"/>
          </a:xfrm>
          <a:prstGeom prst="roundRect">
            <a:avLst>
              <a:gd name="adj" fmla="val 9091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05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81075" y="3648075"/>
            <a:ext cx="190500" cy="190500"/>
          </a:xfrm>
          <a:prstGeom prst="rect">
            <a:avLst/>
          </a:prstGeom>
          <a:ln/>
        </p:spPr>
      </p:pic>
      <p:sp>
        <p:nvSpPr>
          <p:cNvPr id="1053" name="" descr="{&quot;isTemplate&quot;:true,&quot;type&quot;:&quot;text&quot;}"/>
          <p:cNvSpPr txBox="1"/>
          <p:nvPr/>
        </p:nvSpPr>
        <p:spPr>
          <a:xfrm rot="0" flipH="0" flipV="0">
            <a:off x="1438275" y="3324225"/>
            <a:ext cx="152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>
                    <a:alpha val="75000"/>
                  </a:srgbClr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1054" name="" descr="{&quot;isTemplate&quot;:true,&quot;type&quot;:&quot;text&quot;}"/>
          <p:cNvSpPr txBox="1"/>
          <p:nvPr/>
        </p:nvSpPr>
        <p:spPr>
          <a:xfrm rot="0" flipH="0" flipV="0">
            <a:off x="1685925" y="3324225"/>
            <a:ext cx="12001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会话归属校验</a:t>
            </a:r>
            <a:endParaRPr/>
          </a:p>
        </p:txBody>
      </p:sp>
      <p:sp>
        <p:nvSpPr>
          <p:cNvPr id="1055" name="" descr="{&quot;isTemplate&quot;:true,&quot;type&quot;:&quot;text&quot;}"/>
          <p:cNvSpPr txBox="1"/>
          <p:nvPr/>
        </p:nvSpPr>
        <p:spPr>
          <a:xfrm rot="0" flipH="0" flipV="0">
            <a:off x="1438275" y="3648075"/>
            <a:ext cx="4581525" cy="523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创建与恢复会话时都校验归属：一个会话只属于当前用户与租户。想越权读取别人的历史，在入口就被拒绝，根本进不到模型层。</a:t>
            </a:r>
            <a:endParaRPr/>
          </a:p>
        </p:txBody>
      </p:sp>
      <p:sp>
        <p:nvSpPr>
          <p:cNvPr id="1056" name=""/>
          <p:cNvSpPr/>
          <p:nvPr/>
        </p:nvSpPr>
        <p:spPr>
          <a:xfrm rot="0" flipH="0" flipV="0">
            <a:off x="714375" y="4429125"/>
            <a:ext cx="5486400" cy="1628775"/>
          </a:xfrm>
          <a:prstGeom prst="roundRect">
            <a:avLst>
              <a:gd name="adj" fmla="val 1754"/>
            </a:avLst>
          </a:prstGeom>
          <a:solidFill>
            <a:srgbClr val="16233D">
              <a:alpha val="90000"/>
            </a:srgbClr>
          </a:solidFill>
          <a:ln/>
        </p:spPr>
        <p:txBody>
          <a:bodyPr/>
          <a:p/>
        </p:txBody>
      </p:sp>
      <p:sp>
        <p:nvSpPr>
          <p:cNvPr id="1057" name=""/>
          <p:cNvSpPr/>
          <p:nvPr/>
        </p:nvSpPr>
        <p:spPr>
          <a:xfrm rot="0" flipH="0" flipV="0">
            <a:off x="714375" y="4429125"/>
            <a:ext cx="5486400" cy="1628775"/>
          </a:xfrm>
          <a:custGeom>
            <a:pathLst>
              <a:path w="576" h="171">
                <a:moveTo>
                  <a:pt x="3" y="171"/>
                </a:moveTo>
                <a:cubicBezTo>
                  <a:pt x="1" y="171"/>
                  <a:pt x="0" y="170"/>
                  <a:pt x="0" y="16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71"/>
                </a:lnTo>
                <a:close/>
              </a:path>
            </a:pathLst>
          </a:custGeom>
          <a:solidFill>
            <a:srgbClr val="2AD4EE">
              <a:alpha val="70000"/>
            </a:srgbClr>
          </a:solidFill>
          <a:ln/>
        </p:spPr>
        <p:txBody>
          <a:bodyPr/>
          <a:p/>
        </p:txBody>
      </p:sp>
      <p:sp>
        <p:nvSpPr>
          <p:cNvPr id="1058" name=""/>
          <p:cNvSpPr/>
          <p:nvPr/>
        </p:nvSpPr>
        <p:spPr>
          <a:xfrm rot="0" flipH="0" flipV="0">
            <a:off x="866775" y="5038725"/>
            <a:ext cx="419100" cy="419100"/>
          </a:xfrm>
          <a:prstGeom prst="roundRect">
            <a:avLst>
              <a:gd name="adj" fmla="val 9091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05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981075" y="5153025"/>
            <a:ext cx="190500" cy="190500"/>
          </a:xfrm>
          <a:prstGeom prst="rect">
            <a:avLst/>
          </a:prstGeom>
          <a:ln/>
        </p:spPr>
      </p:pic>
      <p:sp>
        <p:nvSpPr>
          <p:cNvPr id="1060" name="" descr="{&quot;isTemplate&quot;:true,&quot;type&quot;:&quot;text&quot;}"/>
          <p:cNvSpPr txBox="1"/>
          <p:nvPr/>
        </p:nvSpPr>
        <p:spPr>
          <a:xfrm rot="0" flipH="0" flipV="0">
            <a:off x="1438275" y="4695825"/>
            <a:ext cx="152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>
                    <a:alpha val="75000"/>
                  </a:srgbClr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1061" name="" descr="{&quot;isTemplate&quot;:true,&quot;type&quot;:&quot;text&quot;}"/>
          <p:cNvSpPr txBox="1"/>
          <p:nvPr/>
        </p:nvSpPr>
        <p:spPr>
          <a:xfrm rot="0" flipH="0" flipV="0">
            <a:off x="1685925" y="4695825"/>
            <a:ext cx="1790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SQL </a:t>
            </a: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守卫（</a:t>
            </a: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AST </a:t>
            </a: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级）</a:t>
            </a:r>
            <a:endParaRPr/>
          </a:p>
        </p:txBody>
      </p:sp>
      <p:sp>
        <p:nvSpPr>
          <p:cNvPr id="1062" name="" descr="{&quot;isTemplate&quot;:true,&quot;type&quot;:&quot;text&quot;}"/>
          <p:cNvSpPr txBox="1"/>
          <p:nvPr/>
        </p:nvSpPr>
        <p:spPr>
          <a:xfrm rot="0" flipH="0" flipV="0">
            <a:off x="1438275" y="5019675"/>
            <a:ext cx="4581525" cy="781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仅允许单条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SELECT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，拒绝写操作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CTE /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子查询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INTO OUTFILE / FOR UPDATE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；表白名单；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AST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级强制注入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tenant_id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、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is_deleted = 0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与数据范围；强制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LIMIT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上限（默认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1000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行）。</a:t>
            </a:r>
            <a:endParaRPr/>
          </a:p>
        </p:txBody>
      </p:sp>
      <p:sp>
        <p:nvSpPr>
          <p:cNvPr id="1063" name="" descr="{&quot;isTemplate&quot;:true,&quot;type&quot;:&quot;text&quot;}"/>
          <p:cNvSpPr txBox="1"/>
          <p:nvPr/>
        </p:nvSpPr>
        <p:spPr>
          <a:xfrm rot="0" flipH="0" flipV="0">
            <a:off x="6772275" y="1143000"/>
            <a:ext cx="4733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TWO INVARIANTS</a:t>
            </a:r>
            <a:endParaRPr/>
          </a:p>
        </p:txBody>
      </p:sp>
      <p:sp>
        <p:nvSpPr>
          <p:cNvPr id="1064" name=""/>
          <p:cNvSpPr/>
          <p:nvPr/>
        </p:nvSpPr>
        <p:spPr>
          <a:xfrm rot="0" flipH="0" flipV="0">
            <a:off x="6772275" y="1466850"/>
            <a:ext cx="4733925" cy="1066800"/>
          </a:xfrm>
          <a:prstGeom prst="roundRect">
            <a:avLst>
              <a:gd name="adj" fmla="val 3571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65" name="" descr="{&quot;isTemplate&quot;:true,&quot;type&quot;:&quot;text&quot;}"/>
          <p:cNvSpPr txBox="1"/>
          <p:nvPr/>
        </p:nvSpPr>
        <p:spPr>
          <a:xfrm rot="0" flipH="0" flipV="0">
            <a:off x="6924675" y="1600200"/>
            <a:ext cx="4429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E8EEF9"/>
                </a:solidFill>
                <a:latin typeface="Source Han Sans SC"/>
                <a:ea typeface="Source Han Sans SC"/>
              </a:rPr>
              <a:t>注入值不来自模型</a:t>
            </a:r>
            <a:endParaRPr/>
          </a:p>
        </p:txBody>
      </p:sp>
      <p:sp>
        <p:nvSpPr>
          <p:cNvPr id="1066" name="" descr="{&quot;isTemplate&quot;:true,&quot;type&quot;:&quot;text&quot;}"/>
          <p:cNvSpPr txBox="1"/>
          <p:nvPr/>
        </p:nvSpPr>
        <p:spPr>
          <a:xfrm rot="0" flipH="0" flipV="0">
            <a:off x="6924675" y="1866900"/>
            <a:ext cx="44291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SQL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里被注入的租户与范围值，全部来自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JWT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会话上下文——模型写的字符串只是「建议」，不改写它的语义。</a:t>
            </a:r>
            <a:endParaRPr/>
          </a:p>
        </p:txBody>
      </p:sp>
      <p:sp>
        <p:nvSpPr>
          <p:cNvPr id="1067" name=""/>
          <p:cNvSpPr/>
          <p:nvPr/>
        </p:nvSpPr>
        <p:spPr>
          <a:xfrm rot="0" flipH="0" flipV="0">
            <a:off x="6772275" y="2667000"/>
            <a:ext cx="4733925" cy="1066800"/>
          </a:xfrm>
          <a:prstGeom prst="roundRect">
            <a:avLst>
              <a:gd name="adj" fmla="val 3571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68" name="" descr="{&quot;isTemplate&quot;:true,&quot;type&quot;:&quot;text&quot;}"/>
          <p:cNvSpPr txBox="1"/>
          <p:nvPr/>
        </p:nvSpPr>
        <p:spPr>
          <a:xfrm rot="0" flipH="0" flipV="0">
            <a:off x="6924675" y="2800350"/>
            <a:ext cx="4429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E8EEF9"/>
                </a:solidFill>
                <a:latin typeface="Source Han Sans SC"/>
                <a:ea typeface="Source Han Sans SC"/>
              </a:rPr>
              <a:t>执行权永远在代码里</a:t>
            </a:r>
            <a:endParaRPr/>
          </a:p>
        </p:txBody>
      </p:sp>
      <p:sp>
        <p:nvSpPr>
          <p:cNvPr id="1069" name="" descr="{&quot;isTemplate&quot;:true,&quot;type&quot;:&quot;text&quot;}"/>
          <p:cNvSpPr txBox="1"/>
          <p:nvPr/>
        </p:nvSpPr>
        <p:spPr>
          <a:xfrm rot="0" flipH="0" flipV="0">
            <a:off x="6924675" y="3067050"/>
            <a:ext cx="44291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模型只能说要查什么；怎么改、改完能不能跑、跑多少行，全部由服务端决定。</a:t>
            </a:r>
            <a:endParaRPr/>
          </a:p>
        </p:txBody>
      </p:sp>
      <p:sp>
        <p:nvSpPr>
          <p:cNvPr id="1070" name=""/>
          <p:cNvSpPr/>
          <p:nvPr/>
        </p:nvSpPr>
        <p:spPr>
          <a:xfrm rot="0" flipH="0" flipV="0">
            <a:off x="6772275" y="5153025"/>
            <a:ext cx="4733925" cy="904875"/>
          </a:xfrm>
          <a:prstGeom prst="roundRect">
            <a:avLst>
              <a:gd name="adj" fmla="val 4211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71" name="" descr="{&quot;isTemplate&quot;:true,&quot;type&quot;:&quot;text&quot;}"/>
          <p:cNvSpPr txBox="1"/>
          <p:nvPr/>
        </p:nvSpPr>
        <p:spPr>
          <a:xfrm rot="0" flipH="0" flipV="0">
            <a:off x="6943725" y="5305425"/>
            <a:ext cx="4391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1072" name="" descr="{&quot;isTemplate&quot;:true,&quot;type&quot;:&quot;text&quot;}"/>
          <p:cNvSpPr txBox="1"/>
          <p:nvPr/>
        </p:nvSpPr>
        <p:spPr>
          <a:xfrm rot="0" flipH="0" flipV="0">
            <a:off x="6943725" y="5572125"/>
            <a:ext cx="4391025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PI 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层对这些</a:t>
            </a:r>
            <a:r>
              <a:rPr lang="zh-CN" sz="1275">
                <a:solidFill>
                  <a:srgbClr val="2AD4EE"/>
                </a:solidFill>
                <a:latin typeface="Source Han Sans SC"/>
                <a:ea typeface="Source Han Sans SC"/>
              </a:rPr>
              <a:t>无感知、也绕不过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——安全才成立。</a:t>
            </a:r>
            <a:endParaRPr/>
          </a:p>
        </p:txBody>
      </p:sp>
      <p:sp>
        <p:nvSpPr>
          <p:cNvPr id="1073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074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30 / 33</a:t>
            </a:r>
            <a:endParaRPr/>
          </a:p>
        </p:txBody>
      </p:sp>
    </p:spTree>
  </p:cSld>
</p:sld>
</file>

<file path=ppt/slides/slide31.xml><?xml version="1.0" encoding="utf-8"?>
<p:sld xmlns:p="http://schemas.openxmlformats.org/presentationml/2006/main" xmlns:a="http://schemas.openxmlformats.org/drawingml/2006/main">
  <p:cSld>
    <p:spTree>
      <p:nvGrpSpPr>
        <p:cNvPr id="1075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0;    {/* A 区 · 标题块 */}&#10;    &lt;Box style={{ height: 100, flexDirection: 'row', gap: 16, alignItems: 'flex-start', paddingTop: 6 }}&gt;&#10;        &lt;Box style={{ width: 4, height: 36, background: '#2AD4EE', marginTop: 5 }} /&gt;&#10;        &lt;Box style={{ flexDirection: 'column' }}&gt;&#10;            &lt;Text style={{ fontSize: 34, fontWeight: 'bold', color: '#E8EEF9' }}&gt;流式链路与前端渲染扩展&lt;/Text&gt;&#10;            &lt;Text style={{ marginTop: 8, fontSize: 17, color: 'rgba(232,238,249,0.52)' }}&gt;后端只说「这是什么」，前端决定「长什么样」&lt;/Text&gt;&#10;        &lt;/Box&gt;&#10;    &lt;/Box&gt;&#10;&#10;    {/* B 区 */}&#10;    &lt;Box style={{ height: 516, flexDirection: 'column' }}&gt;&#10;        &lt;Text style={{ fontSize: 15, color: '#2AD4EE', letterSpacing: 3, fontFamily: '&quot;JetBrains Mono&quot;, &quot;Cascadia Mono&quot;, Consolas, monospace' }}&gt;SSE PIPELINE · 一条事件从会话到像素&lt;/Text&gt;&#10;&#10;        {/* 链路 */}&#10;        &lt;Box style={{ height: 118, marginTop: 12, flexDirection: 'row', alignItems: 'stretch' }}&gt;&#10;            {[&#10;                { n: '01', t: 'session.subscribe', d: '订阅会话事件流' },&#10;                { n: '02', t: 'relay 事件映射', d: 'PI 事件 → SseEvent' },&#10;                { n: '03', t: 'SSE 写出', d: 'HTTP 分块推送' },&#10;                { n: '04', t: '前端分发', d: '按 type 追加 / 插块' },&#10;                { n: '05', t: 'renderer 注册表', d: 'text · table · chart · kpi' },&#10;            ].map((s, i) =&gt; (&#10;                &lt;Box key={i} style={{ flex: 1, flexDirection: 'row', alignItems: 'center' }}&gt;&#10;                    &lt;Box style={{ flex: 1, flexDirection: 'column', justifyContent: 'center', paddingLeft: 14, paddingRight: 14, background: i === 4 ? 'rgba(42,212,238,0.14)' : 'rgba(22,35,61,0.94)', border: i === 4 ? '1px solid rgba(42,212,238,0.45)' : '1px solid rgba(232,238,249,0.12)', borderRadius: 3 }}&gt;&#10;                        &lt;Text style={{ fontSize: 12.5, color: '#2AD4EE', fontFamily: '&quot;JetBrains Mono&quot;, &quot;Cascadia Mono&quot;, Consolas, monospace' }}&gt;{s.n}&lt;/Text&gt;&#10;                        &lt;Text style={{ marginTop: 8, fontSize: 16, fontWeight: 'bold', color: '#E8EEF9', lineHeight: 1.35 }}&gt;{s.t}&lt;/Text&gt;&#10;                        &lt;Text style={{ marginTop: 7, fontSize: 12.5, color: 'rgba(232,238,249,0.55)', lineHeight: 1.45 }}&gt;{s.d}&lt;/Text&gt;&#10;                    &lt;/Box&gt;&#10;                    {i &lt; 4 &amp;&amp; &lt;Text style={{ width: 22, textAlign: 'center', fontSize: 15, color: 'rgba(42,212,238,0.75)' }}&gt;›&lt;/Text&gt;}&#10;                &lt;/Box&gt;&#10;            ))}&#10;        &lt;/Box&gt;&#10;&#10;        {/* 契约 + 渲染路由 */}&#10;        &lt;Box style={{ flex: 1, marginTop: 16, flexDirection: 'row', gap: 24 }}&gt;&#10;            &lt;Box style={{ flex: 55, flexDirection: 'column' }}&gt;&#10;                &lt;Text style={{ fontSize: 15, color: 'rgba(232,238,249,0.52)', letterSpacing: 2, fontFamily: '&quot;JetBrains Mono&quot;, &quot;Cascadia Mono&quot;, Consolas, monospace' }}&gt;SSE 事件契约（前后端共享）&lt;/Text&gt;&#10;                &lt;Box style={{ flex: 1, marginTop: 10 }}&gt;&#10;                    &lt;CodeBlock&#10;                        code={`export type SseEvent =&#10;  | { type: &quot;connected&quot;;       sessionId?: string }&#10;  | { type: &quot;text_delta&quot;;      delta: string }&#10;  | { type: &quot;thinking_delta&quot;;  delta: string }&#10;  | { type: &quot;turn_reset&quot; }&#10;  | { type: &quot;tool_start&quot;;      tool: string }&#10;  | { type: &quot;tool_end&quot;;        tool: string }&#10;  | { type: &quot;render&quot;;  renderer: RendererType;&#10;      data: unknown; source?: string }&#10;  | { type: &quot;error&quot;;           message: string }&#10;  | { type: &quot;done&quot; };`}&#10;                        language='typescript'&#10;                        width={596}&#10;                        fontSize={13}&#10;                        theme='github-dark'&#10;                    /&gt;&#10;                &lt;/Box&gt;&#10;            &lt;/Box&gt;&#10;&#10;            &lt;Box style={{ flex: 45, flexDirection: 'column', paddingLeft: 24, borderLeft: '1px solid rgba(232,238,249,0.12)' }}&gt;&#10;                &lt;Text style={{ fontSize: 15, color: 'rgba(232,238,249,0.52)', letterSpacing: 2, fontFamily: '&quot;JetBrains Mono&quot;, &quot;Cascadia Mono&quot;, Consolas, monospace' }}&gt;RENDERER ROUTING&lt;/Text&gt;&#10;                &lt;Box style={{ marginTop: 12, flexDirection: 'column', gap: 9 }}&gt;&#10;                    {[&#10;                        ['text', '流式追加的 Markdown 正文'],&#10;                        ['table', '明细表格'],&#10;                        ['chart', '柱图 / 折线图 / 饼图'],&#10;                        ['kpi', '单指标卡片（含同比环比）'],&#10;                        ['metric_card', '指标口径说明卡'],&#10;                    ].map((r, i) =&gt; (&#10;                        &lt;Box key={i} style={{ flexDirection: 'row', alignItems: 'center', gap: 12 }}&gt;&#10;                            &lt;Text style={{ width: 96, fontSize: 13.5, color: '#2AD4EE', fontFamily: '&quot;JetBrains Mono&quot;, &quot;Cascadia Mono&quot;, Consolas, monospace' }}&gt;{r[0]}&lt;/Text&gt;&#10;                            &lt;Box style={{ width: 1, height: 16, background: 'rgba(232,238,249,0.16)' }} /&gt;&#10;                            &lt;Text style={{ flex: 1, fontSize: 14, color: 'rgba(232,238,249,0.72)' }}&gt;{r[1]}&lt;/Text&gt;&#10;                        &lt;/Box&gt;&#10;                    ))}&#10;                &lt;/Box&gt;&#10;&#10;                &lt;Box style={{ marginTop: 'auto', paddingTop: 14, paddingBottom: 14, paddingLeft: 16, paddingRight: 16, background: 'rgba(42,212,238,0.08)', border: '1px solid rgba(42,212,238,0.22)', borderRadius: 4 }}&gt;&#10;                    &lt;Text style={{ fontSize: 14, color: '#2AD4EE', letterSpacing: 3, fontFamily: '&quot;JetBrains Mono&quot;, &quot;Cascadia Mono&quot;, Consolas, monospace' }}&gt;所以&lt;/Text&gt;&#10;                    &lt;Text style={{ marginTop: 8, fontSize: 15.5, color: '#E8EEF9', lineHeight: 1.7 }}&gt;&#10;                        后端只管发&lt;span style={{ color: '#2AD4EE' }}&gt;结构化事件&lt;/span&gt;，前端注册表决定它长什么样。加一种展示 = 注册一个 renderer。&#10;                    &lt;/Text&gt;&#10;                &lt;/Box&gt;&#10;            &lt;/Box&gt;&#10;        &lt;/Box&gt;&#10;    &lt;/Box&gt;&#10;&#10;    {/* C 区 · 页脚 */}&#10;    &lt;Box style={{ height: 40, flexDirection: 'row', alignItems: 'flex-end', justifyContent: 'space-between' }}&gt;&#10;        &lt;Text style={{ fontSize: 14, color: 'rgba(232,238,249,0.42)' }}&gt;从 LLM 到 Agent 再到 Pi Agent&lt;/Text&gt;&#10;        &lt;Text style={{ fontSize: 14, color: 'rgba(232,238,249,0.42)', fontFamily: '&quot;JetBrains Mono&quot;, &quot;Cascadia Mono&quot;, Consolas, monospace' }}&gt;31 / 3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077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1078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流式链路与前端渲染扩展</a:t>
            </a:r>
            <a:endParaRPr/>
          </a:p>
        </p:txBody>
      </p:sp>
      <p:sp>
        <p:nvSpPr>
          <p:cNvPr id="1079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562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后端只说「这是什么」，前端决定「长什么样」</a:t>
            </a:r>
            <a:endParaRPr/>
          </a:p>
        </p:txBody>
      </p:sp>
      <p:sp>
        <p:nvSpPr>
          <p:cNvPr id="1080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10820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 xml:space="preserve">SSE PIPELINE · </a:t>
            </a:r>
            <a:r>
              <a:rPr lang="zh-CN" sz="1125" spc="225">
                <a:solidFill>
                  <a:srgbClr val="2AD4EE"/>
                </a:solidFill>
                <a:latin typeface="JetBrains Mono"/>
                <a:ea typeface="JetBrains Mono"/>
              </a:rPr>
              <a:t>一条事件从会话到像素</a:t>
            </a:r>
            <a:endParaRPr/>
          </a:p>
        </p:txBody>
      </p:sp>
      <p:sp>
        <p:nvSpPr>
          <p:cNvPr id="1081" name=""/>
          <p:cNvSpPr/>
          <p:nvPr/>
        </p:nvSpPr>
        <p:spPr>
          <a:xfrm rot="0" flipH="0" flipV="0">
            <a:off x="685800" y="1619250"/>
            <a:ext cx="1952625" cy="742950"/>
          </a:xfrm>
          <a:prstGeom prst="roundRect">
            <a:avLst>
              <a:gd name="adj" fmla="val 3846"/>
            </a:avLst>
          </a:prstGeom>
          <a:solidFill>
            <a:srgbClr val="16233D">
              <a:alpha val="94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82" name="" descr="{&quot;isTemplate&quot;:true,&quot;type&quot;:&quot;text&quot;}"/>
          <p:cNvSpPr txBox="1"/>
          <p:nvPr/>
        </p:nvSpPr>
        <p:spPr>
          <a:xfrm rot="0" flipH="0" flipV="0">
            <a:off x="819150" y="1619250"/>
            <a:ext cx="1685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AD4EE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1083" name="" descr="{&quot;isTemplate&quot;:true,&quot;type&quot;:&quot;text&quot;}"/>
          <p:cNvSpPr txBox="1"/>
          <p:nvPr/>
        </p:nvSpPr>
        <p:spPr>
          <a:xfrm rot="0" flipH="0" flipV="0">
            <a:off x="819150" y="1838325"/>
            <a:ext cx="1685925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>session.subscribe</a:t>
            </a:r>
            <a:endParaRPr/>
          </a:p>
        </p:txBody>
      </p:sp>
      <p:sp>
        <p:nvSpPr>
          <p:cNvPr id="1084" name="" descr="{&quot;isTemplate&quot;:true,&quot;type&quot;:&quot;text&quot;}"/>
          <p:cNvSpPr txBox="1"/>
          <p:nvPr/>
        </p:nvSpPr>
        <p:spPr>
          <a:xfrm rot="0" flipH="0" flipV="0">
            <a:off x="819150" y="2152650"/>
            <a:ext cx="1685925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订阅会话事件流</a:t>
            </a:r>
            <a:endParaRPr/>
          </a:p>
        </p:txBody>
      </p:sp>
      <p:sp>
        <p:nvSpPr>
          <p:cNvPr id="1085" name="" descr="{&quot;isTemplate&quot;:true,&quot;type&quot;:&quot;text&quot;}"/>
          <p:cNvSpPr txBox="1"/>
          <p:nvPr/>
        </p:nvSpPr>
        <p:spPr>
          <a:xfrm rot="0" flipH="0" flipV="0">
            <a:off x="2638425" y="1905000"/>
            <a:ext cx="20955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1086" name=""/>
          <p:cNvSpPr/>
          <p:nvPr/>
        </p:nvSpPr>
        <p:spPr>
          <a:xfrm rot="0" flipH="0" flipV="0">
            <a:off x="2847975" y="1619250"/>
            <a:ext cx="1952625" cy="742950"/>
          </a:xfrm>
          <a:prstGeom prst="roundRect">
            <a:avLst>
              <a:gd name="adj" fmla="val 3846"/>
            </a:avLst>
          </a:prstGeom>
          <a:solidFill>
            <a:srgbClr val="16233D">
              <a:alpha val="94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87" name="" descr="{&quot;isTemplate&quot;:true,&quot;type&quot;:&quot;text&quot;}"/>
          <p:cNvSpPr txBox="1"/>
          <p:nvPr/>
        </p:nvSpPr>
        <p:spPr>
          <a:xfrm rot="0" flipH="0" flipV="0">
            <a:off x="2981325" y="1619250"/>
            <a:ext cx="1685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AD4EE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1088" name="" descr="{&quot;isTemplate&quot;:true,&quot;type&quot;:&quot;text&quot;}"/>
          <p:cNvSpPr txBox="1"/>
          <p:nvPr/>
        </p:nvSpPr>
        <p:spPr>
          <a:xfrm rot="0" flipH="0" flipV="0">
            <a:off x="2981325" y="1838325"/>
            <a:ext cx="1685925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relay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事件映射</a:t>
            </a:r>
            <a:endParaRPr/>
          </a:p>
        </p:txBody>
      </p:sp>
      <p:sp>
        <p:nvSpPr>
          <p:cNvPr id="1089" name="" descr="{&quot;isTemplate&quot;:true,&quot;type&quot;:&quot;text&quot;}"/>
          <p:cNvSpPr txBox="1"/>
          <p:nvPr/>
        </p:nvSpPr>
        <p:spPr>
          <a:xfrm rot="0" flipH="0" flipV="0">
            <a:off x="2981325" y="2152650"/>
            <a:ext cx="1685925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 xml:space="preserve">PI </a:t>
            </a:r>
            <a:r>
              <a:rPr lang="zh-CN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事件</a:t>
            </a:r>
            <a:r>
              <a:rPr lang="en-US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 xml:space="preserve"> → SseEvent</a:t>
            </a:r>
            <a:endParaRPr/>
          </a:p>
        </p:txBody>
      </p:sp>
      <p:sp>
        <p:nvSpPr>
          <p:cNvPr id="1090" name="" descr="{&quot;isTemplate&quot;:true,&quot;type&quot;:&quot;text&quot;}"/>
          <p:cNvSpPr txBox="1"/>
          <p:nvPr/>
        </p:nvSpPr>
        <p:spPr>
          <a:xfrm rot="0" flipH="0" flipV="0">
            <a:off x="4800600" y="1905000"/>
            <a:ext cx="20955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1091" name=""/>
          <p:cNvSpPr/>
          <p:nvPr/>
        </p:nvSpPr>
        <p:spPr>
          <a:xfrm rot="0" flipH="0" flipV="0">
            <a:off x="5010150" y="1619250"/>
            <a:ext cx="1962150" cy="742950"/>
          </a:xfrm>
          <a:prstGeom prst="roundRect">
            <a:avLst>
              <a:gd name="adj" fmla="val 3846"/>
            </a:avLst>
          </a:prstGeom>
          <a:solidFill>
            <a:srgbClr val="16233D">
              <a:alpha val="94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92" name="" descr="{&quot;isTemplate&quot;:true,&quot;type&quot;:&quot;text&quot;}"/>
          <p:cNvSpPr txBox="1"/>
          <p:nvPr/>
        </p:nvSpPr>
        <p:spPr>
          <a:xfrm rot="0" flipH="0" flipV="0">
            <a:off x="5143500" y="1619250"/>
            <a:ext cx="1695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AD4EE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1093" name="" descr="{&quot;isTemplate&quot;:true,&quot;type&quot;:&quot;text&quot;}"/>
          <p:cNvSpPr txBox="1"/>
          <p:nvPr/>
        </p:nvSpPr>
        <p:spPr>
          <a:xfrm rot="0" flipH="0" flipV="0">
            <a:off x="5143500" y="1838325"/>
            <a:ext cx="1695450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SSE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写出</a:t>
            </a:r>
            <a:endParaRPr/>
          </a:p>
        </p:txBody>
      </p:sp>
      <p:sp>
        <p:nvSpPr>
          <p:cNvPr id="1094" name="" descr="{&quot;isTemplate&quot;:true,&quot;type&quot;:&quot;text&quot;}"/>
          <p:cNvSpPr txBox="1"/>
          <p:nvPr/>
        </p:nvSpPr>
        <p:spPr>
          <a:xfrm rot="0" flipH="0" flipV="0">
            <a:off x="5143500" y="2152650"/>
            <a:ext cx="1695450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 xml:space="preserve">HTTP </a:t>
            </a:r>
            <a:r>
              <a:rPr lang="zh-CN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分块推送</a:t>
            </a:r>
            <a:endParaRPr/>
          </a:p>
        </p:txBody>
      </p:sp>
      <p:sp>
        <p:nvSpPr>
          <p:cNvPr id="1095" name="" descr="{&quot;isTemplate&quot;:true,&quot;type&quot;:&quot;text&quot;}"/>
          <p:cNvSpPr txBox="1"/>
          <p:nvPr/>
        </p:nvSpPr>
        <p:spPr>
          <a:xfrm rot="0" flipH="0" flipV="0">
            <a:off x="6972300" y="1905000"/>
            <a:ext cx="20955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1096" name=""/>
          <p:cNvSpPr/>
          <p:nvPr/>
        </p:nvSpPr>
        <p:spPr>
          <a:xfrm rot="0" flipH="0" flipV="0">
            <a:off x="7181850" y="1619250"/>
            <a:ext cx="1952625" cy="742950"/>
          </a:xfrm>
          <a:prstGeom prst="roundRect">
            <a:avLst>
              <a:gd name="adj" fmla="val 3846"/>
            </a:avLst>
          </a:prstGeom>
          <a:solidFill>
            <a:srgbClr val="16233D">
              <a:alpha val="94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97" name="" descr="{&quot;isTemplate&quot;:true,&quot;type&quot;:&quot;text&quot;}"/>
          <p:cNvSpPr txBox="1"/>
          <p:nvPr/>
        </p:nvSpPr>
        <p:spPr>
          <a:xfrm rot="0" flipH="0" flipV="0">
            <a:off x="7315200" y="1619250"/>
            <a:ext cx="1685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AD4EE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1098" name="" descr="{&quot;isTemplate&quot;:true,&quot;type&quot;:&quot;text&quot;}"/>
          <p:cNvSpPr txBox="1"/>
          <p:nvPr/>
        </p:nvSpPr>
        <p:spPr>
          <a:xfrm rot="0" flipH="0" flipV="0">
            <a:off x="7315200" y="1838325"/>
            <a:ext cx="1685925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前端分发</a:t>
            </a:r>
            <a:endParaRPr/>
          </a:p>
        </p:txBody>
      </p:sp>
      <p:sp>
        <p:nvSpPr>
          <p:cNvPr id="1099" name="" descr="{&quot;isTemplate&quot;:true,&quot;type&quot;:&quot;text&quot;}"/>
          <p:cNvSpPr txBox="1"/>
          <p:nvPr/>
        </p:nvSpPr>
        <p:spPr>
          <a:xfrm rot="0" flipH="0" flipV="0">
            <a:off x="7315200" y="2152650"/>
            <a:ext cx="1685925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按</a:t>
            </a:r>
            <a:r>
              <a:rPr lang="en-US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 xml:space="preserve"> type </a:t>
            </a:r>
            <a:r>
              <a:rPr lang="zh-CN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追加</a:t>
            </a:r>
            <a:r>
              <a:rPr lang="en-US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插块</a:t>
            </a:r>
            <a:endParaRPr/>
          </a:p>
        </p:txBody>
      </p:sp>
      <p:sp>
        <p:nvSpPr>
          <p:cNvPr id="1100" name="" descr="{&quot;isTemplate&quot;:true,&quot;type&quot;:&quot;text&quot;}"/>
          <p:cNvSpPr txBox="1"/>
          <p:nvPr/>
        </p:nvSpPr>
        <p:spPr>
          <a:xfrm rot="0" flipH="0" flipV="0">
            <a:off x="9134475" y="1905000"/>
            <a:ext cx="20955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1101" name=""/>
          <p:cNvSpPr/>
          <p:nvPr/>
        </p:nvSpPr>
        <p:spPr>
          <a:xfrm rot="0" flipH="0" flipV="0">
            <a:off x="9344025" y="1619250"/>
            <a:ext cx="2162175" cy="742950"/>
          </a:xfrm>
          <a:prstGeom prst="roundRect">
            <a:avLst>
              <a:gd name="adj" fmla="val 3846"/>
            </a:avLst>
          </a:prstGeom>
          <a:solidFill>
            <a:srgbClr val="2AD4EE">
              <a:alpha val="14000"/>
            </a:srgbClr>
          </a:solidFill>
          <a:ln w="12700">
            <a:solidFill>
              <a:srgbClr val="2AD4E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02" name="" descr="{&quot;isTemplate&quot;:true,&quot;type&quot;:&quot;text&quot;}"/>
          <p:cNvSpPr txBox="1"/>
          <p:nvPr/>
        </p:nvSpPr>
        <p:spPr>
          <a:xfrm rot="0" flipH="0" flipV="0">
            <a:off x="9477375" y="1619250"/>
            <a:ext cx="1895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AD4EE"/>
                </a:solidFill>
                <a:latin typeface="JetBrains Mono"/>
                <a:ea typeface="JetBrains Mono"/>
              </a:rPr>
              <a:t>05</a:t>
            </a:r>
            <a:endParaRPr/>
          </a:p>
        </p:txBody>
      </p:sp>
      <p:sp>
        <p:nvSpPr>
          <p:cNvPr id="1103" name="" descr="{&quot;isTemplate&quot;:true,&quot;type&quot;:&quot;text&quot;}"/>
          <p:cNvSpPr txBox="1"/>
          <p:nvPr/>
        </p:nvSpPr>
        <p:spPr>
          <a:xfrm rot="0" flipH="0" flipV="0">
            <a:off x="9477375" y="1838325"/>
            <a:ext cx="1895475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renderer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注册表</a:t>
            </a:r>
            <a:endParaRPr/>
          </a:p>
        </p:txBody>
      </p:sp>
      <p:sp>
        <p:nvSpPr>
          <p:cNvPr id="1104" name="" descr="{&quot;isTemplate&quot;:true,&quot;type&quot;:&quot;text&quot;}"/>
          <p:cNvSpPr txBox="1"/>
          <p:nvPr/>
        </p:nvSpPr>
        <p:spPr>
          <a:xfrm rot="0" flipH="0" flipV="0">
            <a:off x="9477375" y="2152650"/>
            <a:ext cx="1895475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text · table · chart · kpi</a:t>
            </a:r>
            <a:endParaRPr/>
          </a:p>
        </p:txBody>
      </p:sp>
      <p:sp>
        <p:nvSpPr>
          <p:cNvPr id="1105" name="" descr="{&quot;isTemplate&quot;:true,&quot;type&quot;:&quot;text&quot;}"/>
          <p:cNvSpPr txBox="1"/>
          <p:nvPr/>
        </p:nvSpPr>
        <p:spPr>
          <a:xfrm rot="0" flipH="0" flipV="0">
            <a:off x="685800" y="2705100"/>
            <a:ext cx="5829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SSE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事件契约（前后端共享）</a:t>
            </a:r>
            <a:endParaRPr/>
          </a:p>
        </p:txBody>
      </p:sp>
      <p:sp>
        <p:nvSpPr>
          <p:cNvPr id="1106" name=""/>
          <p:cNvSpPr/>
          <p:nvPr/>
        </p:nvSpPr>
        <p:spPr>
          <a:xfrm rot="0" flipH="0" flipV="0">
            <a:off x="6743700" y="2705100"/>
            <a:ext cx="4772025" cy="3352800"/>
          </a:xfrm>
          <a:custGeom>
            <a:pathLst>
              <a:path w="501" h="352">
                <a:moveTo>
                  <a:pt x="0" y="0"/>
                </a:moveTo>
                <a:lnTo>
                  <a:pt x="1" y="0"/>
                </a:lnTo>
                <a:lnTo>
                  <a:pt x="1" y="352"/>
                </a:lnTo>
                <a:lnTo>
                  <a:pt x="0" y="352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1107" name="" descr="{&quot;isTemplate&quot;:true,&quot;type&quot;:&quot;text&quot;}"/>
          <p:cNvSpPr txBox="1"/>
          <p:nvPr/>
        </p:nvSpPr>
        <p:spPr>
          <a:xfrm rot="0" flipH="0" flipV="0">
            <a:off x="6981825" y="2705100"/>
            <a:ext cx="452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RENDERER ROUTING</a:t>
            </a:r>
            <a:endParaRPr/>
          </a:p>
        </p:txBody>
      </p:sp>
      <p:sp>
        <p:nvSpPr>
          <p:cNvPr id="1108" name="" descr="{&quot;isTemplate&quot;:true,&quot;type&quot;:&quot;text&quot;}"/>
          <p:cNvSpPr txBox="1"/>
          <p:nvPr/>
        </p:nvSpPr>
        <p:spPr>
          <a:xfrm rot="0" flipH="0" flipV="0">
            <a:off x="6981825" y="299085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2AD4EE"/>
                </a:solidFill>
                <a:latin typeface="JetBrains Mono"/>
                <a:ea typeface="JetBrains Mono"/>
              </a:rPr>
              <a:t>text</a:t>
            </a:r>
            <a:endParaRPr/>
          </a:p>
        </p:txBody>
      </p:sp>
      <p:sp>
        <p:nvSpPr>
          <p:cNvPr id="1109" name=""/>
          <p:cNvSpPr/>
          <p:nvPr/>
        </p:nvSpPr>
        <p:spPr>
          <a:xfrm rot="0" flipH="0" flipV="0">
            <a:off x="8010525" y="3000375"/>
            <a:ext cx="9525" cy="1524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/>
        </p:txBody>
      </p:sp>
      <p:sp>
        <p:nvSpPr>
          <p:cNvPr id="1110" name="" descr="{&quot;isTemplate&quot;:true,&quot;type&quot;:&quot;text&quot;}"/>
          <p:cNvSpPr txBox="1"/>
          <p:nvPr/>
        </p:nvSpPr>
        <p:spPr>
          <a:xfrm rot="0" flipH="0" flipV="0">
            <a:off x="8134350" y="2990850"/>
            <a:ext cx="3371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流式追加的</a:t>
            </a:r>
            <a:r>
              <a:rPr lang="en-US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Markdown </a:t>
            </a:r>
            <a:r>
              <a:rPr lang="zh-CN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正文</a:t>
            </a:r>
            <a:endParaRPr/>
          </a:p>
        </p:txBody>
      </p:sp>
      <p:sp>
        <p:nvSpPr>
          <p:cNvPr id="1111" name="" descr="{&quot;isTemplate&quot;:true,&quot;type&quot;:&quot;text&quot;}"/>
          <p:cNvSpPr txBox="1"/>
          <p:nvPr/>
        </p:nvSpPr>
        <p:spPr>
          <a:xfrm rot="0" flipH="0" flipV="0">
            <a:off x="6981825" y="323850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2AD4EE"/>
                </a:solidFill>
                <a:latin typeface="JetBrains Mono"/>
                <a:ea typeface="JetBrains Mono"/>
              </a:rPr>
              <a:t>table</a:t>
            </a:r>
            <a:endParaRPr/>
          </a:p>
        </p:txBody>
      </p:sp>
      <p:sp>
        <p:nvSpPr>
          <p:cNvPr id="1112" name=""/>
          <p:cNvSpPr/>
          <p:nvPr/>
        </p:nvSpPr>
        <p:spPr>
          <a:xfrm rot="0" flipH="0" flipV="0">
            <a:off x="8010525" y="3248025"/>
            <a:ext cx="9525" cy="1524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/>
        </p:txBody>
      </p:sp>
      <p:sp>
        <p:nvSpPr>
          <p:cNvPr id="1113" name="" descr="{&quot;isTemplate&quot;:true,&quot;type&quot;:&quot;text&quot;}"/>
          <p:cNvSpPr txBox="1"/>
          <p:nvPr/>
        </p:nvSpPr>
        <p:spPr>
          <a:xfrm rot="0" flipH="0" flipV="0">
            <a:off x="8134350" y="3238500"/>
            <a:ext cx="3371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明细表格</a:t>
            </a:r>
            <a:endParaRPr/>
          </a:p>
        </p:txBody>
      </p:sp>
      <p:sp>
        <p:nvSpPr>
          <p:cNvPr id="1114" name="" descr="{&quot;isTemplate&quot;:true,&quot;type&quot;:&quot;text&quot;}"/>
          <p:cNvSpPr txBox="1"/>
          <p:nvPr/>
        </p:nvSpPr>
        <p:spPr>
          <a:xfrm rot="0" flipH="0" flipV="0">
            <a:off x="6981825" y="348615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2AD4EE"/>
                </a:solidFill>
                <a:latin typeface="JetBrains Mono"/>
                <a:ea typeface="JetBrains Mono"/>
              </a:rPr>
              <a:t>chart</a:t>
            </a:r>
            <a:endParaRPr/>
          </a:p>
        </p:txBody>
      </p:sp>
      <p:sp>
        <p:nvSpPr>
          <p:cNvPr id="1115" name=""/>
          <p:cNvSpPr/>
          <p:nvPr/>
        </p:nvSpPr>
        <p:spPr>
          <a:xfrm rot="0" flipH="0" flipV="0">
            <a:off x="8010525" y="3495675"/>
            <a:ext cx="9525" cy="1524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/>
        </p:txBody>
      </p:sp>
      <p:sp>
        <p:nvSpPr>
          <p:cNvPr id="1116" name="" descr="{&quot;isTemplate&quot;:true,&quot;type&quot;:&quot;text&quot;}"/>
          <p:cNvSpPr txBox="1"/>
          <p:nvPr/>
        </p:nvSpPr>
        <p:spPr>
          <a:xfrm rot="0" flipH="0" flipV="0">
            <a:off x="8134350" y="3486150"/>
            <a:ext cx="3371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柱图</a:t>
            </a:r>
            <a:r>
              <a:rPr lang="en-US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折线图</a:t>
            </a:r>
            <a:r>
              <a:rPr lang="en-US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饼图</a:t>
            </a:r>
            <a:endParaRPr/>
          </a:p>
        </p:txBody>
      </p:sp>
      <p:sp>
        <p:nvSpPr>
          <p:cNvPr id="1117" name="" descr="{&quot;isTemplate&quot;:true,&quot;type&quot;:&quot;text&quot;}"/>
          <p:cNvSpPr txBox="1"/>
          <p:nvPr/>
        </p:nvSpPr>
        <p:spPr>
          <a:xfrm rot="0" flipH="0" flipV="0">
            <a:off x="6981825" y="373380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2AD4EE"/>
                </a:solidFill>
                <a:latin typeface="JetBrains Mono"/>
                <a:ea typeface="JetBrains Mono"/>
              </a:rPr>
              <a:t>kpi</a:t>
            </a:r>
            <a:endParaRPr/>
          </a:p>
        </p:txBody>
      </p:sp>
      <p:sp>
        <p:nvSpPr>
          <p:cNvPr id="1118" name=""/>
          <p:cNvSpPr/>
          <p:nvPr/>
        </p:nvSpPr>
        <p:spPr>
          <a:xfrm rot="0" flipH="0" flipV="0">
            <a:off x="8010525" y="3743325"/>
            <a:ext cx="9525" cy="1524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/>
        </p:txBody>
      </p:sp>
      <p:sp>
        <p:nvSpPr>
          <p:cNvPr id="1119" name="" descr="{&quot;isTemplate&quot;:true,&quot;type&quot;:&quot;text&quot;}"/>
          <p:cNvSpPr txBox="1"/>
          <p:nvPr/>
        </p:nvSpPr>
        <p:spPr>
          <a:xfrm rot="0" flipH="0" flipV="0">
            <a:off x="8134350" y="3733800"/>
            <a:ext cx="3371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单指标卡片（含同比环比）</a:t>
            </a:r>
            <a:endParaRPr/>
          </a:p>
        </p:txBody>
      </p:sp>
      <p:sp>
        <p:nvSpPr>
          <p:cNvPr id="1120" name="" descr="{&quot;isTemplate&quot;:true,&quot;type&quot;:&quot;text&quot;}"/>
          <p:cNvSpPr txBox="1"/>
          <p:nvPr/>
        </p:nvSpPr>
        <p:spPr>
          <a:xfrm rot="0" flipH="0" flipV="0">
            <a:off x="6981825" y="398145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2AD4EE"/>
                </a:solidFill>
                <a:latin typeface="JetBrains Mono"/>
                <a:ea typeface="JetBrains Mono"/>
              </a:rPr>
              <a:t>metric_card</a:t>
            </a:r>
            <a:endParaRPr/>
          </a:p>
        </p:txBody>
      </p:sp>
      <p:sp>
        <p:nvSpPr>
          <p:cNvPr id="1121" name=""/>
          <p:cNvSpPr/>
          <p:nvPr/>
        </p:nvSpPr>
        <p:spPr>
          <a:xfrm rot="0" flipH="0" flipV="0">
            <a:off x="8010525" y="3990975"/>
            <a:ext cx="9525" cy="1524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/>
        </p:txBody>
      </p:sp>
      <p:sp>
        <p:nvSpPr>
          <p:cNvPr id="1122" name="" descr="{&quot;isTemplate&quot;:true,&quot;type&quot;:&quot;text&quot;}"/>
          <p:cNvSpPr txBox="1"/>
          <p:nvPr/>
        </p:nvSpPr>
        <p:spPr>
          <a:xfrm rot="0" flipH="0" flipV="0">
            <a:off x="8134350" y="3981450"/>
            <a:ext cx="3371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指标口径说明卡</a:t>
            </a:r>
            <a:endParaRPr/>
          </a:p>
        </p:txBody>
      </p:sp>
      <p:sp>
        <p:nvSpPr>
          <p:cNvPr id="1123" name=""/>
          <p:cNvSpPr/>
          <p:nvPr/>
        </p:nvSpPr>
        <p:spPr>
          <a:xfrm rot="0" flipH="0" flipV="0">
            <a:off x="6981825" y="4943475"/>
            <a:ext cx="4524375" cy="1114425"/>
          </a:xfrm>
          <a:prstGeom prst="roundRect">
            <a:avLst>
              <a:gd name="adj" fmla="val 3419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24" name="" descr="{&quot;isTemplate&quot;:true,&quot;type&quot;:&quot;text&quot;}"/>
          <p:cNvSpPr txBox="1"/>
          <p:nvPr/>
        </p:nvSpPr>
        <p:spPr>
          <a:xfrm rot="0" flipH="0" flipV="0">
            <a:off x="7134225" y="5076825"/>
            <a:ext cx="421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1125" name="" descr="{&quot;isTemplate&quot;:true,&quot;type&quot;:&quot;text&quot;}"/>
          <p:cNvSpPr txBox="1"/>
          <p:nvPr/>
        </p:nvSpPr>
        <p:spPr>
          <a:xfrm rot="0" flipH="0" flipV="0">
            <a:off x="7134225" y="5314950"/>
            <a:ext cx="42195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后端只管发</a:t>
            </a:r>
            <a:r>
              <a:rPr lang="zh-CN" sz="1163">
                <a:solidFill>
                  <a:srgbClr val="2AD4EE"/>
                </a:solidFill>
                <a:latin typeface="Source Han Sans SC"/>
                <a:ea typeface="Source Han Sans SC"/>
              </a:rPr>
              <a:t>结构化事件</a:t>
            </a: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，前端注册表决定它长什么样。加一种展示</a:t>
            </a:r>
            <a:r>
              <a:rPr lang="en-US" sz="1163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= </a:t>
            </a: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注册一个</a:t>
            </a:r>
            <a:r>
              <a:rPr lang="en-US" sz="1163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renderer</a:t>
            </a: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126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127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31 / 33</a:t>
            </a:r>
            <a:endParaRPr/>
          </a:p>
        </p:txBody>
      </p:sp>
      <p:sp>
        <p:nvSpPr>
          <p:cNvPr id="1128" name=""/>
          <p:cNvSpPr/>
          <p:nvPr/>
        </p:nvSpPr>
        <p:spPr>
          <a:xfrm rot="0" flipH="0" flipV="0">
            <a:off x="685800" y="2971800"/>
            <a:ext cx="5829300" cy="2562225"/>
          </a:xfrm>
          <a:prstGeom prst="roundRect">
            <a:avLst>
              <a:gd name="adj" fmla="val 2974"/>
            </a:avLst>
          </a:prstGeom>
          <a:solidFill>
            <a:srgbClr val="0E1116"/>
          </a:solidFill>
          <a:ln/>
        </p:spPr>
        <p:txBody>
          <a:bodyPr/>
          <a:p/>
        </p:txBody>
      </p:sp>
      <p:sp>
        <p:nvSpPr>
          <p:cNvPr id="1129" name=""/>
          <p:cNvSpPr txBox="1"/>
          <p:nvPr/>
        </p:nvSpPr>
        <p:spPr>
          <a:xfrm rot="0" flipH="0" flipV="0">
            <a:off x="838200" y="3105150"/>
            <a:ext cx="5524500" cy="2295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export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B392F0"/>
                </a:solidFill>
                <a:latin typeface="Menlo"/>
                <a:ea typeface="Menlo"/>
              </a:rPr>
              <a:t>SseEvent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=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"connected"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;      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sessionId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?: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string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"text_delta"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;     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delta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string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"thinking_delta"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; 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delta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string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"turn_reset"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"tool_start"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;     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tool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string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"tool_end"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;       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tool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string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"render"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; 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renderer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B392F0"/>
                </a:solidFill>
                <a:latin typeface="Menlo"/>
                <a:ea typeface="Menlo"/>
              </a:rPr>
              <a:t>RendererType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;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   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data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unknown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;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source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?: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string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"error"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;          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message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string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"done"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};</a:t>
            </a:r>
            <a:endParaRPr/>
          </a:p>
        </p:txBody>
      </p:sp>
    </p:spTree>
  </p:cSld>
</p:sld>
</file>

<file path=ppt/slides/slide3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130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0;    {/* A 区 · 标题块 */}&#10;    &lt;Box style={{ height: 100, flexDirection: 'row', gap: 16, alignItems: 'flex-start', paddingTop: 6 }}&gt;&#10;        &lt;Box style={{ width: 4, height: 36, background: '#2AD4EE', marginTop: 5 }} /&gt;&#10;        &lt;Box style={{ flexDirection: 'column' }}&gt;&#10;            &lt;Text style={{ fontSize: 34, fontWeight: 'bold', color: '#E8EEF9' }}&gt;踩坑实录：四个真实 Bug&lt;/Text&gt;&#10;            &lt;Text style={{ marginTop: 8, fontSize: 17, color: 'rgba(232,238,249,0.52)' }}&gt;现象 · 根因 · 修法，一个不少地记下来&lt;/Text&gt;&#10;        &lt;/Box&gt;&#10;    &lt;/Box&gt;&#10;&#10;    {/* B 区 · 左标题 + 右 2×2 */}&#10;    &lt;Box style={{ height: 516, flexDirection: 'row', gap: 30 }}&gt;&#10;        {/* 左：标题栏 */}&#10;        &lt;Box style={{ width: 262, flexDirection: 'column', paddingRight: 26, borderRight: '1px solid rgba(232,238,249,0.12)' }}&gt;&#10;            &lt;Text style={{ fontSize: 15, color: '#2AD4EE', letterSpacing: 3, fontFamily: '&quot;JetBrains Mono&quot;, &quot;Cascadia Mono&quot;, Consolas, monospace' }}&gt;POSTMORTEM&lt;/Text&gt;&#10;            &lt;Text style={{ marginTop: 18, fontSize: 26, fontWeight: 'bold', color: '#E8EEF9', lineHeight: 1.45 }}&gt;&#10;                四个 Bug&#10;                &lt;br /&gt;&#10;                四条边界&#10;            &lt;/Text&gt;&#10;            &lt;Text style={{ marginTop: 18, fontSize: 16, color: 'rgba(232,238,249,0.72)', lineHeight: 1.8 }}&gt;&#10;                这四个坑没有一个是&quot;模型不行&quot;。全部出在加载方式、订阅生命周期、错误传播与空结果的边界上。&#10;            &lt;/Text&gt;&#10;            &lt;Box style={{ marginTop: 'auto', paddingTop: 16, paddingBottom: 16, paddingLeft: 16, paddingRight: 16, background: 'rgba(42,212,238,0.08)', border: '1px solid rgba(42,212,238,0.22)', borderRadius: 4 }}&gt;&#10;                &lt;Text style={{ fontSize: 14, color: '#2AD4EE', letterSpacing: 3, fontFamily: '&quot;JetBrains Mono&quot;, &quot;Cascadia Mono&quot;, Consolas, monospace' }}&gt;所以&lt;/Text&gt;&#10;                &lt;Text style={{ marginTop: 10, fontSize: 15.5, color: '#E8EEF9', lineHeight: 1.7 }}&gt;&#10;                    Agent 的坑大多不在模型，在&lt;span style={{ color: '#2AD4EE' }}&gt;边界&lt;/span&gt;。&#10;                &lt;/Text&gt;&#10;            &lt;/Box&gt;&#10;        &lt;/Box&gt;&#10;&#10;        {/* 右：2×2 卡片 */}&#10;        &lt;Box style={{ flex: 1, flexDirection: 'column', gap: 16 }}&gt;&#10;            {[&#10;                [&#10;                    { n: '01', i: 'bug', t: '上下文在工具里读不到', c: '根因', cd: '.pi 扩展由 jiti(CJS) 加载，对 context 的 import 是独立编译副本，AsyncLocalStorage 实例被隔离，工具内 getCtx() 永远失败。', f: '修法', fd: '不打补丁——删掉 ALS，会话上下文沿调用链显式传参。' },&#10;                    { n: '02', i: 'clone', t: '每个字都重复两遍', c: '根因', cd: 'EventBus.attach 二次调用时，旧订阅的 unsubscribe 引用被覆盖却从未调用，新旧回调并存，每个事件 emit 两遍。', f: '修法', fd: 'attach 开头先 detach 旧回调，保证任一时刻只有一个订阅者。' },&#10;                ],&#10;                [&#10;                    { n: '03', i: 'circle-exclamation', t: '页面空白，模型&quot;没有输出&quot;', c: '根因', cd: '模型层 429（余额 / 限流）被内部重试 3 次后放弃，prompt() 不抛异常，错误全程静默。', f: '修法', fd: 'message_end 分支兜底：stopReason = error 时补推 SSE error，页面直接显示失败原因。' },&#10;                    { n: '04', i: 'ban', t: '无数据时反复换参重试', c: '根因', cd: '模型很难接受&quot;空结果&quot;，会降级改 SQL 或换参数重来，既浪费轮次，也可能编造数据。', f: '修法', fd: '双层熔断：软引导下发终止指令，硬熔断由服务端直接拒绝二次调用。' },&#10;                ],&#10;            ].map((row, ri) =&gt; (&#10;                &lt;Box key={ri} style={{ flex: 1, flexDirection: 'row', gap: 24 }}&gt;&#10;                    {row.map((k, ki) =&gt; (&#10;                        &lt;Box key={ki} style={{ flex: 1, flexDirection: 'column', paddingTop: 14, paddingBottom: 14, paddingLeft: 16, paddingRight: 16, background: 'rgba(22,35,61,0.92)', border: '1px solid rgba(232,238,249,0.10)', borderTop: '3px solid rgba(42,212,238,0.75)', borderRadius: 3 }}&gt;&#10;                            &lt;Box style={{ flexDirection: 'row', alignItems: 'center', gap: 12 }}&gt;&#10;                                &lt;Text style={{ fontSize: 26, color: '#2AD4EE', fontFamily: '&quot;JetBrains Mono&quot;, &quot;Cascadia Mono&quot;, Consolas, monospace', lineHeight: 1 }}&gt;{k.n}&lt;/Text&gt;&#10;                                &lt;FAIcon name={k.i} style={{ fill: 'rgba(42,212,238,0.85)', width: 15, height: 15 }} /&gt;&#10;                                &lt;Text style={{ flex: 1, fontSize: 16.5, fontWeight: 'bold', color: '#E8EEF9', lineHeight: 1.35 }}&gt;{k.t}&lt;/Text&gt;&#10;                            &lt;/Box&gt;&#10;                            &lt;Box style={{ marginTop: 'auto', flexDirection: 'column', gap: 8 }}&gt;&#10;                                &lt;Text style={{ fontSize: 13.5, color: 'rgba(232,238,249,0.66)', lineHeight: 1.6 }}&gt;&#10;                                    &lt;span style={{ color: '#2AD4EE', fontFamily: '&quot;JetBrains Mono&quot;, &quot;Cascadia Mono&quot;, Consolas, monospace', fontSize: 12.5 }}&gt;{k.c} &lt;/span&gt;&#10;                                    {k.cd}&#10;                                &lt;/Text&gt;&#10;                                &lt;Text style={{ fontSize: 13.5, color: 'rgba(232,238,249,0.80)', lineHeight: 1.6 }}&gt;&#10;                                    &lt;span style={{ color: '#2AD4EE', fontFamily: '&quot;JetBrains Mono&quot;, &quot;Cascadia Mono&quot;, Consolas, monospace', fontSize: 12.5 }}&gt;{k.f} &lt;/span&gt;&#10;                                    {k.fd}&#10;                                &lt;/Text&gt;&#10;                            &lt;/Box&gt;&#10;                        &lt;/Box&gt;&#10;                    ))}&#10;                &lt;/Box&gt;&#10;            ))}&#10;        &lt;/Box&gt;&#10;    &lt;/Box&gt;&#10;&#10;    {/* C 区 · 页脚 */}&#10;    &lt;Box style={{ height: 40, flexDirection: 'row', alignItems: 'flex-end', justifyContent: 'space-between' }}&gt;&#10;        &lt;Text style={{ fontSize: 14, color: 'rgba(232,238,249,0.42)' }}&gt;从 LLM 到 Agent 再到 Pi Agent&lt;/Text&gt;&#10;        &lt;Text style={{ fontSize: 14, color: 'rgba(232,238,249,0.42)', fontFamily: '&quot;JetBrains Mono&quot;, &quot;Cascadia Mono&quot;, Consolas, monospace' }}&gt;32 / 3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132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1133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5528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踩坑实录：四个真实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Bug</a:t>
            </a:r>
            <a:endParaRPr/>
          </a:p>
        </p:txBody>
      </p:sp>
      <p:sp>
        <p:nvSpPr>
          <p:cNvPr id="1134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552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现象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根因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修法，一个不少地记下来</a:t>
            </a:r>
            <a:endParaRPr/>
          </a:p>
        </p:txBody>
      </p:sp>
      <p:sp>
        <p:nvSpPr>
          <p:cNvPr id="1135" name=""/>
          <p:cNvSpPr/>
          <p:nvPr/>
        </p:nvSpPr>
        <p:spPr>
          <a:xfrm rot="0" flipH="0" flipV="0">
            <a:off x="685800" y="1143000"/>
            <a:ext cx="2495550" cy="4914900"/>
          </a:xfrm>
          <a:custGeom>
            <a:pathLst>
              <a:path w="262" h="516">
                <a:moveTo>
                  <a:pt x="261" y="0"/>
                </a:moveTo>
                <a:lnTo>
                  <a:pt x="262" y="0"/>
                </a:lnTo>
                <a:lnTo>
                  <a:pt x="262" y="516"/>
                </a:lnTo>
                <a:lnTo>
                  <a:pt x="261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1136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238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POSTMORTEM</a:t>
            </a:r>
            <a:endParaRPr/>
          </a:p>
        </p:txBody>
      </p:sp>
      <p:sp>
        <p:nvSpPr>
          <p:cNvPr id="1137" name="" descr="{&quot;isTemplate&quot;:true,&quot;type&quot;:&quot;text&quot;}"/>
          <p:cNvSpPr txBox="1"/>
          <p:nvPr/>
        </p:nvSpPr>
        <p:spPr>
          <a:xfrm rot="0" flipH="0" flipV="0">
            <a:off x="685800" y="1485900"/>
            <a:ext cx="2238375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四个</a:t>
            </a:r>
            <a:r>
              <a:rPr lang="en-US" sz="19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Bug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四条边界</a:t>
            </a:r>
            <a:endParaRPr/>
          </a:p>
        </p:txBody>
      </p:sp>
      <p:sp>
        <p:nvSpPr>
          <p:cNvPr id="1138" name="" descr="{&quot;isTemplate&quot;:true,&quot;type&quot;:&quot;text&quot;}"/>
          <p:cNvSpPr txBox="1"/>
          <p:nvPr/>
        </p:nvSpPr>
        <p:spPr>
          <a:xfrm rot="0" flipH="0" flipV="0">
            <a:off x="685800" y="2524125"/>
            <a:ext cx="2238375" cy="1323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这四个坑没有一个是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"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模型不行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"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。全部出在加载方式、订阅生命周期、错误传播与空结果的边界上。</a:t>
            </a:r>
            <a:endParaRPr/>
          </a:p>
        </p:txBody>
      </p:sp>
      <p:sp>
        <p:nvSpPr>
          <p:cNvPr id="1139" name=""/>
          <p:cNvSpPr/>
          <p:nvPr/>
        </p:nvSpPr>
        <p:spPr>
          <a:xfrm rot="0" flipH="0" flipV="0">
            <a:off x="685800" y="4886325"/>
            <a:ext cx="2238375" cy="1171575"/>
          </a:xfrm>
          <a:prstGeom prst="roundRect">
            <a:avLst>
              <a:gd name="adj" fmla="val 3252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40" name="" descr="{&quot;isTemplate&quot;:true,&quot;type&quot;:&quot;text&quot;}"/>
          <p:cNvSpPr txBox="1"/>
          <p:nvPr/>
        </p:nvSpPr>
        <p:spPr>
          <a:xfrm rot="0" flipH="0" flipV="0">
            <a:off x="838200" y="5038725"/>
            <a:ext cx="1933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1141" name="" descr="{&quot;isTemplate&quot;:true,&quot;type&quot;:&quot;text&quot;}"/>
          <p:cNvSpPr txBox="1"/>
          <p:nvPr/>
        </p:nvSpPr>
        <p:spPr>
          <a:xfrm rot="0" flipH="0" flipV="0">
            <a:off x="838200" y="5295900"/>
            <a:ext cx="19335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163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的坑大多不在模型，在</a:t>
            </a:r>
            <a:r>
              <a:rPr lang="zh-CN" sz="1163">
                <a:solidFill>
                  <a:srgbClr val="2AD4EE"/>
                </a:solidFill>
                <a:latin typeface="Source Han Sans SC"/>
                <a:ea typeface="Source Han Sans SC"/>
              </a:rPr>
              <a:t>边界</a:t>
            </a: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142" name=""/>
          <p:cNvSpPr/>
          <p:nvPr/>
        </p:nvSpPr>
        <p:spPr>
          <a:xfrm rot="0" flipH="0" flipV="0">
            <a:off x="3467100" y="1171575"/>
            <a:ext cx="3905250" cy="2381250"/>
          </a:xfrm>
          <a:prstGeom prst="roundRect">
            <a:avLst>
              <a:gd name="adj" fmla="val 1200"/>
            </a:avLst>
          </a:prstGeom>
          <a:solidFill>
            <a:srgbClr val="16233D">
              <a:alpha val="92000"/>
            </a:srgbClr>
          </a:solidFill>
          <a:ln/>
        </p:spPr>
        <p:txBody>
          <a:bodyPr/>
          <a:p/>
        </p:txBody>
      </p:sp>
      <p:sp>
        <p:nvSpPr>
          <p:cNvPr id="1143" name=""/>
          <p:cNvSpPr/>
          <p:nvPr/>
        </p:nvSpPr>
        <p:spPr>
          <a:xfrm rot="0" flipH="0" flipV="0">
            <a:off x="3467100" y="1171575"/>
            <a:ext cx="3905250" cy="2381250"/>
          </a:xfrm>
          <a:custGeom>
            <a:pathLst>
              <a:path w="410" h="250">
                <a:moveTo>
                  <a:pt x="407" y="0"/>
                </a:moveTo>
                <a:cubicBezTo>
                  <a:pt x="409" y="0"/>
                  <a:pt x="410" y="1"/>
                  <a:pt x="410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07" y="0"/>
                </a:lnTo>
                <a:close/>
              </a:path>
            </a:pathLst>
          </a:custGeom>
          <a:solidFill>
            <a:srgbClr val="2AD4EE">
              <a:alpha val="75000"/>
            </a:srgbClr>
          </a:solidFill>
          <a:ln/>
        </p:spPr>
        <p:txBody>
          <a:bodyPr/>
          <a:p/>
        </p:txBody>
      </p:sp>
      <p:sp>
        <p:nvSpPr>
          <p:cNvPr id="1144" name="" descr="{&quot;isTemplate&quot;:true,&quot;type&quot;:&quot;text&quot;}"/>
          <p:cNvSpPr txBox="1"/>
          <p:nvPr/>
        </p:nvSpPr>
        <p:spPr>
          <a:xfrm rot="0" flipH="0" flipV="0">
            <a:off x="3619500" y="1304925"/>
            <a:ext cx="2952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>
                <a:solidFill>
                  <a:srgbClr val="2AD4EE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pic>
        <p:nvPicPr>
          <p:cNvPr id="114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029075" y="1390650"/>
            <a:ext cx="142875" cy="142875"/>
          </a:xfrm>
          <a:prstGeom prst="rect">
            <a:avLst/>
          </a:prstGeom>
          <a:ln/>
        </p:spPr>
      </p:pic>
      <p:sp>
        <p:nvSpPr>
          <p:cNvPr id="1146" name="" descr="{&quot;isTemplate&quot;:true,&quot;type&quot;:&quot;text&quot;}"/>
          <p:cNvSpPr txBox="1"/>
          <p:nvPr/>
        </p:nvSpPr>
        <p:spPr>
          <a:xfrm rot="0" flipH="0" flipV="0">
            <a:off x="4286250" y="1333500"/>
            <a:ext cx="2933700" cy="2571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38" b="1">
                <a:solidFill>
                  <a:srgbClr val="E8EEF9"/>
                </a:solidFill>
                <a:latin typeface="Source Han Sans SC"/>
                <a:ea typeface="Source Han Sans SC"/>
              </a:rPr>
              <a:t>上下文在工具里读不到</a:t>
            </a:r>
            <a:endParaRPr/>
          </a:p>
        </p:txBody>
      </p:sp>
      <p:sp>
        <p:nvSpPr>
          <p:cNvPr id="1147" name="" descr="{&quot;isTemplate&quot;:true,&quot;type&quot;:&quot;text&quot;}"/>
          <p:cNvSpPr txBox="1"/>
          <p:nvPr/>
        </p:nvSpPr>
        <p:spPr>
          <a:xfrm rot="0" flipH="0" flipV="0">
            <a:off x="3619500" y="2324100"/>
            <a:ext cx="3600450" cy="742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根因</a:t>
            </a:r>
            <a:r>
              <a:rPr lang="en-US" sz="938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.pi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扩展由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jiti(CJS)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加载，对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context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的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import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是独立编译副本，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AsyncLocalStorage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实例被隔离，工具内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getCtx()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永远失败。</a:t>
            </a:r>
            <a:endParaRPr/>
          </a:p>
        </p:txBody>
      </p:sp>
      <p:sp>
        <p:nvSpPr>
          <p:cNvPr id="1148" name="" descr="{&quot;isTemplate&quot;:true,&quot;type&quot;:&quot;text&quot;}"/>
          <p:cNvSpPr txBox="1"/>
          <p:nvPr/>
        </p:nvSpPr>
        <p:spPr>
          <a:xfrm rot="0" flipH="0" flipV="0">
            <a:off x="3619500" y="3143250"/>
            <a:ext cx="360045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修法</a:t>
            </a:r>
            <a:r>
              <a:rPr lang="en-US" sz="938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不打补丁——删掉</a:t>
            </a:r>
            <a:r>
              <a:rPr lang="en-US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ALS</a:t>
            </a: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，会话上下文沿调用链显式传参。</a:t>
            </a:r>
            <a:endParaRPr/>
          </a:p>
        </p:txBody>
      </p:sp>
      <p:sp>
        <p:nvSpPr>
          <p:cNvPr id="1149" name=""/>
          <p:cNvSpPr/>
          <p:nvPr/>
        </p:nvSpPr>
        <p:spPr>
          <a:xfrm rot="0" flipH="0" flipV="0">
            <a:off x="7600950" y="1171575"/>
            <a:ext cx="3905250" cy="2381250"/>
          </a:xfrm>
          <a:prstGeom prst="roundRect">
            <a:avLst>
              <a:gd name="adj" fmla="val 1200"/>
            </a:avLst>
          </a:prstGeom>
          <a:solidFill>
            <a:srgbClr val="16233D">
              <a:alpha val="92000"/>
            </a:srgbClr>
          </a:solidFill>
          <a:ln/>
        </p:spPr>
        <p:txBody>
          <a:bodyPr/>
          <a:p/>
        </p:txBody>
      </p:sp>
      <p:sp>
        <p:nvSpPr>
          <p:cNvPr id="1150" name=""/>
          <p:cNvSpPr/>
          <p:nvPr/>
        </p:nvSpPr>
        <p:spPr>
          <a:xfrm rot="0" flipH="0" flipV="0">
            <a:off x="7600950" y="1171575"/>
            <a:ext cx="3905250" cy="2381250"/>
          </a:xfrm>
          <a:custGeom>
            <a:pathLst>
              <a:path w="410" h="250">
                <a:moveTo>
                  <a:pt x="407" y="0"/>
                </a:moveTo>
                <a:cubicBezTo>
                  <a:pt x="409" y="0"/>
                  <a:pt x="410" y="1"/>
                  <a:pt x="410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07" y="0"/>
                </a:lnTo>
                <a:close/>
              </a:path>
            </a:pathLst>
          </a:custGeom>
          <a:solidFill>
            <a:srgbClr val="2AD4EE">
              <a:alpha val="75000"/>
            </a:srgbClr>
          </a:solidFill>
          <a:ln/>
        </p:spPr>
        <p:txBody>
          <a:bodyPr/>
          <a:p/>
        </p:txBody>
      </p:sp>
      <p:sp>
        <p:nvSpPr>
          <p:cNvPr id="1151" name="" descr="{&quot;isTemplate&quot;:true,&quot;type&quot;:&quot;text&quot;}"/>
          <p:cNvSpPr txBox="1"/>
          <p:nvPr/>
        </p:nvSpPr>
        <p:spPr>
          <a:xfrm rot="0" flipH="0" flipV="0">
            <a:off x="7753350" y="1304925"/>
            <a:ext cx="2952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>
                <a:solidFill>
                  <a:srgbClr val="2AD4EE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pic>
        <p:nvPicPr>
          <p:cNvPr id="115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162925" y="1390650"/>
            <a:ext cx="142875" cy="142875"/>
          </a:xfrm>
          <a:prstGeom prst="rect">
            <a:avLst/>
          </a:prstGeom>
          <a:ln/>
        </p:spPr>
      </p:pic>
      <p:sp>
        <p:nvSpPr>
          <p:cNvPr id="1153" name="" descr="{&quot;isTemplate&quot;:true,&quot;type&quot;:&quot;text&quot;}"/>
          <p:cNvSpPr txBox="1"/>
          <p:nvPr/>
        </p:nvSpPr>
        <p:spPr>
          <a:xfrm rot="0" flipH="0" flipV="0">
            <a:off x="8420100" y="1333500"/>
            <a:ext cx="2933700" cy="2571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38" b="1">
                <a:solidFill>
                  <a:srgbClr val="E8EEF9"/>
                </a:solidFill>
                <a:latin typeface="Source Han Sans SC"/>
                <a:ea typeface="Source Han Sans SC"/>
              </a:rPr>
              <a:t>每个字都重复两遍</a:t>
            </a:r>
            <a:endParaRPr/>
          </a:p>
        </p:txBody>
      </p:sp>
      <p:sp>
        <p:nvSpPr>
          <p:cNvPr id="1154" name="" descr="{&quot;isTemplate&quot;:true,&quot;type&quot;:&quot;text&quot;}"/>
          <p:cNvSpPr txBox="1"/>
          <p:nvPr/>
        </p:nvSpPr>
        <p:spPr>
          <a:xfrm rot="0" flipH="0" flipV="0">
            <a:off x="7753350" y="2324100"/>
            <a:ext cx="36004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根因</a:t>
            </a:r>
            <a:r>
              <a:rPr lang="en-US" sz="938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EventBus.attach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二次调用时，旧订阅的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unsubscribe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引用被覆盖却从未调用，新旧回调并存，每个事件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emit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两遍。</a:t>
            </a:r>
            <a:endParaRPr/>
          </a:p>
        </p:txBody>
      </p:sp>
      <p:sp>
        <p:nvSpPr>
          <p:cNvPr id="1155" name="" descr="{&quot;isTemplate&quot;:true,&quot;type&quot;:&quot;text&quot;}"/>
          <p:cNvSpPr txBox="1"/>
          <p:nvPr/>
        </p:nvSpPr>
        <p:spPr>
          <a:xfrm rot="0" flipH="0" flipV="0">
            <a:off x="7753350" y="2895600"/>
            <a:ext cx="36004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修法</a:t>
            </a:r>
            <a:r>
              <a:rPr lang="en-US" sz="938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en-US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attach </a:t>
            </a: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开头先</a:t>
            </a:r>
            <a:r>
              <a:rPr lang="en-US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detach </a:t>
            </a: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旧回调，保证任一时刻只有一个订阅者。</a:t>
            </a:r>
            <a:endParaRPr/>
          </a:p>
        </p:txBody>
      </p:sp>
      <p:sp>
        <p:nvSpPr>
          <p:cNvPr id="1156" name=""/>
          <p:cNvSpPr/>
          <p:nvPr/>
        </p:nvSpPr>
        <p:spPr>
          <a:xfrm rot="0" flipH="0" flipV="0">
            <a:off x="3467100" y="3705225"/>
            <a:ext cx="3905250" cy="2381250"/>
          </a:xfrm>
          <a:prstGeom prst="roundRect">
            <a:avLst>
              <a:gd name="adj" fmla="val 1200"/>
            </a:avLst>
          </a:prstGeom>
          <a:solidFill>
            <a:srgbClr val="16233D">
              <a:alpha val="92000"/>
            </a:srgbClr>
          </a:solidFill>
          <a:ln/>
        </p:spPr>
        <p:txBody>
          <a:bodyPr/>
          <a:p/>
        </p:txBody>
      </p:sp>
      <p:sp>
        <p:nvSpPr>
          <p:cNvPr id="1157" name=""/>
          <p:cNvSpPr/>
          <p:nvPr/>
        </p:nvSpPr>
        <p:spPr>
          <a:xfrm rot="0" flipH="0" flipV="0">
            <a:off x="3467100" y="3705225"/>
            <a:ext cx="3905250" cy="2381250"/>
          </a:xfrm>
          <a:custGeom>
            <a:pathLst>
              <a:path w="410" h="250">
                <a:moveTo>
                  <a:pt x="407" y="0"/>
                </a:moveTo>
                <a:cubicBezTo>
                  <a:pt x="409" y="0"/>
                  <a:pt x="410" y="1"/>
                  <a:pt x="410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07" y="0"/>
                </a:lnTo>
                <a:close/>
              </a:path>
            </a:pathLst>
          </a:custGeom>
          <a:solidFill>
            <a:srgbClr val="2AD4EE">
              <a:alpha val="75000"/>
            </a:srgbClr>
          </a:solidFill>
          <a:ln/>
        </p:spPr>
        <p:txBody>
          <a:bodyPr/>
          <a:p/>
        </p:txBody>
      </p:sp>
      <p:sp>
        <p:nvSpPr>
          <p:cNvPr id="1158" name="" descr="{&quot;isTemplate&quot;:true,&quot;type&quot;:&quot;text&quot;}"/>
          <p:cNvSpPr txBox="1"/>
          <p:nvPr/>
        </p:nvSpPr>
        <p:spPr>
          <a:xfrm rot="0" flipH="0" flipV="0">
            <a:off x="3619500" y="3838575"/>
            <a:ext cx="2952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>
                <a:solidFill>
                  <a:srgbClr val="2AD4EE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pic>
        <p:nvPicPr>
          <p:cNvPr id="115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029075" y="3924300"/>
            <a:ext cx="142875" cy="142875"/>
          </a:xfrm>
          <a:prstGeom prst="rect">
            <a:avLst/>
          </a:prstGeom>
          <a:ln/>
        </p:spPr>
      </p:pic>
      <p:sp>
        <p:nvSpPr>
          <p:cNvPr id="1160" name="" descr="{&quot;isTemplate&quot;:true,&quot;type&quot;:&quot;text&quot;}"/>
          <p:cNvSpPr txBox="1"/>
          <p:nvPr/>
        </p:nvSpPr>
        <p:spPr>
          <a:xfrm rot="0" flipH="0" flipV="0">
            <a:off x="4286250" y="3867150"/>
            <a:ext cx="2933700" cy="2571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38" b="1">
                <a:solidFill>
                  <a:srgbClr val="E8EEF9"/>
                </a:solidFill>
                <a:latin typeface="Source Han Sans SC"/>
                <a:ea typeface="Source Han Sans SC"/>
              </a:rPr>
              <a:t>页面空白，模型</a:t>
            </a:r>
            <a:r>
              <a:rPr lang="en-US" sz="1238" b="1">
                <a:solidFill>
                  <a:srgbClr val="E8EEF9"/>
                </a:solidFill>
                <a:latin typeface="Source Han Sans SC"/>
                <a:ea typeface="Source Han Sans SC"/>
              </a:rPr>
              <a:t>"</a:t>
            </a:r>
            <a:r>
              <a:rPr lang="zh-CN" sz="1238" b="1">
                <a:solidFill>
                  <a:srgbClr val="E8EEF9"/>
                </a:solidFill>
                <a:latin typeface="Source Han Sans SC"/>
                <a:ea typeface="Source Han Sans SC"/>
              </a:rPr>
              <a:t>没有输出</a:t>
            </a:r>
            <a:r>
              <a:rPr lang="en-US" sz="1238" b="1">
                <a:solidFill>
                  <a:srgbClr val="E8EEF9"/>
                </a:solidFill>
                <a:latin typeface="Source Han Sans SC"/>
                <a:ea typeface="Source Han Sans SC"/>
              </a:rPr>
              <a:t>"</a:t>
            </a:r>
            <a:endParaRPr/>
          </a:p>
        </p:txBody>
      </p:sp>
      <p:sp>
        <p:nvSpPr>
          <p:cNvPr id="1161" name="" descr="{&quot;isTemplate&quot;:true,&quot;type&quot;:&quot;text&quot;}"/>
          <p:cNvSpPr txBox="1"/>
          <p:nvPr/>
        </p:nvSpPr>
        <p:spPr>
          <a:xfrm rot="0" flipH="0" flipV="0">
            <a:off x="3619500" y="4857750"/>
            <a:ext cx="36004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根因</a:t>
            </a:r>
            <a:r>
              <a:rPr lang="en-US" sz="938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模型层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429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（余额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限流）被内部重试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3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次后放弃，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prompt()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不抛异常，错误全程静默。</a:t>
            </a:r>
            <a:endParaRPr/>
          </a:p>
        </p:txBody>
      </p:sp>
      <p:sp>
        <p:nvSpPr>
          <p:cNvPr id="1162" name="" descr="{&quot;isTemplate&quot;:true,&quot;type&quot;:&quot;text&quot;}"/>
          <p:cNvSpPr txBox="1"/>
          <p:nvPr/>
        </p:nvSpPr>
        <p:spPr>
          <a:xfrm rot="0" flipH="0" flipV="0">
            <a:off x="3619500" y="5429250"/>
            <a:ext cx="36004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修法</a:t>
            </a:r>
            <a:r>
              <a:rPr lang="en-US" sz="938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en-US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message_end </a:t>
            </a: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分支兜底：</a:t>
            </a:r>
            <a:r>
              <a:rPr lang="en-US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stopReason = error </a:t>
            </a: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时补推</a:t>
            </a:r>
            <a:r>
              <a:rPr lang="en-US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SSE error</a:t>
            </a: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，页面直接显示失败原因。</a:t>
            </a:r>
            <a:endParaRPr/>
          </a:p>
        </p:txBody>
      </p:sp>
      <p:sp>
        <p:nvSpPr>
          <p:cNvPr id="1163" name=""/>
          <p:cNvSpPr/>
          <p:nvPr/>
        </p:nvSpPr>
        <p:spPr>
          <a:xfrm rot="0" flipH="0" flipV="0">
            <a:off x="7600950" y="3705225"/>
            <a:ext cx="3905250" cy="2381250"/>
          </a:xfrm>
          <a:prstGeom prst="roundRect">
            <a:avLst>
              <a:gd name="adj" fmla="val 1200"/>
            </a:avLst>
          </a:prstGeom>
          <a:solidFill>
            <a:srgbClr val="16233D">
              <a:alpha val="92000"/>
            </a:srgbClr>
          </a:solidFill>
          <a:ln/>
        </p:spPr>
        <p:txBody>
          <a:bodyPr/>
          <a:p/>
        </p:txBody>
      </p:sp>
      <p:sp>
        <p:nvSpPr>
          <p:cNvPr id="1164" name=""/>
          <p:cNvSpPr/>
          <p:nvPr/>
        </p:nvSpPr>
        <p:spPr>
          <a:xfrm rot="0" flipH="0" flipV="0">
            <a:off x="7600950" y="3705225"/>
            <a:ext cx="3905250" cy="2381250"/>
          </a:xfrm>
          <a:custGeom>
            <a:pathLst>
              <a:path w="410" h="250">
                <a:moveTo>
                  <a:pt x="407" y="0"/>
                </a:moveTo>
                <a:cubicBezTo>
                  <a:pt x="409" y="0"/>
                  <a:pt x="410" y="1"/>
                  <a:pt x="410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07" y="0"/>
                </a:lnTo>
                <a:close/>
              </a:path>
            </a:pathLst>
          </a:custGeom>
          <a:solidFill>
            <a:srgbClr val="2AD4EE">
              <a:alpha val="75000"/>
            </a:srgbClr>
          </a:solidFill>
          <a:ln/>
        </p:spPr>
        <p:txBody>
          <a:bodyPr/>
          <a:p/>
        </p:txBody>
      </p:sp>
      <p:sp>
        <p:nvSpPr>
          <p:cNvPr id="1165" name="" descr="{&quot;isTemplate&quot;:true,&quot;type&quot;:&quot;text&quot;}"/>
          <p:cNvSpPr txBox="1"/>
          <p:nvPr/>
        </p:nvSpPr>
        <p:spPr>
          <a:xfrm rot="0" flipH="0" flipV="0">
            <a:off x="7753350" y="3838575"/>
            <a:ext cx="2952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>
                <a:solidFill>
                  <a:srgbClr val="2AD4EE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pic>
        <p:nvPicPr>
          <p:cNvPr id="116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8162925" y="3924300"/>
            <a:ext cx="142875" cy="142875"/>
          </a:xfrm>
          <a:prstGeom prst="rect">
            <a:avLst/>
          </a:prstGeom>
          <a:ln/>
        </p:spPr>
      </p:pic>
      <p:sp>
        <p:nvSpPr>
          <p:cNvPr id="1167" name="" descr="{&quot;isTemplate&quot;:true,&quot;type&quot;:&quot;text&quot;}"/>
          <p:cNvSpPr txBox="1"/>
          <p:nvPr/>
        </p:nvSpPr>
        <p:spPr>
          <a:xfrm rot="0" flipH="0" flipV="0">
            <a:off x="8420100" y="3867150"/>
            <a:ext cx="2933700" cy="2571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38" b="1">
                <a:solidFill>
                  <a:srgbClr val="E8EEF9"/>
                </a:solidFill>
                <a:latin typeface="Source Han Sans SC"/>
                <a:ea typeface="Source Han Sans SC"/>
              </a:rPr>
              <a:t>无数据时反复换参重试</a:t>
            </a:r>
            <a:endParaRPr/>
          </a:p>
        </p:txBody>
      </p:sp>
      <p:sp>
        <p:nvSpPr>
          <p:cNvPr id="1168" name="" descr="{&quot;isTemplate&quot;:true,&quot;type&quot;:&quot;text&quot;}"/>
          <p:cNvSpPr txBox="1"/>
          <p:nvPr/>
        </p:nvSpPr>
        <p:spPr>
          <a:xfrm rot="0" flipH="0" flipV="0">
            <a:off x="7753350" y="4857750"/>
            <a:ext cx="36004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根因</a:t>
            </a:r>
            <a:r>
              <a:rPr lang="en-US" sz="938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模型很难接受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"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空结果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"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，会降级改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SQL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或换参数重来，既浪费轮次，也可能编造数据。</a:t>
            </a:r>
            <a:endParaRPr/>
          </a:p>
        </p:txBody>
      </p:sp>
      <p:sp>
        <p:nvSpPr>
          <p:cNvPr id="1169" name="" descr="{&quot;isTemplate&quot;:true,&quot;type&quot;:&quot;text&quot;}"/>
          <p:cNvSpPr txBox="1"/>
          <p:nvPr/>
        </p:nvSpPr>
        <p:spPr>
          <a:xfrm rot="0" flipH="0" flipV="0">
            <a:off x="7753350" y="5429250"/>
            <a:ext cx="36004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修法</a:t>
            </a:r>
            <a:r>
              <a:rPr lang="en-US" sz="938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双层熔断：软引导下发终止指令，硬熔断由服务端直接拒绝二次调用。</a:t>
            </a:r>
            <a:endParaRPr/>
          </a:p>
        </p:txBody>
      </p:sp>
      <p:sp>
        <p:nvSpPr>
          <p:cNvPr id="1170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171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32 / 33</a:t>
            </a:r>
            <a:endParaRPr/>
          </a:p>
        </p:txBody>
      </p:sp>
    </p:spTree>
  </p:cSld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172" name="" descr="&lt;Slide style={{ width: 1280, height: 720, position: 'relative', overflow: 'hidden', background: '#0B1220', fontFamily: '&quot;Source Han Sans SC&quot;, &quot;Noto Sans SC&quot;, &quot;Microsoft YaHei&quot;, sans-serif' }}&gt;&#10;    &lt;Image src=&quot;assets/ending_hero.png&quot; style={{ position: 'absolute', left: 0, top: 0, width: 1536, height: 1024 }} /&gt;&#10;    &lt;Box style={{ position: 'absolute', left: 0, top: 0, width: 1280, height: 720, background: 'linear-gradient(180deg, rgba(11,18,32,0.93) 0%, rgba(11,18,32,0.74) 26%, rgba(11,18,32,0.52) 52%, rgba(11,18,32,0.94) 100%)' }} /&gt;&#10;    &lt;Box style={{ position: 'absolute', left: 0, top: 0, width: 1280, height: 720, background: 'linear-gradient(90deg, rgba(11,18,32,0.80) 0%, rgba(11,18,32,0.10) 50%, rgba(11,18,32,0.80) 100%)' }} /&gt;&#10;&#10;    {/* 内容 */}&#10;    &lt;Box style={{ position: 'absolute', left: 120, top: 104, width: 1040, height: 512, flexDirection: 'column', alignItems: 'center', justifyContent: 'space-between' }}&gt;&#10;        {/* 金句 */}&#10;        &lt;Box style={{ flexDirection: 'column', alignItems: 'center' }}&gt;&#10;            &lt;Text style={{ fontSize: 16, color: '#2AD4EE', letterSpacing: 8, fontFamily: '&quot;JetBrains Mono&quot;, &quot;Cascadia Mono&quot;, Consolas, monospace' }}&gt;ENDING&lt;/Text&gt;&#10;            &lt;Text style={{ marginTop: 24, fontSize: 62, fontWeight: 'bold', color: '#E8EEF9', textAlign: 'center', lineHeight: 1.25, letterSpacing: 1 }}&gt;&#10;                模型是原料，&#10;                &lt;span style={{ color: '#2AD4EE' }}&gt;工程才是产品&lt;/span&gt;。&#10;            &lt;/Text&gt;&#10;            &lt;Box style={{ marginTop: 22, width: 96, height: 4, background: '#2AD4EE' }} /&gt;&#10;        &lt;/Box&gt;&#10;&#10;        {/* 三段回顾 */}&#10;        &lt;Box style={{ width: 1040, flexDirection: 'row' }}&gt;&#10;            {[&#10;                { k: 'MODEL', t: '模型', d: '无状态、有窗口。它决定「下一步干什么」，但什么都不记得。' },&#10;                { k: 'ENGINEERING', t: '工程', d: '七层功能地图 + 十条设计原则。边界，比能力更重要。' },&#10;                { k: 'DELIVERY', t: '落地', d: '三级路由 + 发现式注册，把知识装进一个真实业务系统。' },&#10;            ].map((c, i) =&gt; (&#10;                &lt;Box key={i} style={{ flex: 1, flexDirection: 'column', alignItems: 'center', paddingLeft: 24, paddingRight: 24, borderRight: i === 2 ? 'none' : '1px solid rgba(232,238,249,0.16)' }}&gt;&#10;                    &lt;Text style={{ fontSize: 12, color: 'rgba(42,212,238,0.85)', letterSpacing: 3, fontFamily: '&quot;JetBrains Mono&quot;, &quot;Cascadia Mono&quot;, Consolas, monospace' }}&gt;{c.k}&lt;/Text&gt;&#10;                    &lt;Text style={{ marginTop: 12, fontSize: 22, fontWeight: 'bold', color: '#E8EEF9' }}&gt;{c.t}&lt;/Text&gt;&#10;                    &lt;Text style={{ marginTop: 10, fontSize: 14.5, color: 'rgba(232,238,249,0.72)', textAlign: 'center', lineHeight: 1.7 }}&gt;{c.d}&lt;/Text&gt;&#10;                &lt;/Box&gt;&#10;            ))}&#10;        &lt;/Box&gt;&#10;&#10;        {/* 落款 */}&#10;        &lt;Box style={{ flexDirection: 'column', alignItems: 'center' }}&gt;&#10;            &lt;Text style={{ fontSize: 22, fontWeight: 'bold', color: '#E8EEF9', letterSpacing: 2 }}&gt;谢谢 · 欢迎提问&lt;/Text&gt;&#10;            &lt;Text style={{ marginTop: 14, fontSize: 14, color: 'rgba(232,238,249,0.48)', fontFamily: '&quot;JetBrains Mono&quot;, &quot;Cascadia Mono&quot;, Consolas, monospace' }}&gt;从 LLM 到 Agent 再到 Pi Agent　·　33 / 33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pic>
        <p:nvPicPr>
          <p:cNvPr id="1174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4630400" cy="9753600"/>
          </a:xfrm>
          <a:custGeom>
            <a:pathLst>
              <a:path w="1536" h="1024">
                <a:moveTo>
                  <a:pt x="1280" y="720"/>
                </a:moveTo>
                <a:lnTo>
                  <a:pt x="0" y="720"/>
                </a:lnTo>
                <a:lnTo>
                  <a:pt x="0" y="0"/>
                </a:lnTo>
                <a:lnTo>
                  <a:pt x="1280" y="0"/>
                </a:lnTo>
                <a:close/>
              </a:path>
            </a:pathLst>
          </a:custGeom>
          <a:ln/>
        </p:spPr>
      </p:pic>
      <p:sp>
        <p:nvSpPr>
          <p:cNvPr id="11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93000"/>
                </a:srgbClr>
              </a:gs>
              <a:gs pos="26000">
                <a:srgbClr val="0B1220">
                  <a:alpha val="74000"/>
                </a:srgbClr>
              </a:gs>
              <a:gs pos="52000">
                <a:srgbClr val="0B1220">
                  <a:alpha val="52000"/>
                </a:srgbClr>
              </a:gs>
              <a:gs pos="100000">
                <a:srgbClr val="0B1220">
                  <a:alpha val="94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11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80000"/>
                </a:srgbClr>
              </a:gs>
              <a:gs pos="50000">
                <a:srgbClr val="0B1220">
                  <a:alpha val="10000"/>
                </a:srgbClr>
              </a:gs>
              <a:gs pos="100000">
                <a:srgbClr val="0B1220">
                  <a:alpha val="80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177" name="" descr="{&quot;isTemplate&quot;:true,&quot;type&quot;:&quot;text&quot;}"/>
          <p:cNvSpPr txBox="1"/>
          <p:nvPr/>
        </p:nvSpPr>
        <p:spPr>
          <a:xfrm rot="0" flipH="0" flipV="0">
            <a:off x="5600700" y="990600"/>
            <a:ext cx="1000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600">
                <a:solidFill>
                  <a:srgbClr val="2AD4EE"/>
                </a:solidFill>
                <a:latin typeface="JetBrains Mono"/>
                <a:ea typeface="JetBrains Mono"/>
              </a:rPr>
              <a:t>ENDING</a:t>
            </a:r>
            <a:endParaRPr/>
          </a:p>
        </p:txBody>
      </p:sp>
      <p:sp>
        <p:nvSpPr>
          <p:cNvPr id="1178" name="" descr="{&quot;isTemplate&quot;:true,&quot;type&quot;:&quot;text&quot;}"/>
          <p:cNvSpPr txBox="1"/>
          <p:nvPr/>
        </p:nvSpPr>
        <p:spPr>
          <a:xfrm rot="0" flipH="0" flipV="0">
            <a:off x="2200275" y="1409700"/>
            <a:ext cx="7800975" cy="885825"/>
          </a:xfrm>
          <a:prstGeom prst="rect"/>
        </p:spPr>
        <p:txBody>
          <a:bodyPr wrap="none" lIns="0" tIns="0" rIns="0" bIns="0"/>
          <a:p>
            <a:pPr algn="ctr">
              <a:lnSpc>
                <a:spcPct val="125000"/>
              </a:lnSpc>
            </a:pPr>
            <a:r>
              <a:rPr lang="zh-CN" sz="4650" b="1" spc="75">
                <a:solidFill>
                  <a:srgbClr val="E8EEF9"/>
                </a:solidFill>
                <a:latin typeface="Source Han Sans SC"/>
                <a:ea typeface="Source Han Sans SC"/>
              </a:rPr>
              <a:t>模型是原料，</a:t>
            </a:r>
            <a:r>
              <a:rPr lang="zh-CN" sz="4650" b="1" spc="75">
                <a:solidFill>
                  <a:srgbClr val="2AD4EE"/>
                </a:solidFill>
                <a:latin typeface="Source Han Sans SC"/>
                <a:ea typeface="Source Han Sans SC"/>
              </a:rPr>
              <a:t>工程才是产品</a:t>
            </a:r>
            <a:r>
              <a:rPr lang="zh-CN" sz="4650" b="1" spc="75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179" name=""/>
          <p:cNvSpPr/>
          <p:nvPr/>
        </p:nvSpPr>
        <p:spPr>
          <a:xfrm rot="0" flipH="0" flipV="0">
            <a:off x="5648325" y="2505075"/>
            <a:ext cx="914400" cy="381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1180" name=""/>
          <p:cNvSpPr/>
          <p:nvPr/>
        </p:nvSpPr>
        <p:spPr>
          <a:xfrm rot="0" flipH="0" flipV="0">
            <a:off x="1143000" y="3343275"/>
            <a:ext cx="3314700" cy="1181100"/>
          </a:xfrm>
          <a:custGeom>
            <a:pathLst>
              <a:path w="348" h="124">
                <a:moveTo>
                  <a:pt x="347" y="0"/>
                </a:moveTo>
                <a:lnTo>
                  <a:pt x="348" y="0"/>
                </a:lnTo>
                <a:lnTo>
                  <a:pt x="348" y="124"/>
                </a:lnTo>
                <a:lnTo>
                  <a:pt x="347" y="124"/>
                </a:lnTo>
                <a:close/>
              </a:path>
            </a:pathLst>
          </a:custGeom>
          <a:solidFill>
            <a:srgbClr val="E8EEF9">
              <a:alpha val="16000"/>
            </a:srgbClr>
          </a:solidFill>
          <a:ln/>
        </p:spPr>
        <p:txBody>
          <a:bodyPr/>
          <a:p/>
        </p:txBody>
      </p:sp>
      <p:sp>
        <p:nvSpPr>
          <p:cNvPr id="1181" name="" descr="{&quot;isTemplate&quot;:true,&quot;type&quot;:&quot;text&quot;}"/>
          <p:cNvSpPr txBox="1"/>
          <p:nvPr/>
        </p:nvSpPr>
        <p:spPr>
          <a:xfrm rot="0" flipH="0" flipV="0">
            <a:off x="2552700" y="3343275"/>
            <a:ext cx="485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225">
                <a:solidFill>
                  <a:srgbClr val="2AD4EE">
                    <a:alpha val="85000"/>
                  </a:srgbClr>
                </a:solidFill>
                <a:latin typeface="JetBrains Mono"/>
                <a:ea typeface="JetBrains Mono"/>
              </a:rPr>
              <a:t>MODEL</a:t>
            </a:r>
            <a:endParaRPr/>
          </a:p>
        </p:txBody>
      </p:sp>
      <p:sp>
        <p:nvSpPr>
          <p:cNvPr id="1182" name="" descr="{&quot;isTemplate&quot;:true,&quot;type&quot;:&quot;text&quot;}"/>
          <p:cNvSpPr txBox="1"/>
          <p:nvPr/>
        </p:nvSpPr>
        <p:spPr>
          <a:xfrm rot="0" flipH="0" flipV="0">
            <a:off x="2581275" y="36004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模型</a:t>
            </a:r>
            <a:endParaRPr/>
          </a:p>
        </p:txBody>
      </p:sp>
      <p:sp>
        <p:nvSpPr>
          <p:cNvPr id="1183" name="" descr="{&quot;isTemplate&quot;:true,&quot;type&quot;:&quot;text&quot;}"/>
          <p:cNvSpPr txBox="1"/>
          <p:nvPr/>
        </p:nvSpPr>
        <p:spPr>
          <a:xfrm rot="0" flipH="0" flipV="0">
            <a:off x="1371600" y="3952875"/>
            <a:ext cx="2838450" cy="57150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70000"/>
              </a:lnSpc>
            </a:pP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无状态、有窗口。它决定「下一步干什么」，但什么都不记得。</a:t>
            </a:r>
            <a:endParaRPr/>
          </a:p>
        </p:txBody>
      </p:sp>
      <p:sp>
        <p:nvSpPr>
          <p:cNvPr id="1184" name=""/>
          <p:cNvSpPr/>
          <p:nvPr/>
        </p:nvSpPr>
        <p:spPr>
          <a:xfrm rot="0" flipH="0" flipV="0">
            <a:off x="4448175" y="3343275"/>
            <a:ext cx="3305175" cy="1181100"/>
          </a:xfrm>
          <a:custGeom>
            <a:pathLst>
              <a:path w="347" h="124">
                <a:moveTo>
                  <a:pt x="346" y="0"/>
                </a:moveTo>
                <a:lnTo>
                  <a:pt x="347" y="0"/>
                </a:lnTo>
                <a:lnTo>
                  <a:pt x="347" y="124"/>
                </a:lnTo>
                <a:lnTo>
                  <a:pt x="346" y="124"/>
                </a:lnTo>
                <a:close/>
              </a:path>
            </a:pathLst>
          </a:custGeom>
          <a:solidFill>
            <a:srgbClr val="E8EEF9">
              <a:alpha val="16000"/>
            </a:srgbClr>
          </a:solidFill>
          <a:ln/>
        </p:spPr>
        <p:txBody>
          <a:bodyPr/>
          <a:p/>
        </p:txBody>
      </p:sp>
      <p:sp>
        <p:nvSpPr>
          <p:cNvPr id="1185" name="" descr="{&quot;isTemplate&quot;:true,&quot;type&quot;:&quot;text&quot;}"/>
          <p:cNvSpPr txBox="1"/>
          <p:nvPr/>
        </p:nvSpPr>
        <p:spPr>
          <a:xfrm rot="0" flipH="0" flipV="0">
            <a:off x="5562600" y="3343275"/>
            <a:ext cx="1057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225">
                <a:solidFill>
                  <a:srgbClr val="2AD4EE">
                    <a:alpha val="85000"/>
                  </a:srgbClr>
                </a:solidFill>
                <a:latin typeface="JetBrains Mono"/>
                <a:ea typeface="JetBrains Mono"/>
              </a:rPr>
              <a:t>ENGINEERING</a:t>
            </a:r>
            <a:endParaRPr/>
          </a:p>
        </p:txBody>
      </p:sp>
      <p:sp>
        <p:nvSpPr>
          <p:cNvPr id="1186" name="" descr="{&quot;isTemplate&quot;:true,&quot;type&quot;:&quot;text&quot;}"/>
          <p:cNvSpPr txBox="1"/>
          <p:nvPr/>
        </p:nvSpPr>
        <p:spPr>
          <a:xfrm rot="0" flipH="0" flipV="0">
            <a:off x="5886450" y="36004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工程</a:t>
            </a:r>
            <a:endParaRPr/>
          </a:p>
        </p:txBody>
      </p:sp>
      <p:sp>
        <p:nvSpPr>
          <p:cNvPr id="1187" name="" descr="{&quot;isTemplate&quot;:true,&quot;type&quot;:&quot;text&quot;}"/>
          <p:cNvSpPr txBox="1"/>
          <p:nvPr/>
        </p:nvSpPr>
        <p:spPr>
          <a:xfrm rot="0" flipH="0" flipV="0">
            <a:off x="4676775" y="3952875"/>
            <a:ext cx="2828925" cy="57150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70000"/>
              </a:lnSpc>
            </a:pP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七层功能地图</a:t>
            </a:r>
            <a:r>
              <a:rPr lang="en-US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十条设计原则。边界，比能力更重要。</a:t>
            </a:r>
            <a:endParaRPr/>
          </a:p>
        </p:txBody>
      </p:sp>
      <p:sp>
        <p:nvSpPr>
          <p:cNvPr id="1188" name="" descr="{&quot;isTemplate&quot;:true,&quot;type&quot;:&quot;text&quot;}"/>
          <p:cNvSpPr txBox="1"/>
          <p:nvPr/>
        </p:nvSpPr>
        <p:spPr>
          <a:xfrm rot="0" flipH="0" flipV="0">
            <a:off x="9010650" y="3343275"/>
            <a:ext cx="771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225">
                <a:solidFill>
                  <a:srgbClr val="2AD4EE">
                    <a:alpha val="85000"/>
                  </a:srgbClr>
                </a:solidFill>
                <a:latin typeface="JetBrains Mono"/>
                <a:ea typeface="JetBrains Mono"/>
              </a:rPr>
              <a:t>DELIVERY</a:t>
            </a:r>
            <a:endParaRPr/>
          </a:p>
        </p:txBody>
      </p:sp>
      <p:sp>
        <p:nvSpPr>
          <p:cNvPr id="1189" name="" descr="{&quot;isTemplate&quot;:true,&quot;type&quot;:&quot;text&quot;}"/>
          <p:cNvSpPr txBox="1"/>
          <p:nvPr/>
        </p:nvSpPr>
        <p:spPr>
          <a:xfrm rot="0" flipH="0" flipV="0">
            <a:off x="9191625" y="36004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落地</a:t>
            </a:r>
            <a:endParaRPr/>
          </a:p>
        </p:txBody>
      </p:sp>
      <p:sp>
        <p:nvSpPr>
          <p:cNvPr id="1190" name="" descr="{&quot;isTemplate&quot;:true,&quot;type&quot;:&quot;text&quot;}"/>
          <p:cNvSpPr txBox="1"/>
          <p:nvPr/>
        </p:nvSpPr>
        <p:spPr>
          <a:xfrm rot="0" flipH="0" flipV="0">
            <a:off x="7972425" y="3952875"/>
            <a:ext cx="2847975" cy="57150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70000"/>
              </a:lnSpc>
            </a:pP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三级路由</a:t>
            </a:r>
            <a:r>
              <a:rPr lang="en-US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发现式注册，把知识装进一个真实业务系统。</a:t>
            </a:r>
            <a:endParaRPr/>
          </a:p>
        </p:txBody>
      </p:sp>
      <p:sp>
        <p:nvSpPr>
          <p:cNvPr id="1191" name="" descr="{&quot;isTemplate&quot;:true,&quot;type&quot;:&quot;text&quot;}"/>
          <p:cNvSpPr txBox="1"/>
          <p:nvPr/>
        </p:nvSpPr>
        <p:spPr>
          <a:xfrm rot="0" flipH="0" flipV="0">
            <a:off x="5229225" y="5314950"/>
            <a:ext cx="1733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 spc="150">
                <a:solidFill>
                  <a:srgbClr val="E8EEF9"/>
                </a:solidFill>
                <a:latin typeface="Source Han Sans SC"/>
                <a:ea typeface="Source Han Sans SC"/>
              </a:rPr>
              <a:t>谢谢</a:t>
            </a:r>
            <a:r>
              <a:rPr lang="en-US" sz="1650" b="1" spc="15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650" b="1" spc="150">
                <a:solidFill>
                  <a:srgbClr val="E8EEF9"/>
                </a:solidFill>
                <a:latin typeface="Source Han Sans SC"/>
                <a:ea typeface="Source Han Sans SC"/>
              </a:rPr>
              <a:t>欢迎提问</a:t>
            </a:r>
            <a:endParaRPr/>
          </a:p>
        </p:txBody>
      </p:sp>
      <p:sp>
        <p:nvSpPr>
          <p:cNvPr id="1192" name="" descr="{&quot;isTemplate&quot;:true,&quot;type&quot;:&quot;text&quot;}"/>
          <p:cNvSpPr txBox="1"/>
          <p:nvPr/>
        </p:nvSpPr>
        <p:spPr>
          <a:xfrm rot="0" flipH="0" flipV="0">
            <a:off x="4562475" y="5705475"/>
            <a:ext cx="3067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8000"/>
                  </a:srgbClr>
                </a:solidFill>
                <a:latin typeface="JetBrains Mono"/>
                <a:ea typeface="JetBrains Mono"/>
              </a:rPr>
              <a:t>从</a:t>
            </a:r>
            <a:r>
              <a:rPr lang="en-US" sz="1050">
                <a:solidFill>
                  <a:srgbClr val="E8EEF9">
                    <a:alpha val="48000"/>
                  </a:srgbClr>
                </a:solidFill>
                <a:latin typeface="JetBrains Mono"/>
                <a:ea typeface="JetBrains Mono"/>
              </a:rPr>
              <a:t xml:space="preserve"> LLM </a:t>
            </a:r>
            <a:r>
              <a:rPr lang="zh-CN" sz="1050">
                <a:solidFill>
                  <a:srgbClr val="E8EEF9">
                    <a:alpha val="48000"/>
                  </a:srgbClr>
                </a:solidFill>
                <a:latin typeface="JetBrains Mono"/>
                <a:ea typeface="JetBrains Mono"/>
              </a:rPr>
              <a:t>到</a:t>
            </a:r>
            <a:r>
              <a:rPr lang="en-US" sz="1050">
                <a:solidFill>
                  <a:srgbClr val="E8EEF9">
                    <a:alpha val="48000"/>
                  </a:srgbClr>
                </a:solidFill>
                <a:latin typeface="JetBrains Mono"/>
                <a:ea typeface="JetBrains Mono"/>
              </a:rPr>
              <a:t xml:space="preserve"> Agent </a:t>
            </a:r>
            <a:r>
              <a:rPr lang="zh-CN" sz="1050">
                <a:solidFill>
                  <a:srgbClr val="E8EEF9">
                    <a:alpha val="48000"/>
                  </a:srgbClr>
                </a:solidFill>
                <a:latin typeface="JetBrains Mono"/>
                <a:ea typeface="JetBrains Mono"/>
              </a:rPr>
              <a:t>再到</a:t>
            </a:r>
            <a:r>
              <a:rPr lang="en-US" sz="1050">
                <a:solidFill>
                  <a:srgbClr val="E8EEF9">
                    <a:alpha val="48000"/>
                  </a:srgbClr>
                </a:solidFill>
                <a:latin typeface="JetBrains Mono"/>
                <a:ea typeface="JetBrains Mono"/>
              </a:rPr>
              <a:t xml:space="preserve"> Pi Agent</a:t>
            </a:r>
            <a:r>
              <a:rPr lang="zh-CN" sz="1050">
                <a:solidFill>
                  <a:srgbClr val="E8EEF9">
                    <a:alpha val="48000"/>
                  </a:srgbClr>
                </a:solidFill>
                <a:latin typeface="JetBrains Mono"/>
                <a:ea typeface="JetBrains Mono"/>
              </a:rPr>
              <a:t>　·　</a:t>
            </a:r>
            <a:r>
              <a:rPr lang="en-US" sz="1050">
                <a:solidFill>
                  <a:srgbClr val="E8EEF9">
                    <a:alpha val="48000"/>
                  </a:srgbClr>
                </a:solidFill>
                <a:latin typeface="JetBrains Mono"/>
                <a:ea typeface="JetBrains Mono"/>
              </a:rPr>
              <a:t>33 / 33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2026-10-16T19:02:53Z</dcterms:created>
  <dcterms:modified xsi:type="dcterms:W3CDTF">2026-10-16T19:02:53Z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{"AIGC":{"Label":"1","ContentProducer":"00119111010856365494821B355","ProduceID":"01a1441d43c67297b55334a537419e52","ReservedCode1":"","ContentPropagator":"00119111010856365494821B355","PropagateID":"01a1441d43c67297b55334a537419e52","ReservedCode2":""}}</vt:lpwstr>
  </property>
</Properties>
</file>