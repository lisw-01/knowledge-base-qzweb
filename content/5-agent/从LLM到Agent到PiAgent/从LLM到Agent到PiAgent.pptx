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43.xml" ContentType="application/vnd.openxmlformats-officedocument.presentationml.slide+xml"/>
  <Override PartName="/ppt/slides/slide10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6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39" Type="http://schemas.openxmlformats.org/officeDocument/2006/relationships/slide" Target="slides/slide39.xml" /><Relationship Id="rId13" Type="http://schemas.openxmlformats.org/officeDocument/2006/relationships/slide" Target="slides/slide13.xml" /><Relationship Id="rId45" Type="http://schemas.openxmlformats.org/officeDocument/2006/relationships/presProps" Target="presProps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46" Type="http://schemas.openxmlformats.org/officeDocument/2006/relationships/tableStyles" Target="tableStyles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44" Type="http://schemas.openxmlformats.org/officeDocument/2006/relationships/notesMaster" Target="notesMasters/notesMaster1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5" Type="http://schemas.openxmlformats.org/officeDocument/2006/relationships/slide" Target="slides/slide25.xml" /><Relationship Id="rId31" Type="http://schemas.openxmlformats.org/officeDocument/2006/relationships/slide" Target="slides/slide31.xml" /><Relationship Id="rId27" Type="http://schemas.openxmlformats.org/officeDocument/2006/relationships/slide" Target="slides/slide27.xml" /><Relationship Id="rId41" Type="http://schemas.openxmlformats.org/officeDocument/2006/relationships/slide" Target="slides/slide41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2" Type="http://schemas.openxmlformats.org/officeDocument/2006/relationships/slide" Target="slides/slide32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40" Type="http://schemas.openxmlformats.org/officeDocument/2006/relationships/slide" Target="slides/slide40.xml" /><Relationship Id="rId42" Type="http://schemas.openxmlformats.org/officeDocument/2006/relationships/slide" Target="slides/slide42.xml" /><Relationship Id="rId43" Type="http://schemas.openxmlformats.org/officeDocument/2006/relationships/slide" Target="slides/slide43.xml" /><Relationship Id="rId47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2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svg" /><Relationship Id="rId2" Type="http://schemas.openxmlformats.org/officeDocument/2006/relationships/image" Target="media/image23.svg" /><Relationship Id="rId4" Type="http://schemas.openxmlformats.org/officeDocument/2006/relationships/image" Target="media/image2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6.svg" /><Relationship Id="rId2" Type="http://schemas.openxmlformats.org/officeDocument/2006/relationships/image" Target="media/image27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.svg" /><Relationship Id="rId1" Type="http://schemas.openxmlformats.org/officeDocument/2006/relationships/image" Target="media/image5.svg" /><Relationship Id="rId6" Type="http://schemas.openxmlformats.org/officeDocument/2006/relationships/image" Target="media/image8.svg" /><Relationship Id="rId5" Type="http://schemas.openxmlformats.org/officeDocument/2006/relationships/image" Target="media/image7.svg" /><Relationship Id="rId4" Type="http://schemas.openxmlformats.org/officeDocument/2006/relationships/image" Target="media/image4.svg" /><Relationship Id="rId7" Type="http://schemas.openxmlformats.org/officeDocument/2006/relationships/image" Target="media/image9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2" Type="http://schemas.openxmlformats.org/officeDocument/2006/relationships/image" Target="media/image11.sv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3" Type="http://schemas.openxmlformats.org/officeDocument/2006/relationships/image" Target="media/image15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Relationship Id="rId2" Type="http://schemas.openxmlformats.org/officeDocument/2006/relationships/image" Target="media/image19.svg" /><Relationship Id="rId3" Type="http://schemas.openxmlformats.org/officeDocument/2006/relationships/image" Target="media/image20.svg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45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37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03–10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11–19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20–37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38–44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45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5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05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7620000" y="3200400"/>
            <a:ext cx="3733800" cy="2495550"/>
          </a:xfrm>
          <a:prstGeom prst="roundRect">
            <a:avLst>
              <a:gd name="adj" fmla="val 1527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10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7848600" y="45339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8134350" y="44386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里的四种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7848600" y="48196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8134350" y="47244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7848600" y="51054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8134350" y="50101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1074" name=""/>
          <p:cNvSpPr/>
          <p:nvPr/>
        </p:nvSpPr>
        <p:spPr>
          <a:xfrm rot="0" flipH="0" flipV="0">
            <a:off x="7848600" y="53911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8134350" y="529590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45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1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里的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：谁在说话</a:t>
            </a:r>
            <a:endParaRPr/>
          </a:p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同一句话换个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，模型对它的理解就完全不一样</a:t>
            </a:r>
            <a:endParaRPr/>
          </a:p>
        </p:txBody>
      </p:sp>
      <p:sp>
        <p:nvSpPr>
          <p:cNvPr id="1619" name=""/>
          <p:cNvSpPr/>
          <p:nvPr/>
        </p:nvSpPr>
        <p:spPr>
          <a:xfrm rot="0" flipH="0" flipV="0">
            <a:off x="6858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system</a:t>
            </a:r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定规则</a:t>
            </a:r>
            <a:endParaRPr/>
          </a:p>
        </p:txBody>
      </p:sp>
      <p:sp>
        <p:nvSpPr>
          <p:cNvPr id="1622" name=""/>
          <p:cNvSpPr/>
          <p:nvPr/>
        </p:nvSpPr>
        <p:spPr>
          <a:xfrm rot="0" flipH="0" flipV="0">
            <a:off x="8572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8572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身份、能力边界、输出格式。通常放在第一条，优先级最高——用户说什么都盖不过它。</a:t>
            </a:r>
            <a:endParaRPr/>
          </a:p>
        </p:txBody>
      </p:sp>
      <p:sp>
        <p:nvSpPr>
          <p:cNvPr id="1624" name="" descr="{&quot;isTemplate&quot;:true,&quot;type&quot;:&quot;text&quot;}"/>
          <p:cNvSpPr txBox="1"/>
          <p:nvPr/>
        </p:nvSpPr>
        <p:spPr>
          <a:xfrm rot="0" flipH="0" flipV="0">
            <a:off x="8572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永远放最前</a:t>
            </a:r>
            <a:endParaRPr/>
          </a:p>
        </p:txBody>
      </p:sp>
      <p:sp>
        <p:nvSpPr>
          <p:cNvPr id="1625" name=""/>
          <p:cNvSpPr/>
          <p:nvPr/>
        </p:nvSpPr>
        <p:spPr>
          <a:xfrm rot="0" flipH="0" flipV="0">
            <a:off x="34290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36004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user</a:t>
            </a:r>
            <a:endParaRPr/>
          </a:p>
        </p:txBody>
      </p:sp>
      <p:sp>
        <p:nvSpPr>
          <p:cNvPr id="1627" name="" descr="{&quot;isTemplate&quot;:true,&quot;type&quot;:&quot;text&quot;}"/>
          <p:cNvSpPr txBox="1"/>
          <p:nvPr/>
        </p:nvSpPr>
        <p:spPr>
          <a:xfrm rot="0" flipH="0" flipV="0">
            <a:off x="36004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用户输入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提需求</a:t>
            </a:r>
            <a:endParaRPr/>
          </a:p>
        </p:txBody>
      </p:sp>
      <p:sp>
        <p:nvSpPr>
          <p:cNvPr id="1628" name=""/>
          <p:cNvSpPr/>
          <p:nvPr/>
        </p:nvSpPr>
        <p:spPr>
          <a:xfrm rot="0" flipH="0" flipV="0">
            <a:off x="36004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29" name="" descr="{&quot;isTemplate&quot;:true,&quot;type&quot;:&quot;text&quot;}"/>
          <p:cNvSpPr txBox="1"/>
          <p:nvPr/>
        </p:nvSpPr>
        <p:spPr>
          <a:xfrm rot="0" flipH="0" flipV="0">
            <a:off x="36004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这一轮用户说的话。方案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里，工具执行结果也用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user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身份拼成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回喂。</a:t>
            </a:r>
            <a:endParaRPr/>
          </a:p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36004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每轮必有</a:t>
            </a:r>
            <a:endParaRPr/>
          </a:p>
        </p:txBody>
      </p:sp>
      <p:sp>
        <p:nvSpPr>
          <p:cNvPr id="1631" name=""/>
          <p:cNvSpPr/>
          <p:nvPr/>
        </p:nvSpPr>
        <p:spPr>
          <a:xfrm rot="0" flipH="0" flipV="0">
            <a:off x="61722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63436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assistant</a:t>
            </a:r>
            <a:endParaRPr/>
          </a:p>
        </p:txBody>
      </p:sp>
      <p:sp>
        <p:nvSpPr>
          <p:cNvPr id="1633" name="" descr="{&quot;isTemplate&quot;:true,&quot;type&quot;:&quot;text&quot;}"/>
          <p:cNvSpPr txBox="1"/>
          <p:nvPr/>
        </p:nvSpPr>
        <p:spPr>
          <a:xfrm rot="0" flipH="0" flipV="0">
            <a:off x="63436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留痕</a:t>
            </a:r>
            <a:endParaRPr/>
          </a:p>
        </p:txBody>
      </p:sp>
      <p:sp>
        <p:nvSpPr>
          <p:cNvPr id="1634" name=""/>
          <p:cNvSpPr/>
          <p:nvPr/>
        </p:nvSpPr>
        <p:spPr>
          <a:xfrm rot="0" flipH="0" flipV="0">
            <a:off x="63436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35" name="" descr="{&quot;isTemplate&quot;:true,&quot;type&quot;:&quot;text&quot;}"/>
          <p:cNvSpPr txBox="1"/>
          <p:nvPr/>
        </p:nvSpPr>
        <p:spPr>
          <a:xfrm rot="0" flipH="0" flipV="0">
            <a:off x="63436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模型上一轮的回答，包括它要求调用的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。必须原样回填，它才知道自己做过什么。</a:t>
            </a:r>
            <a:endParaRPr/>
          </a:p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63436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必须回填</a:t>
            </a:r>
            <a:endParaRPr/>
          </a:p>
        </p:txBody>
      </p:sp>
      <p:sp>
        <p:nvSpPr>
          <p:cNvPr id="1637" name=""/>
          <p:cNvSpPr/>
          <p:nvPr/>
        </p:nvSpPr>
        <p:spPr>
          <a:xfrm rot="0" flipH="0" flipV="0">
            <a:off x="89154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8" name="" descr="{&quot;isTemplate&quot;:true,&quot;type&quot;:&quot;text&quot;}"/>
          <p:cNvSpPr txBox="1"/>
          <p:nvPr/>
        </p:nvSpPr>
        <p:spPr>
          <a:xfrm rot="0" flipH="0" flipV="0">
            <a:off x="90868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tool</a:t>
            </a:r>
            <a:endParaRPr/>
          </a:p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90868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外部事实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90868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90868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工具执行完的返回值，用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tool_call_id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绑定到具体那次调用，模型才知道结果属于哪一次请求。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90868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原生</a:t>
            </a: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 FC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专用</a:t>
            </a:r>
            <a:endParaRPr/>
          </a:p>
        </p:txBody>
      </p:sp>
      <p:sp>
        <p:nvSpPr>
          <p:cNvPr id="1643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MESSAGES · </a:t>
            </a:r>
            <a:r>
              <a:rPr lang="zh-CN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一次完整工具调用后，数组长这样</a:t>
            </a:r>
            <a:endParaRPr/>
          </a:p>
        </p:txBody>
      </p:sp>
      <p:sp>
        <p:nvSpPr>
          <p:cNvPr id="1644" name=""/>
          <p:cNvSpPr/>
          <p:nvPr/>
        </p:nvSpPr>
        <p:spPr>
          <a:xfrm rot="0" flipH="0" flipV="0">
            <a:off x="3933825" y="3600450"/>
            <a:ext cx="757237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5" name=""/>
          <p:cNvSpPr/>
          <p:nvPr/>
        </p:nvSpPr>
        <p:spPr>
          <a:xfrm rot="0" flipH="0" flipV="0">
            <a:off x="685800" y="54864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857250" y="5667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记住</a:t>
            </a:r>
            <a:endParaRPr/>
          </a:p>
        </p:txBody>
      </p:sp>
      <p:sp>
        <p:nvSpPr>
          <p:cNvPr id="1647" name="" descr="{&quot;isTemplate&quot;:true,&quot;type&quot;:&quot;text&quot;}"/>
          <p:cNvSpPr txBox="1"/>
          <p:nvPr/>
        </p:nvSpPr>
        <p:spPr>
          <a:xfrm rot="0" flipH="0" flipV="0">
            <a:off x="1333500" y="5619750"/>
            <a:ext cx="10001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role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不是日志标签，是对话的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语法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——它决定这段话被当成指令、提问、我自己的话，还是外部事实。</a:t>
            </a:r>
            <a:endParaRPr/>
          </a:p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64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45</a:t>
            </a:r>
            <a:endParaRPr/>
          </a:p>
        </p:txBody>
      </p:sp>
      <p:sp>
        <p:nvSpPr>
          <p:cNvPr id="1650" name=""/>
          <p:cNvSpPr/>
          <p:nvPr/>
        </p:nvSpPr>
        <p:spPr>
          <a:xfrm rot="0" flipH="0" flipV="0">
            <a:off x="685800" y="3676650"/>
            <a:ext cx="10820400" cy="171450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1" name=""/>
          <p:cNvSpPr txBox="1"/>
          <p:nvPr/>
        </p:nvSpPr>
        <p:spPr>
          <a:xfrm rot="0" flipH="0" flipV="0">
            <a:off x="838200" y="3810000"/>
            <a:ext cx="105156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messages </a:t>
            </a:r>
            <a:r>
              <a:rPr sz="11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[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"你是智数问答助手，只回答指标类问题"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"华东区上月销售额多少？"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"tool_calls"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: [{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79B8FF"/>
                </a:solidFill>
                <a:latin typeface="Menlo"/>
                <a:ea typeface="Menlo"/>
              </a:rPr>
              <a:t>...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}]},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"tool_call_id"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"1.28 亿"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]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8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1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81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816" name=""/>
          <p:cNvSpPr/>
          <p:nvPr/>
        </p:nvSpPr>
        <p:spPr>
          <a:xfrm rot="0" flipH="0" flipV="0">
            <a:off x="685800" y="1143000"/>
            <a:ext cx="3429000" cy="4914900"/>
          </a:xfrm>
          <a:custGeom>
            <a:pathLst>
              <a:path w="360" h="516">
                <a:moveTo>
                  <a:pt x="359" y="0"/>
                </a:moveTo>
                <a:lnTo>
                  <a:pt x="360" y="0"/>
                </a:lnTo>
                <a:lnTo>
                  <a:pt x="360" y="516"/>
                </a:lnTo>
                <a:lnTo>
                  <a:pt x="35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1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818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31337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819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3133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它不会记住上一次对话。不把历史完整塞回</a:t>
            </a:r>
            <a:r>
              <a:rPr lang="en-US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，它就不知道之前聊过什么——所谓「记忆」，每次请求都要你重建。</a:t>
            </a:r>
            <a:endParaRPr/>
          </a:p>
        </p:txBody>
      </p:sp>
      <p:sp>
        <p:nvSpPr>
          <p:cNvPr id="1820" name=""/>
          <p:cNvSpPr/>
          <p:nvPr/>
        </p:nvSpPr>
        <p:spPr>
          <a:xfrm rot="0" flipH="0" flipV="0">
            <a:off x="685800" y="3467100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1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822" name=""/>
          <p:cNvSpPr/>
          <p:nvPr/>
        </p:nvSpPr>
        <p:spPr>
          <a:xfrm rot="0" flipH="0" flipV="0">
            <a:off x="1352550" y="34671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3" name="" descr="{&quot;isTemplate&quot;:true,&quot;type&quot;:&quot;text&quot;}"/>
          <p:cNvSpPr txBox="1"/>
          <p:nvPr/>
        </p:nvSpPr>
        <p:spPr>
          <a:xfrm rot="0" flipH="0" flipV="0">
            <a:off x="1447800" y="3505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824" name=""/>
          <p:cNvSpPr/>
          <p:nvPr/>
        </p:nvSpPr>
        <p:spPr>
          <a:xfrm rot="0" flipH="0" flipV="0">
            <a:off x="2152650" y="3467100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5" name="" descr="{&quot;isTemplate&quot;:true,&quot;type&quot;:&quot;text&quot;}"/>
          <p:cNvSpPr txBox="1"/>
          <p:nvPr/>
        </p:nvSpPr>
        <p:spPr>
          <a:xfrm rot="0" flipH="0" flipV="0">
            <a:off x="2247900" y="35052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826" name=""/>
          <p:cNvSpPr/>
          <p:nvPr/>
        </p:nvSpPr>
        <p:spPr>
          <a:xfrm rot="0" flipH="0" flipV="0">
            <a:off x="685800" y="3876675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685800" y="40195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828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3133725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829" name=""/>
          <p:cNvSpPr/>
          <p:nvPr/>
        </p:nvSpPr>
        <p:spPr>
          <a:xfrm rot="0" flipH="0" flipV="0">
            <a:off x="714375" y="5238750"/>
            <a:ext cx="3133725" cy="8191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0" name=""/>
          <p:cNvSpPr/>
          <p:nvPr/>
        </p:nvSpPr>
        <p:spPr>
          <a:xfrm rot="0" flipH="0" flipV="0">
            <a:off x="685800" y="5238750"/>
            <a:ext cx="3162300" cy="819150"/>
          </a:xfrm>
          <a:custGeom>
            <a:pathLst>
              <a:path w="332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1" name="" descr="{&quot;isTemplate&quot;:true,&quot;type&quot;:&quot;text&quot;}"/>
          <p:cNvSpPr txBox="1"/>
          <p:nvPr/>
        </p:nvSpPr>
        <p:spPr>
          <a:xfrm rot="0" flipH="0" flipV="0">
            <a:off x="866775" y="53530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1832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1833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34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5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6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1837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1838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9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40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1841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1842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43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1844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1845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846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1847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1848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1849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1850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1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1852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3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1854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5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1856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7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1858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9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1860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1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1862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3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1864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865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6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867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186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86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45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7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7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187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1875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6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7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1879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1880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1881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82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1884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1885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1886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87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1889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1890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1891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1893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1894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1895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1896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1897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1898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1899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0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1901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1902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3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1904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1905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6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1907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1908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9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0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191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1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45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1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191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1918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1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1920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1921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922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3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1924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5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1926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7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19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1929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1930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1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932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933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934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5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936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1937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938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9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1940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19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1942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1943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44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945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1946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947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48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1949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1950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1951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2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1953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1954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955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6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1957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1958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9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1960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61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196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6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45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6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196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19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1970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71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972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73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1974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975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976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77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1978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1979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1980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1981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1982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19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45</a:t>
            </a:r>
            <a:endParaRPr/>
          </a:p>
        </p:txBody>
      </p:sp>
      <p:sp>
        <p:nvSpPr>
          <p:cNvPr id="1985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6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19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1992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1994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1995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1996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7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1998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9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2000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1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2002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3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4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2005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2006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7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2008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9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2010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11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01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01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45</a:t>
            </a:r>
            <a:endParaRPr/>
          </a:p>
        </p:txBody>
      </p:sp>
      <p:sp>
        <p:nvSpPr>
          <p:cNvPr id="2014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5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29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0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45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11 – 19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45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45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45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45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15 / 45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七层功能地图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686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的能力边界不来自模型，来自这七层的工程量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1143000"/>
            <a:ext cx="3543300" cy="4914900"/>
          </a:xfrm>
          <a:custGeom>
            <a:pathLst>
              <a:path w="372" h="516">
                <a:moveTo>
                  <a:pt x="371" y="0"/>
                </a:moveTo>
                <a:lnTo>
                  <a:pt x="372" y="0"/>
                </a:lnTo>
                <a:lnTo>
                  <a:pt x="372" y="516"/>
                </a:lnTo>
                <a:lnTo>
                  <a:pt x="37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FUNCTION MAP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209925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600" b="1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2099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七层里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前五层只是「搭起来」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32099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能不能跑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⑥~⑦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2AD4EE"/>
                </a:solidFill>
                <a:latin typeface="Source Han Sans SC"/>
                <a:ea typeface="Source Han Sans SC"/>
              </a:rPr>
              <a:t>敢不敢给别人用、出事查不查得清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4743450"/>
            <a:ext cx="3209925" cy="1314450"/>
          </a:xfrm>
          <a:prstGeom prst="roundRect">
            <a:avLst>
              <a:gd name="adj" fmla="val 289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286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57250" y="5219700"/>
            <a:ext cx="2867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换模型只动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①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，加工具只动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③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——分层，是为了让改动可预测。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0" y="11430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LAYER STACK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自下而上读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744075" y="1190625"/>
            <a:ext cx="76200" cy="76200"/>
          </a:xfrm>
          <a:prstGeom prst="rect">
            <a:avLst/>
          </a:prstGeom>
          <a:solidFill>
            <a:srgbClr val="2AD4EE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896475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越往上，越接近「生产可用」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562600" y="1428750"/>
            <a:ext cx="4953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15811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24675" y="15906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观测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评测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成本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372100" y="2114550"/>
            <a:ext cx="5334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0" y="2238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05500" y="22383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591300" y="22669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734175" y="22764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输出脱敏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181600" y="2809875"/>
            <a:ext cx="5715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0" y="29337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400800" y="29622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43675" y="297180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终止条件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029200" y="3495675"/>
            <a:ext cx="60198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248400" y="36480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91275" y="3657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876800" y="4181475"/>
            <a:ext cx="63246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029200" y="4305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410200" y="43053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0" y="43338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手脚与契约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743450" y="4876800"/>
            <a:ext cx="65913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95850" y="50006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276850" y="50006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962650" y="50292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105525" y="503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610100" y="5562600"/>
            <a:ext cx="6858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62500" y="56864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43500" y="56864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57150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972175" y="5724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选型与接入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45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45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70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45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4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4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45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9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9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20 – 37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45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45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45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45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45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九个设计点都能落回那七层——接下来十一页，逐个拆开看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2673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服务端三层，可选，不影响核心四层（现场不展开）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10439400" y="5695950"/>
            <a:ext cx="10668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0553700" y="57340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略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45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01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①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219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模型适配：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40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家厂商，一个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stream()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685800" y="1143000"/>
            <a:ext cx="3676650" cy="4476750"/>
          </a:xfrm>
          <a:custGeom>
            <a:pathLst>
              <a:path w="386" h="470">
                <a:moveTo>
                  <a:pt x="385" y="0"/>
                </a:moveTo>
                <a:lnTo>
                  <a:pt x="386" y="0"/>
                </a:lnTo>
                <a:lnTo>
                  <a:pt x="386" y="470"/>
                </a:lnTo>
                <a:lnTo>
                  <a:pt x="385" y="47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>TYPES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85800" y="1400175"/>
            <a:ext cx="3438525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适配层只产出</a:t>
            </a:r>
            <a:endParaRPr/>
          </a:p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两样东西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85800" y="218122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统一类型</a:t>
            </a:r>
            <a:r>
              <a:rPr lang="en-US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归一化事件流。这两样定好，上层就稳了。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685800" y="256222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9625" y="26193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Model&lt;TApi&gt;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09625" y="280035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id · api · baseUrl · contextWindow · compat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85800" y="3067050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09625" y="312420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Context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09625" y="3305175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systemPrompt? · messages[] · tools?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85800" y="357187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09625" y="362902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Message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9625" y="381000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User | Assistant | ToolResult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85800" y="4076700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09625" y="413385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Usage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09625" y="4314825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input · output · cacheRead · cacheWrite · cost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85800" y="458152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09625" y="46386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StopReason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09625" y="481965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stop · length · toolUse · error · aborted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685800" y="5162550"/>
            <a:ext cx="447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228725" y="5133975"/>
            <a:ext cx="1143000" cy="485775"/>
          </a:xfrm>
          <a:prstGeom prst="rect"/>
        </p:spPr>
        <p:txBody>
          <a:bodyPr wrap="none" lIns="0" tIns="0" rIns="0" bIns="28575"/>
          <a:p>
            <a:pPr>
              <a:lnSpc>
                <a:spcPct val="150000"/>
              </a:lnSpc>
            </a:pP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种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wire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40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家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300+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4610100" y="11430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>AssistantMessageEvent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9715500" y="11430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所有适配器实现的同一个出口契约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4610100" y="1381125"/>
            <a:ext cx="4953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695825" y="141922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start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5162550" y="1381125"/>
            <a:ext cx="17145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248275" y="1419225"/>
            <a:ext cx="1543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text_start / delta / end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6934200" y="1381125"/>
            <a:ext cx="81915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019925" y="14192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thinking_*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7810500" y="1381125"/>
            <a:ext cx="81915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7896225" y="14192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toolcall_*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8686800" y="1381125"/>
            <a:ext cx="428625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772525" y="1419225"/>
            <a:ext cx="25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done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9172575" y="1381125"/>
            <a:ext cx="4953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258300" y="141922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error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4610100" y="1724025"/>
            <a:ext cx="689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type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是怎么翻译的：以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anthropic-messages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为例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4610100" y="1933575"/>
            <a:ext cx="6896100" cy="200025"/>
          </a:xfrm>
          <a:custGeom>
            <a:pathLst>
              <a:path w="724" h="21">
                <a:moveTo>
                  <a:pt x="0" y="20"/>
                </a:moveTo>
                <a:lnTo>
                  <a:pt x="724" y="20"/>
                </a:lnTo>
                <a:lnTo>
                  <a:pt x="724" y="21"/>
                </a:lnTo>
                <a:lnTo>
                  <a:pt x="0" y="21"/>
                </a:lnTo>
                <a:close/>
              </a:path>
            </a:pathLst>
          </a:custGeom>
          <a:solidFill>
            <a:srgbClr val="E8EEF9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4610100" y="1933575"/>
            <a:ext cx="2857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厂商原始事件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7467600" y="1933575"/>
            <a:ext cx="4038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归一化后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4610100" y="21240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610100" y="21812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7467600" y="21812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start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（携带空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partial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）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4610100" y="2390775"/>
            <a:ext cx="6896100" cy="409575"/>
          </a:xfrm>
          <a:custGeom>
            <a:pathLst>
              <a:path w="724" h="43">
                <a:moveTo>
                  <a:pt x="0" y="42"/>
                </a:moveTo>
                <a:lnTo>
                  <a:pt x="724" y="42"/>
                </a:lnTo>
                <a:lnTo>
                  <a:pt x="724" y="43"/>
                </a:lnTo>
                <a:lnTo>
                  <a:pt x="0" y="43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4610100" y="2447925"/>
            <a:ext cx="28575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content_block_start (text / thinking / tool_use)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467600" y="251460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text_start / thinking_start / toolcall_start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4610100" y="2790825"/>
            <a:ext cx="6896100" cy="409575"/>
          </a:xfrm>
          <a:custGeom>
            <a:pathLst>
              <a:path w="724" h="43">
                <a:moveTo>
                  <a:pt x="0" y="42"/>
                </a:moveTo>
                <a:lnTo>
                  <a:pt x="724" y="42"/>
                </a:lnTo>
                <a:lnTo>
                  <a:pt x="724" y="43"/>
                </a:lnTo>
                <a:lnTo>
                  <a:pt x="0" y="43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4610100" y="2847975"/>
            <a:ext cx="28575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content_block_delta (text_delta / input_json_delta)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467600" y="291465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对应的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*_delta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4610100" y="31908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4610100" y="32480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content_block_stop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467600" y="32480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对应的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*_end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4610100" y="34575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4610100" y="35147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 xml:space="preserve">message_delta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 xml:space="preserve"> stop_reason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7467600" y="35147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done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，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reason 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折叠成枚举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4610100" y="3838575"/>
            <a:ext cx="3390900" cy="1000125"/>
          </a:xfrm>
          <a:prstGeom prst="roundRect">
            <a:avLst>
              <a:gd name="adj" fmla="val 2857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4724400" y="3924300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没有边界就造边界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724400" y="41148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流没有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content_block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：首次见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delta.content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补发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text_start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finish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时补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text_end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tool_calls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index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映射成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contentIndex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8115300" y="3838575"/>
            <a:ext cx="3390900" cy="1000125"/>
          </a:xfrm>
          <a:prstGeom prst="roundRect">
            <a:avLst>
              <a:gd name="adj" fmla="val 2857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229600" y="3924300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③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终止原因折叠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229600" y="41148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end_turn / stop → stop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max_tokens / length → length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tool_use / tool_calls → toolUse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。加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error / aborted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即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StopReason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全集。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57250" y="5762625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关键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295400" y="5715000"/>
            <a:ext cx="10039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每个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都携带最新的完整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>partial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：归一化不只是改名，还把状态模型也统一了——消费者拿任何一个事件都是自洽快照。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45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01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归一化之后的收尾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010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「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兼容」的残缺，逐个关掉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COMPAT · 8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个开关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5553075" y="1143000"/>
            <a:ext cx="166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接国产服务，前两项最常手动关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685800" y="1419225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supportsDeveloperRole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543300" y="15906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system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角色发系统提示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85800" y="1933575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685800" y="210502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supportsReasoningEffort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3543300" y="21050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不发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reasoning_effort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参数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685800" y="2438400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685800" y="261937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supportsStore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3543300" y="260985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不传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store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字段，禁用服务端留存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85800" y="2952750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supportsUsageInStreaming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3543300" y="312420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不解析流里的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usage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5800" y="3457575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85800" y="363855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supportsFinishReason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3543300" y="36290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忽略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finish_reason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，只认内容结束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5800" y="3971925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maxTokensField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3543300" y="41433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换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max tokens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的字段名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685800" y="4476750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requiresToolResultName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3543300" y="464820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给工具结果补上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name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字段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85800" y="516255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requiresAssistantAfterToolResult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3543300" y="516255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工具结果后补一条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assistant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消息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85800" y="5581650"/>
            <a:ext cx="65341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默认按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baseUrl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自动探测；接自建厂商时，在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models.json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写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+ baseUrl + api + models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即可，不动一行适配代码。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7505700" y="1143000"/>
            <a:ext cx="4000500" cy="1533525"/>
          </a:xfrm>
          <a:prstGeom prst="roundRect">
            <a:avLst>
              <a:gd name="adj" fmla="val 2484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7658100" y="1276350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NEVER THROW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658100" y="150495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错误也是数据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658100" y="1819275"/>
            <a:ext cx="3695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StreamFn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一旦调用，请求、模型、运行时的任何失败都必须编码成流上的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error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事件（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stopReason = error / aborted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），不允许同步抛出。上层循环因此一个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try/catch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都不用写。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7505700" y="2790825"/>
            <a:ext cx="4000500" cy="981075"/>
          </a:xfrm>
          <a:prstGeom prst="roundRect">
            <a:avLst>
              <a:gd name="adj" fmla="val 3883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658100" y="2924175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LAZY LOAD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658100" y="3152775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975">
                <a:solidFill>
                  <a:srgbClr val="E8EEF9"/>
                </a:solidFill>
                <a:latin typeface="Source Han Sans SC"/>
                <a:ea typeface="Source Han Sans SC"/>
              </a:rPr>
              <a:t>lazyApi(() =&gt; import(...))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把每家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SDK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包成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ProviderStreams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，首次调用才动态加载。不用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Claude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，就不加载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Anthropic SDK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7505700" y="3886200"/>
            <a:ext cx="4000500" cy="2171700"/>
          </a:xfrm>
          <a:prstGeom prst="roundRect">
            <a:avLst>
              <a:gd name="adj" fmla="val 1754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658100" y="4019550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AUTH · </a:t>
            </a: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四级优先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658100" y="425767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886700" y="42576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--api-key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8896350" y="4257675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仅内存，不落盘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7658100" y="445770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7886700" y="44577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auth.json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8896350" y="445770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OAuth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登录态也在这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7658100" y="465772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7886700" y="46577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环境变量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896350" y="4657725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ANTHROPIC_API_KEY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等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7658100" y="48577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886700" y="48577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models.json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8896350" y="48577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provider.apiKey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，可引用变量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658100" y="5667375"/>
            <a:ext cx="3695700" cy="276225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en-US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SDK </a:t>
            </a: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侧：</a:t>
            </a:r>
            <a:r>
              <a:rPr lang="en-US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modelRuntime.setRuntimeApiKey("anthropic", key) </a:t>
            </a: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运行时注入。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45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02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②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上下文工程：每一行常驻都要付租金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SYSTEM PROMPT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分层组装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5648325" y="11430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越靠上越稳定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685800" y="1400175"/>
            <a:ext cx="56769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16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819150" y="16002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E8EEF9"/>
                </a:solidFill>
                <a:latin typeface="Source Han Sans SC"/>
                <a:ea typeface="Source Han Sans SC"/>
              </a:rPr>
              <a:t>基础系统提示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2305050" y="158115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编码代理人格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+ guidelines +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工具片段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4800600" y="161925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内核生成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&lt;1000 token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685800" y="2019300"/>
            <a:ext cx="56769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11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19150" y="221932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AGENTS.md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2305050" y="220027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项目规则，从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cwd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向上逐级遍历自动发现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4800600" y="2171700"/>
            <a:ext cx="1428750" cy="266700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跟着仓库走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随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git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版本化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685800" y="2638425"/>
            <a:ext cx="54483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819150" y="283845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SYSTEM.md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2305050" y="28194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稳定的行为边界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4572000" y="285750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长期不变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685800" y="3257550"/>
            <a:ext cx="52197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19150" y="34575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APPEND_SYSTEM.md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2305050" y="3438525"/>
            <a:ext cx="20383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追加指令，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~/.pi/agent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或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.pi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4343400" y="3476625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环境级差异</a:t>
            </a:r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685800" y="3876675"/>
            <a:ext cx="4991100" cy="571500"/>
          </a:xfrm>
          <a:prstGeom prst="roundRect">
            <a:avLst>
              <a:gd name="adj" fmla="val 5000"/>
            </a:avLst>
          </a:prstGeom>
          <a:solidFill>
            <a:srgbClr val="E8EEF9">
              <a:alpha val="4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819150" y="40767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Skills </a:t>
            </a:r>
            <a:r>
              <a:rPr lang="zh-CN" sz="1088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2305050" y="3952875"/>
            <a:ext cx="18097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只有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name + description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常驻，正文按需加载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4114800" y="409575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目录常驻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正文不常驻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85800" y="4543425"/>
            <a:ext cx="567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SDK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层可覆盖：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systemPromptOverride / appendSystemPromptOverride / agentsFilesOverride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14375" y="5019675"/>
            <a:ext cx="5676900" cy="42862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685800" y="5019675"/>
            <a:ext cx="5705475" cy="428625"/>
          </a:xfrm>
          <a:custGeom>
            <a:pathLst>
              <a:path w="599" h="45">
                <a:moveTo>
                  <a:pt x="0" y="0"/>
                </a:moveTo>
                <a:lnTo>
                  <a:pt x="3" y="0"/>
                </a:lnTo>
                <a:lnTo>
                  <a:pt x="3" y="45"/>
                </a:lnTo>
                <a:lnTo>
                  <a:pt x="0" y="45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847725" y="5114925"/>
            <a:ext cx="53816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进系统提示的每一行，都要付「每轮都发」的租金——所以常驻最小化，其余按需注入。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6648450" y="1143000"/>
            <a:ext cx="4857750" cy="2571750"/>
          </a:xfrm>
          <a:prstGeom prst="roundRect">
            <a:avLst>
              <a:gd name="adj" fmla="val 148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819900" y="1295400"/>
            <a:ext cx="451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19900" y="15240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目录常驻，正文按需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819900" y="1800225"/>
            <a:ext cx="4514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.pi/skills/&lt;name&gt;/SKILL.md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frontmatter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写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name + description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。模型只看到目录，需要时才读正文。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6819900" y="24574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6934200" y="239077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 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同源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检索式注入，优于全量携带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6819900" y="274320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934200" y="267652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disableModelInvocation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只许用户手动触发，不许模型自己调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6819900" y="30289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6934200" y="296227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可筛选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合并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内联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skillsOverride +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合成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sourceInfo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6648450" y="3848100"/>
            <a:ext cx="4857750" cy="1600200"/>
          </a:xfrm>
          <a:prstGeom prst="roundRect">
            <a:avLst>
              <a:gd name="adj" fmla="val 238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6819900" y="4000500"/>
            <a:ext cx="451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PROMPT </a:t>
            </a: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模板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6819900" y="42291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文件版斜杠命令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819900" y="4505325"/>
            <a:ext cx="4514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/templatename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触发，模板是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文件，内容作为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注入。部署步骤、审查清单这类固定流程，沉淀成模板比每次口述可靠。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857250" y="54864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  <a:p>
            <a:pPr>
              <a:lnSpc>
                <a:spcPct val="14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从哪来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1438275" y="5572125"/>
            <a:ext cx="98964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&lt;1000 token ·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默认只挂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个工具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Skills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按需不常驻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compaction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主动压长会话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四件事叠加，才有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Databricks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基准里约三分之一的每轮上下文。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45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02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compaction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压缩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压缩是有损的，日志是无损的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两条触发路径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85800" y="1400175"/>
            <a:ext cx="2867025" cy="1285875"/>
          </a:xfrm>
          <a:prstGeom prst="roundRect">
            <a:avLst>
              <a:gd name="adj" fmla="val 2222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809625" y="14859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threshold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590675" y="148590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EEF9"/>
                </a:solidFill>
                <a:latin typeface="Source Han Sans SC"/>
                <a:ea typeface="Source Han Sans SC"/>
              </a:rPr>
              <a:t>提前压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09625" y="1714500"/>
            <a:ext cx="26193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contextTokens &gt; contextWindow − reserveTokens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（默认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16384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809625" y="2200275"/>
            <a:ext cx="26193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下一次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assistant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请求前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每次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agent_end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后；不打断当前轮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3648075" y="1400175"/>
            <a:ext cx="28670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3771900" y="1485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overflow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4476750" y="148590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EEF9"/>
                </a:solidFill>
                <a:latin typeface="Source Han Sans SC"/>
                <a:ea typeface="Source Han Sans SC"/>
              </a:rPr>
              <a:t>事后压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3771900" y="1714500"/>
            <a:ext cx="26193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provider 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报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context overflow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，或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stopReason = length 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且可恢复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3771900" y="2200275"/>
            <a:ext cx="26193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compact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后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continue()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恢复被打断的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turn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；只重试一次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685800" y="283845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切点不是简单截断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三条边界规则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685800" y="3095625"/>
            <a:ext cx="5829300" cy="542925"/>
          </a:xfrm>
          <a:custGeom>
            <a:pathLst>
              <a:path w="612" h="57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685800" y="315277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971550" y="3152775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保住工作现场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971550" y="3352800"/>
            <a:ext cx="5543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从最新消息向前累计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，凑够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keepRecentTokens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（默认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20000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）处切开。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685800" y="3714750"/>
            <a:ext cx="5829300" cy="771525"/>
          </a:xfrm>
          <a:custGeom>
            <a:pathLst>
              <a:path w="612" h="81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971550" y="3771900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只在合法切点切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971550" y="3971925"/>
            <a:ext cx="55435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user / assistant / bashExecution / custom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可以切，绝不在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toolResult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处切——工具结果必须紧跟它对应的调用。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85800" y="4562475"/>
            <a:ext cx="5829300" cy="771525"/>
          </a:xfrm>
          <a:custGeom>
            <a:pathLst>
              <a:path w="612" h="81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685800" y="461962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971550" y="4619625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切在轮中要补前缀摘要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971550" y="4819650"/>
            <a:ext cx="55435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split turn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时对该轮前缀单独生成小摘要：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Original Request / Early Progress / Context for Suffix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，拼在主摘要之后。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685800" y="5457825"/>
            <a:ext cx="5829300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19150" y="56864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WRITE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1276350" y="5534025"/>
            <a:ext cx="5105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.jsonl 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不删任何条目，只追加一条</a:t>
            </a: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compaction entry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summary + firstKeptEntryId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）——随时可回溯，甚至撤销压缩。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781800" y="1143000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结构化摘要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固定模板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781800" y="1362075"/>
            <a:ext cx="472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被丢弃的消息序列化进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&lt;conversation&gt; </a:t>
            </a: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标签，让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输出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checkpoint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6800850" y="16002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6781800" y="16002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896100" y="16668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Goal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8877300" y="16573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这次任务要达成什么</a:t>
            </a:r>
            <a:endParaRPr/>
          </a:p>
        </p:txBody>
      </p:sp>
      <p:sp>
        <p:nvSpPr>
          <p:cNvPr id="1019" name=""/>
          <p:cNvSpPr/>
          <p:nvPr/>
        </p:nvSpPr>
        <p:spPr>
          <a:xfrm rot="0" flipH="0" flipV="0">
            <a:off x="6800850" y="19050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6781800" y="19050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6896100" y="19716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Constraints &amp; Preferences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877300" y="19621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约束、偏好、不能碰的东西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6800850" y="22098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6781800" y="22098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6896100" y="22764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Progress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8877300" y="22669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Done / In Progress / Blocked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800850" y="25146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6781800" y="25146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6896100" y="25812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Key Decisions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877300" y="25717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做过哪些决定，为什么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6800850" y="28194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6781800" y="28194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896100" y="28860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Next Steps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8877300" y="28765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下一步该干什么</a:t>
            </a:r>
            <a:endParaRPr/>
          </a:p>
        </p:txBody>
      </p:sp>
      <p:sp>
        <p:nvSpPr>
          <p:cNvPr id="1035" name=""/>
          <p:cNvSpPr/>
          <p:nvPr/>
        </p:nvSpPr>
        <p:spPr>
          <a:xfrm rot="0" flipH="0" flipV="0">
            <a:off x="6800850" y="31242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6781800" y="31242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6896100" y="31908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Critical Context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8877300" y="31813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路径、函数名、报错原文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781800" y="3495675"/>
            <a:ext cx="4724400" cy="2562225"/>
          </a:xfrm>
          <a:prstGeom prst="roundRect">
            <a:avLst>
              <a:gd name="adj" fmla="val 111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915150" y="3609975"/>
            <a:ext cx="445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增量合并，不滚雪球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6915150" y="3810000"/>
            <a:ext cx="4457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已有旧摘要时走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UPDATE prompt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：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PRESERVE all existing information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，只把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In Progress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挪到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Done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、刷新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Next Steps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6915150" y="4352925"/>
            <a:ext cx="4457700" cy="238125"/>
          </a:xfrm>
          <a:prstGeom prst="rect"/>
        </p:spPr>
        <p:txBody>
          <a:bodyPr wrap="none" lIns="0" tIns="0" rIns="0" bIns="0"/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模板硬性要求保真：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Preserve exact file paths, function names, and error messages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6915150" y="4667250"/>
            <a:ext cx="4457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文件清单兜底：从历史工具调用提取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readFiles / modifiedFiles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，存进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entry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details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，下次压缩继承。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6915150" y="5648325"/>
            <a:ext cx="4457700" cy="304800"/>
          </a:xfrm>
          <a:custGeom>
            <a:pathLst>
              <a:path w="468" h="32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915150" y="5734050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摘要调用失败或</a:t>
            </a:r>
            <a:r>
              <a:rPr lang="en-US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stopReason = error / length → </a:t>
            </a: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拒绝落盘。半截摘要当</a:t>
            </a:r>
            <a:r>
              <a:rPr lang="en-US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checkpoint </a:t>
            </a: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是灾难。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45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0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7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03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③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工具系统：三种视角，四段流水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85800" y="1143000"/>
            <a:ext cx="4476750" cy="4305300"/>
          </a:xfrm>
          <a:custGeom>
            <a:pathLst>
              <a:path w="470" h="452">
                <a:moveTo>
                  <a:pt x="469" y="0"/>
                </a:moveTo>
                <a:lnTo>
                  <a:pt x="470" y="0"/>
                </a:lnTo>
                <a:lnTo>
                  <a:pt x="470" y="452"/>
                </a:lnTo>
                <a:lnTo>
                  <a:pt x="469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AgentTool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一个对象三种视角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685800" y="1419225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16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09625" y="15144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给模型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266825" y="1514475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name · description · parameters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809625" y="1704975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模型靠这三样决定调不调。</a:t>
            </a:r>
            <a:r>
              <a:rPr lang="en-US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写得烂，模型</a:t>
            </a:r>
            <a:r>
              <a:rPr lang="en-US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90% </a:t>
            </a: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会选错工具。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685800" y="2095500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809625" y="2190750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给人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1143000" y="2190750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label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809625" y="2381250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终端里显示的人类可读名，不影响模型决策。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685800" y="2771775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809625" y="28670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</a:t>
            </a: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UI /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1504950" y="2867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details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809625" y="3057525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结构化细节，不进模型上下文，前端拿去渲染。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685800" y="3505200"/>
            <a:ext cx="423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返回值同样是分开的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content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1524000" y="37338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给模型看，进上下文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details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1524000" y="39243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给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UI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看，不进上下文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685800" y="41148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terminate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1524000" y="41148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让整个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直接停下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685800" y="4791075"/>
            <a:ext cx="4238625" cy="657225"/>
          </a:xfrm>
          <a:prstGeom prst="roundRect">
            <a:avLst>
              <a:gd name="adj" fmla="val 4348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190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1143000" y="4895850"/>
            <a:ext cx="3648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内置工具，默认只挂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个（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read / bash / edit / write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）。其余按白名单启用——工具越多，模型选错率越高。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5429250" y="11430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PIPELINE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四阶段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9620250" y="11430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包装在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execute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之外，不在工具内部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5429250" y="14001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2AD4EE">
              <a:alpha val="11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5562600" y="17526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5810250" y="1676400"/>
            <a:ext cx="5143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Prepare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6419850" y="1676400"/>
            <a:ext cx="16859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 xml:space="preserve">Schema </a:t>
            </a:r>
            <a:r>
              <a:rPr lang="zh-CN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校验</a:t>
            </a: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 xml:space="preserve"> + beforeToolCall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5810250" y="18954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钩子返回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{ block: true, reason } →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不执行，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reason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包成失败结果回喂模型。合法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≠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安全。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10496550" y="18002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钩子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可拦截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5429250" y="24288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5562600" y="2781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5810250" y="2705100"/>
            <a:ext cx="5048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Execute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6410325" y="2705100"/>
            <a:ext cx="10477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tool.execute(...)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5810250" y="29241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唯一必须自己写的一段。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signal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接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Esc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中止，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onUpdate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报进度，长任务两个都要接。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0496550" y="28289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必写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5429250" y="34575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5562600" y="3810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5810250" y="3733800"/>
            <a:ext cx="4953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Finalize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6400800" y="3733800"/>
            <a:ext cx="800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afterToolCall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5810250" y="39528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返回新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result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就覆盖原结果——脱敏、改写、补记账都在这。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undefined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原样放行。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10496550" y="38576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钩子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可改写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5429250" y="44862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16233D">
              <a:alpha val="50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5562600" y="4838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5810250" y="476250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6496050" y="4762500"/>
            <a:ext cx="11715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stopReason = length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5810250" y="49815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全部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 call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直接标记失败，残缺参数绝不执行。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10496550" y="48863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兜底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无干预点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685800" y="5448300"/>
            <a:ext cx="10820400" cy="609600"/>
          </a:xfrm>
          <a:prstGeom prst="roundRect">
            <a:avLst>
              <a:gd name="adj" fmla="val 625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57250" y="5553075"/>
            <a:ext cx="828675" cy="400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框架定机制</a:t>
            </a:r>
            <a:endParaRPr/>
          </a:p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开发者填策略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1838325" y="5629275"/>
            <a:ext cx="822960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默认裸奔也能跑：不写钩子，校验和截断保护照样生效。拦截、审计、脱敏、终止是可选增强——一个钩子管住所有工具，插入点收敛了，但没有消失。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10220325" y="5553075"/>
            <a:ext cx="1114425" cy="400050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Operations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抽象</a:t>
            </a:r>
            <a:endParaRPr/>
          </a:p>
          <a:p>
            <a:pPr algn="r">
              <a:lnSpc>
                <a:spcPct val="145000"/>
              </a:lnSpc>
            </a:pP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本地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容器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/ SSH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可换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45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04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④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会话系统：追加日志，树形分叉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STORAGE · entry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追加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用户消息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助手消息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压缩记录，都是一行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685800" y="415290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819150" y="4086225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追加</a:t>
            </a: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>-only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好备份、好流式读取；不修改历史，只往后写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685800" y="4448175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parent </a:t>
            </a: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指针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每个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entry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记住父节点，树就自然长出来了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685800" y="47434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819150" y="4676775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SQLite </a:t>
            </a: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可选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sessions / entries / branch_entries / writer_leases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，带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FTS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全文搜索与写租约</a:t>
            </a:r>
            <a:endParaRPr/>
          </a:p>
        </p:txBody>
      </p:sp>
      <p:sp>
        <p:nvSpPr>
          <p:cNvPr id="1153" name=""/>
          <p:cNvSpPr/>
          <p:nvPr/>
        </p:nvSpPr>
        <p:spPr>
          <a:xfrm rot="0" flipH="0" flipV="0">
            <a:off x="685800" y="5067300"/>
            <a:ext cx="5981700" cy="457200"/>
          </a:xfrm>
          <a:prstGeom prst="roundRect">
            <a:avLst>
              <a:gd name="adj" fmla="val 625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838200" y="521970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价值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1257300" y="5172075"/>
            <a:ext cx="525780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E8EEF9"/>
                </a:solidFill>
                <a:latin typeface="Source Han Sans SC"/>
                <a:ea typeface="Source Han Sans SC"/>
              </a:rPr>
              <a:t>线性会话出错只能重来；树形会话可以「回到岔路口」——不用重开会话、不用重述任务。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6915150" y="1143000"/>
            <a:ext cx="4591050" cy="1866900"/>
          </a:xfrm>
          <a:prstGeom prst="roundRect">
            <a:avLst>
              <a:gd name="adj" fmla="val 204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7067550" y="12668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SessionManager ·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五种姿势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7067550" y="1495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inMemory()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8458200" y="1495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内存会话，测试用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7067550" y="16859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create(cwd)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8458200" y="16859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新建持久化会话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7067550" y="1876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continueRecent()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8458200" y="1876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继续最近，没有则新建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7067550" y="20669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list(cwd)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8458200" y="20669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列出全部（</a:t>
            </a:r>
            <a:r>
              <a:rPr lang="en-US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id + </a:t>
            </a: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首条摘要）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7067550" y="2257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open(path)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458200" y="2257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打开指定会话文件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6915150" y="3124200"/>
            <a:ext cx="4591050" cy="1952625"/>
          </a:xfrm>
          <a:prstGeom prst="roundRect">
            <a:avLst>
              <a:gd name="adj" fmla="val 195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7067550" y="32480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Runtime ·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四条替换路径</a:t>
            </a:r>
            <a:endParaRPr/>
          </a:p>
        </p:txBody>
      </p:sp>
      <p:sp>
        <p:nvSpPr>
          <p:cNvPr id="1170" name=""/>
          <p:cNvSpPr/>
          <p:nvPr/>
        </p:nvSpPr>
        <p:spPr>
          <a:xfrm rot="0" flipH="0" flipV="0">
            <a:off x="7067550" y="3476625"/>
            <a:ext cx="8572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143750" y="3514725"/>
            <a:ext cx="704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newSession()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8001000" y="3476625"/>
            <a:ext cx="12668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8077200" y="3514725"/>
            <a:ext cx="1114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switchSession(file)</a:t>
            </a:r>
            <a:endParaRPr/>
          </a:p>
        </p:txBody>
      </p:sp>
      <p:sp>
        <p:nvSpPr>
          <p:cNvPr id="1174" name=""/>
          <p:cNvSpPr/>
          <p:nvPr/>
        </p:nvSpPr>
        <p:spPr>
          <a:xfrm rot="0" flipH="0" flipV="0">
            <a:off x="9344025" y="3476625"/>
            <a:ext cx="5048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9420225" y="3514725"/>
            <a:ext cx="352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fork()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9925050" y="3476625"/>
            <a:ext cx="11525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10001250" y="3514725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importFromJsonl()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7067550" y="3762375"/>
            <a:ext cx="4286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8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四条路都先触发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session_before_switch / session_before_fork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（可取消），再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teardown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当前会话。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7067550" y="4267200"/>
            <a:ext cx="4286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>最容易漏的一步：替换后，所有会话级订阅与扩展绑定必须重新绑到</a:t>
            </a:r>
            <a:r>
              <a:rPr lang="en-US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runtime.session</a:t>
            </a:r>
            <a:r>
              <a:rPr lang="zh-CN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6915150" y="5191125"/>
            <a:ext cx="4591050" cy="333375"/>
          </a:xfrm>
          <a:prstGeom prst="roundRect">
            <a:avLst>
              <a:gd name="adj" fmla="val 11429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7067550" y="52959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LEASE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7505700" y="52863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exclusive </a:t>
            </a:r>
            <a:r>
              <a:rPr lang="zh-CN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独占</a:t>
            </a:r>
            <a:r>
              <a:rPr lang="en-US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shared </a:t>
            </a:r>
            <a:r>
              <a:rPr lang="zh-CN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共享附着：多端看同一会话不打架。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45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685800" y="1304925"/>
            <a:ext cx="5981700" cy="2667000"/>
          </a:xfrm>
          <a:prstGeom prst="roundRect">
            <a:avLst>
              <a:gd name="adj" fmla="val 285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6" name=""/>
          <p:cNvSpPr txBox="1"/>
          <p:nvPr/>
        </p:nvSpPr>
        <p:spPr>
          <a:xfrm rot="0" flipH="0" flipV="0">
            <a:off x="838200" y="1438275"/>
            <a:ext cx="5676900" cy="2400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# session.jsonl  --  append-only, one entry per line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e01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user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"把导出功能改成 CSV"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e02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read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{path: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"export.ts"}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e03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result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ok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e04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edit,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{oldText: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"xlsx",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newText: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"csv"}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e05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"改好了，已用 CSV 重写导出"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# 任何一条历史消息上都能分叉，像 git branch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|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+--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navigateTree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e02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 -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&gt;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长出新分支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e06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edit,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{流式写法}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e07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"换了个实现，行为一致"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05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⑤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72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循环：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行，两层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agent-loop.ts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结构还原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5114925" y="11430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注释编号对应右侧步骤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685800" y="4429125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54673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内层跑一个任务的工具循环（调模型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执行工具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结果拼回去），外层跑多轮续跑——单层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写不出「答完接着聊」。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6534150" y="11430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每一段在做什么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6534150" y="1400175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6667500" y="147637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(3) Thought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不是一次</a:t>
            </a: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 chat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667500" y="1657350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transformContext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（宿主改上下文）→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convertToLlm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AgentMessage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折叠成原生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Message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）→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pi-ai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stream()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。失败走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never-throw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，循环里不用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try/catch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6534150" y="2457450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6667500" y="2533650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>(4) Action → Observation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6667500" y="2714625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只有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stopReason = toolUse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才执行；结果无条件拼回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，成败都一样（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isError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标记）。错误即信息。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6534150" y="3524250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6667500" y="3600450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(2)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插话的全部机制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6667500" y="3781425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队列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drain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发生在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边界，抢的是「两轮之间」，不抢正在生成的轮次。内层活着内层消费，内层退了外层消费。</a:t>
            </a:r>
            <a:endParaRPr/>
          </a:p>
        </p:txBody>
      </p:sp>
      <p:sp>
        <p:nvSpPr>
          <p:cNvPr id="1207" name=""/>
          <p:cNvSpPr/>
          <p:nvPr/>
        </p:nvSpPr>
        <p:spPr>
          <a:xfrm rot="0" flipH="0" flipV="0">
            <a:off x="6534150" y="4581525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6667500" y="46577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(5)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停止不是单一条件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667500" y="4838700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stopReason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（模型说停）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+ shouldStopAfterTurn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（宿主叫停）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+ abort()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（用户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Esc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），三类原语组合。</a:t>
            </a:r>
            <a:endParaRPr/>
          </a:p>
        </p:txBody>
      </p:sp>
      <p:sp>
        <p:nvSpPr>
          <p:cNvPr id="1210" name=""/>
          <p:cNvSpPr/>
          <p:nvPr/>
        </p:nvSpPr>
        <p:spPr>
          <a:xfrm rot="0" flipH="0" flipV="0">
            <a:off x="685800" y="53721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57250" y="5457825"/>
            <a:ext cx="952500" cy="400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与教科书</a:t>
            </a:r>
            <a:endParaRPr/>
          </a:p>
          <a:p>
            <a:pPr>
              <a:lnSpc>
                <a:spcPct val="14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ReAct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的差异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1981200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2190750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单层变双层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4362450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4572000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插话不打断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6734175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6943725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停止原语化</a:t>
            </a:r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9115425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9324975" y="55816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每一步都是事件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45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685800" y="1304925"/>
            <a:ext cx="561975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3" name=""/>
          <p:cNvSpPr txBox="1"/>
          <p:nvPr/>
        </p:nvSpPr>
        <p:spPr>
          <a:xfrm rot="0" flipH="0" flipV="0">
            <a:off x="838200" y="1438275"/>
            <a:ext cx="531495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while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OUTER: keep the conversation going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while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INNER: one task, ReAct body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emit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"turn_start"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);          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(1)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messages.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queue.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drain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());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(2)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a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streamAssistantResponse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();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(3)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(a.stopReason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===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"toolUse"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(4)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c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a.toolCalls) {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  messages.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pipeline.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(c));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emit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"turn_end"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);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(a.stopReason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!==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"toolUse"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(5a) model said stop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hooks.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shouldStopAfterTurn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(5b) host says stop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!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queue.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hasFollowUp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nothing queued: end run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05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插话与停止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插话不打断，停止靠原语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PendingMessageQueue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两种姿势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685800" y="1400175"/>
            <a:ext cx="6096000" cy="209550"/>
          </a:xfrm>
          <a:custGeom>
            <a:pathLst>
              <a:path w="640" h="22">
                <a:moveTo>
                  <a:pt x="0" y="21"/>
                </a:moveTo>
                <a:lnTo>
                  <a:pt x="640" y="21"/>
                </a:lnTo>
                <a:lnTo>
                  <a:pt x="640" y="22"/>
                </a:lnTo>
                <a:lnTo>
                  <a:pt x="0" y="22"/>
                </a:lnTo>
                <a:close/>
              </a:path>
            </a:pathLst>
          </a:custGeom>
          <a:solidFill>
            <a:srgbClr val="E8EEF9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685800" y="1400175"/>
            <a:ext cx="102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维度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1714500" y="1400175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steer </a:t>
            </a:r>
            <a:r>
              <a:rPr lang="zh-CN" sz="863" spc="75">
                <a:solidFill>
                  <a:srgbClr val="2AD4EE"/>
                </a:solidFill>
                <a:latin typeface="Source Han Sans SC"/>
                <a:ea typeface="Source Han Sans SC"/>
              </a:rPr>
              <a:t>转向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3619500" y="1400175"/>
            <a:ext cx="3162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followUp </a:t>
            </a:r>
            <a:r>
              <a:rPr lang="zh-CN" sz="863" spc="75">
                <a:solidFill>
                  <a:srgbClr val="2AD4EE"/>
                </a:solidFill>
                <a:latin typeface="Source Han Sans SC"/>
                <a:ea typeface="Source Han Sans SC"/>
              </a:rPr>
              <a:t>追问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85800" y="160020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85800" y="16668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进队时机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1714500" y="166687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正在跑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3619500" y="166687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空闲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/ run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尾声</a:t>
            </a:r>
            <a:endParaRPr/>
          </a:p>
        </p:txBody>
      </p:sp>
      <p:sp>
        <p:nvSpPr>
          <p:cNvPr id="1239" name=""/>
          <p:cNvSpPr/>
          <p:nvPr/>
        </p:nvSpPr>
        <p:spPr>
          <a:xfrm rot="0" flipH="0" flipV="0">
            <a:off x="685800" y="188595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685800" y="19526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语义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1714500" y="195262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纠偏当前任务：别用方案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，改用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B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3619500" y="195262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追问或接续：好，那再加测试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85800" y="217170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685800" y="22383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UI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1714500" y="223837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/steer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命令，或输入框直接打字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3619500" y="223837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输入框直接打字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85800" y="260985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生效方式只取决于「消息进队时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,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循环还活着没有」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685800" y="2838450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800100" y="29622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内层在跑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steer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3009900" y="29622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内层消费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3733800" y="292417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当前这轮说完，下一个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边界注入，任务继续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685800" y="3286125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内层在跑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run </a:t>
            </a: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尾声的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followUp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3009900" y="340995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内层消费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3733800" y="337185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同样在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边界注入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—— run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并不会结束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685800" y="3733800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800100" y="38576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内层已退出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空闲期的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followUp</a:t>
            </a:r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3009900" y="385762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外层消费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3733800" y="38195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作为新输入续跑，这就是「答完接着聊」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685800" y="5019675"/>
            <a:ext cx="6096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两种姿势的区别只在进队时机与语义标签，生效机制完全相同：都是往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messages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里加一条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UserMessage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，模型只看到「上下文里多了你的话」。</a:t>
            </a:r>
            <a:endParaRPr/>
          </a:p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7048500" y="1143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四类停止原语</a:t>
            </a:r>
            <a:endParaRPr/>
          </a:p>
        </p:txBody>
      </p:sp>
      <p:sp>
        <p:nvSpPr>
          <p:cNvPr id="1262" name=""/>
          <p:cNvSpPr/>
          <p:nvPr/>
        </p:nvSpPr>
        <p:spPr>
          <a:xfrm rot="0" flipH="0" flipV="0">
            <a:off x="7048500" y="1400175"/>
            <a:ext cx="445770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7172325" y="148590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stopReason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11182350" y="148590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7172325" y="1666875"/>
            <a:ext cx="42100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模型自己说停：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stop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说完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length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到长度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toolUse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要调工具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error / aborted / deferred</a:t>
            </a:r>
            <a:endParaRPr/>
          </a:p>
        </p:txBody>
      </p:sp>
      <p:sp>
        <p:nvSpPr>
          <p:cNvPr id="1266" name=""/>
          <p:cNvSpPr/>
          <p:nvPr/>
        </p:nvSpPr>
        <p:spPr>
          <a:xfrm rot="0" flipH="0" flipV="0">
            <a:off x="7048500" y="2352675"/>
            <a:ext cx="4457700" cy="666750"/>
          </a:xfrm>
          <a:prstGeom prst="roundRect">
            <a:avLst>
              <a:gd name="adj" fmla="val 428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7172325" y="2438400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shouldStopAfterTurn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11182350" y="243840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宿主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7172325" y="2619375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每个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结束问一次宿主「还要继续吗」——预算、时间、外部信号都在这叫停</a:t>
            </a:r>
            <a:endParaRPr/>
          </a:p>
        </p:txBody>
      </p:sp>
      <p:sp>
        <p:nvSpPr>
          <p:cNvPr id="1270" name=""/>
          <p:cNvSpPr/>
          <p:nvPr/>
        </p:nvSpPr>
        <p:spPr>
          <a:xfrm rot="0" flipH="0" flipV="0">
            <a:off x="7048500" y="3095625"/>
            <a:ext cx="4457700" cy="657225"/>
          </a:xfrm>
          <a:prstGeom prst="roundRect">
            <a:avLst>
              <a:gd name="adj" fmla="val 4348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7172325" y="31813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abort()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11182350" y="318135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用户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7172325" y="3362325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硬中断当前运行（用户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Esc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）；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waitForIdle()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等运行与监听器全部沉淀后收尾</a:t>
            </a:r>
            <a:endParaRPr/>
          </a:p>
        </p:txBody>
      </p:sp>
      <p:sp>
        <p:nvSpPr>
          <p:cNvPr id="1274" name=""/>
          <p:cNvSpPr/>
          <p:nvPr/>
        </p:nvSpPr>
        <p:spPr>
          <a:xfrm rot="0" flipH="0" flipV="0">
            <a:off x="7048500" y="3829050"/>
            <a:ext cx="4457700" cy="666750"/>
          </a:xfrm>
          <a:prstGeom prst="roundRect">
            <a:avLst>
              <a:gd name="adj" fmla="val 428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7172325" y="39147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1182350" y="3914775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7172325" y="4095750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stopReason = length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时，全部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 call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直接标记失败，绝不执行半截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7077075" y="4591050"/>
            <a:ext cx="4457700" cy="8572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7048500" y="4591050"/>
            <a:ext cx="4486275" cy="857250"/>
          </a:xfrm>
          <a:custGeom>
            <a:pathLst>
              <a:path w="471" h="90">
                <a:moveTo>
                  <a:pt x="0" y="0"/>
                </a:moveTo>
                <a:lnTo>
                  <a:pt x="3" y="0"/>
                </a:lnTo>
                <a:lnTo>
                  <a:pt x="3" y="90"/>
                </a:lnTo>
                <a:lnTo>
                  <a:pt x="0" y="9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7200900" y="4686300"/>
            <a:ext cx="4181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工具层默认不重试：失败返回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isError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回喂模型，下一步由模型决定。要给外部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加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500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重试，在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execute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内做退避（记得接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signal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），或用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tool_result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钩子改写错误引导重试。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857250" y="56197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1276350" y="55721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「打断」不是杀死进程，而是把话塞进队列——上下文不断裂，不需要任何恢复逻辑。想真停就用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abort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，语义彻底分开。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33 / 45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06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⑥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扩展系统：一个函数，一张虚拟模块表</a:t>
            </a:r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685800" y="1143000"/>
            <a:ext cx="4876800" cy="4305300"/>
          </a:xfrm>
          <a:custGeom>
            <a:pathLst>
              <a:path w="512" h="452">
                <a:moveTo>
                  <a:pt x="511" y="0"/>
                </a:moveTo>
                <a:lnTo>
                  <a:pt x="512" y="0"/>
                </a:lnTo>
                <a:lnTo>
                  <a:pt x="512" y="452"/>
                </a:lnTo>
                <a:lnTo>
                  <a:pt x="511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EXTENSION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一个函数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685800" y="3038475"/>
            <a:ext cx="463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自动发现位置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不用注册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685800" y="325755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~/.pi/agent/extensions/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2838450" y="325755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全局，个人偏好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685800" y="342900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&lt;cwd&gt;/.pi/extensions/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2838450" y="342900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项目级，随</a:t>
            </a:r>
            <a:r>
              <a:rPr lang="en-US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git </a:t>
            </a: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走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685800" y="360045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settings.json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2838450" y="360045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extensions </a:t>
            </a: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数组指定路径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pi install &lt;pkg&gt;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2838450" y="377190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社区包，一条命令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可订阅事件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覆盖全生命周期（还能注册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CLI flags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UI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组件）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685800" y="4200525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752475" y="4229100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session_*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1371600" y="4200525"/>
            <a:ext cx="5334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1438275" y="42291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agent_*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1952625" y="4200525"/>
            <a:ext cx="11430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2019300" y="4229100"/>
            <a:ext cx="1009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before_agent_start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3143250" y="4200525"/>
            <a:ext cx="141922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3209925" y="422910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before_provider_request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4610100" y="4200525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4676775" y="4229100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tool_call</a:t>
            </a:r>
            <a:endParaRPr/>
          </a:p>
        </p:txBody>
      </p:sp>
      <p:sp>
        <p:nvSpPr>
          <p:cNvPr id="1314" name=""/>
          <p:cNvSpPr/>
          <p:nvPr/>
        </p:nvSpPr>
        <p:spPr>
          <a:xfrm rot="0" flipH="0" flipV="0">
            <a:off x="685800" y="4419600"/>
            <a:ext cx="7524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752475" y="4448175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tool_result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1485900" y="4419600"/>
            <a:ext cx="47625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1552575" y="4448175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turn_*</a:t>
            </a:r>
            <a:endParaRPr/>
          </a:p>
        </p:txBody>
      </p:sp>
      <p:sp>
        <p:nvSpPr>
          <p:cNvPr id="1318" name=""/>
          <p:cNvSpPr/>
          <p:nvPr/>
        </p:nvSpPr>
        <p:spPr>
          <a:xfrm rot="0" flipH="0" flipV="0">
            <a:off x="2009775" y="4419600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2076450" y="44481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message_*</a:t>
            </a:r>
            <a:endParaRPr/>
          </a:p>
        </p:txBody>
      </p:sp>
      <p:sp>
        <p:nvSpPr>
          <p:cNvPr id="1320" name=""/>
          <p:cNvSpPr/>
          <p:nvPr/>
        </p:nvSpPr>
        <p:spPr>
          <a:xfrm rot="0" flipH="0" flipV="0">
            <a:off x="2695575" y="4419600"/>
            <a:ext cx="4191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2762250" y="4448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input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3162300" y="4419600"/>
            <a:ext cx="5334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3228975" y="4448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context</a:t>
            </a:r>
            <a:endParaRPr/>
          </a:p>
        </p:txBody>
      </p:sp>
      <p:sp>
        <p:nvSpPr>
          <p:cNvPr id="1324" name=""/>
          <p:cNvSpPr/>
          <p:nvPr/>
        </p:nvSpPr>
        <p:spPr>
          <a:xfrm rot="0" flipH="0" flipV="0">
            <a:off x="685800" y="4781550"/>
            <a:ext cx="4638675" cy="666750"/>
          </a:xfrm>
          <a:prstGeom prst="roundRect">
            <a:avLst>
              <a:gd name="adj" fmla="val 4286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819150" y="4886325"/>
            <a:ext cx="4371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内核刻意不做</a:t>
            </a:r>
            <a:r>
              <a:rPr lang="en-US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、子代理、权限弹窗——它们全是扩展。</a:t>
            </a: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内核极小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扩展面全开</a:t>
            </a: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，是同一枚硬币的两面。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5810250" y="114300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VIRTUAL MODULES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依赖注入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10696575" y="11430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jiti + </a:t>
            </a:r>
            <a:r>
              <a:rPr lang="zh-CN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5810250" y="1381125"/>
            <a:ext cx="56959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扩展是运行时才加载的裸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.ts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文件，没有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node_modules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。按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Node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规则，第一行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就会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MODULE_NOT_FOUND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5810250" y="1924050"/>
            <a:ext cx="1724025" cy="942975"/>
          </a:xfrm>
          <a:prstGeom prst="roundRect">
            <a:avLst>
              <a:gd name="adj" fmla="val 3030"/>
            </a:avLst>
          </a:prstGeom>
          <a:solidFill>
            <a:srgbClr val="16233D">
              <a:alpha val="60000"/>
            </a:srgbClr>
          </a:solidFill>
          <a:ln w="12700">
            <a:solidFill>
              <a:srgbClr val="E8EEF9">
                <a:alpha val="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5915025" y="2009775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 A · peerDependencies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5915025" y="2181225"/>
            <a:ext cx="1514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用户自己装、版本要自己对齐。依赖地狱。</a:t>
            </a:r>
            <a:endParaRPr/>
          </a:p>
        </p:txBody>
      </p:sp>
      <p:sp>
        <p:nvSpPr>
          <p:cNvPr id="1332" name=""/>
          <p:cNvSpPr/>
          <p:nvPr/>
        </p:nvSpPr>
        <p:spPr>
          <a:xfrm rot="0" flipH="0" flipV="0">
            <a:off x="7620000" y="1924050"/>
            <a:ext cx="2076450" cy="942975"/>
          </a:xfrm>
          <a:prstGeom prst="roundRect">
            <a:avLst>
              <a:gd name="adj" fmla="val 3030"/>
            </a:avLst>
          </a:prstGeom>
          <a:solidFill>
            <a:srgbClr val="FF7878">
              <a:alpha val="5000"/>
            </a:srgbClr>
          </a:solidFill>
          <a:ln w="12700">
            <a:solidFill>
              <a:srgbClr val="FF8C8C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7724775" y="2009775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B · </a:t>
            </a:r>
            <a:r>
              <a:rPr lang="zh-CN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>扩展自带一份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7724775" y="2181225"/>
            <a:ext cx="18669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双实例灾难：两个事件总线、两个工具表。扩展手里的工具表，宿主循环看不见，拦截静默失效。</a:t>
            </a:r>
            <a:endParaRPr/>
          </a:p>
        </p:txBody>
      </p:sp>
      <p:sp>
        <p:nvSpPr>
          <p:cNvPr id="1335" name=""/>
          <p:cNvSpPr/>
          <p:nvPr/>
        </p:nvSpPr>
        <p:spPr>
          <a:xfrm rot="0" flipH="0" flipV="0">
            <a:off x="9782175" y="1924050"/>
            <a:ext cx="1724025" cy="942975"/>
          </a:xfrm>
          <a:prstGeom prst="roundRect">
            <a:avLst>
              <a:gd name="adj" fmla="val 303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9886950" y="2009775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/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 · virtual modules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9886950" y="2181225"/>
            <a:ext cx="1514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宿主把自己正在运行的模块实例直接递过去。</a:t>
            </a:r>
            <a:endParaRPr/>
          </a:p>
        </p:txBody>
      </p:sp>
      <p:sp>
        <p:nvSpPr>
          <p:cNvPr id="1338" name=""/>
          <p:cNvSpPr/>
          <p:nvPr/>
        </p:nvSpPr>
        <p:spPr>
          <a:xfrm rot="0" flipH="0" flipV="0">
            <a:off x="5810250" y="4543425"/>
            <a:ext cx="1447800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5886450" y="4581525"/>
            <a:ext cx="1295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单文件二进制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: virtualModules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7334250" y="4543425"/>
            <a:ext cx="1266825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7410450" y="4581525"/>
            <a:ext cx="1114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源码运行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: + tsconfigPaths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8677275" y="4543425"/>
            <a:ext cx="1304925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8753475" y="4581525"/>
            <a:ext cx="1152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dist </a:t>
            </a: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安装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: alias </a:t>
            </a: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到同一文件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5810250" y="5248275"/>
            <a:ext cx="56959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代价：注入粒度从实例升到模块，时机从构造提前到</a:t>
            </a:r>
            <a:r>
              <a:rPr lang="en-US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解析。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685800" y="55245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857250" y="56959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要点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1276350" y="56483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插件与宿主要共享的不是「同一个版本号」，而是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同一个对象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——否则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instanceof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失效、拦截静默丢失。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34 / 45</a:t>
            </a:r>
            <a:endParaRPr/>
          </a:p>
        </p:txBody>
      </p:sp>
      <p:sp>
        <p:nvSpPr>
          <p:cNvPr id="1350" name=""/>
          <p:cNvSpPr/>
          <p:nvPr/>
        </p:nvSpPr>
        <p:spPr>
          <a:xfrm rot="0" flipH="0" flipV="0">
            <a:off x="685800" y="1304925"/>
            <a:ext cx="4638675" cy="1619250"/>
          </a:xfrm>
          <a:prstGeom prst="roundRect">
            <a:avLst>
              <a:gd name="adj" fmla="val 470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1" name=""/>
          <p:cNvSpPr txBox="1"/>
          <p:nvPr/>
        </p:nvSpPr>
        <p:spPr>
          <a:xfrm rot="0" flipH="0" flipV="0">
            <a:off x="838200" y="1438275"/>
            <a:ext cx="43338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"tool_call"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FAB70"/>
                </a:solidFill>
                <a:latin typeface="Menlo"/>
                <a:ea typeface="Menlo"/>
              </a:rPr>
              <a:t>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)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=&gt;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isDangerous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(e))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{ block: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reason: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"blocked"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"my_tool"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registerCommand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"mycommand"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{ handler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5810250" y="2952750"/>
            <a:ext cx="5695950" cy="1504950"/>
          </a:xfrm>
          <a:prstGeom prst="roundRect">
            <a:avLst>
              <a:gd name="adj" fmla="val 5063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3" name=""/>
          <p:cNvSpPr txBox="1"/>
          <p:nvPr/>
        </p:nvSpPr>
        <p:spPr>
          <a:xfrm rot="0" flipH="0" flipV="0">
            <a:off x="5962650" y="3086100"/>
            <a:ext cx="53911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825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825">
                <a:solidFill>
                  <a:srgbClr val="79B8FF"/>
                </a:solidFill>
                <a:latin typeface="Menlo"/>
                <a:ea typeface="Menlo"/>
              </a:rPr>
              <a:t>VIRTUAL_MODULES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8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{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typebox:                       bundledTypebox,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"@earendil-works/pi-ai"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      bundledPiAiCompat,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"@earendil-works/pi-agent-core"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bundledPiAgentCore,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bundledPiCodingAgent,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};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6A737D"/>
                </a:solidFill>
                <a:latin typeface="Menlo"/>
                <a:ea typeface="Menlo"/>
              </a:rPr>
              <a:t>// jiti 解析 import 先查这张表，命中就不碰磁盘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07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⑦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事件系统：两套事件，四档粒度</a:t>
            </a:r>
            <a:endParaRPr/>
          </a:p>
        </p:txBody>
      </p:sp>
      <p:sp>
        <p:nvSpPr>
          <p:cNvPr id="1360" name=""/>
          <p:cNvSpPr/>
          <p:nvPr/>
        </p:nvSpPr>
        <p:spPr>
          <a:xfrm rot="0" flipH="0" flipV="0">
            <a:off x="685800" y="1143000"/>
            <a:ext cx="5905500" cy="4305300"/>
          </a:xfrm>
          <a:custGeom>
            <a:pathLst>
              <a:path w="620" h="452">
                <a:moveTo>
                  <a:pt x="619" y="0"/>
                </a:moveTo>
                <a:lnTo>
                  <a:pt x="620" y="0"/>
                </a:lnTo>
                <a:lnTo>
                  <a:pt x="620" y="452"/>
                </a:lnTo>
                <a:lnTo>
                  <a:pt x="619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AgentEvent · 10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种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5076825" y="1143000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pi-agent-core </a:t>
            </a:r>
            <a:r>
              <a:rPr lang="zh-CN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的稳定契约</a:t>
            </a:r>
            <a:endParaRPr/>
          </a:p>
        </p:txBody>
      </p:sp>
      <p:sp>
        <p:nvSpPr>
          <p:cNvPr id="1363" name=""/>
          <p:cNvSpPr/>
          <p:nvPr/>
        </p:nvSpPr>
        <p:spPr>
          <a:xfrm rot="0" flipH="0" flipV="0">
            <a:off x="685800" y="1400175"/>
            <a:ext cx="5667375" cy="514350"/>
          </a:xfrm>
          <a:custGeom>
            <a:pathLst>
              <a:path w="595" h="54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RUN</a:t>
            </a:r>
            <a:endParaRPr/>
          </a:p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790700" y="150495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agent_start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1790700" y="16764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agent_end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4657725" y="1562100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一次任务的首尾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685800" y="2266950"/>
            <a:ext cx="5667375" cy="514350"/>
          </a:xfrm>
          <a:custGeom>
            <a:pathLst>
              <a:path w="595" h="54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TURN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1790700" y="23717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turn_start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1790700" y="254317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turn_end</a:t>
            </a:r>
            <a:endParaRPr/>
          </a:p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4657725" y="2428875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每一轮的首尾</a:t>
            </a:r>
            <a:endParaRPr/>
          </a:p>
        </p:txBody>
      </p:sp>
      <p:sp>
        <p:nvSpPr>
          <p:cNvPr id="1375" name=""/>
          <p:cNvSpPr/>
          <p:nvPr/>
        </p:nvSpPr>
        <p:spPr>
          <a:xfrm rot="0" flipH="0" flipV="0">
            <a:off x="685800" y="3133725"/>
            <a:ext cx="5667375" cy="685800"/>
          </a:xfrm>
          <a:custGeom>
            <a:pathLst>
              <a:path w="595" h="72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685800" y="333375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MESSAGE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85800" y="3495675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1790700" y="32385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1790700" y="340995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message_update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1790700" y="35814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message_end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4657725" y="3381375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一条助手消息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流式最小粒度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685800" y="4171950"/>
            <a:ext cx="5667375" cy="685800"/>
          </a:xfrm>
          <a:custGeom>
            <a:pathLst>
              <a:path w="595" h="72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EXECUTION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1790700" y="42767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tool_execution_start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1790700" y="444817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tool_execution_update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1790700" y="46196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tool_execution_end</a:t>
            </a:r>
            <a:endParaRPr/>
          </a:p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4657725" y="4419600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每个工具调用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成败都发</a:t>
            </a:r>
            <a:endParaRPr/>
          </a:p>
        </p:txBody>
      </p:sp>
      <p:sp>
        <p:nvSpPr>
          <p:cNvPr id="1389" name=""/>
          <p:cNvSpPr/>
          <p:nvPr/>
        </p:nvSpPr>
        <p:spPr>
          <a:xfrm rot="0" flipH="0" flipV="0">
            <a:off x="685800" y="4848225"/>
            <a:ext cx="5667375" cy="600075"/>
          </a:xfrm>
          <a:prstGeom prst="roundRect">
            <a:avLst>
              <a:gd name="adj" fmla="val 4762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E8EEF9">
                <a:alpha val="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800100" y="4943475"/>
            <a:ext cx="54387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2AD4EE"/>
                </a:solidFill>
                <a:latin typeface="Source Han Sans SC"/>
                <a:ea typeface="Source Han Sans SC"/>
              </a:rPr>
              <a:t>产品层再叠一层：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queue_update · compaction_start / end · auto_retry_start / end · agent_settled · entry_appended · session_info_changed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6838950" y="1143000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原料流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vs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产品流</a:t>
            </a:r>
            <a:endParaRPr/>
          </a:p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6838950" y="140970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"start" }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8963025" y="14001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9153525" y="140970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6838950" y="1666875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"text_delta" }</a:t>
            </a:r>
            <a:endParaRPr/>
          </a:p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8963025" y="16573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9153525" y="1600200"/>
            <a:ext cx="2352675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message_update  { assistantMessageEvent: ↑ }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6838950" y="198120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"toolcall_delta" }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8963025" y="19716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9153525" y="1914525"/>
            <a:ext cx="2352675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message_update  { assistantMessageEvent: ↑ }</a:t>
            </a:r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6838950" y="2238375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"done" }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8963025" y="22288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9153525" y="223837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message_end</a:t>
            </a:r>
            <a:endParaRPr/>
          </a:p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6838950" y="2447925"/>
            <a:ext cx="46672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左侧是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pi-ai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AssistantMessageEvent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（一条消息一份），右侧是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AgentEvent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（一个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run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一份）。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message_*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三件套只是它的信封，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层不改写内容。</a:t>
            </a:r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6838950" y="2971800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一个广播，六个订阅者</a:t>
            </a:r>
            <a:endParaRPr/>
          </a:p>
        </p:txBody>
      </p:sp>
      <p:sp>
        <p:nvSpPr>
          <p:cNvPr id="1406" name=""/>
          <p:cNvSpPr/>
          <p:nvPr/>
        </p:nvSpPr>
        <p:spPr>
          <a:xfrm rot="0" flipH="0" flipV="0">
            <a:off x="6838950" y="3190875"/>
            <a:ext cx="7334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6915150" y="3228975"/>
            <a:ext cx="581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TUI </a:t>
            </a: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逐字渲染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7629525" y="3190875"/>
            <a:ext cx="80010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7705725" y="3228975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RPC </a:t>
            </a: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转发</a:t>
            </a: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delta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84867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85629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扩展拦截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90963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91725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会话落盘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97059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97821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成本记账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10315575" y="3190875"/>
            <a:ext cx="6572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10391775" y="3228975"/>
            <a:ext cx="504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服务器快照</a:t>
            </a:r>
            <a:endParaRPr/>
          </a:p>
        </p:txBody>
      </p:sp>
      <p:sp>
        <p:nvSpPr>
          <p:cNvPr id="1418" name=""/>
          <p:cNvSpPr/>
          <p:nvPr/>
        </p:nvSpPr>
        <p:spPr>
          <a:xfrm rot="0" flipH="0" flipV="0">
            <a:off x="6838950" y="3486150"/>
            <a:ext cx="4667250" cy="676275"/>
          </a:xfrm>
          <a:prstGeom prst="roundRect">
            <a:avLst>
              <a:gd name="adj" fmla="val 4225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6953250" y="3571875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2AD4EE"/>
                </a:solidFill>
                <a:latin typeface="Source Han Sans SC"/>
                <a:ea typeface="Source Han Sans SC"/>
              </a:rPr>
              <a:t>钩子不是事件</a:t>
            </a:r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6953250" y="3762375"/>
            <a:ext cx="457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事件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7486650" y="3762375"/>
            <a:ext cx="3905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fire-and-forget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，发完继续走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给旁观者</a:t>
            </a:r>
            <a:endParaRPr/>
          </a:p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6953250" y="3943350"/>
            <a:ext cx="457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钩子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7486650" y="3943350"/>
            <a:ext cx="3905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循环停下来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await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返回值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给参与者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6867525" y="4867275"/>
            <a:ext cx="4667250" cy="581025"/>
          </a:xfrm>
          <a:prstGeom prst="rect">
            <a:avLst/>
          </a:prstGeom>
          <a:solidFill>
            <a:srgbClr val="FFB478">
              <a:alpha val="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6838950" y="4867275"/>
            <a:ext cx="4695825" cy="581025"/>
          </a:xfrm>
          <a:custGeom>
            <a:pathLst>
              <a:path w="493" h="61">
                <a:moveTo>
                  <a:pt x="0" y="0"/>
                </a:moveTo>
                <a:lnTo>
                  <a:pt x="3" y="0"/>
                </a:lnTo>
                <a:lnTo>
                  <a:pt x="3" y="61"/>
                </a:lnTo>
                <a:lnTo>
                  <a:pt x="0" y="61"/>
                </a:lnTo>
                <a:close/>
              </a:path>
            </a:pathLst>
          </a:custGeom>
          <a:solidFill>
            <a:srgbClr val="FFB478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6981825" y="4953000"/>
            <a:ext cx="44100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两个容易混的点：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toolcall_delta 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是「模型在输出参数」，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tool_execution_* 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是「框架真的在执行」，两者没有对应关系；钩子是「停下等返回值」，事件是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fire-and-forget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27" name=""/>
          <p:cNvSpPr/>
          <p:nvPr/>
        </p:nvSpPr>
        <p:spPr>
          <a:xfrm rot="0" flipH="0" flipV="0">
            <a:off x="685800" y="55245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857250" y="56959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1276350" y="56483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内核不认识任何一个消费者。加一个功能不用改循环——可观测、拦截、记账，都是「订阅」而不是「埋点」。</a:t>
            </a:r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35 / 45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4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3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08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⑥ + ⑦</a:t>
            </a:r>
            <a:endParaRPr/>
          </a:p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安全外置：三道防线，一本账</a:t>
            </a:r>
            <a:endParaRPr/>
          </a:p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PHILOSOPHY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没有权限弹窗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685800" y="1381125"/>
            <a:ext cx="60007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「没有权限确认弹窗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88">
                <a:solidFill>
                  <a:srgbClr val="2AD4EE"/>
                </a:solidFill>
                <a:latin typeface="Source Han Sans SC"/>
                <a:ea typeface="Source Han Sans SC"/>
              </a:rPr>
              <a:t>跑在容器里就好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。」</a:t>
            </a:r>
            <a:endParaRPr/>
          </a:p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819150" y="1819275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1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内核做权限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复杂度爆炸</a:t>
            </a:r>
            <a:endParaRPr/>
          </a:p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2771775" y="1819275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容器是更硬的隔离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4733925" y="1819275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钩子已给了完全拦截能力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685800" y="2276475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三道防线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一道不能少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685800" y="2524125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2AD4EE">
              <a:alpha val="13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828675" y="279082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1114425" y="2724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环境隔离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1762125" y="27241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最硬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1114425" y="293370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容器化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Docker /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权限最小化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网络策略。应用层弹窗防不住提示注入，操作系统级隔离防得住。</a:t>
            </a:r>
            <a:endParaRPr/>
          </a:p>
        </p:txBody>
      </p:sp>
      <p:sp>
        <p:nvSpPr>
          <p:cNvPr id="1450" name=""/>
          <p:cNvSpPr/>
          <p:nvPr/>
        </p:nvSpPr>
        <p:spPr>
          <a:xfrm rot="0" flipH="0" flipV="0">
            <a:off x="685800" y="3429000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1" name="" descr="{&quot;isTemplate&quot;:true,&quot;type&quot;:&quot;text&quot;}"/>
          <p:cNvSpPr txBox="1"/>
          <p:nvPr/>
        </p:nvSpPr>
        <p:spPr>
          <a:xfrm rot="0" flipH="0" flipV="0">
            <a:off x="828675" y="3695700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1114425" y="3629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钩子拦截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1762125" y="362902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最灵活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1114425" y="3838575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tool_call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钩子：危险命令返回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block + reason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reason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回喂模型；同时写审计日志。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685800" y="4333875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828675" y="460057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1114425" y="4533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工具白名单</a:t>
            </a:r>
            <a:endParaRPr/>
          </a:p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1905000" y="45339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最简单</a:t>
            </a:r>
            <a:endParaRPr/>
          </a:p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1114425" y="474345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只读模式只挂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read / grep / find / ls ——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模型根本看不见写工具。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685800" y="5248275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代价：不懂容器化的用户直接裸奔有真实风险。所以上生产必须三道都走。</a:t>
            </a:r>
            <a:endParaRPr/>
          </a:p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6953250" y="114300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OBSERVABILITY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记账免费</a:t>
            </a:r>
            <a:endParaRPr/>
          </a:p>
        </p:txBody>
      </p:sp>
      <p:sp>
        <p:nvSpPr>
          <p:cNvPr id="1462" name=""/>
          <p:cNvSpPr/>
          <p:nvPr/>
        </p:nvSpPr>
        <p:spPr>
          <a:xfrm rot="0" flipH="0" flipV="0">
            <a:off x="6953250" y="1390650"/>
            <a:ext cx="4552950" cy="1066800"/>
          </a:xfrm>
          <a:prstGeom prst="roundRect">
            <a:avLst>
              <a:gd name="adj" fmla="val 2679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7077075" y="1495425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usage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挂在每条助手消息上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7077075" y="1685925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E8EEF9">
                    <a:alpha val="72000"/>
                  </a:srgbClr>
                </a:solidFill>
                <a:latin typeface="JetBrains Mono"/>
                <a:ea typeface="JetBrains Mono"/>
              </a:rPr>
              <a:t>input · output · cacheRead · cacheWrite · reasoning · totalTokens · cost</a:t>
            </a:r>
            <a:endParaRPr/>
          </a:p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7077075" y="2152650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不需要额外埋点，订阅事件流就能建面板。放进消息结构而不是日志——这是关键差别。</a:t>
            </a:r>
            <a:endParaRPr/>
          </a:p>
        </p:txBody>
      </p:sp>
      <p:sp>
        <p:nvSpPr>
          <p:cNvPr id="1466" name=""/>
          <p:cNvSpPr/>
          <p:nvPr/>
        </p:nvSpPr>
        <p:spPr>
          <a:xfrm rot="0" flipH="0" flipV="0">
            <a:off x="6953250" y="2543175"/>
            <a:ext cx="4552950" cy="809625"/>
          </a:xfrm>
          <a:prstGeom prst="roundRect">
            <a:avLst>
              <a:gd name="adj" fmla="val 3529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7077075" y="2647950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telemetry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包</a:t>
            </a:r>
            <a:endParaRPr/>
          </a:p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7077075" y="2838450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TelemetryContext / TelemetrySpan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抽象（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span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attributes / events / status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），厂商中立，可以接自己的观测后端。</a:t>
            </a:r>
            <a:endParaRPr/>
          </a:p>
        </p:txBody>
      </p:sp>
      <p:sp>
        <p:nvSpPr>
          <p:cNvPr id="1469" name=""/>
          <p:cNvSpPr/>
          <p:nvPr/>
        </p:nvSpPr>
        <p:spPr>
          <a:xfrm rot="0" flipH="0" flipV="0">
            <a:off x="6953250" y="3438525"/>
            <a:ext cx="4552950" cy="809625"/>
          </a:xfrm>
          <a:prstGeom prst="roundRect">
            <a:avLst>
              <a:gd name="adj" fmla="val 3529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7077075" y="3543300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evals · Agent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的回归测试</a:t>
            </a:r>
            <a:endParaRPr/>
          </a:p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7077075" y="3733800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隔离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workspace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固定任务集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收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transcript / token /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成本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→ baseline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candidate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对比。改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、换模型、升版本前后各跑一遍。</a:t>
            </a:r>
            <a:endParaRPr/>
          </a:p>
        </p:txBody>
      </p:sp>
      <p:sp>
        <p:nvSpPr>
          <p:cNvPr id="1472" name=""/>
          <p:cNvSpPr/>
          <p:nvPr/>
        </p:nvSpPr>
        <p:spPr>
          <a:xfrm rot="0" flipH="0" flipV="0">
            <a:off x="6953250" y="4829175"/>
            <a:ext cx="4581525" cy="619125"/>
          </a:xfrm>
          <a:custGeom>
            <a:pathLst>
              <a:path w="481" h="65">
                <a:moveTo>
                  <a:pt x="0" y="0"/>
                </a:moveTo>
                <a:lnTo>
                  <a:pt x="3" y="0"/>
                </a:lnTo>
                <a:lnTo>
                  <a:pt x="3" y="65"/>
                </a:lnTo>
                <a:lnTo>
                  <a:pt x="0" y="65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7105650" y="4924425"/>
            <a:ext cx="4276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企业架构四决策：模型路由（敏感用本地）·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安全边界（容器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钩子二次拦截）·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会话资产（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JSONL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树，可复盘）·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上下文工程（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AGENTS.md + compact + Skills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474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857250" y="56197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1276350" y="55721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「安全外置」不等于「安全不做」——能力一项不缺，只是把组装权交给你。你的用户没这个能力，就得内置。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36 / 45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4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8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482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83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1485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1486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89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490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1492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1494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1496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38 – 44</a:t>
            </a:r>
            <a:endParaRPr/>
          </a:p>
        </p:txBody>
      </p:sp>
      <p:sp>
        <p:nvSpPr>
          <p:cNvPr id="1499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1503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38 / 45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5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0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1511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1513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1514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519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524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529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534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1537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1539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1541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1542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1545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6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1547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1548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1551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1554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5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1562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6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39 / 45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5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6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157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1572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1576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1577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579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1582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83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4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1588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1590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591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92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3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596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1597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600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01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1604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1606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07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1608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09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1611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161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61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40 / 45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6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5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1657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1660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1661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2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1663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1665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1667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8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669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1670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1671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72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1673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675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1676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1678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679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1681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1682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1683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1684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1685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1686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687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688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689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69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41 / 45</a:t>
            </a:r>
            <a:endParaRPr/>
          </a:p>
        </p:txBody>
      </p:sp>
      <p:sp>
        <p:nvSpPr>
          <p:cNvPr id="1692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3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9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69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699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702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3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4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7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706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708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709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0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1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7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713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715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716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7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8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7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721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722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724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5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726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727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8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729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730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31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732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7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42 / 45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7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7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74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741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743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744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745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746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7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749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750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751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2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754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755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756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7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758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759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760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761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62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764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765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766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67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768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769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0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771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772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3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775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6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778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9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780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781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82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783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785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78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8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43 / 45</a:t>
            </a:r>
            <a:endParaRPr/>
          </a:p>
        </p:txBody>
      </p:sp>
      <p:sp>
        <p:nvSpPr>
          <p:cNvPr id="1788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9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79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7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95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796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797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8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99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800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801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802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03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804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805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806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807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808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809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810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45 / 45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2026-10-19T16:09:56Z</dcterms:created>
  <dcterms:modified xsi:type="dcterms:W3CDTF">2026-10-19T16:09:56Z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{"AIGC":{"Label":"1","ContentProducer":"00119111010856365494821B355","ProduceID":"01a153210bda78379896e2ac91726c46","ReservedCode1":"","ContentPropagator":"00119111010856365494821B355","PropagateID":"01a153210bda78379896e2ac91726c46","ReservedCode2":""}}</vt:lpwstr>
  </property>
</Properties>
</file>